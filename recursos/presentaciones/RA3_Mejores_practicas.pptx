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8c1ebb4b-b36b-942b-3595-b0e45cc429cc}">
          <p14:sldIdLst>
            <p14:sldId id="256"/>
            <p14:sldId id="257"/>
            <p14:sldId id="258"/>
          </p14:sldIdLst>
        </p14:section>
        <p14:section name="Caso 1: La laptop robada de la orientadora" id="{6dd54c71-def3-8e46-8330-2a546449196c}">
          <p14:sldIdLst>
            <p14:sldId id="259"/>
            <p14:sldId id="260"/>
            <p14:sldId id="261"/>
          </p14:sldIdLst>
        </p14:section>
        <p14:section name="Caso 2: Una sola cerradura" id="{357fbc35-6d87-b034-9e47-bd84746250dc}">
          <p14:sldIdLst>
            <p14:sldId id="262"/>
            <p14:sldId id="263"/>
            <p14:sldId id="264"/>
            <p14:sldId id="265"/>
          </p14:sldIdLst>
        </p14:section>
        <p14:section name="Caso 3: ¿Quién puede ver las notas?" id="{b0384246-641a-1a7c-459c-dd8067287f07}">
          <p14:sldIdLst>
            <p14:sldId id="266"/>
            <p14:sldId id="267"/>
            <p14:sldId id="268"/>
          </p14:sldIdLst>
        </p14:section>
        <p14:section name="Caso 4: Solo el laboratorio de profes" id="{46c34f30-0194-fd2d-d641-35c77f2d9d20}">
          <p14:sldIdLst>
            <p14:sldId id="269"/>
            <p14:sldId id="270"/>
            <p14:sldId id="271"/>
            <p14:sldId id="272"/>
          </p14:sldIdLst>
        </p14:section>
        <p14:section name="Cierre" id="{04431e57-2f89-bee7-abb7-3a238dfdb435}">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el resultado de aprendizaje: Explicar las mejores prácticas para la ciberseguridad de la información en la era digital. Explique la dinámica: hoy no vamos a leer teoría; vamos a analizar 4 casos, y en cada uno descubrimos los conceptos. La teoría completa está en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pregunta prepara la defensa en profundidad; la segunda, el control de acceso; la tercera, la diferencia entre política, estándar y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el recorrido. Cada caso tiene tres momentos: la situación (ustedes opinan primero), el diagrama de cómo funciona y los conceptos que salen del caso. Entre los casos hay dos mini actividades.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Se perdió la confidencialidad. Los datos estaban en reposo (guardados en el disco). Faltaron contramedidas de los tres tipos: tecnología (cifrado), políticas (contraseñas) y personas (no dejar equipos en el carro).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un ejemplo de dato en tránsito (un correo que se envía) y en proceso (una hoja de notas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Mencione la Ley 8968: los expedientes son datos personales protegidos.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El firewall protege el perímetro, pero el ataque entró por dentro. Faltaron capas: capacitación (no conectar USB desconocidas), control de dispositivos, antimalware en el equipo y segmentación de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con una cebolla: el atacante debe atravesar todas las capas. Si una falla, la siguiente lo detiene.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 con la ingeniería social del RA1: la técnica de la llave USB se llama carnada (baiting).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 En parejas. No hay una única respuesta. Pida que justifiquen el orden de afuera hacia adentro. La capa más débil suele ser la de las personas o la de los datos sin cifrar.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Modelo recomendado: RBAC, permisos según el rol (docente de 10-1 solo ve 10-1). Para saber quién fue se necesita el registro (accounting) de AAA, con cuentas individuales.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Mencione que RADIUS y TACACS+ son los servidores que implementan AAA en las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qué modelo usa Google Drive cuando ustedes comparten un archivo: DAC, decide el dueño.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Una ACL estándar con nombre que permita 192.168.20.0 0.0.0.255, aplicada en la interfaz hacia la base de datos (cerca del destino, porque la estándar solo filtra por origen). Además, el servidor web público va en la DMZ.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Calculen juntos la máscara comodín: 255.255.255.255 − 255.255.255.0 = 0.0.0.255.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Recuerde que al final de toda ACL hay un deny any invisible: lo que no se permite, se bloquea.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 En parejas. Respuesta: ip access-list standard SOLO-LAB / permit 192.168.30.0 0.0.0.255 / exit / interface g0/1 / ip access-group SOLO-LAB out. Va en la salida hacia el servidor, cerca del destino.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Recoja las hojas o pida fotos por Teams. Las preguntas pendientes sirven para abrir la próxima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pidiendo a varios estudiantes que expliquen un caso con sus palabras. Recuerde que la teoría completa y el cotidiano están en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08760"/>
            <a:ext cx="5669280" cy="14173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063240"/>
            <a:ext cx="5669280" cy="82296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S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bg2"/>
                </a:solidFill>
              </a:rPr>
              <a:t>Fundamentos de ciberseguridad · RA3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20624"/>
            <a:ext cx="8229600" cy="6400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accent5"/>
                </a:solidFill>
              </a:rPr>
              <a:t>Fundamentos de ciberseguridad · RA3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bg2"/>
                </a:solidFill>
              </a:rPr>
              <a:t>Fundamentos de ciberseguridad · RA3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585216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FUNDAMENTOS DE CIBERSEGURIDAD · DESARROLLO WEB 10°</a:t>
            </a:r>
            <a:endParaRPr lang="en-US" sz="1200" dirty="0"/>
          </a:p>
        </p:txBody>
      </p:sp>
      <p:sp>
        <p:nvSpPr>
          <p:cNvPr id="3" name="Text 1"/>
          <p:cNvSpPr txBox="1"/>
          <p:nvPr/>
        </p:nvSpPr>
        <p:spPr>
          <a:xfrm>
            <a:off x="548640" y="1051560"/>
            <a:ext cx="5669280" cy="365760"/>
          </a:xfrm>
          <a:prstGeom prst="rect">
            <a:avLst/>
          </a:prstGeom>
          <a:noFill/>
          <a:ln/>
        </p:spPr>
        <p:txBody>
          <a:bodyPr wrap="square" lIns="0" tIns="0" rIns="0" bIns="0" rtlCol="0" anchor="t"/>
          <a:lstStyle/>
          <a:p>
            <a:pPr indent="0" marL="0">
              <a:buNone/>
            </a:pPr>
            <a:r>
              <a:rPr lang="en-US" sz="1800" dirty="0">
                <a:solidFill>
                  <a:schemeClr val="bg2"/>
                </a:solidFill>
              </a:rPr>
              <a:t>Resultado de aprendizaje 3</a:t>
            </a:r>
            <a:endParaRPr lang="en-US" sz="1800" dirty="0"/>
          </a:p>
        </p:txBody>
      </p:sp>
      <p:sp>
        <p:nvSpPr>
          <p:cNvPr id="4" name="Text 0"/>
          <p:cNvSpPr/>
          <p:nvPr>
            <p:ph idx="100" type="title" hasCustomPrompt="1"/>
          </p:nvPr>
        </p:nvSpPr>
        <p:spPr>
          <a:xfrm>
            <a:off x="548640" y="1508760"/>
            <a:ext cx="5669280" cy="1417320"/>
          </a:xfrm>
          <a:prstGeom prst="rect">
            <a:avLst/>
          </a:prstGeom>
          <a:noFill/>
          <a:ln/>
        </p:spPr>
        <p:txBody>
          <a:bodyPr wrap="square" lIns="0" tIns="0" rIns="0" bIns="0" rtlCol="0" anchor="t"/>
          <a:lstStyle/>
          <a:p>
            <a:pPr algn="l" indent="0" marL="0">
              <a:buNone/>
            </a:pPr>
            <a:r>
              <a:rPr lang="en-US" sz="3400" b="1" dirty="0">
                <a:solidFill>
                  <a:schemeClr val="bg1"/>
                </a:solidFill>
              </a:rPr>
              <a:t>Mejores prácticas de ciberseguridad</a:t>
            </a:r>
            <a:endParaRPr lang="en-US" sz="3400" dirty="0"/>
          </a:p>
        </p:txBody>
      </p:sp>
      <p:sp>
        <p:nvSpPr>
          <p:cNvPr id="5" name="Text 0"/>
          <p:cNvSpPr/>
          <p:nvPr>
            <p:ph idx="101" type="body" hasCustomPrompt="1"/>
          </p:nvPr>
        </p:nvSpPr>
        <p:spPr>
          <a:xfrm>
            <a:off x="548640" y="3063240"/>
            <a:ext cx="5669280" cy="822960"/>
          </a:xfrm>
          <a:prstGeom prst="rect">
            <a:avLst/>
          </a:prstGeom>
          <a:noFill/>
          <a:ln/>
        </p:spPr>
        <p:txBody>
          <a:bodyPr wrap="square" lIns="0" tIns="0" rIns="0" bIns="0" rtlCol="0" anchor="t"/>
          <a:lstStyle/>
          <a:p>
            <a:pPr algn="l" indent="0" marL="0">
              <a:buNone/>
            </a:pPr>
            <a:r>
              <a:rPr lang="en-US" sz="1500" dirty="0">
                <a:solidFill>
                  <a:schemeClr val="bg2"/>
                </a:solidFill>
              </a:rPr>
              <a:t>Aprendemos con 4 casos reales para analizar en clase</a:t>
            </a:r>
            <a:endParaRPr lang="en-US" sz="1500" dirty="0"/>
          </a:p>
        </p:txBody>
      </p:sp>
      <p:sp>
        <p:nvSpPr>
          <p:cNvPr id="6" name="Shape 4"/>
          <p:cNvSpPr/>
          <p:nvPr/>
        </p:nvSpPr>
        <p:spPr>
          <a:xfrm>
            <a:off x="6446520" y="1051560"/>
            <a:ext cx="2286000" cy="2286000"/>
          </a:xfrm>
          <a:prstGeom prst="ellipse">
            <a:avLst/>
          </a:prstGeom>
          <a:solidFill>
            <a:schemeClr val="accent1">
              <a:alpha val="85000"/>
            </a:schemeClr>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691640"/>
            <a:ext cx="1005840" cy="1005840"/>
          </a:xfrm>
          <a:prstGeom prst="rect">
            <a:avLst/>
          </a:prstGeom>
        </p:spPr>
      </p:pic>
      <p:sp>
        <p:nvSpPr>
          <p:cNvPr id="8" name="Text 5"/>
          <p:cNvSpPr txBox="1"/>
          <p:nvPr/>
        </p:nvSpPr>
        <p:spPr>
          <a:xfrm>
            <a:off x="548640" y="4343400"/>
            <a:ext cx="5669280" cy="274320"/>
          </a:xfrm>
          <a:prstGeom prst="rect">
            <a:avLst/>
          </a:prstGeom>
          <a:noFill/>
          <a:ln/>
        </p:spPr>
        <p:txBody>
          <a:bodyPr wrap="square" lIns="0" tIns="0" rIns="0" bIns="0" rtlCol="0" anchor="t"/>
          <a:lstStyle/>
          <a:p>
            <a:pPr indent="0" marL="0">
              <a:buNone/>
            </a:pPr>
            <a:r>
              <a:rPr lang="en-US" sz="1100" dirty="0">
                <a:solidFill>
                  <a:schemeClr val="bg2"/>
                </a:solidFill>
              </a:rPr>
              <a:t>CTP Mercedes Norte · MsC. Ericka Hernández Mena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PREGUNTAS PARA INICIAR</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Para empezar: ¿qué saben ya?</a:t>
            </a:r>
            <a:endParaRPr lang="en-US" sz="2600" dirty="0"/>
          </a:p>
        </p:txBody>
      </p:sp>
      <p:sp>
        <p:nvSpPr>
          <p:cNvPr id="4" name="Shape 2"/>
          <p:cNvSpPr/>
          <p:nvPr/>
        </p:nvSpPr>
        <p:spPr>
          <a:xfrm>
            <a:off x="457200" y="1325880"/>
            <a:ext cx="2606040" cy="320040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85800" y="1554480"/>
            <a:ext cx="566928" cy="566928"/>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841705" y="1710385"/>
            <a:ext cx="255118" cy="255118"/>
          </a:xfrm>
          <a:prstGeom prst="rect">
            <a:avLst/>
          </a:prstGeom>
        </p:spPr>
      </p:pic>
      <p:sp>
        <p:nvSpPr>
          <p:cNvPr id="7" name="Text 4"/>
          <p:cNvSpPr txBox="1"/>
          <p:nvPr/>
        </p:nvSpPr>
        <p:spPr>
          <a:xfrm>
            <a:off x="68580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Para proteger su casa, ¿una sola cerradura muy buena o varias medidas distintas?</a:t>
            </a:r>
            <a:endParaRPr lang="en-US" sz="1600" dirty="0"/>
          </a:p>
        </p:txBody>
      </p:sp>
      <p:sp>
        <p:nvSpPr>
          <p:cNvPr id="8" name="Text 5"/>
          <p:cNvSpPr txBox="1"/>
          <p:nvPr/>
        </p:nvSpPr>
        <p:spPr>
          <a:xfrm>
            <a:off x="68580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¿Por qué?</a:t>
            </a:r>
            <a:endParaRPr lang="en-US" sz="1300" dirty="0"/>
          </a:p>
        </p:txBody>
      </p:sp>
      <p:sp>
        <p:nvSpPr>
          <p:cNvPr id="9" name="Shape 6"/>
          <p:cNvSpPr/>
          <p:nvPr/>
        </p:nvSpPr>
        <p:spPr>
          <a:xfrm>
            <a:off x="3268980" y="1325880"/>
            <a:ext cx="2606040" cy="3200400"/>
          </a:xfrm>
          <a:prstGeom prst="roundRect">
            <a:avLst>
              <a:gd name="adj" fmla="val 2807"/>
            </a:avLst>
          </a:prstGeom>
          <a:solidFill>
            <a:schemeClr val="bg2"/>
          </a:solidFill>
          <a:ln w="12700">
            <a:solidFill>
              <a:schemeClr val="bg2"/>
            </a:solidFill>
            <a:prstDash val="solid"/>
          </a:ln>
        </p:spPr>
      </p:sp>
      <p:sp>
        <p:nvSpPr>
          <p:cNvPr id="10" name="Shape 7"/>
          <p:cNvSpPr/>
          <p:nvPr/>
        </p:nvSpPr>
        <p:spPr>
          <a:xfrm>
            <a:off x="3497580" y="1554480"/>
            <a:ext cx="566928" cy="566928"/>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653485" y="1710385"/>
            <a:ext cx="255118" cy="255118"/>
          </a:xfrm>
          <a:prstGeom prst="rect">
            <a:avLst/>
          </a:prstGeom>
        </p:spPr>
      </p:pic>
      <p:sp>
        <p:nvSpPr>
          <p:cNvPr id="12" name="Text 8"/>
          <p:cNvSpPr txBox="1"/>
          <p:nvPr/>
        </p:nvSpPr>
        <p:spPr>
          <a:xfrm>
            <a:off x="349758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¿Todos en el colegio deberían poder ver las notas de todos?</a:t>
            </a:r>
            <a:endParaRPr lang="en-US" sz="1600" dirty="0"/>
          </a:p>
        </p:txBody>
      </p:sp>
      <p:sp>
        <p:nvSpPr>
          <p:cNvPr id="13" name="Text 9"/>
          <p:cNvSpPr txBox="1"/>
          <p:nvPr/>
        </p:nvSpPr>
        <p:spPr>
          <a:xfrm>
            <a:off x="349758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¿Quién sí y quién no?</a:t>
            </a:r>
            <a:endParaRPr lang="en-US" sz="1300" dirty="0"/>
          </a:p>
        </p:txBody>
      </p:sp>
      <p:sp>
        <p:nvSpPr>
          <p:cNvPr id="14" name="Shape 10"/>
          <p:cNvSpPr/>
          <p:nvPr/>
        </p:nvSpPr>
        <p:spPr>
          <a:xfrm>
            <a:off x="6080760" y="1325880"/>
            <a:ext cx="2606040" cy="3200400"/>
          </a:xfrm>
          <a:prstGeom prst="roundRect">
            <a:avLst>
              <a:gd name="adj" fmla="val 2807"/>
            </a:avLst>
          </a:prstGeom>
          <a:solidFill>
            <a:schemeClr val="bg2"/>
          </a:solidFill>
          <a:ln w="12700">
            <a:solidFill>
              <a:schemeClr val="bg2"/>
            </a:solidFill>
            <a:prstDash val="solid"/>
          </a:ln>
        </p:spPr>
      </p:sp>
      <p:sp>
        <p:nvSpPr>
          <p:cNvPr id="15" name="Shape 11"/>
          <p:cNvSpPr/>
          <p:nvPr/>
        </p:nvSpPr>
        <p:spPr>
          <a:xfrm>
            <a:off x="6309360" y="1554480"/>
            <a:ext cx="566928" cy="566928"/>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6465265" y="1710385"/>
            <a:ext cx="255118" cy="255118"/>
          </a:xfrm>
          <a:prstGeom prst="rect">
            <a:avLst/>
          </a:prstGeom>
        </p:spPr>
      </p:pic>
      <p:sp>
        <p:nvSpPr>
          <p:cNvPr id="17" name="Text 12"/>
          <p:cNvSpPr txBox="1"/>
          <p:nvPr/>
        </p:nvSpPr>
        <p:spPr>
          <a:xfrm>
            <a:off x="630936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¿Qué diferencia hay entre una regla y una recomendación?</a:t>
            </a:r>
            <a:endParaRPr lang="en-US" sz="1600" dirty="0"/>
          </a:p>
        </p:txBody>
      </p:sp>
      <p:sp>
        <p:nvSpPr>
          <p:cNvPr id="18" name="Text 13"/>
          <p:cNvSpPr txBox="1"/>
          <p:nvPr/>
        </p:nvSpPr>
        <p:spPr>
          <a:xfrm>
            <a:off x="630936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Den un ejemplo del colegio.</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LA CLASE DE HOY</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Los casos que vamos a resolver</a:t>
            </a:r>
            <a:endParaRPr lang="en-US" sz="2600" dirty="0"/>
          </a:p>
        </p:txBody>
      </p:sp>
      <p:sp>
        <p:nvSpPr>
          <p:cNvPr id="4" name="Shape 2"/>
          <p:cNvSpPr/>
          <p:nvPr/>
        </p:nvSpPr>
        <p:spPr>
          <a:xfrm>
            <a:off x="457200" y="1280160"/>
            <a:ext cx="5577840" cy="658368"/>
          </a:xfrm>
          <a:prstGeom prst="roundRect">
            <a:avLst>
              <a:gd name="adj" fmla="val 11111"/>
            </a:avLst>
          </a:prstGeom>
          <a:solidFill>
            <a:schemeClr val="bg2"/>
          </a:solidFill>
          <a:ln w="12700">
            <a:solidFill>
              <a:schemeClr val="bg2"/>
            </a:solidFill>
            <a:prstDash val="solid"/>
          </a:ln>
        </p:spPr>
      </p:sp>
      <p:sp>
        <p:nvSpPr>
          <p:cNvPr id="5" name="Shape 3"/>
          <p:cNvSpPr/>
          <p:nvPr/>
        </p:nvSpPr>
        <p:spPr>
          <a:xfrm>
            <a:off x="566928" y="1399032"/>
            <a:ext cx="420624" cy="420624"/>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72084" y="1504188"/>
            <a:ext cx="210312" cy="210312"/>
          </a:xfrm>
          <a:prstGeom prst="rect">
            <a:avLst/>
          </a:prstGeom>
        </p:spPr>
      </p:pic>
      <p:sp>
        <p:nvSpPr>
          <p:cNvPr id="7" name="Text 4"/>
          <p:cNvSpPr txBox="1"/>
          <p:nvPr/>
        </p:nvSpPr>
        <p:spPr>
          <a:xfrm>
            <a:off x="1143000" y="1280160"/>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1</a:t>
            </a:r>
            <a:endParaRPr lang="en-US" sz="1200" dirty="0"/>
          </a:p>
        </p:txBody>
      </p:sp>
      <p:sp>
        <p:nvSpPr>
          <p:cNvPr id="8" name="Text 5"/>
          <p:cNvSpPr txBox="1"/>
          <p:nvPr/>
        </p:nvSpPr>
        <p:spPr>
          <a:xfrm>
            <a:off x="1920240" y="1280160"/>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La laptop robada de la orientadora</a:t>
            </a:r>
            <a:endParaRPr lang="en-US" sz="1500" dirty="0"/>
          </a:p>
        </p:txBody>
      </p:sp>
      <p:sp>
        <p:nvSpPr>
          <p:cNvPr id="9" name="Shape 6"/>
          <p:cNvSpPr/>
          <p:nvPr/>
        </p:nvSpPr>
        <p:spPr>
          <a:xfrm>
            <a:off x="457200" y="2121408"/>
            <a:ext cx="5577840" cy="658368"/>
          </a:xfrm>
          <a:prstGeom prst="roundRect">
            <a:avLst>
              <a:gd name="adj" fmla="val 11111"/>
            </a:avLst>
          </a:prstGeom>
          <a:solidFill>
            <a:schemeClr val="bg2"/>
          </a:solidFill>
          <a:ln w="12700">
            <a:solidFill>
              <a:schemeClr val="bg2"/>
            </a:solidFill>
            <a:prstDash val="solid"/>
          </a:ln>
        </p:spPr>
      </p:sp>
      <p:sp>
        <p:nvSpPr>
          <p:cNvPr id="10" name="Shape 7"/>
          <p:cNvSpPr/>
          <p:nvPr/>
        </p:nvSpPr>
        <p:spPr>
          <a:xfrm>
            <a:off x="566928" y="2240280"/>
            <a:ext cx="420624" cy="420624"/>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72084" y="2345436"/>
            <a:ext cx="210312" cy="210312"/>
          </a:xfrm>
          <a:prstGeom prst="rect">
            <a:avLst/>
          </a:prstGeom>
        </p:spPr>
      </p:pic>
      <p:sp>
        <p:nvSpPr>
          <p:cNvPr id="12" name="Text 8"/>
          <p:cNvSpPr txBox="1"/>
          <p:nvPr/>
        </p:nvSpPr>
        <p:spPr>
          <a:xfrm>
            <a:off x="1143000" y="2121408"/>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2</a:t>
            </a:r>
            <a:endParaRPr lang="en-US" sz="1200" dirty="0"/>
          </a:p>
        </p:txBody>
      </p:sp>
      <p:sp>
        <p:nvSpPr>
          <p:cNvPr id="13" name="Text 9"/>
          <p:cNvSpPr txBox="1"/>
          <p:nvPr/>
        </p:nvSpPr>
        <p:spPr>
          <a:xfrm>
            <a:off x="1920240" y="2121408"/>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Una sola cerradura</a:t>
            </a:r>
            <a:endParaRPr lang="en-US" sz="1500" dirty="0"/>
          </a:p>
        </p:txBody>
      </p:sp>
      <p:sp>
        <p:nvSpPr>
          <p:cNvPr id="14" name="Shape 10"/>
          <p:cNvSpPr/>
          <p:nvPr/>
        </p:nvSpPr>
        <p:spPr>
          <a:xfrm>
            <a:off x="457200" y="2962656"/>
            <a:ext cx="5577840" cy="658368"/>
          </a:xfrm>
          <a:prstGeom prst="roundRect">
            <a:avLst>
              <a:gd name="adj" fmla="val 11111"/>
            </a:avLst>
          </a:prstGeom>
          <a:solidFill>
            <a:schemeClr val="bg2"/>
          </a:solidFill>
          <a:ln w="12700">
            <a:solidFill>
              <a:schemeClr val="bg2"/>
            </a:solidFill>
            <a:prstDash val="solid"/>
          </a:ln>
        </p:spPr>
      </p:sp>
      <p:sp>
        <p:nvSpPr>
          <p:cNvPr id="15" name="Shape 11"/>
          <p:cNvSpPr/>
          <p:nvPr/>
        </p:nvSpPr>
        <p:spPr>
          <a:xfrm>
            <a:off x="566928" y="3081528"/>
            <a:ext cx="420624" cy="420624"/>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72084" y="3186684"/>
            <a:ext cx="210312" cy="210312"/>
          </a:xfrm>
          <a:prstGeom prst="rect">
            <a:avLst/>
          </a:prstGeom>
        </p:spPr>
      </p:pic>
      <p:sp>
        <p:nvSpPr>
          <p:cNvPr id="17" name="Text 12"/>
          <p:cNvSpPr txBox="1"/>
          <p:nvPr/>
        </p:nvSpPr>
        <p:spPr>
          <a:xfrm>
            <a:off x="1143000" y="2962656"/>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3</a:t>
            </a:r>
            <a:endParaRPr lang="en-US" sz="1200" dirty="0"/>
          </a:p>
        </p:txBody>
      </p:sp>
      <p:sp>
        <p:nvSpPr>
          <p:cNvPr id="18" name="Text 13"/>
          <p:cNvSpPr txBox="1"/>
          <p:nvPr/>
        </p:nvSpPr>
        <p:spPr>
          <a:xfrm>
            <a:off x="1920240" y="2962656"/>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¿Quién puede ver las notas?</a:t>
            </a:r>
            <a:endParaRPr lang="en-US" sz="1500" dirty="0"/>
          </a:p>
        </p:txBody>
      </p:sp>
      <p:sp>
        <p:nvSpPr>
          <p:cNvPr id="19" name="Shape 14"/>
          <p:cNvSpPr/>
          <p:nvPr/>
        </p:nvSpPr>
        <p:spPr>
          <a:xfrm>
            <a:off x="457200" y="3803904"/>
            <a:ext cx="5577840" cy="658368"/>
          </a:xfrm>
          <a:prstGeom prst="roundRect">
            <a:avLst>
              <a:gd name="adj" fmla="val 11111"/>
            </a:avLst>
          </a:prstGeom>
          <a:solidFill>
            <a:schemeClr val="bg2"/>
          </a:solidFill>
          <a:ln w="12700">
            <a:solidFill>
              <a:schemeClr val="bg2"/>
            </a:solidFill>
            <a:prstDash val="solid"/>
          </a:ln>
        </p:spPr>
      </p:sp>
      <p:sp>
        <p:nvSpPr>
          <p:cNvPr id="20" name="Shape 15"/>
          <p:cNvSpPr/>
          <p:nvPr/>
        </p:nvSpPr>
        <p:spPr>
          <a:xfrm>
            <a:off x="566928" y="3922776"/>
            <a:ext cx="420624" cy="420624"/>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72084" y="4027932"/>
            <a:ext cx="210312" cy="210312"/>
          </a:xfrm>
          <a:prstGeom prst="rect">
            <a:avLst/>
          </a:prstGeom>
        </p:spPr>
      </p:pic>
      <p:sp>
        <p:nvSpPr>
          <p:cNvPr id="22" name="Text 16"/>
          <p:cNvSpPr txBox="1"/>
          <p:nvPr/>
        </p:nvSpPr>
        <p:spPr>
          <a:xfrm>
            <a:off x="1143000" y="3803904"/>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4</a:t>
            </a:r>
            <a:endParaRPr lang="en-US" sz="1200" dirty="0"/>
          </a:p>
        </p:txBody>
      </p:sp>
      <p:sp>
        <p:nvSpPr>
          <p:cNvPr id="23" name="Text 17"/>
          <p:cNvSpPr txBox="1"/>
          <p:nvPr/>
        </p:nvSpPr>
        <p:spPr>
          <a:xfrm>
            <a:off x="1920240" y="3803904"/>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Solo el laboratorio de profes</a:t>
            </a:r>
            <a:endParaRPr lang="en-US" sz="1500" dirty="0"/>
          </a:p>
        </p:txBody>
      </p:sp>
      <p:sp>
        <p:nvSpPr>
          <p:cNvPr id="24" name="Shape 18"/>
          <p:cNvSpPr/>
          <p:nvPr/>
        </p:nvSpPr>
        <p:spPr>
          <a:xfrm>
            <a:off x="6309360" y="1280160"/>
            <a:ext cx="2377440" cy="3246120"/>
          </a:xfrm>
          <a:prstGeom prst="roundRect">
            <a:avLst>
              <a:gd name="adj" fmla="val 3077"/>
            </a:avLst>
          </a:prstGeom>
          <a:solidFill>
            <a:schemeClr val="tx2"/>
          </a:solidFill>
          <a:ln w="12700">
            <a:solidFill>
              <a:schemeClr val="tx2"/>
            </a:solidFill>
            <a:prstDash val="solid"/>
          </a:ln>
        </p:spPr>
      </p:sp>
      <p:sp>
        <p:nvSpPr>
          <p:cNvPr id="25" name="Text 19"/>
          <p:cNvSpPr txBox="1"/>
          <p:nvPr/>
        </p:nvSpPr>
        <p:spPr>
          <a:xfrm>
            <a:off x="6492240" y="1463040"/>
            <a:ext cx="2011680" cy="320040"/>
          </a:xfrm>
          <a:prstGeom prst="rect">
            <a:avLst/>
          </a:prstGeom>
          <a:noFill/>
          <a:ln/>
        </p:spPr>
        <p:txBody>
          <a:bodyPr wrap="square" lIns="0" tIns="0" rIns="0" bIns="0" rtlCol="0" anchor="t"/>
          <a:lstStyle/>
          <a:p>
            <a:pPr indent="0" marL="0">
              <a:buNone/>
            </a:pPr>
            <a:r>
              <a:rPr lang="en-US" sz="1500" b="1" dirty="0">
                <a:solidFill>
                  <a:schemeClr val="accent2"/>
                </a:solidFill>
              </a:rPr>
              <a:t>En cada caso</a:t>
            </a:r>
            <a:endParaRPr lang="en-US" sz="1500" dirty="0"/>
          </a:p>
        </p:txBody>
      </p:sp>
      <p:sp>
        <p:nvSpPr>
          <p:cNvPr id="26" name="Shape 20"/>
          <p:cNvSpPr/>
          <p:nvPr/>
        </p:nvSpPr>
        <p:spPr>
          <a:xfrm>
            <a:off x="6492240" y="1920240"/>
            <a:ext cx="457200" cy="457200"/>
          </a:xfrm>
          <a:prstGeom prst="ellipse">
            <a:avLst/>
          </a:prstGeom>
          <a:solidFill>
            <a:schemeClr val="accent1"/>
          </a:solidFill>
          <a:ln w="12700">
            <a:solidFill>
              <a:schemeClr val="accent1"/>
            </a:solidFill>
            <a:prstDash val="solid"/>
          </a:ln>
        </p:spPr>
      </p:sp>
      <p:pic>
        <p:nvPicPr>
          <p:cNvPr id="27" name="Image 4" descr="preencoded.png">    </p:cNvPr>
          <p:cNvPicPr>
            <a:picLocks noChangeAspect="1"/>
          </p:cNvPicPr>
          <p:nvPr/>
        </p:nvPicPr>
        <p:blipFill>
          <a:blip r:embed="rId5"/>
          <a:stretch>
            <a:fillRect/>
          </a:stretch>
        </p:blipFill>
        <p:spPr>
          <a:xfrm>
            <a:off x="6606540" y="2034540"/>
            <a:ext cx="228600" cy="228600"/>
          </a:xfrm>
          <a:prstGeom prst="rect">
            <a:avLst/>
          </a:prstGeom>
        </p:spPr>
      </p:pic>
      <p:sp>
        <p:nvSpPr>
          <p:cNvPr id="28" name="Text 21"/>
          <p:cNvSpPr txBox="1"/>
          <p:nvPr/>
        </p:nvSpPr>
        <p:spPr>
          <a:xfrm>
            <a:off x="7059168" y="1920240"/>
            <a:ext cx="1508760" cy="457200"/>
          </a:xfrm>
          <a:prstGeom prst="rect">
            <a:avLst/>
          </a:prstGeom>
          <a:noFill/>
          <a:ln/>
        </p:spPr>
        <p:txBody>
          <a:bodyPr wrap="square" lIns="0" tIns="0" rIns="0" bIns="0" rtlCol="0" anchor="ctr"/>
          <a:lstStyle/>
          <a:p>
            <a:pPr indent="0" marL="0">
              <a:buNone/>
            </a:pPr>
            <a:r>
              <a:rPr lang="en-US" sz="1400" dirty="0">
                <a:solidFill>
                  <a:schemeClr val="bg1"/>
                </a:solidFill>
              </a:rPr>
              <a:t>Leemos la situación</a:t>
            </a:r>
            <a:endParaRPr lang="en-US" sz="1400" dirty="0"/>
          </a:p>
        </p:txBody>
      </p:sp>
      <p:sp>
        <p:nvSpPr>
          <p:cNvPr id="29" name="Shape 22"/>
          <p:cNvSpPr/>
          <p:nvPr/>
        </p:nvSpPr>
        <p:spPr>
          <a:xfrm>
            <a:off x="6492240" y="2743200"/>
            <a:ext cx="457200" cy="45720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6606540" y="2857500"/>
            <a:ext cx="228600" cy="228600"/>
          </a:xfrm>
          <a:prstGeom prst="rect">
            <a:avLst/>
          </a:prstGeom>
        </p:spPr>
      </p:pic>
      <p:sp>
        <p:nvSpPr>
          <p:cNvPr id="31" name="Text 23"/>
          <p:cNvSpPr txBox="1"/>
          <p:nvPr/>
        </p:nvSpPr>
        <p:spPr>
          <a:xfrm>
            <a:off x="7059168" y="2743200"/>
            <a:ext cx="1508760" cy="457200"/>
          </a:xfrm>
          <a:prstGeom prst="rect">
            <a:avLst/>
          </a:prstGeom>
          <a:noFill/>
          <a:ln/>
        </p:spPr>
        <p:txBody>
          <a:bodyPr wrap="square" lIns="0" tIns="0" rIns="0" bIns="0" rtlCol="0" anchor="ctr"/>
          <a:lstStyle/>
          <a:p>
            <a:pPr indent="0" marL="0">
              <a:buNone/>
            </a:pPr>
            <a:r>
              <a:rPr lang="en-US" sz="1400" dirty="0">
                <a:solidFill>
                  <a:schemeClr val="bg1"/>
                </a:solidFill>
              </a:rPr>
              <a:t>Vemos cómo funciona</a:t>
            </a:r>
            <a:endParaRPr lang="en-US" sz="1400" dirty="0"/>
          </a:p>
        </p:txBody>
      </p:sp>
      <p:sp>
        <p:nvSpPr>
          <p:cNvPr id="32" name="Shape 24"/>
          <p:cNvSpPr/>
          <p:nvPr/>
        </p:nvSpPr>
        <p:spPr>
          <a:xfrm>
            <a:off x="6492240" y="3566160"/>
            <a:ext cx="457200" cy="457200"/>
          </a:xfrm>
          <a:prstGeom prst="ellipse">
            <a:avLst/>
          </a:prstGeom>
          <a:solidFill>
            <a:schemeClr val="accent1"/>
          </a:solidFill>
          <a:ln w="12700">
            <a:solidFill>
              <a:schemeClr val="accent1"/>
            </a:solidFill>
            <a:prstDash val="solid"/>
          </a:ln>
        </p:spPr>
      </p:sp>
      <p:pic>
        <p:nvPicPr>
          <p:cNvPr id="33" name="Image 6" descr="preencoded.png">    </p:cNvPr>
          <p:cNvPicPr>
            <a:picLocks noChangeAspect="1"/>
          </p:cNvPicPr>
          <p:nvPr/>
        </p:nvPicPr>
        <p:blipFill>
          <a:blip r:embed="rId7"/>
          <a:stretch>
            <a:fillRect/>
          </a:stretch>
        </p:blipFill>
        <p:spPr>
          <a:xfrm>
            <a:off x="6606540" y="3680460"/>
            <a:ext cx="228600" cy="228600"/>
          </a:xfrm>
          <a:prstGeom prst="rect">
            <a:avLst/>
          </a:prstGeom>
        </p:spPr>
      </p:pic>
      <p:sp>
        <p:nvSpPr>
          <p:cNvPr id="34" name="Text 25"/>
          <p:cNvSpPr txBox="1"/>
          <p:nvPr/>
        </p:nvSpPr>
        <p:spPr>
          <a:xfrm>
            <a:off x="7059168" y="3566160"/>
            <a:ext cx="1508760" cy="457200"/>
          </a:xfrm>
          <a:prstGeom prst="rect">
            <a:avLst/>
          </a:prstGeom>
          <a:noFill/>
          <a:ln/>
        </p:spPr>
        <p:txBody>
          <a:bodyPr wrap="square" lIns="0" tIns="0" rIns="0" bIns="0" rtlCol="0" anchor="ctr"/>
          <a:lstStyle/>
          <a:p>
            <a:pPr indent="0" marL="0">
              <a:buNone/>
            </a:pPr>
            <a:r>
              <a:rPr lang="en-US" sz="1400" dirty="0">
                <a:solidFill>
                  <a:schemeClr val="bg1"/>
                </a:solidFill>
              </a:rPr>
              <a:t>Sacamos los conceptos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1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La laptop robada de la orientadora</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Roban del carro la laptop de la orientadora. Tenía los expedientes de los estudiantes guardados en el escritorio, sin cifrar, y la contraseña era «orientacion2026».</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¿Qué principio se perdió? ¿En qué estado estaban los datos?</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1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El cubo de McCumber aplicado al caso</a:t>
            </a:r>
            <a:endParaRPr lang="en-US" sz="2600" dirty="0"/>
          </a:p>
        </p:txBody>
      </p:sp>
      <p:sp>
        <p:nvSpPr>
          <p:cNvPr id="4" name="Shape 2"/>
          <p:cNvSpPr/>
          <p:nvPr/>
        </p:nvSpPr>
        <p:spPr>
          <a:xfrm>
            <a:off x="457200" y="1325880"/>
            <a:ext cx="2560320" cy="3154680"/>
          </a:xfrm>
          <a:prstGeom prst="roundRect">
            <a:avLst>
              <a:gd name="adj" fmla="val 2857"/>
            </a:avLst>
          </a:prstGeom>
          <a:solidFill>
            <a:schemeClr val="bg2"/>
          </a:solidFill>
          <a:ln w="19050">
            <a:solidFill>
              <a:schemeClr val="accent3"/>
            </a:solidFill>
            <a:prstDash val="solid"/>
          </a:ln>
        </p:spPr>
      </p:sp>
      <p:sp>
        <p:nvSpPr>
          <p:cNvPr id="5" name="Shape 3"/>
          <p:cNvSpPr/>
          <p:nvPr/>
        </p:nvSpPr>
        <p:spPr>
          <a:xfrm>
            <a:off x="685800" y="1581912"/>
            <a:ext cx="731520" cy="731520"/>
          </a:xfrm>
          <a:prstGeom prst="ellipse">
            <a:avLst/>
          </a:prstGeom>
          <a:solidFill>
            <a:schemeClr val="accent3"/>
          </a:solidFill>
          <a:ln w="1270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868680" y="1764792"/>
            <a:ext cx="365760" cy="365760"/>
          </a:xfrm>
          <a:prstGeom prst="rect">
            <a:avLst/>
          </a:prstGeom>
        </p:spPr>
      </p:pic>
      <p:sp>
        <p:nvSpPr>
          <p:cNvPr id="7" name="Text 4"/>
          <p:cNvSpPr txBox="1"/>
          <p:nvPr/>
        </p:nvSpPr>
        <p:spPr>
          <a:xfrm>
            <a:off x="685800" y="2468880"/>
            <a:ext cx="2103120" cy="411480"/>
          </a:xfrm>
          <a:prstGeom prst="rect">
            <a:avLst/>
          </a:prstGeom>
          <a:noFill/>
          <a:ln/>
        </p:spPr>
        <p:txBody>
          <a:bodyPr wrap="square" lIns="0" tIns="0" rIns="0" bIns="0" rtlCol="0" anchor="t"/>
          <a:lstStyle/>
          <a:p>
            <a:pPr indent="0" marL="0">
              <a:buNone/>
            </a:pPr>
            <a:r>
              <a:rPr lang="en-US" sz="1700" b="1" dirty="0">
                <a:solidFill>
                  <a:schemeClr val="tx2"/>
                </a:solidFill>
              </a:rPr>
              <a:t>Principios</a:t>
            </a:r>
            <a:endParaRPr lang="en-US" sz="1700" dirty="0"/>
          </a:p>
        </p:txBody>
      </p:sp>
      <p:sp>
        <p:nvSpPr>
          <p:cNvPr id="8" name="Text 5"/>
          <p:cNvSpPr txBox="1"/>
          <p:nvPr/>
        </p:nvSpPr>
        <p:spPr>
          <a:xfrm>
            <a:off x="685800" y="2926080"/>
            <a:ext cx="2103120" cy="1417320"/>
          </a:xfrm>
          <a:prstGeom prst="rect">
            <a:avLst/>
          </a:prstGeom>
          <a:noFill/>
          <a:ln/>
        </p:spPr>
        <p:txBody>
          <a:bodyPr wrap="square" lIns="0" tIns="0" rIns="0" bIns="0" rtlCol="0" anchor="t"/>
          <a:lstStyle/>
          <a:p>
            <a:pPr indent="0" marL="0">
              <a:buNone/>
            </a:pPr>
            <a:r>
              <a:rPr lang="en-US" sz="1400" dirty="0">
                <a:solidFill>
                  <a:schemeClr val="tx1"/>
                </a:solidFill>
              </a:rPr>
              <a:t>Confidencialidad, integridad y disponibilidad. Aquí se perdió la confidencialidad.</a:t>
            </a:r>
            <a:endParaRPr lang="en-US" sz="1400" dirty="0"/>
          </a:p>
        </p:txBody>
      </p:sp>
      <p:sp>
        <p:nvSpPr>
          <p:cNvPr id="9" name="Shape 6"/>
          <p:cNvSpPr/>
          <p:nvPr/>
        </p:nvSpPr>
        <p:spPr>
          <a:xfrm>
            <a:off x="3291840" y="1325880"/>
            <a:ext cx="2560320" cy="3154680"/>
          </a:xfrm>
          <a:prstGeom prst="roundRect">
            <a:avLst>
              <a:gd name="adj" fmla="val 2857"/>
            </a:avLst>
          </a:prstGeom>
          <a:solidFill>
            <a:schemeClr val="bg2"/>
          </a:solidFill>
          <a:ln w="12700">
            <a:solidFill>
              <a:schemeClr val="bg2"/>
            </a:solidFill>
            <a:prstDash val="solid"/>
          </a:ln>
        </p:spPr>
      </p:sp>
      <p:sp>
        <p:nvSpPr>
          <p:cNvPr id="10" name="Shape 7"/>
          <p:cNvSpPr/>
          <p:nvPr/>
        </p:nvSpPr>
        <p:spPr>
          <a:xfrm>
            <a:off x="3520440" y="1581912"/>
            <a:ext cx="731520" cy="7315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703320" y="1764792"/>
            <a:ext cx="365760" cy="365760"/>
          </a:xfrm>
          <a:prstGeom prst="rect">
            <a:avLst/>
          </a:prstGeom>
        </p:spPr>
      </p:pic>
      <p:sp>
        <p:nvSpPr>
          <p:cNvPr id="12" name="Text 8"/>
          <p:cNvSpPr txBox="1"/>
          <p:nvPr/>
        </p:nvSpPr>
        <p:spPr>
          <a:xfrm>
            <a:off x="3520440" y="2468880"/>
            <a:ext cx="2103120" cy="411480"/>
          </a:xfrm>
          <a:prstGeom prst="rect">
            <a:avLst/>
          </a:prstGeom>
          <a:noFill/>
          <a:ln/>
        </p:spPr>
        <p:txBody>
          <a:bodyPr wrap="square" lIns="0" tIns="0" rIns="0" bIns="0" rtlCol="0" anchor="t"/>
          <a:lstStyle/>
          <a:p>
            <a:pPr indent="0" marL="0">
              <a:buNone/>
            </a:pPr>
            <a:r>
              <a:rPr lang="en-US" sz="1700" b="1" dirty="0">
                <a:solidFill>
                  <a:schemeClr val="tx2"/>
                </a:solidFill>
              </a:rPr>
              <a:t>Estados de los datos</a:t>
            </a:r>
            <a:endParaRPr lang="en-US" sz="1700" dirty="0"/>
          </a:p>
        </p:txBody>
      </p:sp>
      <p:sp>
        <p:nvSpPr>
          <p:cNvPr id="13" name="Text 9"/>
          <p:cNvSpPr txBox="1"/>
          <p:nvPr/>
        </p:nvSpPr>
        <p:spPr>
          <a:xfrm>
            <a:off x="3520440" y="2926080"/>
            <a:ext cx="2103120" cy="1417320"/>
          </a:xfrm>
          <a:prstGeom prst="rect">
            <a:avLst/>
          </a:prstGeom>
          <a:noFill/>
          <a:ln/>
        </p:spPr>
        <p:txBody>
          <a:bodyPr wrap="square" lIns="0" tIns="0" rIns="0" bIns="0" rtlCol="0" anchor="t"/>
          <a:lstStyle/>
          <a:p>
            <a:pPr indent="0" marL="0">
              <a:buNone/>
            </a:pPr>
            <a:r>
              <a:rPr lang="en-US" sz="1400" dirty="0">
                <a:solidFill>
                  <a:schemeClr val="tx1"/>
                </a:solidFill>
              </a:rPr>
              <a:t>Reposo, tránsito o proceso. Estaban en reposo.</a:t>
            </a:r>
            <a:endParaRPr lang="en-US" sz="1400" dirty="0"/>
          </a:p>
        </p:txBody>
      </p:sp>
      <p:sp>
        <p:nvSpPr>
          <p:cNvPr id="14" name="Shape 10"/>
          <p:cNvSpPr/>
          <p:nvPr/>
        </p:nvSpPr>
        <p:spPr>
          <a:xfrm>
            <a:off x="6126480" y="1325880"/>
            <a:ext cx="2560320" cy="3154680"/>
          </a:xfrm>
          <a:prstGeom prst="roundRect">
            <a:avLst>
              <a:gd name="adj" fmla="val 2857"/>
            </a:avLst>
          </a:prstGeom>
          <a:solidFill>
            <a:schemeClr val="bg2"/>
          </a:solidFill>
          <a:ln w="19050">
            <a:solidFill>
              <a:schemeClr val="accent4"/>
            </a:solidFill>
            <a:prstDash val="solid"/>
          </a:ln>
        </p:spPr>
      </p:sp>
      <p:sp>
        <p:nvSpPr>
          <p:cNvPr id="15" name="Shape 11"/>
          <p:cNvSpPr/>
          <p:nvPr/>
        </p:nvSpPr>
        <p:spPr>
          <a:xfrm>
            <a:off x="6355080" y="1581912"/>
            <a:ext cx="731520" cy="731520"/>
          </a:xfrm>
          <a:prstGeom prst="ellipse">
            <a:avLst/>
          </a:prstGeom>
          <a:solidFill>
            <a:schemeClr val="accent4"/>
          </a:solidFill>
          <a:ln w="12700">
            <a:solidFill>
              <a:schemeClr val="accent4"/>
            </a:solidFill>
            <a:prstDash val="solid"/>
          </a:ln>
        </p:spPr>
      </p:sp>
      <p:pic>
        <p:nvPicPr>
          <p:cNvPr id="16" name="Image 2" descr="preencoded.png">    </p:cNvPr>
          <p:cNvPicPr>
            <a:picLocks noChangeAspect="1"/>
          </p:cNvPicPr>
          <p:nvPr/>
        </p:nvPicPr>
        <p:blipFill>
          <a:blip r:embed="rId3"/>
          <a:stretch>
            <a:fillRect/>
          </a:stretch>
        </p:blipFill>
        <p:spPr>
          <a:xfrm>
            <a:off x="6537960" y="1764792"/>
            <a:ext cx="365760" cy="365760"/>
          </a:xfrm>
          <a:prstGeom prst="rect">
            <a:avLst/>
          </a:prstGeom>
        </p:spPr>
      </p:pic>
      <p:sp>
        <p:nvSpPr>
          <p:cNvPr id="17" name="Text 12"/>
          <p:cNvSpPr txBox="1"/>
          <p:nvPr/>
        </p:nvSpPr>
        <p:spPr>
          <a:xfrm>
            <a:off x="6355080" y="2468880"/>
            <a:ext cx="2103120" cy="411480"/>
          </a:xfrm>
          <a:prstGeom prst="rect">
            <a:avLst/>
          </a:prstGeom>
          <a:noFill/>
          <a:ln/>
        </p:spPr>
        <p:txBody>
          <a:bodyPr wrap="square" lIns="0" tIns="0" rIns="0" bIns="0" rtlCol="0" anchor="t"/>
          <a:lstStyle/>
          <a:p>
            <a:pPr indent="0" marL="0">
              <a:buNone/>
            </a:pPr>
            <a:r>
              <a:rPr lang="en-US" sz="1700" b="1" dirty="0">
                <a:solidFill>
                  <a:schemeClr val="tx2"/>
                </a:solidFill>
              </a:rPr>
              <a:t>Contramedidas</a:t>
            </a:r>
            <a:endParaRPr lang="en-US" sz="1700" dirty="0"/>
          </a:p>
        </p:txBody>
      </p:sp>
      <p:sp>
        <p:nvSpPr>
          <p:cNvPr id="18" name="Text 13"/>
          <p:cNvSpPr txBox="1"/>
          <p:nvPr/>
        </p:nvSpPr>
        <p:spPr>
          <a:xfrm>
            <a:off x="6355080" y="2926080"/>
            <a:ext cx="2103120" cy="1417320"/>
          </a:xfrm>
          <a:prstGeom prst="rect">
            <a:avLst/>
          </a:prstGeom>
          <a:noFill/>
          <a:ln/>
        </p:spPr>
        <p:txBody>
          <a:bodyPr wrap="square" lIns="0" tIns="0" rIns="0" bIns="0" rtlCol="0" anchor="t"/>
          <a:lstStyle/>
          <a:p>
            <a:pPr indent="0" marL="0">
              <a:buNone/>
            </a:pPr>
            <a:r>
              <a:rPr lang="en-US" sz="1400" dirty="0">
                <a:solidFill>
                  <a:schemeClr val="tx1"/>
                </a:solidFill>
              </a:rPr>
              <a:t>Tecnología, políticas y personas. Faltaron las tres.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1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La laptop robada de la orientadora</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Confidencialidad</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Solo personas autorizadas ven la información</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Datos en reposo</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Guardados en un disco o en la nube</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Contramedida</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Tecnología, política o capacitación</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Cómo se evita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Cifrar el disco con BitLocker</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Política de contraseñas robustas</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Capacitar sobre cuidado de equipos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2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Una sola cerradura</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Una PyME confiaba en un firewall caro como única protección. Un empleado conectó una llave USB que encontró en el parqueo: el malware entró desde adentro y el firewall nunca lo vio.</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¿Por qué no bastó el firewall? ¿Qué capas faltaron?</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2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Defensa en profundidad: capas de protección</a:t>
            </a:r>
            <a:endParaRPr lang="en-US" sz="2600" dirty="0"/>
          </a:p>
        </p:txBody>
      </p:sp>
      <p:sp>
        <p:nvSpPr>
          <p:cNvPr id="4" name="Shape 2"/>
          <p:cNvSpPr/>
          <p:nvPr/>
        </p:nvSpPr>
        <p:spPr>
          <a:xfrm>
            <a:off x="457200" y="1280160"/>
            <a:ext cx="8229600" cy="3291840"/>
          </a:xfrm>
          <a:prstGeom prst="roundRect">
            <a:avLst>
              <a:gd name="adj" fmla="val 2778"/>
            </a:avLst>
          </a:prstGeom>
          <a:solidFill>
            <a:schemeClr val="accent1">
              <a:alpha val="15000"/>
            </a:schemeClr>
          </a:solidFill>
          <a:ln w="9525">
            <a:solidFill>
              <a:schemeClr val="accent1"/>
            </a:solidFill>
            <a:prstDash val="solid"/>
          </a:ln>
        </p:spPr>
      </p:sp>
      <p:sp>
        <p:nvSpPr>
          <p:cNvPr id="5" name="Text 3"/>
          <p:cNvSpPr txBox="1"/>
          <p:nvPr/>
        </p:nvSpPr>
        <p:spPr>
          <a:xfrm>
            <a:off x="594360" y="1298448"/>
            <a:ext cx="7955280" cy="219456"/>
          </a:xfrm>
          <a:prstGeom prst="rect">
            <a:avLst/>
          </a:prstGeom>
          <a:noFill/>
          <a:ln/>
        </p:spPr>
        <p:txBody>
          <a:bodyPr wrap="square" lIns="0" tIns="0" rIns="0" bIns="0" rtlCol="0" anchor="t"/>
          <a:lstStyle/>
          <a:p>
            <a:pPr algn="l" indent="0" marL="0">
              <a:buNone/>
            </a:pPr>
            <a:r>
              <a:rPr lang="en-US" sz="1200" b="1" dirty="0">
                <a:solidFill>
                  <a:schemeClr val="tx2"/>
                </a:solidFill>
              </a:rPr>
              <a:t>1. Políticas y capacitación</a:t>
            </a:r>
            <a:endParaRPr lang="en-US" sz="1200" dirty="0"/>
          </a:p>
        </p:txBody>
      </p:sp>
      <p:sp>
        <p:nvSpPr>
          <p:cNvPr id="6" name="Shape 4"/>
          <p:cNvSpPr/>
          <p:nvPr/>
        </p:nvSpPr>
        <p:spPr>
          <a:xfrm>
            <a:off x="786384" y="1513332"/>
            <a:ext cx="7571232" cy="2825496"/>
          </a:xfrm>
          <a:prstGeom prst="roundRect">
            <a:avLst>
              <a:gd name="adj" fmla="val 3236"/>
            </a:avLst>
          </a:prstGeom>
          <a:solidFill>
            <a:schemeClr val="accent1">
              <a:alpha val="15000"/>
            </a:schemeClr>
          </a:solidFill>
          <a:ln w="9525">
            <a:solidFill>
              <a:schemeClr val="accent1"/>
            </a:solidFill>
            <a:prstDash val="solid"/>
          </a:ln>
        </p:spPr>
      </p:sp>
      <p:sp>
        <p:nvSpPr>
          <p:cNvPr id="7" name="Text 5"/>
          <p:cNvSpPr txBox="1"/>
          <p:nvPr/>
        </p:nvSpPr>
        <p:spPr>
          <a:xfrm>
            <a:off x="923544" y="1531620"/>
            <a:ext cx="7296912" cy="219456"/>
          </a:xfrm>
          <a:prstGeom prst="rect">
            <a:avLst/>
          </a:prstGeom>
          <a:noFill/>
          <a:ln/>
        </p:spPr>
        <p:txBody>
          <a:bodyPr wrap="square" lIns="0" tIns="0" rIns="0" bIns="0" rtlCol="0" anchor="t"/>
          <a:lstStyle/>
          <a:p>
            <a:pPr algn="l" indent="0" marL="0">
              <a:buNone/>
            </a:pPr>
            <a:r>
              <a:rPr lang="en-US" sz="1200" b="1" dirty="0">
                <a:solidFill>
                  <a:schemeClr val="tx2"/>
                </a:solidFill>
              </a:rPr>
              <a:t>2. Seguridad física</a:t>
            </a:r>
            <a:endParaRPr lang="en-US" sz="1200" dirty="0"/>
          </a:p>
        </p:txBody>
      </p:sp>
      <p:sp>
        <p:nvSpPr>
          <p:cNvPr id="8" name="Shape 6"/>
          <p:cNvSpPr/>
          <p:nvPr/>
        </p:nvSpPr>
        <p:spPr>
          <a:xfrm>
            <a:off x="1115568" y="1746504"/>
            <a:ext cx="6912864" cy="2359152"/>
          </a:xfrm>
          <a:prstGeom prst="roundRect">
            <a:avLst>
              <a:gd name="adj" fmla="val 3876"/>
            </a:avLst>
          </a:prstGeom>
          <a:solidFill>
            <a:schemeClr val="accent1">
              <a:alpha val="15000"/>
            </a:schemeClr>
          </a:solidFill>
          <a:ln w="9525">
            <a:solidFill>
              <a:schemeClr val="accent1"/>
            </a:solidFill>
            <a:prstDash val="solid"/>
          </a:ln>
        </p:spPr>
      </p:sp>
      <p:sp>
        <p:nvSpPr>
          <p:cNvPr id="9" name="Text 7"/>
          <p:cNvSpPr txBox="1"/>
          <p:nvPr/>
        </p:nvSpPr>
        <p:spPr>
          <a:xfrm>
            <a:off x="1252728" y="1764792"/>
            <a:ext cx="6638544" cy="219456"/>
          </a:xfrm>
          <a:prstGeom prst="rect">
            <a:avLst/>
          </a:prstGeom>
          <a:noFill/>
          <a:ln/>
        </p:spPr>
        <p:txBody>
          <a:bodyPr wrap="square" lIns="0" tIns="0" rIns="0" bIns="0" rtlCol="0" anchor="t"/>
          <a:lstStyle/>
          <a:p>
            <a:pPr algn="l" indent="0" marL="0">
              <a:buNone/>
            </a:pPr>
            <a:r>
              <a:rPr lang="en-US" sz="1200" b="1" dirty="0">
                <a:solidFill>
                  <a:schemeClr val="tx2"/>
                </a:solidFill>
              </a:rPr>
              <a:t>3. Perímetro: firewall</a:t>
            </a:r>
            <a:endParaRPr lang="en-US" sz="1200" dirty="0"/>
          </a:p>
        </p:txBody>
      </p:sp>
      <p:sp>
        <p:nvSpPr>
          <p:cNvPr id="10" name="Shape 8"/>
          <p:cNvSpPr/>
          <p:nvPr/>
        </p:nvSpPr>
        <p:spPr>
          <a:xfrm>
            <a:off x="1444752" y="1979676"/>
            <a:ext cx="6254496" cy="1892808"/>
          </a:xfrm>
          <a:prstGeom prst="roundRect">
            <a:avLst>
              <a:gd name="adj" fmla="val 4831"/>
            </a:avLst>
          </a:prstGeom>
          <a:solidFill>
            <a:schemeClr val="accent1">
              <a:alpha val="15000"/>
            </a:schemeClr>
          </a:solidFill>
          <a:ln w="9525">
            <a:solidFill>
              <a:schemeClr val="accent1"/>
            </a:solidFill>
            <a:prstDash val="solid"/>
          </a:ln>
        </p:spPr>
      </p:sp>
      <p:sp>
        <p:nvSpPr>
          <p:cNvPr id="11" name="Text 9"/>
          <p:cNvSpPr txBox="1"/>
          <p:nvPr/>
        </p:nvSpPr>
        <p:spPr>
          <a:xfrm>
            <a:off x="1581912" y="1997964"/>
            <a:ext cx="5980176" cy="219456"/>
          </a:xfrm>
          <a:prstGeom prst="rect">
            <a:avLst/>
          </a:prstGeom>
          <a:noFill/>
          <a:ln/>
        </p:spPr>
        <p:txBody>
          <a:bodyPr wrap="square" lIns="0" tIns="0" rIns="0" bIns="0" rtlCol="0" anchor="t"/>
          <a:lstStyle/>
          <a:p>
            <a:pPr algn="l" indent="0" marL="0">
              <a:buNone/>
            </a:pPr>
            <a:r>
              <a:rPr lang="en-US" sz="1200" b="1" dirty="0">
                <a:solidFill>
                  <a:schemeClr val="tx2"/>
                </a:solidFill>
              </a:rPr>
              <a:t>4. Red interna: segmentación</a:t>
            </a:r>
            <a:endParaRPr lang="en-US" sz="1200" dirty="0"/>
          </a:p>
        </p:txBody>
      </p:sp>
      <p:sp>
        <p:nvSpPr>
          <p:cNvPr id="12" name="Shape 10"/>
          <p:cNvSpPr/>
          <p:nvPr/>
        </p:nvSpPr>
        <p:spPr>
          <a:xfrm>
            <a:off x="1773936" y="2212848"/>
            <a:ext cx="5596128" cy="1426464"/>
          </a:xfrm>
          <a:prstGeom prst="roundRect">
            <a:avLst>
              <a:gd name="adj" fmla="val 6410"/>
            </a:avLst>
          </a:prstGeom>
          <a:solidFill>
            <a:schemeClr val="accent1">
              <a:alpha val="15000"/>
            </a:schemeClr>
          </a:solidFill>
          <a:ln w="9525">
            <a:solidFill>
              <a:schemeClr val="accent1"/>
            </a:solidFill>
            <a:prstDash val="solid"/>
          </a:ln>
        </p:spPr>
      </p:sp>
      <p:sp>
        <p:nvSpPr>
          <p:cNvPr id="13" name="Text 11"/>
          <p:cNvSpPr txBox="1"/>
          <p:nvPr/>
        </p:nvSpPr>
        <p:spPr>
          <a:xfrm>
            <a:off x="1911096" y="2231136"/>
            <a:ext cx="5321808" cy="219456"/>
          </a:xfrm>
          <a:prstGeom prst="rect">
            <a:avLst/>
          </a:prstGeom>
          <a:noFill/>
          <a:ln/>
        </p:spPr>
        <p:txBody>
          <a:bodyPr wrap="square" lIns="0" tIns="0" rIns="0" bIns="0" rtlCol="0" anchor="t"/>
          <a:lstStyle/>
          <a:p>
            <a:pPr algn="l" indent="0" marL="0">
              <a:buNone/>
            </a:pPr>
            <a:r>
              <a:rPr lang="en-US" sz="1200" b="1" dirty="0">
                <a:solidFill>
                  <a:schemeClr val="tx2"/>
                </a:solidFill>
              </a:rPr>
              <a:t>5. Equipo: antimalware</a:t>
            </a:r>
            <a:endParaRPr lang="en-US" sz="1200" dirty="0"/>
          </a:p>
        </p:txBody>
      </p:sp>
      <p:sp>
        <p:nvSpPr>
          <p:cNvPr id="14" name="Shape 12"/>
          <p:cNvSpPr/>
          <p:nvPr/>
        </p:nvSpPr>
        <p:spPr>
          <a:xfrm>
            <a:off x="2103120" y="2446020"/>
            <a:ext cx="4937760" cy="960120"/>
          </a:xfrm>
          <a:prstGeom prst="roundRect">
            <a:avLst>
              <a:gd name="adj" fmla="val 9524"/>
            </a:avLst>
          </a:prstGeom>
          <a:solidFill>
            <a:schemeClr val="accent1">
              <a:alpha val="15000"/>
            </a:schemeClr>
          </a:solidFill>
          <a:ln w="9525">
            <a:solidFill>
              <a:schemeClr val="accent1"/>
            </a:solidFill>
            <a:prstDash val="solid"/>
          </a:ln>
        </p:spPr>
      </p:sp>
      <p:sp>
        <p:nvSpPr>
          <p:cNvPr id="15" name="Text 13"/>
          <p:cNvSpPr txBox="1"/>
          <p:nvPr/>
        </p:nvSpPr>
        <p:spPr>
          <a:xfrm>
            <a:off x="2240280" y="2464308"/>
            <a:ext cx="4663440" cy="219456"/>
          </a:xfrm>
          <a:prstGeom prst="rect">
            <a:avLst/>
          </a:prstGeom>
          <a:noFill/>
          <a:ln/>
        </p:spPr>
        <p:txBody>
          <a:bodyPr wrap="square" lIns="0" tIns="0" rIns="0" bIns="0" rtlCol="0" anchor="t"/>
          <a:lstStyle/>
          <a:p>
            <a:pPr algn="l" indent="0" marL="0">
              <a:buNone/>
            </a:pPr>
            <a:r>
              <a:rPr lang="en-US" sz="1200" b="1" dirty="0">
                <a:solidFill>
                  <a:schemeClr val="tx2"/>
                </a:solidFill>
              </a:rPr>
              <a:t>6. Aplicación</a:t>
            </a:r>
            <a:endParaRPr lang="en-US" sz="1200" dirty="0"/>
          </a:p>
        </p:txBody>
      </p:sp>
      <p:sp>
        <p:nvSpPr>
          <p:cNvPr id="16" name="Shape 14"/>
          <p:cNvSpPr/>
          <p:nvPr/>
        </p:nvSpPr>
        <p:spPr>
          <a:xfrm>
            <a:off x="2432304" y="2679192"/>
            <a:ext cx="4279392" cy="493776"/>
          </a:xfrm>
          <a:prstGeom prst="roundRect">
            <a:avLst>
              <a:gd name="adj" fmla="val 18519"/>
            </a:avLst>
          </a:prstGeom>
          <a:solidFill>
            <a:schemeClr val="accent1">
              <a:alpha val="15000"/>
            </a:schemeClr>
          </a:solidFill>
          <a:ln w="9525">
            <a:solidFill>
              <a:schemeClr val="accent1"/>
            </a:solidFill>
            <a:prstDash val="solid"/>
          </a:ln>
        </p:spPr>
      </p:sp>
      <p:sp>
        <p:nvSpPr>
          <p:cNvPr id="17" name="Text 15"/>
          <p:cNvSpPr txBox="1"/>
          <p:nvPr/>
        </p:nvSpPr>
        <p:spPr>
          <a:xfrm>
            <a:off x="2569464" y="2679192"/>
            <a:ext cx="4005072" cy="493776"/>
          </a:xfrm>
          <a:prstGeom prst="rect">
            <a:avLst/>
          </a:prstGeom>
          <a:noFill/>
          <a:ln/>
        </p:spPr>
        <p:txBody>
          <a:bodyPr wrap="square" lIns="0" tIns="0" rIns="0" bIns="0" rtlCol="0" anchor="ctr"/>
          <a:lstStyle/>
          <a:p>
            <a:pPr algn="ctr" indent="0" marL="0">
              <a:buNone/>
            </a:pPr>
            <a:r>
              <a:rPr lang="en-US" sz="1200" b="1" dirty="0">
                <a:solidFill>
                  <a:schemeClr val="tx2"/>
                </a:solidFill>
              </a:rPr>
              <a:t>7. Datos: cifrado</a:t>
            </a:r>
            <a:endParaRPr lang="en-US" sz="12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2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Una sola cerradura</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Defensa en profundidad</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Varias capas: si una falla, otra detiene</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Política de seguridad</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Reglas escritas de la organización</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Marco NIST</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Identificar, proteger, detectar, responder, recuperar</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Cómo se evita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Bloquear USB desconocidas</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Antimalware en cada equipo</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Capacitar al personal</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MINI ACTIVIDAD 1</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La cebolla del colegio</a:t>
            </a:r>
            <a:endParaRPr lang="en-US" sz="2600" dirty="0"/>
          </a:p>
        </p:txBody>
      </p:sp>
      <p:sp>
        <p:nvSpPr>
          <p:cNvPr id="4" name="Shape 2"/>
          <p:cNvSpPr/>
          <p:nvPr/>
        </p:nvSpPr>
        <p:spPr>
          <a:xfrm>
            <a:off x="457200" y="1188720"/>
            <a:ext cx="982980" cy="384048"/>
          </a:xfrm>
          <a:prstGeom prst="roundRect">
            <a:avLst>
              <a:gd name="adj" fmla="val 47619"/>
            </a:avLst>
          </a:prstGeom>
          <a:solidFill>
            <a:schemeClr val="accent2">
              <a:alpha val="30000"/>
            </a:schemeClr>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585216" y="1271016"/>
            <a:ext cx="219456" cy="219456"/>
          </a:xfrm>
          <a:prstGeom prst="rect">
            <a:avLst/>
          </a:prstGeom>
        </p:spPr>
      </p:pic>
      <p:sp>
        <p:nvSpPr>
          <p:cNvPr id="6" name="Text 3"/>
          <p:cNvSpPr txBox="1"/>
          <p:nvPr/>
        </p:nvSpPr>
        <p:spPr>
          <a:xfrm>
            <a:off x="868680" y="1188720"/>
            <a:ext cx="525780" cy="384048"/>
          </a:xfrm>
          <a:prstGeom prst="rect">
            <a:avLst/>
          </a:prstGeom>
          <a:noFill/>
          <a:ln/>
        </p:spPr>
        <p:txBody>
          <a:bodyPr wrap="square" lIns="0" tIns="0" rIns="0" bIns="0" rtlCol="0" anchor="ctr"/>
          <a:lstStyle/>
          <a:p>
            <a:pPr indent="0" marL="0">
              <a:buNone/>
            </a:pPr>
            <a:r>
              <a:rPr lang="en-US" sz="1300" b="1" dirty="0">
                <a:solidFill>
                  <a:schemeClr val="tx2"/>
                </a:solidFill>
              </a:rPr>
              <a:t>4 min</a:t>
            </a:r>
            <a:endParaRPr lang="en-US" sz="1300" dirty="0"/>
          </a:p>
        </p:txBody>
      </p:sp>
      <p:sp>
        <p:nvSpPr>
          <p:cNvPr id="7" name="Shape 4"/>
          <p:cNvSpPr/>
          <p:nvPr/>
        </p:nvSpPr>
        <p:spPr>
          <a:xfrm>
            <a:off x="1577340" y="1188720"/>
            <a:ext cx="1417320" cy="384048"/>
          </a:xfrm>
          <a:prstGeom prst="roundRect">
            <a:avLst>
              <a:gd name="adj" fmla="val 47619"/>
            </a:avLst>
          </a:prstGeom>
          <a:solidFill>
            <a:schemeClr val="accent2">
              <a:alpha val="30000"/>
            </a:schemeClr>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1705356" y="1271016"/>
            <a:ext cx="219456" cy="219456"/>
          </a:xfrm>
          <a:prstGeom prst="rect">
            <a:avLst/>
          </a:prstGeom>
        </p:spPr>
      </p:pic>
      <p:sp>
        <p:nvSpPr>
          <p:cNvPr id="9" name="Text 5"/>
          <p:cNvSpPr txBox="1"/>
          <p:nvPr/>
        </p:nvSpPr>
        <p:spPr>
          <a:xfrm>
            <a:off x="1988820" y="1188720"/>
            <a:ext cx="960120" cy="384048"/>
          </a:xfrm>
          <a:prstGeom prst="rect">
            <a:avLst/>
          </a:prstGeom>
          <a:noFill/>
          <a:ln/>
        </p:spPr>
        <p:txBody>
          <a:bodyPr wrap="square" lIns="0" tIns="0" rIns="0" bIns="0" rtlCol="0" anchor="ctr"/>
          <a:lstStyle/>
          <a:p>
            <a:pPr indent="0" marL="0">
              <a:buNone/>
            </a:pPr>
            <a:r>
              <a:rPr lang="en-US" sz="1300" b="1" dirty="0">
                <a:solidFill>
                  <a:schemeClr val="tx2"/>
                </a:solidFill>
              </a:rPr>
              <a:t>En parejas</a:t>
            </a:r>
            <a:endParaRPr lang="en-US" sz="1300" dirty="0"/>
          </a:p>
        </p:txBody>
      </p:sp>
      <p:sp>
        <p:nvSpPr>
          <p:cNvPr id="10" name="Shape 6"/>
          <p:cNvSpPr/>
          <p:nvPr/>
        </p:nvSpPr>
        <p:spPr>
          <a:xfrm>
            <a:off x="457200" y="1783080"/>
            <a:ext cx="438912" cy="438912"/>
          </a:xfrm>
          <a:prstGeom prst="ellipse">
            <a:avLst/>
          </a:prstGeom>
          <a:solidFill>
            <a:schemeClr val="accent2"/>
          </a:solidFill>
          <a:ln w="12700">
            <a:solidFill>
              <a:schemeClr val="accent2"/>
            </a:solidFill>
            <a:prstDash val="solid"/>
          </a:ln>
        </p:spPr>
      </p:sp>
      <p:sp>
        <p:nvSpPr>
          <p:cNvPr id="11" name="Text 7"/>
          <p:cNvSpPr txBox="1"/>
          <p:nvPr/>
        </p:nvSpPr>
        <p:spPr>
          <a:xfrm>
            <a:off x="457200" y="178308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2" name="Text 8"/>
          <p:cNvSpPr txBox="1"/>
          <p:nvPr/>
        </p:nvSpPr>
        <p:spPr>
          <a:xfrm>
            <a:off x="1051560" y="1764792"/>
            <a:ext cx="4114800" cy="694944"/>
          </a:xfrm>
          <a:prstGeom prst="rect">
            <a:avLst/>
          </a:prstGeom>
          <a:noFill/>
          <a:ln/>
        </p:spPr>
        <p:txBody>
          <a:bodyPr wrap="square" lIns="0" tIns="0" rIns="0" bIns="0" rtlCol="0" anchor="t"/>
          <a:lstStyle/>
          <a:p>
            <a:pPr indent="0" marL="0">
              <a:buNone/>
            </a:pPr>
            <a:r>
              <a:rPr lang="en-US" sz="1500" dirty="0">
                <a:solidFill>
                  <a:schemeClr val="tx1"/>
                </a:solidFill>
              </a:rPr>
              <a:t>Dibujen cinco círculos, uno dentro del otro.</a:t>
            </a:r>
            <a:endParaRPr lang="en-US" sz="1500" dirty="0"/>
          </a:p>
        </p:txBody>
      </p:sp>
      <p:sp>
        <p:nvSpPr>
          <p:cNvPr id="13" name="Shape 9"/>
          <p:cNvSpPr/>
          <p:nvPr/>
        </p:nvSpPr>
        <p:spPr>
          <a:xfrm>
            <a:off x="457200" y="2514600"/>
            <a:ext cx="438912" cy="438912"/>
          </a:xfrm>
          <a:prstGeom prst="ellipse">
            <a:avLst/>
          </a:prstGeom>
          <a:solidFill>
            <a:schemeClr val="accent2"/>
          </a:solidFill>
          <a:ln w="12700">
            <a:solidFill>
              <a:schemeClr val="accent2"/>
            </a:solidFill>
            <a:prstDash val="solid"/>
          </a:ln>
        </p:spPr>
      </p:sp>
      <p:sp>
        <p:nvSpPr>
          <p:cNvPr id="14" name="Text 10"/>
          <p:cNvSpPr txBox="1"/>
          <p:nvPr/>
        </p:nvSpPr>
        <p:spPr>
          <a:xfrm>
            <a:off x="457200" y="251460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5" name="Text 11"/>
          <p:cNvSpPr txBox="1"/>
          <p:nvPr/>
        </p:nvSpPr>
        <p:spPr>
          <a:xfrm>
            <a:off x="1051560" y="2496312"/>
            <a:ext cx="4114800" cy="694944"/>
          </a:xfrm>
          <a:prstGeom prst="rect">
            <a:avLst/>
          </a:prstGeom>
          <a:noFill/>
          <a:ln/>
        </p:spPr>
        <p:txBody>
          <a:bodyPr wrap="square" lIns="0" tIns="0" rIns="0" bIns="0" rtlCol="0" anchor="t"/>
          <a:lstStyle/>
          <a:p>
            <a:pPr indent="0" marL="0">
              <a:buNone/>
            </a:pPr>
            <a:r>
              <a:rPr lang="en-US" sz="1500" dirty="0">
                <a:solidFill>
                  <a:schemeClr val="tx1"/>
                </a:solidFill>
              </a:rPr>
              <a:t>Escriban en cada capa una medida real del colegio.</a:t>
            </a:r>
            <a:endParaRPr lang="en-US" sz="1500" dirty="0"/>
          </a:p>
        </p:txBody>
      </p:sp>
      <p:sp>
        <p:nvSpPr>
          <p:cNvPr id="16" name="Shape 12"/>
          <p:cNvSpPr/>
          <p:nvPr/>
        </p:nvSpPr>
        <p:spPr>
          <a:xfrm>
            <a:off x="457200" y="3246120"/>
            <a:ext cx="438912" cy="438912"/>
          </a:xfrm>
          <a:prstGeom prst="ellipse">
            <a:avLst/>
          </a:prstGeom>
          <a:solidFill>
            <a:schemeClr val="accent2"/>
          </a:solidFill>
          <a:ln w="12700">
            <a:solidFill>
              <a:schemeClr val="accent2"/>
            </a:solidFill>
            <a:prstDash val="solid"/>
          </a:ln>
        </p:spPr>
      </p:sp>
      <p:sp>
        <p:nvSpPr>
          <p:cNvPr id="17" name="Text 13"/>
          <p:cNvSpPr txBox="1"/>
          <p:nvPr/>
        </p:nvSpPr>
        <p:spPr>
          <a:xfrm>
            <a:off x="457200" y="324612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Text 14"/>
          <p:cNvSpPr txBox="1"/>
          <p:nvPr/>
        </p:nvSpPr>
        <p:spPr>
          <a:xfrm>
            <a:off x="1051560" y="3227832"/>
            <a:ext cx="4114800" cy="694944"/>
          </a:xfrm>
          <a:prstGeom prst="rect">
            <a:avLst/>
          </a:prstGeom>
          <a:noFill/>
          <a:ln/>
        </p:spPr>
        <p:txBody>
          <a:bodyPr wrap="square" lIns="0" tIns="0" rIns="0" bIns="0" rtlCol="0" anchor="t"/>
          <a:lstStyle/>
          <a:p>
            <a:pPr indent="0" marL="0">
              <a:buNone/>
            </a:pPr>
            <a:r>
              <a:rPr lang="en-US" sz="1500" dirty="0">
                <a:solidFill>
                  <a:schemeClr val="tx1"/>
                </a:solidFill>
              </a:rPr>
              <a:t>Comparen con otra pareja: ¿qué capa quedó más débil?</a:t>
            </a:r>
            <a:endParaRPr lang="en-US" sz="1500" dirty="0"/>
          </a:p>
        </p:txBody>
      </p:sp>
      <p:sp>
        <p:nvSpPr>
          <p:cNvPr id="19" name="Shape 15"/>
          <p:cNvSpPr/>
          <p:nvPr/>
        </p:nvSpPr>
        <p:spPr>
          <a:xfrm>
            <a:off x="457200" y="4069080"/>
            <a:ext cx="4709160" cy="566928"/>
          </a:xfrm>
          <a:prstGeom prst="roundRect">
            <a:avLst>
              <a:gd name="adj" fmla="val 12903"/>
            </a:avLst>
          </a:prstGeom>
          <a:solidFill>
            <a:schemeClr val="bg2"/>
          </a:solidFill>
          <a:ln w="12700">
            <a:solidFill>
              <a:schemeClr val="bg2"/>
            </a:solidFill>
            <a:prstDash val="solid"/>
          </a:ln>
        </p:spPr>
      </p:sp>
      <p:sp>
        <p:nvSpPr>
          <p:cNvPr id="20" name="Text 16"/>
          <p:cNvSpPr txBox="1"/>
          <p:nvPr/>
        </p:nvSpPr>
        <p:spPr>
          <a:xfrm>
            <a:off x="640080" y="4069080"/>
            <a:ext cx="4389120" cy="566928"/>
          </a:xfrm>
          <a:prstGeom prst="rect">
            <a:avLst/>
          </a:prstGeom>
          <a:noFill/>
          <a:ln/>
        </p:spPr>
        <p:txBody>
          <a:bodyPr wrap="square" lIns="0" tIns="0" rIns="0" bIns="0" rtlCol="0" anchor="ctr"/>
          <a:lstStyle/>
          <a:p>
            <a:pPr indent="0" marL="0">
              <a:buNone/>
            </a:pPr>
            <a:r>
              <a:rPr lang="en-US" sz="1300" b="1" dirty="0">
                <a:solidFill>
                  <a:schemeClr val="accent1"/>
                </a:solidFill>
              </a:rPr>
              <a:t>Producto: </a:t>
            </a:r>
            <a:pPr indent="0" marL="0">
              <a:buNone/>
            </a:pPr>
            <a:r>
              <a:rPr lang="en-US" sz="1300" dirty="0">
                <a:solidFill>
                  <a:schemeClr val="tx1"/>
                </a:solidFill>
              </a:rPr>
              <a:t>Modelo de capas del colegio con su punto débil.</a:t>
            </a:r>
            <a:endParaRPr lang="en-US" sz="1300" dirty="0"/>
          </a:p>
        </p:txBody>
      </p:sp>
      <p:sp>
        <p:nvSpPr>
          <p:cNvPr id="21" name="Shape 17"/>
          <p:cNvSpPr/>
          <p:nvPr/>
        </p:nvSpPr>
        <p:spPr>
          <a:xfrm>
            <a:off x="5486400" y="1188720"/>
            <a:ext cx="3200400" cy="3447288"/>
          </a:xfrm>
          <a:prstGeom prst="roundRect">
            <a:avLst>
              <a:gd name="adj" fmla="val 2286"/>
            </a:avLst>
          </a:prstGeom>
          <a:solidFill>
            <a:schemeClr val="bg2"/>
          </a:solidFill>
          <a:ln w="12700">
            <a:solidFill>
              <a:schemeClr val="bg2"/>
            </a:solidFill>
            <a:prstDash val="solid"/>
          </a:ln>
        </p:spPr>
      </p:sp>
      <p:sp>
        <p:nvSpPr>
          <p:cNvPr id="22" name="Text 18"/>
          <p:cNvSpPr txBox="1"/>
          <p:nvPr/>
        </p:nvSpPr>
        <p:spPr>
          <a:xfrm>
            <a:off x="5715000" y="137160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Opciones</a:t>
            </a:r>
            <a:endParaRPr lang="en-US" sz="1400" dirty="0"/>
          </a:p>
        </p:txBody>
      </p:sp>
      <p:sp>
        <p:nvSpPr>
          <p:cNvPr id="23" name="Shape 19"/>
          <p:cNvSpPr/>
          <p:nvPr/>
        </p:nvSpPr>
        <p:spPr>
          <a:xfrm>
            <a:off x="5715000" y="1874520"/>
            <a:ext cx="1325880" cy="548640"/>
          </a:xfrm>
          <a:prstGeom prst="roundRect">
            <a:avLst>
              <a:gd name="adj" fmla="val 13333"/>
            </a:avLst>
          </a:prstGeom>
          <a:solidFill>
            <a:schemeClr val="bg1"/>
          </a:solidFill>
          <a:ln w="12700">
            <a:solidFill>
              <a:schemeClr val="accent1"/>
            </a:solidFill>
            <a:prstDash val="solid"/>
          </a:ln>
        </p:spPr>
      </p:sp>
      <p:sp>
        <p:nvSpPr>
          <p:cNvPr id="24" name="Text 20"/>
          <p:cNvSpPr txBox="1"/>
          <p:nvPr/>
        </p:nvSpPr>
        <p:spPr>
          <a:xfrm>
            <a:off x="5760720" y="1874520"/>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Cámaras</a:t>
            </a:r>
            <a:endParaRPr lang="en-US" sz="1300" dirty="0"/>
          </a:p>
        </p:txBody>
      </p:sp>
      <p:sp>
        <p:nvSpPr>
          <p:cNvPr id="25" name="Shape 21"/>
          <p:cNvSpPr/>
          <p:nvPr/>
        </p:nvSpPr>
        <p:spPr>
          <a:xfrm>
            <a:off x="7132320" y="1874520"/>
            <a:ext cx="1325880" cy="548640"/>
          </a:xfrm>
          <a:prstGeom prst="roundRect">
            <a:avLst>
              <a:gd name="adj" fmla="val 13333"/>
            </a:avLst>
          </a:prstGeom>
          <a:solidFill>
            <a:schemeClr val="bg1"/>
          </a:solidFill>
          <a:ln w="12700">
            <a:solidFill>
              <a:schemeClr val="accent1"/>
            </a:solidFill>
            <a:prstDash val="solid"/>
          </a:ln>
        </p:spPr>
      </p:sp>
      <p:sp>
        <p:nvSpPr>
          <p:cNvPr id="26" name="Text 22"/>
          <p:cNvSpPr txBox="1"/>
          <p:nvPr/>
        </p:nvSpPr>
        <p:spPr>
          <a:xfrm>
            <a:off x="7178040" y="1874520"/>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Portón con guarda</a:t>
            </a:r>
            <a:endParaRPr lang="en-US" sz="1300" dirty="0"/>
          </a:p>
        </p:txBody>
      </p:sp>
      <p:sp>
        <p:nvSpPr>
          <p:cNvPr id="27" name="Shape 23"/>
          <p:cNvSpPr/>
          <p:nvPr/>
        </p:nvSpPr>
        <p:spPr>
          <a:xfrm>
            <a:off x="5715000" y="2587752"/>
            <a:ext cx="1325880" cy="548640"/>
          </a:xfrm>
          <a:prstGeom prst="roundRect">
            <a:avLst>
              <a:gd name="adj" fmla="val 13333"/>
            </a:avLst>
          </a:prstGeom>
          <a:solidFill>
            <a:schemeClr val="bg1"/>
          </a:solidFill>
          <a:ln w="12700">
            <a:solidFill>
              <a:schemeClr val="accent1"/>
            </a:solidFill>
            <a:prstDash val="solid"/>
          </a:ln>
        </p:spPr>
      </p:sp>
      <p:sp>
        <p:nvSpPr>
          <p:cNvPr id="28" name="Text 24"/>
          <p:cNvSpPr txBox="1"/>
          <p:nvPr/>
        </p:nvSpPr>
        <p:spPr>
          <a:xfrm>
            <a:off x="5760720" y="2587752"/>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Firewall</a:t>
            </a:r>
            <a:endParaRPr lang="en-US" sz="1300" dirty="0"/>
          </a:p>
        </p:txBody>
      </p:sp>
      <p:sp>
        <p:nvSpPr>
          <p:cNvPr id="29" name="Shape 25"/>
          <p:cNvSpPr/>
          <p:nvPr/>
        </p:nvSpPr>
        <p:spPr>
          <a:xfrm>
            <a:off x="7132320" y="2587752"/>
            <a:ext cx="1325880" cy="548640"/>
          </a:xfrm>
          <a:prstGeom prst="roundRect">
            <a:avLst>
              <a:gd name="adj" fmla="val 13333"/>
            </a:avLst>
          </a:prstGeom>
          <a:solidFill>
            <a:schemeClr val="bg1"/>
          </a:solidFill>
          <a:ln w="12700">
            <a:solidFill>
              <a:schemeClr val="accent1"/>
            </a:solidFill>
            <a:prstDash val="solid"/>
          </a:ln>
        </p:spPr>
      </p:sp>
      <p:sp>
        <p:nvSpPr>
          <p:cNvPr id="30" name="Text 26"/>
          <p:cNvSpPr txBox="1"/>
          <p:nvPr/>
        </p:nvSpPr>
        <p:spPr>
          <a:xfrm>
            <a:off x="7178040" y="2587752"/>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Contraseñas</a:t>
            </a:r>
            <a:endParaRPr lang="en-US" sz="1300" dirty="0"/>
          </a:p>
        </p:txBody>
      </p:sp>
      <p:sp>
        <p:nvSpPr>
          <p:cNvPr id="31" name="Shape 27"/>
          <p:cNvSpPr/>
          <p:nvPr/>
        </p:nvSpPr>
        <p:spPr>
          <a:xfrm>
            <a:off x="5715000" y="3300984"/>
            <a:ext cx="1325880" cy="548640"/>
          </a:xfrm>
          <a:prstGeom prst="roundRect">
            <a:avLst>
              <a:gd name="adj" fmla="val 13333"/>
            </a:avLst>
          </a:prstGeom>
          <a:solidFill>
            <a:schemeClr val="bg1"/>
          </a:solidFill>
          <a:ln w="12700">
            <a:solidFill>
              <a:schemeClr val="accent1"/>
            </a:solidFill>
            <a:prstDash val="solid"/>
          </a:ln>
        </p:spPr>
      </p:sp>
      <p:sp>
        <p:nvSpPr>
          <p:cNvPr id="32" name="Text 28"/>
          <p:cNvSpPr txBox="1"/>
          <p:nvPr/>
        </p:nvSpPr>
        <p:spPr>
          <a:xfrm>
            <a:off x="5760720" y="3300984"/>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Antivirus</a:t>
            </a:r>
            <a:endParaRPr lang="en-US" sz="1300" dirty="0"/>
          </a:p>
        </p:txBody>
      </p:sp>
      <p:sp>
        <p:nvSpPr>
          <p:cNvPr id="33" name="Shape 29"/>
          <p:cNvSpPr/>
          <p:nvPr/>
        </p:nvSpPr>
        <p:spPr>
          <a:xfrm>
            <a:off x="7132320" y="3300984"/>
            <a:ext cx="1325880" cy="548640"/>
          </a:xfrm>
          <a:prstGeom prst="roundRect">
            <a:avLst>
              <a:gd name="adj" fmla="val 13333"/>
            </a:avLst>
          </a:prstGeom>
          <a:solidFill>
            <a:schemeClr val="bg1"/>
          </a:solidFill>
          <a:ln w="12700">
            <a:solidFill>
              <a:schemeClr val="accent1"/>
            </a:solidFill>
            <a:prstDash val="solid"/>
          </a:ln>
        </p:spPr>
      </p:sp>
      <p:sp>
        <p:nvSpPr>
          <p:cNvPr id="34" name="Text 30"/>
          <p:cNvSpPr txBox="1"/>
          <p:nvPr/>
        </p:nvSpPr>
        <p:spPr>
          <a:xfrm>
            <a:off x="7178040" y="3300984"/>
            <a:ext cx="1234440" cy="548640"/>
          </a:xfrm>
          <a:prstGeom prst="rect">
            <a:avLst/>
          </a:prstGeom>
          <a:noFill/>
          <a:ln/>
        </p:spPr>
        <p:txBody>
          <a:bodyPr wrap="square" lIns="0" tIns="0" rIns="0" bIns="0" rtlCol="0" anchor="ctr"/>
          <a:lstStyle/>
          <a:p>
            <a:pPr algn="ctr" indent="0" marL="0">
              <a:buNone/>
            </a:pPr>
            <a:r>
              <a:rPr lang="en-US" sz="1300" b="1" dirty="0">
                <a:solidFill>
                  <a:schemeClr val="tx2"/>
                </a:solidFill>
              </a:rPr>
              <a:t>Capacitación</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3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¿Quién puede ver las notas?</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El sistema de notas da a todos los docentes acceso a todas las secciones. Un docente de otro nivel cambió por error la nota de un estudiante que no era suyo, y nadie sabe quién fue.</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¿Qué modelo de acceso usarían? ¿Cómo sabrían quién hizo el cambio?</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3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AAA: tres preguntas para cada acceso</a:t>
            </a:r>
            <a:endParaRPr lang="en-US" sz="2600" dirty="0"/>
          </a:p>
        </p:txBody>
      </p:sp>
      <p:sp>
        <p:nvSpPr>
          <p:cNvPr id="4" name="Shape 2"/>
          <p:cNvSpPr/>
          <p:nvPr/>
        </p:nvSpPr>
        <p:spPr>
          <a:xfrm>
            <a:off x="457200" y="1691640"/>
            <a:ext cx="2535936" cy="2514600"/>
          </a:xfrm>
          <a:prstGeom prst="roundRect">
            <a:avLst>
              <a:gd name="adj" fmla="val 2909"/>
            </a:avLst>
          </a:prstGeom>
          <a:solidFill>
            <a:schemeClr val="bg2"/>
          </a:solidFill>
          <a:ln w="12700">
            <a:solidFill>
              <a:schemeClr val="bg2"/>
            </a:solidFill>
            <a:prstDash val="solid"/>
          </a:ln>
        </p:spPr>
      </p:sp>
      <p:sp>
        <p:nvSpPr>
          <p:cNvPr id="5" name="Shape 3"/>
          <p:cNvSpPr/>
          <p:nvPr/>
        </p:nvSpPr>
        <p:spPr>
          <a:xfrm>
            <a:off x="1359408" y="201168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542288" y="2194560"/>
            <a:ext cx="365760" cy="365760"/>
          </a:xfrm>
          <a:prstGeom prst="rect">
            <a:avLst/>
          </a:prstGeom>
        </p:spPr>
      </p:pic>
      <p:sp>
        <p:nvSpPr>
          <p:cNvPr id="7" name="Shape 4"/>
          <p:cNvSpPr/>
          <p:nvPr/>
        </p:nvSpPr>
        <p:spPr>
          <a:xfrm>
            <a:off x="566928" y="1801368"/>
            <a:ext cx="292608" cy="292608"/>
          </a:xfrm>
          <a:prstGeom prst="ellipse">
            <a:avLst/>
          </a:prstGeom>
          <a:solidFill>
            <a:schemeClr val="accent2"/>
          </a:solidFill>
          <a:ln w="12700">
            <a:solidFill>
              <a:schemeClr val="accent2"/>
            </a:solidFill>
            <a:prstDash val="solid"/>
          </a:ln>
        </p:spPr>
      </p:sp>
      <p:sp>
        <p:nvSpPr>
          <p:cNvPr id="8" name="Text 5"/>
          <p:cNvSpPr txBox="1"/>
          <p:nvPr/>
        </p:nvSpPr>
        <p:spPr>
          <a:xfrm>
            <a:off x="566928"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9" name="Text 6"/>
          <p:cNvSpPr txBox="1"/>
          <p:nvPr/>
        </p:nvSpPr>
        <p:spPr>
          <a:xfrm>
            <a:off x="566928" y="2926080"/>
            <a:ext cx="2316480" cy="566928"/>
          </a:xfrm>
          <a:prstGeom prst="rect">
            <a:avLst/>
          </a:prstGeom>
          <a:noFill/>
          <a:ln/>
        </p:spPr>
        <p:txBody>
          <a:bodyPr wrap="square" lIns="0" tIns="0" rIns="0" bIns="0" rtlCol="0" anchor="t"/>
          <a:lstStyle/>
          <a:p>
            <a:pPr algn="ctr" indent="0" marL="0">
              <a:buNone/>
            </a:pPr>
            <a:r>
              <a:rPr lang="en-US" sz="1600" b="1" dirty="0">
                <a:solidFill>
                  <a:schemeClr val="tx2"/>
                </a:solidFill>
              </a:rPr>
              <a:t>Autenticación</a:t>
            </a:r>
            <a:endParaRPr lang="en-US" sz="1600" dirty="0"/>
          </a:p>
        </p:txBody>
      </p:sp>
      <p:sp>
        <p:nvSpPr>
          <p:cNvPr id="10" name="Text 7"/>
          <p:cNvSpPr txBox="1"/>
          <p:nvPr/>
        </p:nvSpPr>
        <p:spPr>
          <a:xfrm>
            <a:off x="566928" y="3529584"/>
            <a:ext cx="2316480" cy="594360"/>
          </a:xfrm>
          <a:prstGeom prst="rect">
            <a:avLst/>
          </a:prstGeom>
          <a:noFill/>
          <a:ln/>
        </p:spPr>
        <p:txBody>
          <a:bodyPr wrap="square" lIns="0" tIns="0" rIns="0" bIns="0" rtlCol="0" anchor="t"/>
          <a:lstStyle/>
          <a:p>
            <a:pPr algn="ctr" indent="0" marL="0">
              <a:buNone/>
            </a:pPr>
            <a:r>
              <a:rPr lang="en-US" sz="1400" dirty="0">
                <a:solidFill>
                  <a:schemeClr val="accent5"/>
                </a:solidFill>
              </a:rPr>
              <a:t>¿Quién sos?</a:t>
            </a:r>
            <a:endParaRPr lang="en-US" sz="1400" dirty="0"/>
          </a:p>
        </p:txBody>
      </p:sp>
      <p:sp>
        <p:nvSpPr>
          <p:cNvPr id="11" name="Shape 8"/>
          <p:cNvSpPr/>
          <p:nvPr/>
        </p:nvSpPr>
        <p:spPr>
          <a:xfrm>
            <a:off x="3029712" y="2948940"/>
            <a:ext cx="237744" cy="914"/>
          </a:xfrm>
          <a:prstGeom prst="line">
            <a:avLst/>
          </a:prstGeom>
          <a:noFill/>
          <a:ln w="25400">
            <a:solidFill>
              <a:schemeClr val="accent5"/>
            </a:solidFill>
            <a:prstDash val="solid"/>
            <a:tailEnd type="triangle"/>
          </a:ln>
        </p:spPr>
      </p:sp>
      <p:sp>
        <p:nvSpPr>
          <p:cNvPr id="12" name="Shape 9"/>
          <p:cNvSpPr/>
          <p:nvPr/>
        </p:nvSpPr>
        <p:spPr>
          <a:xfrm>
            <a:off x="3304032" y="1691640"/>
            <a:ext cx="2535936" cy="2514600"/>
          </a:xfrm>
          <a:prstGeom prst="roundRect">
            <a:avLst>
              <a:gd name="adj" fmla="val 2909"/>
            </a:avLst>
          </a:prstGeom>
          <a:solidFill>
            <a:schemeClr val="bg2"/>
          </a:solidFill>
          <a:ln w="12700">
            <a:solidFill>
              <a:schemeClr val="bg2"/>
            </a:solidFill>
            <a:prstDash val="solid"/>
          </a:ln>
        </p:spPr>
      </p:sp>
      <p:sp>
        <p:nvSpPr>
          <p:cNvPr id="13" name="Shape 10"/>
          <p:cNvSpPr/>
          <p:nvPr/>
        </p:nvSpPr>
        <p:spPr>
          <a:xfrm>
            <a:off x="4206240" y="2011680"/>
            <a:ext cx="731520" cy="73152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389120" y="2194560"/>
            <a:ext cx="365760" cy="365760"/>
          </a:xfrm>
          <a:prstGeom prst="rect">
            <a:avLst/>
          </a:prstGeom>
        </p:spPr>
      </p:pic>
      <p:sp>
        <p:nvSpPr>
          <p:cNvPr id="15" name="Shape 11"/>
          <p:cNvSpPr/>
          <p:nvPr/>
        </p:nvSpPr>
        <p:spPr>
          <a:xfrm>
            <a:off x="3413760" y="1801368"/>
            <a:ext cx="292608" cy="292608"/>
          </a:xfrm>
          <a:prstGeom prst="ellipse">
            <a:avLst/>
          </a:prstGeom>
          <a:solidFill>
            <a:schemeClr val="accent2"/>
          </a:solidFill>
          <a:ln w="12700">
            <a:solidFill>
              <a:schemeClr val="accent2"/>
            </a:solidFill>
            <a:prstDash val="solid"/>
          </a:ln>
        </p:spPr>
      </p:sp>
      <p:sp>
        <p:nvSpPr>
          <p:cNvPr id="16" name="Text 12"/>
          <p:cNvSpPr txBox="1"/>
          <p:nvPr/>
        </p:nvSpPr>
        <p:spPr>
          <a:xfrm>
            <a:off x="3413760"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17" name="Text 13"/>
          <p:cNvSpPr txBox="1"/>
          <p:nvPr/>
        </p:nvSpPr>
        <p:spPr>
          <a:xfrm>
            <a:off x="3413760" y="2926080"/>
            <a:ext cx="2316480" cy="566928"/>
          </a:xfrm>
          <a:prstGeom prst="rect">
            <a:avLst/>
          </a:prstGeom>
          <a:noFill/>
          <a:ln/>
        </p:spPr>
        <p:txBody>
          <a:bodyPr wrap="square" lIns="0" tIns="0" rIns="0" bIns="0" rtlCol="0" anchor="t"/>
          <a:lstStyle/>
          <a:p>
            <a:pPr algn="ctr" indent="0" marL="0">
              <a:buNone/>
            </a:pPr>
            <a:r>
              <a:rPr lang="en-US" sz="1600" b="1" dirty="0">
                <a:solidFill>
                  <a:schemeClr val="tx2"/>
                </a:solidFill>
              </a:rPr>
              <a:t>Autorización</a:t>
            </a:r>
            <a:endParaRPr lang="en-US" sz="1600" dirty="0"/>
          </a:p>
        </p:txBody>
      </p:sp>
      <p:sp>
        <p:nvSpPr>
          <p:cNvPr id="18" name="Text 14"/>
          <p:cNvSpPr txBox="1"/>
          <p:nvPr/>
        </p:nvSpPr>
        <p:spPr>
          <a:xfrm>
            <a:off x="3413760" y="3529584"/>
            <a:ext cx="2316480" cy="594360"/>
          </a:xfrm>
          <a:prstGeom prst="rect">
            <a:avLst/>
          </a:prstGeom>
          <a:noFill/>
          <a:ln/>
        </p:spPr>
        <p:txBody>
          <a:bodyPr wrap="square" lIns="0" tIns="0" rIns="0" bIns="0" rtlCol="0" anchor="t"/>
          <a:lstStyle/>
          <a:p>
            <a:pPr algn="ctr" indent="0" marL="0">
              <a:buNone/>
            </a:pPr>
            <a:r>
              <a:rPr lang="en-US" sz="1400" dirty="0">
                <a:solidFill>
                  <a:schemeClr val="accent5"/>
                </a:solidFill>
              </a:rPr>
              <a:t>¿Qué podés hacer?</a:t>
            </a:r>
            <a:endParaRPr lang="en-US" sz="1400" dirty="0"/>
          </a:p>
        </p:txBody>
      </p:sp>
      <p:sp>
        <p:nvSpPr>
          <p:cNvPr id="19" name="Shape 15"/>
          <p:cNvSpPr/>
          <p:nvPr/>
        </p:nvSpPr>
        <p:spPr>
          <a:xfrm>
            <a:off x="5876544" y="2948940"/>
            <a:ext cx="237744" cy="914"/>
          </a:xfrm>
          <a:prstGeom prst="line">
            <a:avLst/>
          </a:prstGeom>
          <a:noFill/>
          <a:ln w="25400">
            <a:solidFill>
              <a:schemeClr val="accent5"/>
            </a:solidFill>
            <a:prstDash val="solid"/>
            <a:tailEnd type="triangle"/>
          </a:ln>
        </p:spPr>
      </p:sp>
      <p:sp>
        <p:nvSpPr>
          <p:cNvPr id="20" name="Shape 16"/>
          <p:cNvSpPr/>
          <p:nvPr/>
        </p:nvSpPr>
        <p:spPr>
          <a:xfrm>
            <a:off x="6150864" y="1691640"/>
            <a:ext cx="2535936" cy="2514600"/>
          </a:xfrm>
          <a:prstGeom prst="roundRect">
            <a:avLst>
              <a:gd name="adj" fmla="val 2909"/>
            </a:avLst>
          </a:prstGeom>
          <a:solidFill>
            <a:schemeClr val="bg2"/>
          </a:solidFill>
          <a:ln w="19050">
            <a:solidFill>
              <a:schemeClr val="accent4"/>
            </a:solidFill>
            <a:prstDash val="solid"/>
          </a:ln>
        </p:spPr>
      </p:sp>
      <p:sp>
        <p:nvSpPr>
          <p:cNvPr id="21" name="Shape 17"/>
          <p:cNvSpPr/>
          <p:nvPr/>
        </p:nvSpPr>
        <p:spPr>
          <a:xfrm>
            <a:off x="7053072" y="2011680"/>
            <a:ext cx="731520" cy="731520"/>
          </a:xfrm>
          <a:prstGeom prst="ellipse">
            <a:avLst/>
          </a:prstGeom>
          <a:solidFill>
            <a:schemeClr val="accent4"/>
          </a:solidFill>
          <a:ln w="12700">
            <a:solidFill>
              <a:schemeClr val="accent4"/>
            </a:solidFill>
            <a:prstDash val="solid"/>
          </a:ln>
        </p:spPr>
      </p:sp>
      <p:pic>
        <p:nvPicPr>
          <p:cNvPr id="22" name="Image 2" descr="preencoded.png">    </p:cNvPr>
          <p:cNvPicPr>
            <a:picLocks noChangeAspect="1"/>
          </p:cNvPicPr>
          <p:nvPr/>
        </p:nvPicPr>
        <p:blipFill>
          <a:blip r:embed="rId3"/>
          <a:stretch>
            <a:fillRect/>
          </a:stretch>
        </p:blipFill>
        <p:spPr>
          <a:xfrm>
            <a:off x="7235952" y="2194560"/>
            <a:ext cx="365760" cy="365760"/>
          </a:xfrm>
          <a:prstGeom prst="rect">
            <a:avLst/>
          </a:prstGeom>
        </p:spPr>
      </p:pic>
      <p:sp>
        <p:nvSpPr>
          <p:cNvPr id="23" name="Shape 18"/>
          <p:cNvSpPr/>
          <p:nvPr/>
        </p:nvSpPr>
        <p:spPr>
          <a:xfrm>
            <a:off x="6260592" y="1801368"/>
            <a:ext cx="292608" cy="292608"/>
          </a:xfrm>
          <a:prstGeom prst="ellipse">
            <a:avLst/>
          </a:prstGeom>
          <a:solidFill>
            <a:schemeClr val="accent2"/>
          </a:solidFill>
          <a:ln w="12700">
            <a:solidFill>
              <a:schemeClr val="accent2"/>
            </a:solidFill>
            <a:prstDash val="solid"/>
          </a:ln>
        </p:spPr>
      </p:sp>
      <p:sp>
        <p:nvSpPr>
          <p:cNvPr id="24" name="Text 19"/>
          <p:cNvSpPr txBox="1"/>
          <p:nvPr/>
        </p:nvSpPr>
        <p:spPr>
          <a:xfrm>
            <a:off x="6260592"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25" name="Text 20"/>
          <p:cNvSpPr txBox="1"/>
          <p:nvPr/>
        </p:nvSpPr>
        <p:spPr>
          <a:xfrm>
            <a:off x="6260592" y="2926080"/>
            <a:ext cx="2316480" cy="566928"/>
          </a:xfrm>
          <a:prstGeom prst="rect">
            <a:avLst/>
          </a:prstGeom>
          <a:noFill/>
          <a:ln/>
        </p:spPr>
        <p:txBody>
          <a:bodyPr wrap="square" lIns="0" tIns="0" rIns="0" bIns="0" rtlCol="0" anchor="t"/>
          <a:lstStyle/>
          <a:p>
            <a:pPr algn="ctr" indent="0" marL="0">
              <a:buNone/>
            </a:pPr>
            <a:r>
              <a:rPr lang="en-US" sz="1600" b="1" dirty="0">
                <a:solidFill>
                  <a:schemeClr val="tx2"/>
                </a:solidFill>
              </a:rPr>
              <a:t>Registro</a:t>
            </a:r>
            <a:endParaRPr lang="en-US" sz="1600" dirty="0"/>
          </a:p>
        </p:txBody>
      </p:sp>
      <p:sp>
        <p:nvSpPr>
          <p:cNvPr id="26" name="Text 21"/>
          <p:cNvSpPr txBox="1"/>
          <p:nvPr/>
        </p:nvSpPr>
        <p:spPr>
          <a:xfrm>
            <a:off x="6260592" y="3529584"/>
            <a:ext cx="2316480" cy="594360"/>
          </a:xfrm>
          <a:prstGeom prst="rect">
            <a:avLst/>
          </a:prstGeom>
          <a:noFill/>
          <a:ln/>
        </p:spPr>
        <p:txBody>
          <a:bodyPr wrap="square" lIns="0" tIns="0" rIns="0" bIns="0" rtlCol="0" anchor="t"/>
          <a:lstStyle/>
          <a:p>
            <a:pPr algn="ctr" indent="0" marL="0">
              <a:buNone/>
            </a:pPr>
            <a:r>
              <a:rPr lang="en-US" sz="1400" dirty="0">
                <a:solidFill>
                  <a:schemeClr val="accent5"/>
                </a:solidFill>
              </a:rPr>
              <a:t>¿Qué hiciste y cuándo?</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3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¿Quién puede ver las notas?</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RBAC</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Permisos según el rol o puesto</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DAC y MAC</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Decide el dueño o decide el sistema</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AAA</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Autenticación, autorización y registro</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Cómo se evita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Cada docente ve solo sus secciones</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Cuentas individuales con MFA</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Revisar el registro de cambios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4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Solo el laboratorio de profes</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La base de datos de notas debe aceptar conexiones solo desde la red de profesores, 192.168.20.0/24. Hoy cualquier equipo del colegio, incluido el Wi-Fi de estudiantes, puede llegar a ella.</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¿Qué regla pondrían y dónde la colocarían?</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4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Zonas de la red del colegio</a:t>
            </a:r>
            <a:endParaRPr lang="en-US" sz="2600" dirty="0"/>
          </a:p>
        </p:txBody>
      </p:sp>
      <p:sp>
        <p:nvSpPr>
          <p:cNvPr id="4" name="Shape 2"/>
          <p:cNvSpPr/>
          <p:nvPr/>
        </p:nvSpPr>
        <p:spPr>
          <a:xfrm>
            <a:off x="457200" y="1417320"/>
            <a:ext cx="2042160" cy="3017520"/>
          </a:xfrm>
          <a:prstGeom prst="roundRect">
            <a:avLst>
              <a:gd name="adj" fmla="val 3582"/>
            </a:avLst>
          </a:prstGeom>
          <a:solidFill>
            <a:schemeClr val="bg2"/>
          </a:solidFill>
          <a:ln w="12700">
            <a:solidFill>
              <a:schemeClr val="bg2"/>
            </a:solidFill>
            <a:prstDash val="solid"/>
          </a:ln>
        </p:spPr>
      </p:sp>
      <p:sp>
        <p:nvSpPr>
          <p:cNvPr id="5" name="Shape 3"/>
          <p:cNvSpPr/>
          <p:nvPr/>
        </p:nvSpPr>
        <p:spPr>
          <a:xfrm>
            <a:off x="457200" y="1417320"/>
            <a:ext cx="2042160" cy="548640"/>
          </a:xfrm>
          <a:prstGeom prst="roundRect">
            <a:avLst>
              <a:gd name="adj" fmla="val 13333"/>
            </a:avLst>
          </a:prstGeom>
          <a:solidFill>
            <a:schemeClr val="accent3"/>
          </a:solidFill>
          <a:ln w="12700">
            <a:solidFill>
              <a:schemeClr val="accent3"/>
            </a:solidFill>
            <a:prstDash val="solid"/>
          </a:ln>
        </p:spPr>
      </p:sp>
      <p:sp>
        <p:nvSpPr>
          <p:cNvPr id="6" name="Text 4"/>
          <p:cNvSpPr txBox="1"/>
          <p:nvPr/>
        </p:nvSpPr>
        <p:spPr>
          <a:xfrm>
            <a:off x="457200" y="1417320"/>
            <a:ext cx="2042160" cy="548640"/>
          </a:xfrm>
          <a:prstGeom prst="rect">
            <a:avLst/>
          </a:prstGeom>
          <a:noFill/>
          <a:ln/>
        </p:spPr>
        <p:txBody>
          <a:bodyPr wrap="square" lIns="0" tIns="0" rIns="0" bIns="0" rtlCol="0" anchor="ctr"/>
          <a:lstStyle/>
          <a:p>
            <a:pPr algn="ctr" indent="0" marL="0">
              <a:buNone/>
            </a:pPr>
            <a:r>
              <a:rPr lang="en-US" sz="1600" b="1" dirty="0">
                <a:solidFill>
                  <a:schemeClr val="bg1"/>
                </a:solidFill>
              </a:rPr>
              <a:t>Zona Externa</a:t>
            </a:r>
            <a:endParaRPr lang="en-US" sz="1600" dirty="0"/>
          </a:p>
        </p:txBody>
      </p:sp>
      <p:sp>
        <p:nvSpPr>
          <p:cNvPr id="7" name="Shape 5"/>
          <p:cNvSpPr/>
          <p:nvPr/>
        </p:nvSpPr>
        <p:spPr>
          <a:xfrm>
            <a:off x="1066800" y="2194560"/>
            <a:ext cx="822960" cy="822960"/>
          </a:xfrm>
          <a:prstGeom prst="ellipse">
            <a:avLst/>
          </a:prstGeom>
          <a:solidFill>
            <a:schemeClr val="accent3"/>
          </a:solidFill>
          <a:ln w="12700">
            <a:solidFill>
              <a:schemeClr val="accent3"/>
            </a:solidFill>
            <a:prstDash val="solid"/>
          </a:ln>
        </p:spPr>
      </p:sp>
      <p:pic>
        <p:nvPicPr>
          <p:cNvPr id="8" name="Image 0" descr="preencoded.png">    </p:cNvPr>
          <p:cNvPicPr>
            <a:picLocks noChangeAspect="1"/>
          </p:cNvPicPr>
          <p:nvPr/>
        </p:nvPicPr>
        <p:blipFill>
          <a:blip r:embed="rId1"/>
          <a:stretch>
            <a:fillRect/>
          </a:stretch>
        </p:blipFill>
        <p:spPr>
          <a:xfrm>
            <a:off x="1272540" y="2400300"/>
            <a:ext cx="411480" cy="411480"/>
          </a:xfrm>
          <a:prstGeom prst="rect">
            <a:avLst/>
          </a:prstGeom>
        </p:spPr>
      </p:pic>
      <p:sp>
        <p:nvSpPr>
          <p:cNvPr id="9" name="Text 6"/>
          <p:cNvSpPr txBox="1"/>
          <p:nvPr/>
        </p:nvSpPr>
        <p:spPr>
          <a:xfrm>
            <a:off x="594360" y="3200400"/>
            <a:ext cx="1767840" cy="548640"/>
          </a:xfrm>
          <a:prstGeom prst="rect">
            <a:avLst/>
          </a:prstGeom>
          <a:noFill/>
          <a:ln/>
        </p:spPr>
        <p:txBody>
          <a:bodyPr wrap="square" lIns="0" tIns="0" rIns="0" bIns="0" rtlCol="0" anchor="t"/>
          <a:lstStyle/>
          <a:p>
            <a:pPr algn="ctr" indent="0" marL="0">
              <a:buNone/>
            </a:pPr>
            <a:r>
              <a:rPr lang="en-US" sz="1500" b="1" dirty="0">
                <a:solidFill>
                  <a:schemeClr val="tx2"/>
                </a:solidFill>
              </a:rPr>
              <a:t>Internet</a:t>
            </a:r>
            <a:endParaRPr lang="en-US" sz="1500" dirty="0"/>
          </a:p>
        </p:txBody>
      </p:sp>
      <p:sp>
        <p:nvSpPr>
          <p:cNvPr id="10" name="Text 7"/>
          <p:cNvSpPr txBox="1"/>
          <p:nvPr/>
        </p:nvSpPr>
        <p:spPr>
          <a:xfrm>
            <a:off x="594360" y="3749040"/>
            <a:ext cx="1767840" cy="548640"/>
          </a:xfrm>
          <a:prstGeom prst="rect">
            <a:avLst/>
          </a:prstGeom>
          <a:noFill/>
          <a:ln/>
        </p:spPr>
        <p:txBody>
          <a:bodyPr wrap="square" lIns="0" tIns="0" rIns="0" bIns="0" rtlCol="0" anchor="t"/>
          <a:lstStyle/>
          <a:p>
            <a:pPr algn="ctr" indent="0" marL="0">
              <a:buNone/>
            </a:pPr>
            <a:r>
              <a:rPr lang="en-US" sz="1300" dirty="0">
                <a:solidFill>
                  <a:schemeClr val="accent5"/>
                </a:solidFill>
              </a:rPr>
              <a:t>Sin confianza</a:t>
            </a:r>
            <a:endParaRPr lang="en-US" sz="1300" dirty="0"/>
          </a:p>
        </p:txBody>
      </p:sp>
      <p:sp>
        <p:nvSpPr>
          <p:cNvPr id="11" name="Shape 8"/>
          <p:cNvSpPr/>
          <p:nvPr/>
        </p:nvSpPr>
        <p:spPr>
          <a:xfrm>
            <a:off x="2572512" y="3017520"/>
            <a:ext cx="905256" cy="914"/>
          </a:xfrm>
          <a:prstGeom prst="line">
            <a:avLst/>
          </a:prstGeom>
          <a:noFill/>
          <a:ln w="25400">
            <a:solidFill>
              <a:schemeClr val="tx2"/>
            </a:solidFill>
            <a:prstDash val="solid"/>
            <a:tailEnd type="triangle"/>
          </a:ln>
        </p:spPr>
      </p:sp>
      <p:pic>
        <p:nvPicPr>
          <p:cNvPr id="12" name="Image 1" descr="preencoded.png">    </p:cNvPr>
          <p:cNvPicPr>
            <a:picLocks noChangeAspect="1"/>
          </p:cNvPicPr>
          <p:nvPr/>
        </p:nvPicPr>
        <p:blipFill>
          <a:blip r:embed="rId2"/>
          <a:stretch>
            <a:fillRect/>
          </a:stretch>
        </p:blipFill>
        <p:spPr>
          <a:xfrm>
            <a:off x="2860548" y="2450592"/>
            <a:ext cx="329184" cy="329184"/>
          </a:xfrm>
          <a:prstGeom prst="rect">
            <a:avLst/>
          </a:prstGeom>
        </p:spPr>
      </p:pic>
      <p:sp>
        <p:nvSpPr>
          <p:cNvPr id="13" name="Text 9"/>
          <p:cNvSpPr txBox="1"/>
          <p:nvPr/>
        </p:nvSpPr>
        <p:spPr>
          <a:xfrm>
            <a:off x="2526792" y="3108960"/>
            <a:ext cx="996696" cy="502920"/>
          </a:xfrm>
          <a:prstGeom prst="rect">
            <a:avLst/>
          </a:prstGeom>
          <a:noFill/>
          <a:ln/>
        </p:spPr>
        <p:txBody>
          <a:bodyPr wrap="square" lIns="0" tIns="0" rIns="0" bIns="0" rtlCol="0" anchor="t"/>
          <a:lstStyle/>
          <a:p>
            <a:pPr algn="ctr" indent="0" marL="0">
              <a:buNone/>
            </a:pPr>
            <a:r>
              <a:rPr lang="en-US" sz="1100" b="1" dirty="0">
                <a:solidFill>
                  <a:schemeClr val="tx2"/>
                </a:solidFill>
              </a:rPr>
              <a:t>Firewall</a:t>
            </a:r>
            <a:endParaRPr lang="en-US" sz="1100" dirty="0"/>
          </a:p>
        </p:txBody>
      </p:sp>
      <p:sp>
        <p:nvSpPr>
          <p:cNvPr id="14" name="Shape 10"/>
          <p:cNvSpPr/>
          <p:nvPr/>
        </p:nvSpPr>
        <p:spPr>
          <a:xfrm>
            <a:off x="3550920" y="1417320"/>
            <a:ext cx="2042160" cy="3017520"/>
          </a:xfrm>
          <a:prstGeom prst="roundRect">
            <a:avLst>
              <a:gd name="adj" fmla="val 3582"/>
            </a:avLst>
          </a:prstGeom>
          <a:solidFill>
            <a:schemeClr val="bg2"/>
          </a:solidFill>
          <a:ln w="12700">
            <a:solidFill>
              <a:schemeClr val="bg2"/>
            </a:solidFill>
            <a:prstDash val="solid"/>
          </a:ln>
        </p:spPr>
      </p:sp>
      <p:sp>
        <p:nvSpPr>
          <p:cNvPr id="15" name="Shape 11"/>
          <p:cNvSpPr/>
          <p:nvPr/>
        </p:nvSpPr>
        <p:spPr>
          <a:xfrm>
            <a:off x="3550920" y="1417320"/>
            <a:ext cx="2042160" cy="548640"/>
          </a:xfrm>
          <a:prstGeom prst="roundRect">
            <a:avLst>
              <a:gd name="adj" fmla="val 13333"/>
            </a:avLst>
          </a:prstGeom>
          <a:solidFill>
            <a:schemeClr val="accent2"/>
          </a:solidFill>
          <a:ln w="12700">
            <a:solidFill>
              <a:schemeClr val="accent2"/>
            </a:solidFill>
            <a:prstDash val="solid"/>
          </a:ln>
        </p:spPr>
      </p:sp>
      <p:sp>
        <p:nvSpPr>
          <p:cNvPr id="16" name="Text 12"/>
          <p:cNvSpPr txBox="1"/>
          <p:nvPr/>
        </p:nvSpPr>
        <p:spPr>
          <a:xfrm>
            <a:off x="3550920" y="1417320"/>
            <a:ext cx="2042160" cy="548640"/>
          </a:xfrm>
          <a:prstGeom prst="rect">
            <a:avLst/>
          </a:prstGeom>
          <a:noFill/>
          <a:ln/>
        </p:spPr>
        <p:txBody>
          <a:bodyPr wrap="square" lIns="0" tIns="0" rIns="0" bIns="0" rtlCol="0" anchor="ctr"/>
          <a:lstStyle/>
          <a:p>
            <a:pPr algn="ctr" indent="0" marL="0">
              <a:buNone/>
            </a:pPr>
            <a:r>
              <a:rPr lang="en-US" sz="1600" b="1" dirty="0">
                <a:solidFill>
                  <a:schemeClr val="tx2"/>
                </a:solidFill>
              </a:rPr>
              <a:t>Zona DMZ</a:t>
            </a:r>
            <a:endParaRPr lang="en-US" sz="1600" dirty="0"/>
          </a:p>
        </p:txBody>
      </p:sp>
      <p:sp>
        <p:nvSpPr>
          <p:cNvPr id="17" name="Shape 13"/>
          <p:cNvSpPr/>
          <p:nvPr/>
        </p:nvSpPr>
        <p:spPr>
          <a:xfrm>
            <a:off x="4160520" y="2194560"/>
            <a:ext cx="822960" cy="822960"/>
          </a:xfrm>
          <a:prstGeom prst="ellipse">
            <a:avLst/>
          </a:prstGeom>
          <a:solidFill>
            <a:schemeClr val="accent2"/>
          </a:solidFill>
          <a:ln w="12700">
            <a:solidFill>
              <a:schemeClr val="accent2"/>
            </a:solidFill>
            <a:prstDash val="solid"/>
          </a:ln>
        </p:spPr>
      </p:sp>
      <p:pic>
        <p:nvPicPr>
          <p:cNvPr id="18" name="Image 2" descr="preencoded.png">    </p:cNvPr>
          <p:cNvPicPr>
            <a:picLocks noChangeAspect="1"/>
          </p:cNvPicPr>
          <p:nvPr/>
        </p:nvPicPr>
        <p:blipFill>
          <a:blip r:embed="rId3"/>
          <a:stretch>
            <a:fillRect/>
          </a:stretch>
        </p:blipFill>
        <p:spPr>
          <a:xfrm>
            <a:off x="4366260" y="2400300"/>
            <a:ext cx="411480" cy="411480"/>
          </a:xfrm>
          <a:prstGeom prst="rect">
            <a:avLst/>
          </a:prstGeom>
        </p:spPr>
      </p:pic>
      <p:sp>
        <p:nvSpPr>
          <p:cNvPr id="19" name="Text 14"/>
          <p:cNvSpPr txBox="1"/>
          <p:nvPr/>
        </p:nvSpPr>
        <p:spPr>
          <a:xfrm>
            <a:off x="3688080" y="3200400"/>
            <a:ext cx="1767840" cy="548640"/>
          </a:xfrm>
          <a:prstGeom prst="rect">
            <a:avLst/>
          </a:prstGeom>
          <a:noFill/>
          <a:ln/>
        </p:spPr>
        <p:txBody>
          <a:bodyPr wrap="square" lIns="0" tIns="0" rIns="0" bIns="0" rtlCol="0" anchor="t"/>
          <a:lstStyle/>
          <a:p>
            <a:pPr algn="ctr" indent="0" marL="0">
              <a:buNone/>
            </a:pPr>
            <a:r>
              <a:rPr lang="en-US" sz="1500" b="1" dirty="0">
                <a:solidFill>
                  <a:schemeClr val="tx2"/>
                </a:solidFill>
              </a:rPr>
              <a:t>Servidor web público</a:t>
            </a:r>
            <a:endParaRPr lang="en-US" sz="1500" dirty="0"/>
          </a:p>
        </p:txBody>
      </p:sp>
      <p:sp>
        <p:nvSpPr>
          <p:cNvPr id="20" name="Text 15"/>
          <p:cNvSpPr txBox="1"/>
          <p:nvPr/>
        </p:nvSpPr>
        <p:spPr>
          <a:xfrm>
            <a:off x="3688080" y="3749040"/>
            <a:ext cx="1767840" cy="548640"/>
          </a:xfrm>
          <a:prstGeom prst="rect">
            <a:avLst/>
          </a:prstGeom>
          <a:noFill/>
          <a:ln/>
        </p:spPr>
        <p:txBody>
          <a:bodyPr wrap="square" lIns="0" tIns="0" rIns="0" bIns="0" rtlCol="0" anchor="t"/>
          <a:lstStyle/>
          <a:p>
            <a:pPr algn="ctr" indent="0" marL="0">
              <a:buNone/>
            </a:pPr>
            <a:r>
              <a:rPr lang="en-US" sz="1300" dirty="0">
                <a:solidFill>
                  <a:schemeClr val="accent5"/>
                </a:solidFill>
              </a:rPr>
              <a:t>Accesible desde afuera</a:t>
            </a:r>
            <a:endParaRPr lang="en-US" sz="1300" dirty="0"/>
          </a:p>
        </p:txBody>
      </p:sp>
      <p:sp>
        <p:nvSpPr>
          <p:cNvPr id="21" name="Shape 16"/>
          <p:cNvSpPr/>
          <p:nvPr/>
        </p:nvSpPr>
        <p:spPr>
          <a:xfrm>
            <a:off x="5666232" y="3017520"/>
            <a:ext cx="905256" cy="914"/>
          </a:xfrm>
          <a:prstGeom prst="line">
            <a:avLst/>
          </a:prstGeom>
          <a:noFill/>
          <a:ln w="25400">
            <a:solidFill>
              <a:schemeClr val="tx2"/>
            </a:solidFill>
            <a:prstDash val="solid"/>
            <a:tailEnd type="triangle"/>
          </a:ln>
        </p:spPr>
      </p:sp>
      <p:pic>
        <p:nvPicPr>
          <p:cNvPr id="22" name="Image 3" descr="preencoded.png">    </p:cNvPr>
          <p:cNvPicPr>
            <a:picLocks noChangeAspect="1"/>
          </p:cNvPicPr>
          <p:nvPr/>
        </p:nvPicPr>
        <p:blipFill>
          <a:blip r:embed="rId4"/>
          <a:stretch>
            <a:fillRect/>
          </a:stretch>
        </p:blipFill>
        <p:spPr>
          <a:xfrm>
            <a:off x="5954268" y="2450592"/>
            <a:ext cx="329184" cy="329184"/>
          </a:xfrm>
          <a:prstGeom prst="rect">
            <a:avLst/>
          </a:prstGeom>
        </p:spPr>
      </p:pic>
      <p:sp>
        <p:nvSpPr>
          <p:cNvPr id="23" name="Text 17"/>
          <p:cNvSpPr txBox="1"/>
          <p:nvPr/>
        </p:nvSpPr>
        <p:spPr>
          <a:xfrm>
            <a:off x="5620512" y="3108960"/>
            <a:ext cx="996696" cy="502920"/>
          </a:xfrm>
          <a:prstGeom prst="rect">
            <a:avLst/>
          </a:prstGeom>
          <a:noFill/>
          <a:ln/>
        </p:spPr>
        <p:txBody>
          <a:bodyPr wrap="square" lIns="0" tIns="0" rIns="0" bIns="0" rtlCol="0" anchor="t"/>
          <a:lstStyle/>
          <a:p>
            <a:pPr algn="ctr" indent="0" marL="0">
              <a:buNone/>
            </a:pPr>
            <a:r>
              <a:rPr lang="en-US" sz="1100" b="1" dirty="0">
                <a:solidFill>
                  <a:schemeClr val="tx2"/>
                </a:solidFill>
              </a:rPr>
              <a:t>Firewall + ACL</a:t>
            </a:r>
            <a:endParaRPr lang="en-US" sz="1100" dirty="0"/>
          </a:p>
        </p:txBody>
      </p:sp>
      <p:sp>
        <p:nvSpPr>
          <p:cNvPr id="24" name="Shape 18"/>
          <p:cNvSpPr/>
          <p:nvPr/>
        </p:nvSpPr>
        <p:spPr>
          <a:xfrm>
            <a:off x="6644640" y="1417320"/>
            <a:ext cx="2042160" cy="3017520"/>
          </a:xfrm>
          <a:prstGeom prst="roundRect">
            <a:avLst>
              <a:gd name="adj" fmla="val 3582"/>
            </a:avLst>
          </a:prstGeom>
          <a:solidFill>
            <a:schemeClr val="bg2"/>
          </a:solidFill>
          <a:ln w="12700">
            <a:solidFill>
              <a:schemeClr val="bg2"/>
            </a:solidFill>
            <a:prstDash val="solid"/>
          </a:ln>
        </p:spPr>
      </p:sp>
      <p:sp>
        <p:nvSpPr>
          <p:cNvPr id="25" name="Shape 19"/>
          <p:cNvSpPr/>
          <p:nvPr/>
        </p:nvSpPr>
        <p:spPr>
          <a:xfrm>
            <a:off x="6644640" y="1417320"/>
            <a:ext cx="2042160" cy="548640"/>
          </a:xfrm>
          <a:prstGeom prst="roundRect">
            <a:avLst>
              <a:gd name="adj" fmla="val 13333"/>
            </a:avLst>
          </a:prstGeom>
          <a:solidFill>
            <a:schemeClr val="accent4"/>
          </a:solidFill>
          <a:ln w="12700">
            <a:solidFill>
              <a:schemeClr val="accent4"/>
            </a:solidFill>
            <a:prstDash val="solid"/>
          </a:ln>
        </p:spPr>
      </p:sp>
      <p:sp>
        <p:nvSpPr>
          <p:cNvPr id="26" name="Text 20"/>
          <p:cNvSpPr txBox="1"/>
          <p:nvPr/>
        </p:nvSpPr>
        <p:spPr>
          <a:xfrm>
            <a:off x="6644640" y="1417320"/>
            <a:ext cx="2042160" cy="548640"/>
          </a:xfrm>
          <a:prstGeom prst="rect">
            <a:avLst/>
          </a:prstGeom>
          <a:noFill/>
          <a:ln/>
        </p:spPr>
        <p:txBody>
          <a:bodyPr wrap="square" lIns="0" tIns="0" rIns="0" bIns="0" rtlCol="0" anchor="ctr"/>
          <a:lstStyle/>
          <a:p>
            <a:pPr algn="ctr" indent="0" marL="0">
              <a:buNone/>
            </a:pPr>
            <a:r>
              <a:rPr lang="en-US" sz="1600" b="1" dirty="0">
                <a:solidFill>
                  <a:schemeClr val="bg1"/>
                </a:solidFill>
              </a:rPr>
              <a:t>Zona Interna</a:t>
            </a:r>
            <a:endParaRPr lang="en-US" sz="1600" dirty="0"/>
          </a:p>
        </p:txBody>
      </p:sp>
      <p:sp>
        <p:nvSpPr>
          <p:cNvPr id="27" name="Shape 21"/>
          <p:cNvSpPr/>
          <p:nvPr/>
        </p:nvSpPr>
        <p:spPr>
          <a:xfrm>
            <a:off x="7254240" y="2194560"/>
            <a:ext cx="822960" cy="822960"/>
          </a:xfrm>
          <a:prstGeom prst="ellipse">
            <a:avLst/>
          </a:prstGeom>
          <a:solidFill>
            <a:schemeClr val="accent4"/>
          </a:solidFill>
          <a:ln w="12700">
            <a:solidFill>
              <a:schemeClr val="accent4"/>
            </a:solidFill>
            <a:prstDash val="solid"/>
          </a:ln>
        </p:spPr>
      </p:sp>
      <p:pic>
        <p:nvPicPr>
          <p:cNvPr id="28" name="Image 4" descr="preencoded.png">    </p:cNvPr>
          <p:cNvPicPr>
            <a:picLocks noChangeAspect="1"/>
          </p:cNvPicPr>
          <p:nvPr/>
        </p:nvPicPr>
        <p:blipFill>
          <a:blip r:embed="rId5"/>
          <a:stretch>
            <a:fillRect/>
          </a:stretch>
        </p:blipFill>
        <p:spPr>
          <a:xfrm>
            <a:off x="7459980" y="2400300"/>
            <a:ext cx="411480" cy="411480"/>
          </a:xfrm>
          <a:prstGeom prst="rect">
            <a:avLst/>
          </a:prstGeom>
        </p:spPr>
      </p:pic>
      <p:sp>
        <p:nvSpPr>
          <p:cNvPr id="29" name="Text 22"/>
          <p:cNvSpPr txBox="1"/>
          <p:nvPr/>
        </p:nvSpPr>
        <p:spPr>
          <a:xfrm>
            <a:off x="6781800" y="3200400"/>
            <a:ext cx="1767840" cy="548640"/>
          </a:xfrm>
          <a:prstGeom prst="rect">
            <a:avLst/>
          </a:prstGeom>
          <a:noFill/>
          <a:ln/>
        </p:spPr>
        <p:txBody>
          <a:bodyPr wrap="square" lIns="0" tIns="0" rIns="0" bIns="0" rtlCol="0" anchor="t"/>
          <a:lstStyle/>
          <a:p>
            <a:pPr algn="ctr" indent="0" marL="0">
              <a:buNone/>
            </a:pPr>
            <a:r>
              <a:rPr lang="en-US" sz="1500" b="1" dirty="0">
                <a:solidFill>
                  <a:schemeClr val="tx2"/>
                </a:solidFill>
              </a:rPr>
              <a:t>Base de notas</a:t>
            </a:r>
            <a:endParaRPr lang="en-US" sz="1500" dirty="0"/>
          </a:p>
        </p:txBody>
      </p:sp>
      <p:sp>
        <p:nvSpPr>
          <p:cNvPr id="30" name="Text 23"/>
          <p:cNvSpPr txBox="1"/>
          <p:nvPr/>
        </p:nvSpPr>
        <p:spPr>
          <a:xfrm>
            <a:off x="6781800" y="3749040"/>
            <a:ext cx="1767840" cy="548640"/>
          </a:xfrm>
          <a:prstGeom prst="rect">
            <a:avLst/>
          </a:prstGeom>
          <a:noFill/>
          <a:ln/>
        </p:spPr>
        <p:txBody>
          <a:bodyPr wrap="square" lIns="0" tIns="0" rIns="0" bIns="0" rtlCol="0" anchor="t"/>
          <a:lstStyle/>
          <a:p>
            <a:pPr algn="ctr" indent="0" marL="0">
              <a:buNone/>
            </a:pPr>
            <a:r>
              <a:rPr lang="en-US" sz="1300" dirty="0">
                <a:solidFill>
                  <a:schemeClr val="accent5"/>
                </a:solidFill>
              </a:rPr>
              <a:t>Solo red de profes</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4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Solo el laboratorio de profes</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ACL</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Lista ordenada de reglas permit y deny</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Máscara comodín</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Para /24 es 0.0.0.255</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DMZ</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Zona para los servidores públicos</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La regla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permit 192.168.20.0 0.0.0.255</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deny any implícito al final</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Aplicada cerca del destino</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MINI ACTIVIDAD 2</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Escriban la ACL</a:t>
            </a:r>
            <a:endParaRPr lang="en-US" sz="2600" dirty="0"/>
          </a:p>
        </p:txBody>
      </p:sp>
      <p:sp>
        <p:nvSpPr>
          <p:cNvPr id="4" name="Shape 2"/>
          <p:cNvSpPr/>
          <p:nvPr/>
        </p:nvSpPr>
        <p:spPr>
          <a:xfrm>
            <a:off x="457200" y="1188720"/>
            <a:ext cx="982980" cy="384048"/>
          </a:xfrm>
          <a:prstGeom prst="roundRect">
            <a:avLst>
              <a:gd name="adj" fmla="val 47619"/>
            </a:avLst>
          </a:prstGeom>
          <a:solidFill>
            <a:schemeClr val="accent2">
              <a:alpha val="30000"/>
            </a:schemeClr>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585216" y="1271016"/>
            <a:ext cx="219456" cy="219456"/>
          </a:xfrm>
          <a:prstGeom prst="rect">
            <a:avLst/>
          </a:prstGeom>
        </p:spPr>
      </p:pic>
      <p:sp>
        <p:nvSpPr>
          <p:cNvPr id="6" name="Text 3"/>
          <p:cNvSpPr txBox="1"/>
          <p:nvPr/>
        </p:nvSpPr>
        <p:spPr>
          <a:xfrm>
            <a:off x="868680" y="1188720"/>
            <a:ext cx="525780" cy="384048"/>
          </a:xfrm>
          <a:prstGeom prst="rect">
            <a:avLst/>
          </a:prstGeom>
          <a:noFill/>
          <a:ln/>
        </p:spPr>
        <p:txBody>
          <a:bodyPr wrap="square" lIns="0" tIns="0" rIns="0" bIns="0" rtlCol="0" anchor="ctr"/>
          <a:lstStyle/>
          <a:p>
            <a:pPr indent="0" marL="0">
              <a:buNone/>
            </a:pPr>
            <a:r>
              <a:rPr lang="en-US" sz="1300" b="1" dirty="0">
                <a:solidFill>
                  <a:schemeClr val="tx2"/>
                </a:solidFill>
              </a:rPr>
              <a:t>5 min</a:t>
            </a:r>
            <a:endParaRPr lang="en-US" sz="1300" dirty="0"/>
          </a:p>
        </p:txBody>
      </p:sp>
      <p:sp>
        <p:nvSpPr>
          <p:cNvPr id="7" name="Shape 4"/>
          <p:cNvSpPr/>
          <p:nvPr/>
        </p:nvSpPr>
        <p:spPr>
          <a:xfrm>
            <a:off x="1577340" y="1188720"/>
            <a:ext cx="1417320" cy="384048"/>
          </a:xfrm>
          <a:prstGeom prst="roundRect">
            <a:avLst>
              <a:gd name="adj" fmla="val 47619"/>
            </a:avLst>
          </a:prstGeom>
          <a:solidFill>
            <a:schemeClr val="accent2">
              <a:alpha val="30000"/>
            </a:schemeClr>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1705356" y="1271016"/>
            <a:ext cx="219456" cy="219456"/>
          </a:xfrm>
          <a:prstGeom prst="rect">
            <a:avLst/>
          </a:prstGeom>
        </p:spPr>
      </p:pic>
      <p:sp>
        <p:nvSpPr>
          <p:cNvPr id="9" name="Text 5"/>
          <p:cNvSpPr txBox="1"/>
          <p:nvPr/>
        </p:nvSpPr>
        <p:spPr>
          <a:xfrm>
            <a:off x="1988820" y="1188720"/>
            <a:ext cx="960120" cy="384048"/>
          </a:xfrm>
          <a:prstGeom prst="rect">
            <a:avLst/>
          </a:prstGeom>
          <a:noFill/>
          <a:ln/>
        </p:spPr>
        <p:txBody>
          <a:bodyPr wrap="square" lIns="0" tIns="0" rIns="0" bIns="0" rtlCol="0" anchor="ctr"/>
          <a:lstStyle/>
          <a:p>
            <a:pPr indent="0" marL="0">
              <a:buNone/>
            </a:pPr>
            <a:r>
              <a:rPr lang="en-US" sz="1300" b="1" dirty="0">
                <a:solidFill>
                  <a:schemeClr val="tx2"/>
                </a:solidFill>
              </a:rPr>
              <a:t>En parejas</a:t>
            </a:r>
            <a:endParaRPr lang="en-US" sz="1300" dirty="0"/>
          </a:p>
        </p:txBody>
      </p:sp>
      <p:sp>
        <p:nvSpPr>
          <p:cNvPr id="10" name="Shape 6"/>
          <p:cNvSpPr/>
          <p:nvPr/>
        </p:nvSpPr>
        <p:spPr>
          <a:xfrm>
            <a:off x="457200" y="1783080"/>
            <a:ext cx="438912" cy="438912"/>
          </a:xfrm>
          <a:prstGeom prst="ellipse">
            <a:avLst/>
          </a:prstGeom>
          <a:solidFill>
            <a:schemeClr val="accent2"/>
          </a:solidFill>
          <a:ln w="12700">
            <a:solidFill>
              <a:schemeClr val="accent2"/>
            </a:solidFill>
            <a:prstDash val="solid"/>
          </a:ln>
        </p:spPr>
      </p:sp>
      <p:sp>
        <p:nvSpPr>
          <p:cNvPr id="11" name="Text 7"/>
          <p:cNvSpPr txBox="1"/>
          <p:nvPr/>
        </p:nvSpPr>
        <p:spPr>
          <a:xfrm>
            <a:off x="457200" y="178308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2" name="Text 8"/>
          <p:cNvSpPr txBox="1"/>
          <p:nvPr/>
        </p:nvSpPr>
        <p:spPr>
          <a:xfrm>
            <a:off x="1051560" y="1764792"/>
            <a:ext cx="4114800" cy="694944"/>
          </a:xfrm>
          <a:prstGeom prst="rect">
            <a:avLst/>
          </a:prstGeom>
          <a:noFill/>
          <a:ln/>
        </p:spPr>
        <p:txBody>
          <a:bodyPr wrap="square" lIns="0" tIns="0" rIns="0" bIns="0" rtlCol="0" anchor="t"/>
          <a:lstStyle/>
          <a:p>
            <a:pPr indent="0" marL="0">
              <a:buNone/>
            </a:pPr>
            <a:r>
              <a:rPr lang="en-US" sz="1500" dirty="0">
                <a:solidFill>
                  <a:schemeClr val="tx1"/>
                </a:solidFill>
              </a:rPr>
              <a:t>Lean el requisito.</a:t>
            </a:r>
            <a:endParaRPr lang="en-US" sz="1500" dirty="0"/>
          </a:p>
        </p:txBody>
      </p:sp>
      <p:sp>
        <p:nvSpPr>
          <p:cNvPr id="13" name="Shape 9"/>
          <p:cNvSpPr/>
          <p:nvPr/>
        </p:nvSpPr>
        <p:spPr>
          <a:xfrm>
            <a:off x="457200" y="2514600"/>
            <a:ext cx="438912" cy="438912"/>
          </a:xfrm>
          <a:prstGeom prst="ellipse">
            <a:avLst/>
          </a:prstGeom>
          <a:solidFill>
            <a:schemeClr val="accent2"/>
          </a:solidFill>
          <a:ln w="12700">
            <a:solidFill>
              <a:schemeClr val="accent2"/>
            </a:solidFill>
            <a:prstDash val="solid"/>
          </a:ln>
        </p:spPr>
      </p:sp>
      <p:sp>
        <p:nvSpPr>
          <p:cNvPr id="14" name="Text 10"/>
          <p:cNvSpPr txBox="1"/>
          <p:nvPr/>
        </p:nvSpPr>
        <p:spPr>
          <a:xfrm>
            <a:off x="457200" y="251460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5" name="Text 11"/>
          <p:cNvSpPr txBox="1"/>
          <p:nvPr/>
        </p:nvSpPr>
        <p:spPr>
          <a:xfrm>
            <a:off x="1051560" y="2496312"/>
            <a:ext cx="4114800" cy="694944"/>
          </a:xfrm>
          <a:prstGeom prst="rect">
            <a:avLst/>
          </a:prstGeom>
          <a:noFill/>
          <a:ln/>
        </p:spPr>
        <p:txBody>
          <a:bodyPr wrap="square" lIns="0" tIns="0" rIns="0" bIns="0" rtlCol="0" anchor="t"/>
          <a:lstStyle/>
          <a:p>
            <a:pPr indent="0" marL="0">
              <a:buNone/>
            </a:pPr>
            <a:r>
              <a:rPr lang="en-US" sz="1500" dirty="0">
                <a:solidFill>
                  <a:schemeClr val="tx1"/>
                </a:solidFill>
              </a:rPr>
              <a:t>Escriban los comandos de una ACL estándar con nombre.</a:t>
            </a:r>
            <a:endParaRPr lang="en-US" sz="1500" dirty="0"/>
          </a:p>
        </p:txBody>
      </p:sp>
      <p:sp>
        <p:nvSpPr>
          <p:cNvPr id="16" name="Shape 12"/>
          <p:cNvSpPr/>
          <p:nvPr/>
        </p:nvSpPr>
        <p:spPr>
          <a:xfrm>
            <a:off x="457200" y="3246120"/>
            <a:ext cx="438912" cy="438912"/>
          </a:xfrm>
          <a:prstGeom prst="ellipse">
            <a:avLst/>
          </a:prstGeom>
          <a:solidFill>
            <a:schemeClr val="accent2"/>
          </a:solidFill>
          <a:ln w="12700">
            <a:solidFill>
              <a:schemeClr val="accent2"/>
            </a:solidFill>
            <a:prstDash val="solid"/>
          </a:ln>
        </p:spPr>
      </p:sp>
      <p:sp>
        <p:nvSpPr>
          <p:cNvPr id="17" name="Text 13"/>
          <p:cNvSpPr txBox="1"/>
          <p:nvPr/>
        </p:nvSpPr>
        <p:spPr>
          <a:xfrm>
            <a:off x="457200" y="324612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Text 14"/>
          <p:cNvSpPr txBox="1"/>
          <p:nvPr/>
        </p:nvSpPr>
        <p:spPr>
          <a:xfrm>
            <a:off x="1051560" y="3227832"/>
            <a:ext cx="4114800" cy="694944"/>
          </a:xfrm>
          <a:prstGeom prst="rect">
            <a:avLst/>
          </a:prstGeom>
          <a:noFill/>
          <a:ln/>
        </p:spPr>
        <p:txBody>
          <a:bodyPr wrap="square" lIns="0" tIns="0" rIns="0" bIns="0" rtlCol="0" anchor="t"/>
          <a:lstStyle/>
          <a:p>
            <a:pPr indent="0" marL="0">
              <a:buNone/>
            </a:pPr>
            <a:r>
              <a:rPr lang="en-US" sz="1500" dirty="0">
                <a:solidFill>
                  <a:schemeClr val="tx1"/>
                </a:solidFill>
              </a:rPr>
              <a:t>Indiquen la interfaz y la dirección (in u out).</a:t>
            </a:r>
            <a:endParaRPr lang="en-US" sz="1500" dirty="0"/>
          </a:p>
        </p:txBody>
      </p:sp>
      <p:sp>
        <p:nvSpPr>
          <p:cNvPr id="19" name="Shape 15"/>
          <p:cNvSpPr/>
          <p:nvPr/>
        </p:nvSpPr>
        <p:spPr>
          <a:xfrm>
            <a:off x="457200" y="4069080"/>
            <a:ext cx="4709160" cy="566928"/>
          </a:xfrm>
          <a:prstGeom prst="roundRect">
            <a:avLst>
              <a:gd name="adj" fmla="val 12903"/>
            </a:avLst>
          </a:prstGeom>
          <a:solidFill>
            <a:schemeClr val="bg2"/>
          </a:solidFill>
          <a:ln w="12700">
            <a:solidFill>
              <a:schemeClr val="bg2"/>
            </a:solidFill>
            <a:prstDash val="solid"/>
          </a:ln>
        </p:spPr>
      </p:sp>
      <p:sp>
        <p:nvSpPr>
          <p:cNvPr id="20" name="Text 16"/>
          <p:cNvSpPr txBox="1"/>
          <p:nvPr/>
        </p:nvSpPr>
        <p:spPr>
          <a:xfrm>
            <a:off x="640080" y="4069080"/>
            <a:ext cx="4389120" cy="566928"/>
          </a:xfrm>
          <a:prstGeom prst="rect">
            <a:avLst/>
          </a:prstGeom>
          <a:noFill/>
          <a:ln/>
        </p:spPr>
        <p:txBody>
          <a:bodyPr wrap="square" lIns="0" tIns="0" rIns="0" bIns="0" rtlCol="0" anchor="ctr"/>
          <a:lstStyle/>
          <a:p>
            <a:pPr indent="0" marL="0">
              <a:buNone/>
            </a:pPr>
            <a:r>
              <a:rPr lang="en-US" sz="1300" b="1" dirty="0">
                <a:solidFill>
                  <a:schemeClr val="accent1"/>
                </a:solidFill>
              </a:rPr>
              <a:t>Producto: </a:t>
            </a:r>
            <a:pPr indent="0" marL="0">
              <a:buNone/>
            </a:pPr>
            <a:r>
              <a:rPr lang="en-US" sz="1300" dirty="0">
                <a:solidFill>
                  <a:schemeClr val="tx1"/>
                </a:solidFill>
              </a:rPr>
              <a:t>ACL completa con su ubicación.</a:t>
            </a:r>
            <a:endParaRPr lang="en-US" sz="1300" dirty="0"/>
          </a:p>
        </p:txBody>
      </p:sp>
      <p:sp>
        <p:nvSpPr>
          <p:cNvPr id="21" name="Shape 17"/>
          <p:cNvSpPr/>
          <p:nvPr/>
        </p:nvSpPr>
        <p:spPr>
          <a:xfrm>
            <a:off x="5486400" y="1188720"/>
            <a:ext cx="3200400" cy="3447288"/>
          </a:xfrm>
          <a:prstGeom prst="roundRect">
            <a:avLst>
              <a:gd name="adj" fmla="val 2286"/>
            </a:avLst>
          </a:prstGeom>
          <a:solidFill>
            <a:schemeClr val="tx2"/>
          </a:solidFill>
          <a:ln w="12700">
            <a:solidFill>
              <a:schemeClr val="tx2"/>
            </a:solidFill>
            <a:prstDash val="solid"/>
          </a:ln>
        </p:spPr>
      </p:sp>
      <p:sp>
        <p:nvSpPr>
          <p:cNvPr id="22" name="Text 18"/>
          <p:cNvSpPr txBox="1"/>
          <p:nvPr/>
        </p:nvSpPr>
        <p:spPr>
          <a:xfrm>
            <a:off x="5715000" y="137160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Material</a:t>
            </a:r>
            <a:endParaRPr lang="en-US" sz="1400" dirty="0"/>
          </a:p>
        </p:txBody>
      </p:sp>
      <p:sp>
        <p:nvSpPr>
          <p:cNvPr id="23" name="Text 19"/>
          <p:cNvSpPr txBox="1"/>
          <p:nvPr/>
        </p:nvSpPr>
        <p:spPr>
          <a:xfrm>
            <a:off x="5715000" y="1828800"/>
            <a:ext cx="2834640" cy="2624328"/>
          </a:xfrm>
          <a:prstGeom prst="rect">
            <a:avLst/>
          </a:prstGeom>
          <a:noFill/>
          <a:ln/>
        </p:spPr>
        <p:txBody>
          <a:bodyPr wrap="square" lIns="0" tIns="0" rIns="0" bIns="0" rtlCol="0" anchor="t"/>
          <a:lstStyle/>
          <a:p>
            <a:pPr indent="0" marL="0">
              <a:spcAft>
                <a:spcPts val="600"/>
              </a:spcAft>
              <a:buNone/>
            </a:pPr>
            <a:r>
              <a:rPr lang="en-US" sz="1100" dirty="0">
                <a:solidFill>
                  <a:schemeClr val="bg1"/>
                </a:solidFill>
                <a:latin typeface="Courier New" pitchFamily="34" charset="0"/>
                <a:ea typeface="Courier New" pitchFamily="34" charset="-122"/>
                <a:cs typeface="Courier New" pitchFamily="34" charset="-120"/>
              </a:rPr>
              <a:t>Requisito: solo la red 192.168.30.0/24</a:t>
            </a:r>
            <a:endParaRPr lang="en-US" sz="1100" dirty="0"/>
          </a:p>
          <a:p>
            <a:pPr indent="0" marL="0">
              <a:spcAft>
                <a:spcPts val="600"/>
              </a:spcAft>
              <a:buNone/>
            </a:pPr>
            <a:r>
              <a:rPr lang="en-US" sz="1100" dirty="0">
                <a:solidFill>
                  <a:schemeClr val="bg1"/>
                </a:solidFill>
                <a:latin typeface="Courier New" pitchFamily="34" charset="0"/>
                <a:ea typeface="Courier New" pitchFamily="34" charset="-122"/>
                <a:cs typeface="Courier New" pitchFamily="34" charset="-120"/>
              </a:rPr>
              <a:t>puede llegar al servidor 10.0.0.5.</a:t>
            </a:r>
            <a:endParaRPr lang="en-US" sz="1100" dirty="0"/>
          </a:p>
          <a:p>
            <a:pPr indent="0" marL="0">
              <a:spcAft>
                <a:spcPts val="600"/>
              </a:spcAft>
              <a:buNone/>
            </a:pPr>
            <a:r>
              <a:rPr lang="en-US" sz="1100" dirty="0">
                <a:solidFill>
                  <a:schemeClr val="bg1"/>
                </a:solidFill>
                <a:latin typeface="Courier New" pitchFamily="34" charset="0"/>
                <a:ea typeface="Courier New" pitchFamily="34" charset="-122"/>
                <a:cs typeface="Courier New" pitchFamily="34" charset="-120"/>
              </a:rPr>
              <a:t>Interfaz hacia el servidor: G0/1</a:t>
            </a:r>
            <a:endParaRPr lang="en-US" sz="11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TICKET DE SALIDA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Antes de irse, respondan en una hoja</a:t>
            </a:r>
            <a:endParaRPr lang="en-US" sz="2600" dirty="0"/>
          </a:p>
        </p:txBody>
      </p:sp>
      <p:sp>
        <p:nvSpPr>
          <p:cNvPr id="4" name="Shape 2"/>
          <p:cNvSpPr/>
          <p:nvPr/>
        </p:nvSpPr>
        <p:spPr>
          <a:xfrm>
            <a:off x="457200" y="1371600"/>
            <a:ext cx="2606040" cy="301752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85800" y="3520440"/>
            <a:ext cx="2148840" cy="0"/>
          </a:xfrm>
          <a:prstGeom prst="line">
            <a:avLst/>
          </a:prstGeom>
          <a:noFill/>
          <a:ln w="9525">
            <a:solidFill>
              <a:schemeClr val="accent5"/>
            </a:solidFill>
            <a:prstDash val="dash"/>
          </a:ln>
        </p:spPr>
      </p:sp>
      <p:sp>
        <p:nvSpPr>
          <p:cNvPr id="6" name="Shape 4"/>
          <p:cNvSpPr/>
          <p:nvPr/>
        </p:nvSpPr>
        <p:spPr>
          <a:xfrm>
            <a:off x="685800" y="3813048"/>
            <a:ext cx="2148840" cy="0"/>
          </a:xfrm>
          <a:prstGeom prst="line">
            <a:avLst/>
          </a:prstGeom>
          <a:noFill/>
          <a:ln w="9525">
            <a:solidFill>
              <a:schemeClr val="accent5"/>
            </a:solidFill>
            <a:prstDash val="dash"/>
          </a:ln>
        </p:spPr>
      </p:sp>
      <p:sp>
        <p:nvSpPr>
          <p:cNvPr id="7" name="Shape 5"/>
          <p:cNvSpPr/>
          <p:nvPr/>
        </p:nvSpPr>
        <p:spPr>
          <a:xfrm>
            <a:off x="685800" y="4105656"/>
            <a:ext cx="2148840" cy="0"/>
          </a:xfrm>
          <a:prstGeom prst="line">
            <a:avLst/>
          </a:prstGeom>
          <a:noFill/>
          <a:ln w="9525">
            <a:solidFill>
              <a:schemeClr val="accent5"/>
            </a:solidFill>
            <a:prstDash val="dash"/>
          </a:ln>
        </p:spPr>
      </p:sp>
      <p:sp>
        <p:nvSpPr>
          <p:cNvPr id="8" name="Shape 6"/>
          <p:cNvSpPr/>
          <p:nvPr/>
        </p:nvSpPr>
        <p:spPr>
          <a:xfrm>
            <a:off x="685800" y="1645920"/>
            <a:ext cx="685800" cy="68580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857250" y="1817370"/>
            <a:ext cx="342900" cy="342900"/>
          </a:xfrm>
          <a:prstGeom prst="rect">
            <a:avLst/>
          </a:prstGeom>
        </p:spPr>
      </p:pic>
      <p:sp>
        <p:nvSpPr>
          <p:cNvPr id="10" name="Text 7"/>
          <p:cNvSpPr txBox="1"/>
          <p:nvPr/>
        </p:nvSpPr>
        <p:spPr>
          <a:xfrm>
            <a:off x="68580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Una capa de defensa que el colegio debería reforzar</a:t>
            </a:r>
            <a:endParaRPr lang="en-US" sz="1700" dirty="0"/>
          </a:p>
        </p:txBody>
      </p:sp>
      <p:sp>
        <p:nvSpPr>
          <p:cNvPr id="11" name="Shape 8"/>
          <p:cNvSpPr/>
          <p:nvPr/>
        </p:nvSpPr>
        <p:spPr>
          <a:xfrm>
            <a:off x="3268980" y="1371600"/>
            <a:ext cx="2606040" cy="3017520"/>
          </a:xfrm>
          <a:prstGeom prst="roundRect">
            <a:avLst>
              <a:gd name="adj" fmla="val 2807"/>
            </a:avLst>
          </a:prstGeom>
          <a:solidFill>
            <a:schemeClr val="bg2"/>
          </a:solidFill>
          <a:ln w="12700">
            <a:solidFill>
              <a:schemeClr val="bg2"/>
            </a:solidFill>
            <a:prstDash val="solid"/>
          </a:ln>
        </p:spPr>
      </p:sp>
      <p:sp>
        <p:nvSpPr>
          <p:cNvPr id="12" name="Shape 9"/>
          <p:cNvSpPr/>
          <p:nvPr/>
        </p:nvSpPr>
        <p:spPr>
          <a:xfrm>
            <a:off x="3497580" y="3520440"/>
            <a:ext cx="2148840" cy="0"/>
          </a:xfrm>
          <a:prstGeom prst="line">
            <a:avLst/>
          </a:prstGeom>
          <a:noFill/>
          <a:ln w="9525">
            <a:solidFill>
              <a:schemeClr val="accent5"/>
            </a:solidFill>
            <a:prstDash val="dash"/>
          </a:ln>
        </p:spPr>
      </p:sp>
      <p:sp>
        <p:nvSpPr>
          <p:cNvPr id="13" name="Shape 10"/>
          <p:cNvSpPr/>
          <p:nvPr/>
        </p:nvSpPr>
        <p:spPr>
          <a:xfrm>
            <a:off x="3497580" y="3813048"/>
            <a:ext cx="2148840" cy="0"/>
          </a:xfrm>
          <a:prstGeom prst="line">
            <a:avLst/>
          </a:prstGeom>
          <a:noFill/>
          <a:ln w="9525">
            <a:solidFill>
              <a:schemeClr val="accent5"/>
            </a:solidFill>
            <a:prstDash val="dash"/>
          </a:ln>
        </p:spPr>
      </p:sp>
      <p:sp>
        <p:nvSpPr>
          <p:cNvPr id="14" name="Shape 11"/>
          <p:cNvSpPr/>
          <p:nvPr/>
        </p:nvSpPr>
        <p:spPr>
          <a:xfrm>
            <a:off x="3497580" y="4105656"/>
            <a:ext cx="2148840" cy="0"/>
          </a:xfrm>
          <a:prstGeom prst="line">
            <a:avLst/>
          </a:prstGeom>
          <a:noFill/>
          <a:ln w="9525">
            <a:solidFill>
              <a:schemeClr val="accent5"/>
            </a:solidFill>
            <a:prstDash val="dash"/>
          </a:ln>
        </p:spPr>
      </p:sp>
      <p:sp>
        <p:nvSpPr>
          <p:cNvPr id="15" name="Shape 12"/>
          <p:cNvSpPr/>
          <p:nvPr/>
        </p:nvSpPr>
        <p:spPr>
          <a:xfrm>
            <a:off x="3497580" y="1645920"/>
            <a:ext cx="685800" cy="685800"/>
          </a:xfrm>
          <a:prstGeom prst="ellipse">
            <a:avLst/>
          </a:prstGeom>
          <a:solidFill>
            <a:schemeClr val="accent4"/>
          </a:solidFill>
          <a:ln w="12700">
            <a:solidFill>
              <a:schemeClr val="accent4"/>
            </a:solidFill>
            <a:prstDash val="solid"/>
          </a:ln>
        </p:spPr>
      </p:sp>
      <p:pic>
        <p:nvPicPr>
          <p:cNvPr id="16" name="Image 1" descr="preencoded.png">    </p:cNvPr>
          <p:cNvPicPr>
            <a:picLocks noChangeAspect="1"/>
          </p:cNvPicPr>
          <p:nvPr/>
        </p:nvPicPr>
        <p:blipFill>
          <a:blip r:embed="rId2"/>
          <a:stretch>
            <a:fillRect/>
          </a:stretch>
        </p:blipFill>
        <p:spPr>
          <a:xfrm>
            <a:off x="3669030" y="1817370"/>
            <a:ext cx="342900" cy="342900"/>
          </a:xfrm>
          <a:prstGeom prst="rect">
            <a:avLst/>
          </a:prstGeom>
        </p:spPr>
      </p:pic>
      <p:sp>
        <p:nvSpPr>
          <p:cNvPr id="17" name="Text 13"/>
          <p:cNvSpPr txBox="1"/>
          <p:nvPr/>
        </p:nvSpPr>
        <p:spPr>
          <a:xfrm>
            <a:off x="349758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Qué significan las tres A de AAA</a:t>
            </a:r>
            <a:endParaRPr lang="en-US" sz="1700" dirty="0"/>
          </a:p>
        </p:txBody>
      </p:sp>
      <p:sp>
        <p:nvSpPr>
          <p:cNvPr id="18" name="Shape 14"/>
          <p:cNvSpPr/>
          <p:nvPr/>
        </p:nvSpPr>
        <p:spPr>
          <a:xfrm>
            <a:off x="6080760" y="1371600"/>
            <a:ext cx="2606040" cy="3017520"/>
          </a:xfrm>
          <a:prstGeom prst="roundRect">
            <a:avLst>
              <a:gd name="adj" fmla="val 2807"/>
            </a:avLst>
          </a:prstGeom>
          <a:solidFill>
            <a:schemeClr val="bg2"/>
          </a:solidFill>
          <a:ln w="12700">
            <a:solidFill>
              <a:schemeClr val="bg2"/>
            </a:solidFill>
            <a:prstDash val="solid"/>
          </a:ln>
        </p:spPr>
      </p:sp>
      <p:sp>
        <p:nvSpPr>
          <p:cNvPr id="19" name="Shape 15"/>
          <p:cNvSpPr/>
          <p:nvPr/>
        </p:nvSpPr>
        <p:spPr>
          <a:xfrm>
            <a:off x="6309360" y="3520440"/>
            <a:ext cx="2148840" cy="0"/>
          </a:xfrm>
          <a:prstGeom prst="line">
            <a:avLst/>
          </a:prstGeom>
          <a:noFill/>
          <a:ln w="9525">
            <a:solidFill>
              <a:schemeClr val="accent5"/>
            </a:solidFill>
            <a:prstDash val="dash"/>
          </a:ln>
        </p:spPr>
      </p:sp>
      <p:sp>
        <p:nvSpPr>
          <p:cNvPr id="20" name="Shape 16"/>
          <p:cNvSpPr/>
          <p:nvPr/>
        </p:nvSpPr>
        <p:spPr>
          <a:xfrm>
            <a:off x="6309360" y="3813048"/>
            <a:ext cx="2148840" cy="0"/>
          </a:xfrm>
          <a:prstGeom prst="line">
            <a:avLst/>
          </a:prstGeom>
          <a:noFill/>
          <a:ln w="9525">
            <a:solidFill>
              <a:schemeClr val="accent5"/>
            </a:solidFill>
            <a:prstDash val="dash"/>
          </a:ln>
        </p:spPr>
      </p:sp>
      <p:sp>
        <p:nvSpPr>
          <p:cNvPr id="21" name="Shape 17"/>
          <p:cNvSpPr/>
          <p:nvPr/>
        </p:nvSpPr>
        <p:spPr>
          <a:xfrm>
            <a:off x="6309360" y="4105656"/>
            <a:ext cx="2148840" cy="0"/>
          </a:xfrm>
          <a:prstGeom prst="line">
            <a:avLst/>
          </a:prstGeom>
          <a:noFill/>
          <a:ln w="9525">
            <a:solidFill>
              <a:schemeClr val="accent5"/>
            </a:solidFill>
            <a:prstDash val="dash"/>
          </a:ln>
        </p:spPr>
      </p:sp>
      <p:sp>
        <p:nvSpPr>
          <p:cNvPr id="22" name="Shape 18"/>
          <p:cNvSpPr/>
          <p:nvPr/>
        </p:nvSpPr>
        <p:spPr>
          <a:xfrm>
            <a:off x="6309360" y="1645920"/>
            <a:ext cx="685800" cy="685800"/>
          </a:xfrm>
          <a:prstGeom prst="ellipse">
            <a:avLst/>
          </a:prstGeom>
          <a:solidFill>
            <a:schemeClr val="accent2"/>
          </a:solidFill>
          <a:ln w="12700">
            <a:solidFill>
              <a:schemeClr val="accent2"/>
            </a:solidFill>
            <a:prstDash val="solid"/>
          </a:ln>
        </p:spPr>
      </p:sp>
      <p:pic>
        <p:nvPicPr>
          <p:cNvPr id="23" name="Image 2" descr="preencoded.png">    </p:cNvPr>
          <p:cNvPicPr>
            <a:picLocks noChangeAspect="1"/>
          </p:cNvPicPr>
          <p:nvPr/>
        </p:nvPicPr>
        <p:blipFill>
          <a:blip r:embed="rId3"/>
          <a:stretch>
            <a:fillRect/>
          </a:stretch>
        </p:blipFill>
        <p:spPr>
          <a:xfrm>
            <a:off x="6480810" y="1817370"/>
            <a:ext cx="342900" cy="342900"/>
          </a:xfrm>
          <a:prstGeom prst="rect">
            <a:avLst/>
          </a:prstGeom>
        </p:spPr>
      </p:pic>
      <p:sp>
        <p:nvSpPr>
          <p:cNvPr id="24" name="Text 19"/>
          <p:cNvSpPr txBox="1"/>
          <p:nvPr/>
        </p:nvSpPr>
        <p:spPr>
          <a:xfrm>
            <a:off x="630936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Una pregunta que todavía tengo</a:t>
            </a:r>
            <a:endParaRPr lang="en-US" sz="17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40080"/>
          </a:xfrm>
          <a:prstGeom prst="rect">
            <a:avLst/>
          </a:prstGeom>
          <a:noFill/>
          <a:ln/>
        </p:spPr>
        <p:txBody>
          <a:bodyPr wrap="square" lIns="0" tIns="0" rIns="0" bIns="0" rtlCol="0" anchor="t"/>
          <a:lstStyle/>
          <a:p>
            <a:pPr algn="l" indent="0" marL="0">
              <a:buNone/>
            </a:pPr>
            <a:r>
              <a:rPr lang="en-US" sz="3000" b="1" dirty="0">
                <a:solidFill>
                  <a:schemeClr val="bg1"/>
                </a:solidFill>
              </a:rPr>
              <a:t>Lo que nos llevamos</a:t>
            </a:r>
            <a:endParaRPr lang="en-US" sz="3000" dirty="0"/>
          </a:p>
        </p:txBody>
      </p:sp>
      <p:pic>
        <p:nvPicPr>
          <p:cNvPr id="3" name="Image 0" descr="preencoded.png">    </p:cNvPr>
          <p:cNvPicPr>
            <a:picLocks noChangeAspect="1"/>
          </p:cNvPicPr>
          <p:nvPr/>
        </p:nvPicPr>
        <p:blipFill>
          <a:blip r:embed="rId1"/>
          <a:stretch>
            <a:fillRect/>
          </a:stretch>
        </p:blipFill>
        <p:spPr>
          <a:xfrm>
            <a:off x="548640" y="1289304"/>
            <a:ext cx="329184" cy="329184"/>
          </a:xfrm>
          <a:prstGeom prst="rect">
            <a:avLst/>
          </a:prstGeom>
        </p:spPr>
      </p:pic>
      <p:sp>
        <p:nvSpPr>
          <p:cNvPr id="4" name="Text 1"/>
          <p:cNvSpPr txBox="1"/>
          <p:nvPr/>
        </p:nvSpPr>
        <p:spPr>
          <a:xfrm>
            <a:off x="1005840" y="1234440"/>
            <a:ext cx="3520440" cy="457200"/>
          </a:xfrm>
          <a:prstGeom prst="rect">
            <a:avLst/>
          </a:prstGeom>
          <a:noFill/>
          <a:ln/>
        </p:spPr>
        <p:txBody>
          <a:bodyPr wrap="square" lIns="0" tIns="0" rIns="0" bIns="0" rtlCol="0" anchor="ctr"/>
          <a:lstStyle/>
          <a:p>
            <a:pPr indent="0" marL="0">
              <a:buNone/>
            </a:pPr>
            <a:r>
              <a:rPr lang="en-US" sz="1700" dirty="0">
                <a:solidFill>
                  <a:schemeClr val="bg1"/>
                </a:solidFill>
              </a:rPr>
              <a:t>La laptop robada de la orientadora</a:t>
            </a:r>
            <a:endParaRPr lang="en-US" sz="1700" dirty="0"/>
          </a:p>
        </p:txBody>
      </p:sp>
      <p:pic>
        <p:nvPicPr>
          <p:cNvPr id="5" name="Image 1" descr="preencoded.png">    </p:cNvPr>
          <p:cNvPicPr>
            <a:picLocks noChangeAspect="1"/>
          </p:cNvPicPr>
          <p:nvPr/>
        </p:nvPicPr>
        <p:blipFill>
          <a:blip r:embed="rId2"/>
          <a:stretch>
            <a:fillRect/>
          </a:stretch>
        </p:blipFill>
        <p:spPr>
          <a:xfrm>
            <a:off x="548640" y="1856232"/>
            <a:ext cx="329184" cy="329184"/>
          </a:xfrm>
          <a:prstGeom prst="rect">
            <a:avLst/>
          </a:prstGeom>
        </p:spPr>
      </p:pic>
      <p:sp>
        <p:nvSpPr>
          <p:cNvPr id="6" name="Text 2"/>
          <p:cNvSpPr txBox="1"/>
          <p:nvPr/>
        </p:nvSpPr>
        <p:spPr>
          <a:xfrm>
            <a:off x="1005840" y="1801368"/>
            <a:ext cx="3520440" cy="457200"/>
          </a:xfrm>
          <a:prstGeom prst="rect">
            <a:avLst/>
          </a:prstGeom>
          <a:noFill/>
          <a:ln/>
        </p:spPr>
        <p:txBody>
          <a:bodyPr wrap="square" lIns="0" tIns="0" rIns="0" bIns="0" rtlCol="0" anchor="ctr"/>
          <a:lstStyle/>
          <a:p>
            <a:pPr indent="0" marL="0">
              <a:buNone/>
            </a:pPr>
            <a:r>
              <a:rPr lang="en-US" sz="1700" dirty="0">
                <a:solidFill>
                  <a:schemeClr val="bg1"/>
                </a:solidFill>
              </a:rPr>
              <a:t>Una sola cerradura</a:t>
            </a:r>
            <a:endParaRPr lang="en-US" sz="1700" dirty="0"/>
          </a:p>
        </p:txBody>
      </p:sp>
      <p:pic>
        <p:nvPicPr>
          <p:cNvPr id="7" name="Image 2" descr="preencoded.png">    </p:cNvPr>
          <p:cNvPicPr>
            <a:picLocks noChangeAspect="1"/>
          </p:cNvPicPr>
          <p:nvPr/>
        </p:nvPicPr>
        <p:blipFill>
          <a:blip r:embed="rId3"/>
          <a:stretch>
            <a:fillRect/>
          </a:stretch>
        </p:blipFill>
        <p:spPr>
          <a:xfrm>
            <a:off x="548640" y="2423160"/>
            <a:ext cx="329184" cy="329184"/>
          </a:xfrm>
          <a:prstGeom prst="rect">
            <a:avLst/>
          </a:prstGeom>
        </p:spPr>
      </p:pic>
      <p:sp>
        <p:nvSpPr>
          <p:cNvPr id="8" name="Text 3"/>
          <p:cNvSpPr txBox="1"/>
          <p:nvPr/>
        </p:nvSpPr>
        <p:spPr>
          <a:xfrm>
            <a:off x="1005840" y="2368296"/>
            <a:ext cx="3520440" cy="457200"/>
          </a:xfrm>
          <a:prstGeom prst="rect">
            <a:avLst/>
          </a:prstGeom>
          <a:noFill/>
          <a:ln/>
        </p:spPr>
        <p:txBody>
          <a:bodyPr wrap="square" lIns="0" tIns="0" rIns="0" bIns="0" rtlCol="0" anchor="ctr"/>
          <a:lstStyle/>
          <a:p>
            <a:pPr indent="0" marL="0">
              <a:buNone/>
            </a:pPr>
            <a:r>
              <a:rPr lang="en-US" sz="1700" dirty="0">
                <a:solidFill>
                  <a:schemeClr val="bg1"/>
                </a:solidFill>
              </a:rPr>
              <a:t>¿Quién puede ver las notas?</a:t>
            </a:r>
            <a:endParaRPr lang="en-US" sz="1700" dirty="0"/>
          </a:p>
        </p:txBody>
      </p:sp>
      <p:pic>
        <p:nvPicPr>
          <p:cNvPr id="9" name="Image 3" descr="preencoded.png">    </p:cNvPr>
          <p:cNvPicPr>
            <a:picLocks noChangeAspect="1"/>
          </p:cNvPicPr>
          <p:nvPr/>
        </p:nvPicPr>
        <p:blipFill>
          <a:blip r:embed="rId4"/>
          <a:stretch>
            <a:fillRect/>
          </a:stretch>
        </p:blipFill>
        <p:spPr>
          <a:xfrm>
            <a:off x="548640" y="2990088"/>
            <a:ext cx="329184" cy="329184"/>
          </a:xfrm>
          <a:prstGeom prst="rect">
            <a:avLst/>
          </a:prstGeom>
        </p:spPr>
      </p:pic>
      <p:sp>
        <p:nvSpPr>
          <p:cNvPr id="10" name="Text 4"/>
          <p:cNvSpPr txBox="1"/>
          <p:nvPr/>
        </p:nvSpPr>
        <p:spPr>
          <a:xfrm>
            <a:off x="1005840" y="2935224"/>
            <a:ext cx="3520440" cy="457200"/>
          </a:xfrm>
          <a:prstGeom prst="rect">
            <a:avLst/>
          </a:prstGeom>
          <a:noFill/>
          <a:ln/>
        </p:spPr>
        <p:txBody>
          <a:bodyPr wrap="square" lIns="0" tIns="0" rIns="0" bIns="0" rtlCol="0" anchor="ctr"/>
          <a:lstStyle/>
          <a:p>
            <a:pPr indent="0" marL="0">
              <a:buNone/>
            </a:pPr>
            <a:r>
              <a:rPr lang="en-US" sz="1700" dirty="0">
                <a:solidFill>
                  <a:schemeClr val="bg1"/>
                </a:solidFill>
              </a:rPr>
              <a:t>Solo el laboratorio de profes</a:t>
            </a:r>
            <a:endParaRPr lang="en-US" sz="1700" dirty="0"/>
          </a:p>
        </p:txBody>
      </p:sp>
      <p:sp>
        <p:nvSpPr>
          <p:cNvPr id="11" name="Shape 5"/>
          <p:cNvSpPr/>
          <p:nvPr/>
        </p:nvSpPr>
        <p:spPr>
          <a:xfrm>
            <a:off x="548640" y="3794760"/>
            <a:ext cx="8046720" cy="713232"/>
          </a:xfrm>
          <a:prstGeom prst="roundRect">
            <a:avLst>
              <a:gd name="adj" fmla="val 10256"/>
            </a:avLst>
          </a:prstGeom>
          <a:solidFill>
            <a:schemeClr val="accent2"/>
          </a:solidFill>
          <a:ln w="12700">
            <a:solidFill>
              <a:schemeClr val="accent2"/>
            </a:solidFill>
            <a:prstDash val="solid"/>
          </a:ln>
        </p:spPr>
      </p:sp>
      <p:sp>
        <p:nvSpPr>
          <p:cNvPr id="12" name="Text 6"/>
          <p:cNvSpPr txBox="1"/>
          <p:nvPr/>
        </p:nvSpPr>
        <p:spPr>
          <a:xfrm>
            <a:off x="777240" y="3794760"/>
            <a:ext cx="7680960" cy="713232"/>
          </a:xfrm>
          <a:prstGeom prst="rect">
            <a:avLst/>
          </a:prstGeom>
          <a:noFill/>
          <a:ln/>
        </p:spPr>
        <p:txBody>
          <a:bodyPr wrap="square" lIns="0" tIns="0" rIns="0" bIns="0" rtlCol="0" anchor="ctr"/>
          <a:lstStyle/>
          <a:p>
            <a:pPr indent="0" marL="0">
              <a:buNone/>
            </a:pPr>
            <a:r>
              <a:rPr lang="en-US" sz="1500" b="1" dirty="0">
                <a:solidFill>
                  <a:schemeClr val="tx2"/>
                </a:solidFill>
              </a:rPr>
              <a:t>Siguiente paso: </a:t>
            </a:r>
            <a:pPr indent="0" marL="0">
              <a:buNone/>
            </a:pPr>
            <a:r>
              <a:rPr lang="en-US" sz="1500" dirty="0">
                <a:solidFill>
                  <a:schemeClr val="tx2"/>
                </a:solidFill>
              </a:rPr>
              <a:t>estudiá la teoría en la plataforma y resolvé el cotidiano interactivo de este resultado de aprendizaje.</a:t>
            </a:r>
            <a:endParaRPr lang="en-US" sz="15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iberseguridad CTP">
  <a:themeElements>
    <a:clrScheme name="Ciberseguridad CTP">
      <a:dk1>
        <a:srgbClr val="1E293B"/>
      </a:dk1>
      <a:lt1>
        <a:srgbClr val="FFFFFF"/>
      </a:lt1>
      <a:dk2>
        <a:srgbClr val="0B1D2E"/>
      </a:dk2>
      <a:lt2>
        <a:srgbClr val="EEF5F6"/>
      </a:lt2>
      <a:accent1>
        <a:srgbClr val="0E7C86"/>
      </a:accent1>
      <a:accent2>
        <a:srgbClr val="F5A623"/>
      </a:accent2>
      <a:accent3>
        <a:srgbClr val="D64545"/>
      </a:accent3>
      <a:accent4>
        <a:srgbClr val="2E9E6A"/>
      </a:accent4>
      <a:accent5>
        <a:srgbClr val="64748B"/>
      </a:accent5>
      <a:accent6>
        <a:srgbClr val="7C5CD6"/>
      </a:accent6>
      <a:hlink>
        <a:srgbClr val="0E7C86"/>
      </a:hlink>
      <a:folHlink>
        <a:srgbClr val="7C5CD6"/>
      </a:folHlink>
    </a:clrScheme>
    <a:fontScheme name="Ciberseguridad CT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CTP Mercedes Norte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RA3 · Mejores prácticas de ciberseguridad</dc:title>
  <dc:subject>PptxGenJS Presentation</dc:subject>
  <dc:creator>MsC. Ericka Hernández Mena</dc:creator>
  <cp:lastModifiedBy>MsC. Ericka Hernández Mena</cp:lastModifiedBy>
  <cp:revision>1</cp:revision>
  <dcterms:created xsi:type="dcterms:W3CDTF">2026-10-16T15:55:01Z</dcterms:created>
  <dcterms:modified xsi:type="dcterms:W3CDTF">2026-10-16T15:55:01Z</dcterms:modified>
</cp:coreProperties>
</file>