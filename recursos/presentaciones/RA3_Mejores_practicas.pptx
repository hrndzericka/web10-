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 el resultado de aprendizaje: Explicar las mejores prácticas para la ciberseguridad de la información en la era digital. Pregunte qué saben del tema y anote ideas en la pizarra antes de empezar.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 la ruta de la clase. Cada número corresponde a un tema del material de estudio en el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cubo de McCumber organiza la ciberseguridad en tres dimensiones: Cifrar un disco protege la confidencialidad de los datos en reposo con una contramedida tecnológica. 1. Principios (CID): Confidencialidad: solo quien está autorizado ve la información. Integridad: la información no se altera sin permiso. Disponibilidad: está accesible cuando se necesita.; 2. Estados de los datos: En reposo: guardados en un disco o en la nube. En tránsito: viajando por la red. En proceso: siendo usados o modificados.; 3. Contramedidas: Tecnología: firewalls, cifrado, antivirus. Políticas y prácticas: reglas y procedimientos. Personas: capacitación y concienciación.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defensa en profundidad pone varias capas de protección, como una cebolla: si una falla, la siguiente detiene al atacante. Las capas suelen ser: políticas, seguridad física, perímetro, red interna, host, aplicación y datos. La administración de operaciones incluye gestionar cambios, parches, respaldos, cuentas y registros de forma ordenada y documentada.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Política de seguridad: documento de la organización que define qué está permitido (uso aceptable, contraseñas, respaldos, acceso remoto).; Regulaciones: leyes obligatorias. En Costa Rica, la Ley 8968 protege los datos personales.; Estándares y marcos: guías reconocidas como ISO/IEC 27001 y el Marco de Ciberseguridad del NIST, que agrupa el trabajo en Identificar, Proteger, Detectar, Responder y Recuperar (y en su versión 2.0 agrega Gobernar).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Recorra la tabla con la clase: Seguridad física – Cuartos de servidores con llave o tarjeta, cámaras, UPS, control de visitantes, equipos con cable de seguridad.; Seguridad de la aplicación – Validar entradas, programar de forma segura, revisar el código y probar antes de publicar.; Fortalecimiento: servicios y protocolos – Apagar servicios innecesarios y cambiar protocolos inseguros por seguros: Telnet → SSH, HTTP → HTTPS, FTP → SFTP.; Fortalecimiento: segmentación – Dividir la red en partes (VLAN, subredes, DMZ) para que un ataque no se extienda a todo.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Recorra la tabla con la clase: Dispositivos inalámbricos y móviles – WPA3, bloqueo de pantalla, cifrado del teléfono, gestión de dispositivos móviles (MDM) y borrado remoto.; Resiliencia – Capacidad de seguir funcionando o recuperarse rápido: redundancia, respaldos y planes de continuidad.; Sistemas integrados y especializados – Dispositivos IoT, cámaras IP y sistemas industriales (SCADA): cambiar contraseñas de fábrica, actualizarlos y aislarlos en su propia 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Recorra la tabla con la clase: Discrecional (DAC) – El dueño del recurso decide con quién lo comparte. – Compartir una carpeta de Drive.; Obligatorio (MAC) – El sistema, según niveles de clasificación. – Documentos «secretos» del ejército.; Basado en roles (RBAC) – El puesto de la persona. – Todos los cajeros tienen los mismos permisos.; Basado en atributos (ABAC) – Varias condiciones: quién, desde dónde, a qué hora. – Solo se entra al sistema de notas desde el colegio y en horario lectivo. Crear cuentas individuales (nunca compartidas), aplicar el privilegio mínimo, desactivar las cuentas de quienes se van, revisar los accesos periódicamente y exigir contraseñas robustas con MFA.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Autenticación: ¿quién eres? (usuario y contraseña, huella, token).; Autorización: ¿qué puedes hacer?; Registro (accounting): ¿qué hiciste y cuándo? Se implementa con servidores RADIUS o TACACS+.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ACL es una lista ordenada de reglas permit (permitir) o deny (denegar) que un router aplica a los paquetes. Se revisa de arriba hacia abajo y se detiene en la primera regla que coincide. Al final de toda ACL hay un deny any implícito: lo que no se permitió, se bloquea. Recorra la tabla con la clase: Filtra solo por la IP de origen. – Filtra por origen, destino, protocolo y puerto.; Se coloca cerca del destino. – Se coloca cerca del origen.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Indican qué bits de la dirección hay que revisar: 0 = el bit debe coincidir, 1 = no importa. Se calculan restando la máscara de subred a 255.255.255.255. Recorra la tabla con la clase: Un solo equipo: 192.168.10.5 – 255.255.255.255 – 0.0.0.0 (o la palabra host); La red 192.168.10.0/24 – 255.255.255.0 – 0.0.0.255; La red 172.16.0.0/16 – 255.255.0.0 – 0.0.255.255; Cualquier dirección – — – 255.255.255.255 (o la palabra any)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 cada línea del ejemplo y explique qué hace.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Antisuplantación: denegar en la entrada desde internet paquetes con IP de origen privadas (10.0.0.0/8, 172.16.0.0/12, 192.168.0.0/16) o de la propia red.; Permitir solo los servicios necesarios (por ejemplo, HTTPS al servidor web) y bloquear el resto.; Restringir el acceso administrativo (SSH) a los equipos de los administradores.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 siempre con nombre y se aplican con ipv6 traffic-filter. Al final incluyen permisos implícitos para el descubrimiento de vecinos (ND) antes del deny ipv6 any any implícito. Lea cada línea del ejemplo y explique qué hace.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Recorra la tabla con la clase: Filtrado de paquetes (sin estado) – Revisa cada paquete por separado según IP y puerto. Una ACL es un ejemplo.; Con estado (stateful) – Recuerda las conexiones: deja entrar las respuestas a lo que salió desde adentro.; Gateway de aplicación (proxy) – Intermediario que revisa el contenido de la aplicación (por ejemplo, HTTP).; Próxima generación (NGFW) – Combina firewall con estado, IPS, control de aplicaciones y filtrado web.; Basado en host – Software en cada equipo, como el Firewall de Windows Defender o ufw en Linux.  El servidor web del colegio va en la DMZ; la base de datos de notas queda en la red interna, protegida por otra capa del firewall.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definen zonas de confianza: interna (privada, de confianza), externa (internet, sin confianza) y DMZ (zona desmilitarizada, donde van los servidores públicos como la página web). Desde internet se puede llegar a la DMZ, pero no a la red interna.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ZPF asigna cada interfaz del router a una zona y define las reglas entre pares de zonas, en lugar de configurar una ACL en cada interfaz. El tráfico entre interfaces de la misma zona pasa libremente.; El tráfico entre zonas distintas se bloquea, salvo que una política lo permita.; La zona self es el propio router.; Acciones posibles: inspect (permitir y dejar volver la respuesta, con estado), pass (permitir en una sola dirección, sin estado) y drop (descartar).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Crear las zonas: zone security INSIDE y zone security OUTSIDE.; Identificar el tráfico con un class-map.; Definir la acción con un policy-map (inspect, pass o drop).; Crear el zone-pair (de INSIDE a OUTSIDE) y aplicarle la política.; Asignar cada interfaz a su zona con zone-member security.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Dibuje en la pizarra las zonas interna, DMZ y externa. Pida que escriban la ACL con nombre y que expliquen por qué una ACL estándar se coloca cerca del destino.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 1) Los principios (CID), los estados de los datos y las contramedidas.  2) Proteger con varias capas para que, si una falla, otra detenga el ataque.  3) En DAC el dueño decide quién accede; en RBAC los permisos dependen del rol o puesto.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 4) 0.0.0.255.  5) Cerca del destino, porque solo filtra por origen y podría bloquear demasiado tráfico si se pone cerca del origen.  6) Se bloquea.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pida a tres estudiantes que expliquen con sus palabras un tema distinto cada uno. Luego indique que resuelvan el cotidiano interactivo en el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image" Target="../media/image-2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914400"/>
            <a:ext cx="2377440" cy="2377440"/>
          </a:xfrm>
          <a:prstGeom prst="ellipse">
            <a:avLst/>
          </a:prstGeom>
          <a:solidFill>
            <a:srgbClr val="0E7C86">
              <a:alpha val="80000"/>
            </a:srgbClr>
          </a:solidFill>
          <a:ln w="12700">
            <a:solidFill>
              <a:srgbClr val="0E7C86">
                <a:alpha val="8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508760"/>
            <a:ext cx="1188720" cy="11887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4008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DESARROLLO WEB 10°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1887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de aprendizaje 3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0020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Mejores prácticas de ciberseguridad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06324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Explicar las mejores prácticas para la ciberseguridad de la información en la era digital.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3434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CTP Mercedes Norte · MsC. Ericka Hernández Mena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493776"/>
            <a:ext cx="274320" cy="274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4114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vamos a ver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1234440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94360" y="1362456"/>
            <a:ext cx="402336" cy="40233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362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143000" y="128930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dimensiones de la ciberseguridad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2039112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2167128"/>
            <a:ext cx="402336" cy="40233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94360" y="2167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2093976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 en profundidad y administración de operaciones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2843784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94360" y="2971800"/>
            <a:ext cx="402336" cy="40233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4360" y="2971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143000" y="289864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 del sistema y de la red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3648456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360" y="3776472"/>
            <a:ext cx="402336" cy="40233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94360" y="3776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acceso, cuentas y AAA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663440" y="1234440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800600" y="1362456"/>
            <a:ext cx="402336" cy="40233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00600" y="1362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349240" y="128930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 de control de acceso (ACL) y máscaras comodín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663440" y="2039112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800600" y="2167128"/>
            <a:ext cx="402336" cy="40233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800600" y="2167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349240" y="2093976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Configurar e implementar ACL (IPv4 e IPv6)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4663440" y="2843784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800600" y="2971800"/>
            <a:ext cx="402336" cy="40233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800600" y="2971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349240" y="289864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Tecnologías de firewall y diseño de redes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663440" y="3648456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800600" y="3776472"/>
            <a:ext cx="402336" cy="40233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3776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34924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Firewalls de política basados en zonas (ZPF)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RA3</a:t>
            </a:r>
            <a:endParaRPr lang="en-US" sz="900" dirty="0"/>
          </a:p>
        </p:txBody>
      </p:sp>
      <p:sp>
        <p:nvSpPr>
          <p:cNvPr id="38" name="Text 3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dimensiones de la ciberseguridad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82296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cubo de McCumber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organiza la ciberseguridad en tres dimensiones: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941064"/>
            <a:ext cx="8229600" cy="722376"/>
          </a:xfrm>
          <a:prstGeom prst="roundRect">
            <a:avLst>
              <a:gd name="adj" fmla="val 7595"/>
            </a:avLst>
          </a:prstGeom>
          <a:solidFill>
            <a:srgbClr val="FFF6E5"/>
          </a:solidFill>
          <a:ln w="12700">
            <a:solidFill>
              <a:srgbClr val="FFF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941064"/>
            <a:ext cx="78638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Cifrar un disco protege la confidencialidad de los datos en reposo con una contramedida tecnológica.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57200" y="1700784"/>
            <a:ext cx="2590800" cy="2103120"/>
          </a:xfrm>
          <a:prstGeom prst="roundRect">
            <a:avLst>
              <a:gd name="adj" fmla="val 3478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" y="1865376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" y="1865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1819656"/>
            <a:ext cx="1813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Principios (CID)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2359152"/>
            <a:ext cx="226161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Confidencialidad: solo quien está autorizado ve la información. Integridad: la información no se altera sin permiso. Disponibilidad: está accesible cuando se necesita.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276600" y="1700784"/>
            <a:ext cx="2590800" cy="2103120"/>
          </a:xfrm>
          <a:prstGeom prst="roundRect">
            <a:avLst>
              <a:gd name="adj" fmla="val 3478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41192" y="1865376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41192" y="1865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916680" y="1819656"/>
            <a:ext cx="1813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de los datos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441192" y="2359152"/>
            <a:ext cx="226161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reposo: guardados en un disco o en la nube. En tránsito: viajando por la red. En proceso: siendo usados o modificados.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096000" y="1700784"/>
            <a:ext cx="2590800" cy="2103120"/>
          </a:xfrm>
          <a:prstGeom prst="roundRect">
            <a:avLst>
              <a:gd name="adj" fmla="val 3478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60592" y="1865376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60592" y="18653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736080" y="1819656"/>
            <a:ext cx="1813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Contramedidas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260592" y="2359152"/>
            <a:ext cx="226161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Tecnología: firewalls, cifrado, antivirus. Políticas y prácticas: reglas y procedimientos. Personas: capacitación y concienciación.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RA3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 en profundidad y administración de operaciones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489204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 en profundidad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pone varias capas de protección, como una cebolla: si una falla, la siguiente detiene al atacante. Las capas suelen ser: políticas, seguridad física, perímetro, red interna, host, aplicación y datos.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623560" y="1234440"/>
            <a:ext cx="3063240" cy="2141525"/>
          </a:xfrm>
          <a:prstGeom prst="roundRect">
            <a:avLst>
              <a:gd name="adj" fmla="val 4270"/>
            </a:avLst>
          </a:prstGeom>
          <a:solidFill>
            <a:srgbClr val="D8EEF0"/>
          </a:solidFill>
          <a:ln w="12700">
            <a:solidFill>
              <a:srgbClr val="D8EE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852160" y="1463040"/>
            <a:ext cx="502920" cy="5029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75604" y="1586484"/>
            <a:ext cx="256032" cy="2560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492240" y="15087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clave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5852160" y="2148840"/>
            <a:ext cx="2606040" cy="10899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de operaciones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incluye gestionar cambios, parches, respaldos, cuentas y registros de forma ordenada y documentada.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RA3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2 · DEFENSA EN PROFUNDIDAD Y ADMINISTRACIÓN DE OPERACIONES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Políticas, regulaciones y estándares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590800" cy="2814523"/>
          </a:xfrm>
          <a:prstGeom prst="roundRect">
            <a:avLst>
              <a:gd name="adj" fmla="val 2824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" y="1399032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399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1353312"/>
            <a:ext cx="1813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de seguridad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1892808"/>
            <a:ext cx="2261616" cy="20372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de la organización que define qué está permitido (uso aceptable, contraseñas, respaldos, acceso remoto).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76600" y="1234440"/>
            <a:ext cx="2590800" cy="2814523"/>
          </a:xfrm>
          <a:prstGeom prst="roundRect">
            <a:avLst>
              <a:gd name="adj" fmla="val 2824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41192" y="1399032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41192" y="1399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916680" y="1353312"/>
            <a:ext cx="1813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Regulaciones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441192" y="1892808"/>
            <a:ext cx="2261616" cy="20372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Leyes obligatorias. En Costa Rica, la Ley 8968 protege los datos personales.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096000" y="1234440"/>
            <a:ext cx="2590800" cy="2814523"/>
          </a:xfrm>
          <a:prstGeom prst="roundRect">
            <a:avLst>
              <a:gd name="adj" fmla="val 2824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60592" y="1399032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60592" y="1399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736080" y="1353312"/>
            <a:ext cx="1813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Estándares y marcos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260592" y="1892808"/>
            <a:ext cx="2261616" cy="20372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Guías reconocidas como ISO/IEC 27001 y el Marco de Ciberseguridad del NIST, que agrupa el trabajo en Identificar, Proteger, Detectar, Responder y Recuperar (y en su versión 2.0 agrega Gobernar).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RA3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 del sistema y de la red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3045535"/>
                <a:gridCol w="518406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Buenas prácticas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física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Cuartos de servidores con llave o tarjeta, cámaras, UPS, control de visitantes, equipos con cable de seguridad.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de la aplicación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Validar entradas, programar de forma segura, revisar el código y probar antes de publicar.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Fortalecimiento: servicios y protocolos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Apagar servicios innecesarios y cambiar protocolos inseguros por seguros: Telnet → SSH, HTTP → HTTPS, FTP → SFTP.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Fortalecimiento: segmentación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Dividir la red en partes (VLAN, subredes, DMZ) para que un ataque no se extienda a todo.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RA3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3 (continuación)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 del sistema y de la red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788954"/>
                <a:gridCol w="544064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Buenas prácticas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Dispositivos inalámbricos y móviles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WPA3, bloqueo de pantalla, cifrado del teléfono, gestión de dispositivos móviles (MDM) y borrado remoto.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Resiliencia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 de seguir funcionando o recuperarse rápido: redundancia, respaldos y planes de continuidad.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Sistemas integrados y especializados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Dispositivos IoT, cámaras IP y sistemas industriales (SCADA): cambiar contraseñas de fábrica, actualizarlos y aislarlos en su propia red.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RA3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4 · CONTROL DE ACCESO, CUENTAS Y AAA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de control de acceso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3694176"/>
            <a:ext cx="8229600" cy="969264"/>
          </a:xfrm>
          <a:prstGeom prst="roundRect">
            <a:avLst>
              <a:gd name="adj" fmla="val 5660"/>
            </a:avLst>
          </a:prstGeom>
          <a:solidFill>
            <a:srgbClr val="FFF6E5"/>
          </a:solidFill>
          <a:ln w="12700">
            <a:solidFill>
              <a:srgbClr val="FFF6E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3694176"/>
            <a:ext cx="78638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de cuentas: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cuentas individuales (nunca compartidas), aplicar el privilegio mínimo, desactivar las cuentas de quienes se van, revisar los accesos periódicamente y exigir contraseñas robustas con MFA.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024676"/>
                <a:gridCol w="2835659"/>
                <a:gridCol w="336926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Quién decide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Ejemplo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Discrecional (DAC)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dueño del recurso decide con quién lo comparte.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Compartir una carpeta de Drive.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Obligatorio (MAC)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sistema, según niveles de clasificación.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Documentos «secretos» del ejército.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Basado en roles (RBAC)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puesto de la persona.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Todos los cajeros tienen los mismos permisos.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Basado en atributos (ABAC)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Varias condiciones: quién, desde dónde, a qué hora.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se entra al sistema de notas desde el colegio y en horario lectivo.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4 · CONTROL DE ACCESO, CUENTAS Y AAA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4187952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FFF6E5"/>
          </a:solidFill>
          <a:ln w="12700">
            <a:solidFill>
              <a:srgbClr val="FFF6E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4187952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implementa con servidores </a:t>
            </a:r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RADIUS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TACACS+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2590800" cy="1650492"/>
          </a:xfrm>
          <a:prstGeom prst="roundRect">
            <a:avLst>
              <a:gd name="adj" fmla="val 4432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1399032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1399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1353312"/>
            <a:ext cx="1813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" y="1892808"/>
            <a:ext cx="2261616" cy="873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¿quién eres? (usuario y contraseña, huella, token).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276600" y="1234440"/>
            <a:ext cx="2590800" cy="1650492"/>
          </a:xfrm>
          <a:prstGeom prst="roundRect">
            <a:avLst>
              <a:gd name="adj" fmla="val 4432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41192" y="1399032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41192" y="1399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916680" y="1353312"/>
            <a:ext cx="1813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Autorización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441192" y="1892808"/>
            <a:ext cx="2261616" cy="873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puedes hacer?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096000" y="1234440"/>
            <a:ext cx="2590800" cy="1650492"/>
          </a:xfrm>
          <a:prstGeom prst="roundRect">
            <a:avLst>
              <a:gd name="adj" fmla="val 4432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60592" y="1399032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60592" y="1399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736080" y="1353312"/>
            <a:ext cx="1813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(accounting)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60592" y="1892808"/>
            <a:ext cx="2261616" cy="873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hiciste y cuándo?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RA3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 de control de acceso (ACL) y máscaras comodín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82296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una lista ordenada de reglas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(permitir) o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(denegar) que un router aplica a los paquetes. Se revisa de arriba hacia abajo y se detiene en la primera regla que coincide. Al final de toda ACL hay un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 any implícito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lo que no se permitió, se bloquea.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8229600" cy="914400"/>
        </p:xfrm>
        <a:graphic>
          <a:graphicData uri="http://schemas.openxmlformats.org/drawingml/2006/table">
            <a:tbl>
              <a:tblPr/>
              <a:tblGrid>
                <a:gridCol w="3720569"/>
                <a:gridCol w="450903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ACL estándar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ACL extendida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Filtra solo por la IP de origen.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Filtra por origen, destino, protocolo y puerto.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coloca cerca del destino.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coloca cerca del origen.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RA3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5 · LISTAS DE CONTROL DE ACCESO (ACL) Y MÁSCARAS COMODÍN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Máscaras comodín (wildcard)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Indican qué bits de la dirección hay que revisar: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el bit debe coincidir,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no importa. Se calculan restando la máscara de subred a 255.255.255.255.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47672"/>
          <a:ext cx="8229600" cy="914400"/>
        </p:xfrm>
        <a:graphic>
          <a:graphicData uri="http://schemas.openxmlformats.org/drawingml/2006/table">
            <a:tbl>
              <a:tblPr/>
              <a:tblGrid>
                <a:gridCol w="2856369"/>
                <a:gridCol w="2225665"/>
                <a:gridCol w="314756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Quiero filtrar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Máscara de subred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Máscara comodín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solo equipo: 192.168.10.5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255.255.255.255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0.0.0.0 (o la palabra host)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red 192.168.10.0/24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255.255.255.0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0.0.0.255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red 172.16.0.0/16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255.255.0.0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0.0.255.255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Cualquier dirección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255.255.255.255 (o la palabra any)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RA3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6 · CONFIGURAR E IMPLEMENTAR ACL (IPV4 E IPV6)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estándar con nombre en IPv4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653921"/>
          </a:xfrm>
          <a:prstGeom prst="roundRect">
            <a:avLst>
              <a:gd name="adj" fmla="val 4423"/>
            </a:avLst>
          </a:prstGeom>
          <a:solidFill>
            <a:srgbClr val="0B1D2E"/>
          </a:solidFill>
          <a:ln w="12700">
            <a:solidFill>
              <a:srgbClr val="0B1D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371600"/>
            <a:ext cx="7772400" cy="1379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Router(config)# ip access-list standard PERMITIR-LAB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Router(config-std-nacl)# remark Solo el laboratorio entra al servidor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Router(config-std-nacl)# permit 192.168.10.0 0.0.0.255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Router(config-std-nacl)# deny any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Router(config-std-nacl)# exit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Router(config)# interface g0/1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Router(config-if)# ip access-group PERMITIR-LAB out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071241"/>
            <a:ext cx="8229600" cy="15921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filtra el tráfico que entra a la interfaz y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 que sale. Solo puede haber una ACL por interfaz, por dirección y por protocolo. Para revisarla: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 access-lists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RA3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6 · CONFIGURAR E IMPLEMENTAR ACL (IPV4 E IPV6)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Mitigar ataques con ACL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" y="151790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12344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Antisuplantación: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denegar en la entrada desde internet paquetes con IP de origen privadas (10.0.0.0/8, 172.16.0.0/12, 192.168.0.0/16) o de la propia red.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" y="247802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21945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Permitir solo los servicios necesarios (por ejemplo, HTTPS al servidor web) y bloquear el resto.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" y="343814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1560" y="31546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Restringir el acceso administrativo (SSH) a los equipos de los administradores.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RA3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6 · CONFIGURAR E IMPLEMENTAR ACL (IPV4 E IPV6)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de IPv6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siempre con nombre y se aplican con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ipv6 traffic-filter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Al final incluyen permisos implícitos para el descubrimiento de vecinos (ND) antes del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deny ipv6 any any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implícito.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947672"/>
            <a:ext cx="8229600" cy="1613916"/>
          </a:xfrm>
          <a:prstGeom prst="roundRect">
            <a:avLst>
              <a:gd name="adj" fmla="val 4533"/>
            </a:avLst>
          </a:prstGeom>
          <a:solidFill>
            <a:srgbClr val="0B1D2E"/>
          </a:solidFill>
          <a:ln w="12700">
            <a:solidFill>
              <a:srgbClr val="0B1D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084832"/>
            <a:ext cx="7772400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Router(config)# ipv6 access-list NO-TELNET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Router(config-ipv6-acl)# deny tcp any any eq 23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Router(config-ipv6-acl)# permit ipv6 any any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Router(config-ipv6-acl)# exit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Router(config)# interface g0/0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Router(config-if)# ipv6 traffic-filter NO-TELNET in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RA3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Tecnologías de firewall y diseño de redes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457200" y="3941064"/>
            <a:ext cx="8229600" cy="722376"/>
          </a:xfrm>
          <a:prstGeom prst="roundRect">
            <a:avLst>
              <a:gd name="adj" fmla="val 7595"/>
            </a:avLst>
          </a:prstGeom>
          <a:solidFill>
            <a:srgbClr val="FFF6E5"/>
          </a:solidFill>
          <a:ln w="12700">
            <a:solidFill>
              <a:srgbClr val="FFF6E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3941064"/>
            <a:ext cx="78638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servidor web del colegio va en la DMZ; la base de datos de notas queda en la red interna, protegida por otra capa del firewall.</a:t>
            </a:r>
            <a:endParaRPr lang="en-US" sz="13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3206297"/>
                <a:gridCol w="502330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de firewall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Cómo funciona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Filtrado de paquetes (sin estado)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Revisa cada paquete por separado según IP y puerto. Una ACL es un ejemplo.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estado (stateful)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Recuerda las conexiones: deja entrar las respuestas a lo que salió desde adentro.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 de aplicación (proxy)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Intermediario que revisa el contenido de la aplicación (por ejemplo, HTTP).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Próxima generación (NGFW)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Combina firewall con estado, IPS, control de aplicaciones y filtrado web.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Basado en host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Software en cada equipo, como el Firewall de Windows Defender o ufw en Linux.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7 · TECNOLOGÍAS DE FIREWALL Y DISEÑO DE REDES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Firewalls en el diseño de la red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812280" y="1554480"/>
            <a:ext cx="1645920" cy="1645920"/>
          </a:xfrm>
          <a:prstGeom prst="ellipse">
            <a:avLst/>
          </a:prstGeom>
          <a:solidFill>
            <a:srgbClr val="D8EEF0"/>
          </a:solidFill>
          <a:ln w="12700">
            <a:solidFill>
              <a:srgbClr val="D8EEF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965960"/>
            <a:ext cx="822960" cy="8229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34440"/>
            <a:ext cx="603504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definen zonas de confianza: </a:t>
            </a:r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(privada, de confianza), </a:t>
            </a:r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(internet, sin confianza) y </a:t>
            </a:r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DMZ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(zona desmilitarizada, donde van los servidores públicos como la página web). Desde internet se puede llegar a la DMZ, pero no a la red interna.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8 · FIREWALLS DE POLÍTICA BASADOS EN ZONAS (ZPF)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opera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ZPF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asigna cada interfaz del router a una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define las reglas entre pares de zonas, en lugar de configurar una ACL en cada interfaz.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947672"/>
            <a:ext cx="8229600" cy="576072"/>
          </a:xfrm>
          <a:prstGeom prst="roundRect">
            <a:avLst>
              <a:gd name="adj" fmla="val 9524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107692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1947672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tráfico entre interfaces de la misma zona pasa libremente.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660904"/>
            <a:ext cx="8229600" cy="576072"/>
          </a:xfrm>
          <a:prstGeom prst="roundRect">
            <a:avLst>
              <a:gd name="adj" fmla="val 9524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" y="282092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" y="2660904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tráfico entre zonas distintas se bloquea, salvo que una política lo permita.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374136"/>
            <a:ext cx="8229600" cy="576072"/>
          </a:xfrm>
          <a:prstGeom prst="roundRect">
            <a:avLst>
              <a:gd name="adj" fmla="val 9524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" y="3534156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1560" y="3374136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zona self es el propio router.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087368"/>
            <a:ext cx="8229600" cy="576072"/>
          </a:xfrm>
          <a:prstGeom prst="roundRect">
            <a:avLst>
              <a:gd name="adj" fmla="val 9524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" y="4247388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51560" y="4087368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Acciones posibles: inspect (permitir y dejar volver la respuesta, con estado), pass (permitir en una sola dirección, sin estado) y drop (descartar).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RA3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8 · FIREWALLS DE POLÍTICA BASADOS EN ZONAS (ZPF)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 para configurar un ZPF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023360" cy="777240"/>
          </a:xfrm>
          <a:prstGeom prst="roundRect">
            <a:avLst>
              <a:gd name="adj" fmla="val 705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431036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4310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123444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las zonas: zone security INSIDE y zone security OUTSIDE.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121408"/>
            <a:ext cx="4023360" cy="777240"/>
          </a:xfrm>
          <a:prstGeom prst="roundRect">
            <a:avLst>
              <a:gd name="adj" fmla="val 705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2318004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3180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12140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el tráfico con un class-map.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008376"/>
            <a:ext cx="4023360" cy="777240"/>
          </a:xfrm>
          <a:prstGeom prst="roundRect">
            <a:avLst>
              <a:gd name="adj" fmla="val 705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" y="3204972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32049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3008376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la acción con un policy-map (inspect, pass o drop).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1234440"/>
            <a:ext cx="4023360" cy="777240"/>
          </a:xfrm>
          <a:prstGeom prst="roundRect">
            <a:avLst>
              <a:gd name="adj" fmla="val 705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00600" y="1431036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00600" y="14310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21808" y="123444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el zone-pair (de INSIDE a OUTSIDE) y aplicarle la política.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63440" y="2121408"/>
            <a:ext cx="4023360" cy="777240"/>
          </a:xfrm>
          <a:prstGeom prst="roundRect">
            <a:avLst>
              <a:gd name="adj" fmla="val 705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00600" y="2318004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00600" y="23180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321808" y="212140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Asignar cada interfaz a su zona con zone-member security.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RA3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484632"/>
            <a:ext cx="292608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APLICAMOS LO APRENDIDO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práctico: proteger el servidor de notas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457200" y="123444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5"/>
          </a:solidFill>
          <a:ln w="12700">
            <a:solidFill>
              <a:srgbClr val="FFF6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280160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colegio tiene un servidor web público y una base de datos de notas en la red interna. Solo el laboratorio de profesores (192.168.20.0/24) debe llegar a la base de datos.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57200" y="2514600"/>
            <a:ext cx="1885950" cy="2103120"/>
          </a:xfrm>
          <a:prstGeom prst="roundRect">
            <a:avLst>
              <a:gd name="adj" fmla="val 387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1792" y="2679192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2679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97280" y="2660904"/>
            <a:ext cx="11544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21792" y="3200400"/>
            <a:ext cx="155676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web en la DMZ; base de datos en la red interna.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2571750" y="2514600"/>
            <a:ext cx="1885950" cy="2103120"/>
          </a:xfrm>
          <a:prstGeom prst="roundRect">
            <a:avLst>
              <a:gd name="adj" fmla="val 387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736342" y="2679192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736342" y="2679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3211830" y="2660904"/>
            <a:ext cx="11544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Filtrar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2736342" y="3200400"/>
            <a:ext cx="155676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estándar que permita 192.168.20.0 0.0.0.255 hacia la base de datos.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686300" y="2514600"/>
            <a:ext cx="1885950" cy="2103120"/>
          </a:xfrm>
          <a:prstGeom prst="roundRect">
            <a:avLst>
              <a:gd name="adj" fmla="val 387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850892" y="2679192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50892" y="2679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326380" y="2660904"/>
            <a:ext cx="11544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4850892" y="3200400"/>
            <a:ext cx="155676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estado entre zonas: internet solo llega a la DMZ.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00850" y="2514600"/>
            <a:ext cx="1885950" cy="2103120"/>
          </a:xfrm>
          <a:prstGeom prst="roundRect">
            <a:avLst>
              <a:gd name="adj" fmla="val 387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965442" y="2679192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965442" y="2679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440930" y="2660904"/>
            <a:ext cx="11544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Controlar acceso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6965442" y="3200400"/>
            <a:ext cx="155676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Cuentas individuales con RBAC, MFA y registro AAA.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RA3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502920"/>
            <a:ext cx="256032" cy="2560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RÁPIDO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aprendimos? (1 de 2)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2344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234440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tres dimensiones tiene el cubo de McCumber?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3774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77440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la defensa en profundidad?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57200" y="35204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3767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3520440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diferencia hay entre DAC y RBAC?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RA3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502920"/>
            <a:ext cx="256032" cy="2560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RÁPIDO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aprendimos? (2 de 2)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2344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234440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es la máscara comodín de la red 192.168.5.0/24?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3774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77440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¿Dónde se coloca una ACL estándar y por qué?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57200" y="35204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3767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3520440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 ZPF, ¿qué pasa con el tráfico entre dos zonas distintas sin política?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RA3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35024"/>
            <a:ext cx="310896" cy="31089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1417320"/>
            <a:ext cx="146304" cy="1463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05840" y="1280160"/>
            <a:ext cx="3520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dimensiones de la ciberseguridad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01952"/>
            <a:ext cx="310896" cy="31089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984248"/>
            <a:ext cx="146304" cy="14630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05840" y="1847088"/>
            <a:ext cx="3520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 en profundidad y administración de operaciones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48640" y="2468880"/>
            <a:ext cx="310896" cy="31089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551176"/>
            <a:ext cx="146304" cy="14630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05840" y="2414016"/>
            <a:ext cx="3520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 del sistema y de la red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548640" y="3035808"/>
            <a:ext cx="310896" cy="31089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3118104"/>
            <a:ext cx="146304" cy="14630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05840" y="2980944"/>
            <a:ext cx="3520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acceso, cuentas y AAA</a:t>
            </a:r>
            <a:endParaRPr lang="en-US" sz="1300" dirty="0"/>
          </a:p>
        </p:txBody>
      </p:sp>
      <p:sp>
        <p:nvSpPr>
          <p:cNvPr id="15" name="Shape 9"/>
          <p:cNvSpPr/>
          <p:nvPr/>
        </p:nvSpPr>
        <p:spPr>
          <a:xfrm>
            <a:off x="4663440" y="1335024"/>
            <a:ext cx="310896" cy="31089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5736" y="1417320"/>
            <a:ext cx="146304" cy="14630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120640" y="1280160"/>
            <a:ext cx="3520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 de control de acceso (ACL) y máscaras comodín</a:t>
            </a:r>
            <a:endParaRPr lang="en-US" sz="1300" dirty="0"/>
          </a:p>
        </p:txBody>
      </p:sp>
      <p:sp>
        <p:nvSpPr>
          <p:cNvPr id="18" name="Shape 11"/>
          <p:cNvSpPr/>
          <p:nvPr/>
        </p:nvSpPr>
        <p:spPr>
          <a:xfrm>
            <a:off x="4663440" y="1901952"/>
            <a:ext cx="310896" cy="31089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5736" y="1984248"/>
            <a:ext cx="146304" cy="146304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120640" y="1847088"/>
            <a:ext cx="3520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Configurar e implementar ACL (IPv4 e IPv6)</a:t>
            </a:r>
            <a:endParaRPr lang="en-US" sz="1300" dirty="0"/>
          </a:p>
        </p:txBody>
      </p:sp>
      <p:sp>
        <p:nvSpPr>
          <p:cNvPr id="21" name="Shape 13"/>
          <p:cNvSpPr/>
          <p:nvPr/>
        </p:nvSpPr>
        <p:spPr>
          <a:xfrm>
            <a:off x="4663440" y="2468880"/>
            <a:ext cx="310896" cy="31089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5736" y="2551176"/>
            <a:ext cx="146304" cy="146304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5120640" y="2414016"/>
            <a:ext cx="3520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Tecnologías de firewall y diseño de redes</a:t>
            </a:r>
            <a:endParaRPr lang="en-US" sz="1300" dirty="0"/>
          </a:p>
        </p:txBody>
      </p:sp>
      <p:sp>
        <p:nvSpPr>
          <p:cNvPr id="24" name="Shape 15"/>
          <p:cNvSpPr/>
          <p:nvPr/>
        </p:nvSpPr>
        <p:spPr>
          <a:xfrm>
            <a:off x="4663440" y="3035808"/>
            <a:ext cx="310896" cy="31089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45736" y="3118104"/>
            <a:ext cx="146304" cy="146304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120640" y="2980944"/>
            <a:ext cx="3520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Firewalls de política basados en zonas (ZPF)</a:t>
            </a:r>
            <a:endParaRPr lang="en-US" sz="1300" dirty="0"/>
          </a:p>
        </p:txBody>
      </p:sp>
      <p:sp>
        <p:nvSpPr>
          <p:cNvPr id="27" name="Shape 17"/>
          <p:cNvSpPr/>
          <p:nvPr/>
        </p:nvSpPr>
        <p:spPr>
          <a:xfrm>
            <a:off x="548640" y="3794760"/>
            <a:ext cx="8046720" cy="685800"/>
          </a:xfrm>
          <a:prstGeom prst="roundRect">
            <a:avLst>
              <a:gd name="adj" fmla="val 10667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8" name="Text 18"/>
          <p:cNvSpPr txBox="1"/>
          <p:nvPr/>
        </p:nvSpPr>
        <p:spPr>
          <a:xfrm>
            <a:off x="777240" y="379476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</a:t>
            </a:r>
            <a:pPr indent="0" marL="0">
              <a:buNone/>
            </a:pPr>
            <a:r>
              <a:rPr lang="en-US" sz="1500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resolvé el cotidiano interactivo de este resultado de aprendizaje en el portal del curso.</a:t>
            </a:r>
            <a:endParaRPr lang="en-US" sz="1500" dirty="0"/>
          </a:p>
        </p:txBody>
      </p:sp>
      <p:sp>
        <p:nvSpPr>
          <p:cNvPr id="29" name="Text 19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RA3</a:t>
            </a:r>
            <a:endParaRPr lang="en-US" sz="900" dirty="0"/>
          </a:p>
        </p:txBody>
      </p:sp>
      <p:sp>
        <p:nvSpPr>
          <p:cNvPr id="30" name="Text 20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RA3 · Mejores prácticas de ciberseguridad</dc:title>
  <dc:subject>PptxGenJS Presentation</dc:subject>
  <dc:creator>MsC. Ericka Hernández Mena</dc:creator>
  <cp:lastModifiedBy>MsC. Ericka Hernández Mena</cp:lastModifiedBy>
  <cp:revision>1</cp:revision>
  <dcterms:created xsi:type="dcterms:W3CDTF">2026-10-01T21:36:11Z</dcterms:created>
  <dcterms:modified xsi:type="dcterms:W3CDTF">2026-10-01T21:36:11Z</dcterms:modified>
</cp:coreProperties>
</file>