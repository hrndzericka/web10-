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a6d90f9b-ec57-04eb-1796-bcf542a37574}">
          <p14:sldIdLst>
            <p14:sldId id="256"/>
            <p14:sldId id="257"/>
            <p14:sldId id="258"/>
          </p14:sldIdLst>
        </p14:section>
        <p14:section name="Caso 1: Cuatro fallas, tiempo para una" id="{0aeac02a-99e7-fa4e-4d62-b915c91730df}">
          <p14:sldIdLst>
            <p14:sldId id="259"/>
            <p14:sldId id="260"/>
            <p14:sldId id="261"/>
          </p14:sldIdLst>
        </p14:section>
        <p14:section name="Caso 2: ¿Seguro, MFA o dejar de hacerlo?" id="{8274d6f4-a480-6be9-64ac-8e0ba483b3d6}">
          <p14:sldIdLst>
            <p14:sldId id="262"/>
            <p14:sldId id="263"/>
            <p14:sldId id="264"/>
            <p14:sldId id="265"/>
          </p14:sldIdLst>
        </p14:section>
        <p14:section name="Caso 3: El lunes del ransomware" id="{5518eb5a-dec8-f32a-293c-4495d7fc3613}">
          <p14:sldIdLst>
            <p14:sldId id="266"/>
            <p14:sldId id="267"/>
            <p14:sldId id="268"/>
            <p14:sldId id="269"/>
          </p14:sldIdLst>
        </p14:section>
        <p14:section name="Caso 4: ¿Dónde se pudo cortar?" id="{fbffb744-458c-f647-e786-c64d9cc5e52a}">
          <p14:sldIdLst>
            <p14:sldId id="270"/>
            <p14:sldId id="271"/>
            <p14:sldId id="272"/>
          </p14:sldIdLst>
        </p14:section>
        <p14:section name="Cierre" id="{be45c0cd-1424-86e8-a72d-2abbf69b7e4b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CVSS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B1D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Plugin de pagos</c:v>
                  </c:pt>
                  <c:pt idx="1">
                    <c:v>Servidor Apache</c:v>
                  </c:pt>
                  <c:pt idx="2">
                    <c:v>Router</c:v>
                  </c:pt>
                  <c:pt idx="3">
                    <c:v>Impresora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9.8</c:v>
                </c:pt>
                <c:pt idx="1">
                  <c:v>7.5</c:v>
                </c:pt>
                <c:pt idx="2">
                  <c:v>5.3</c:v>
                </c:pt>
                <c:pt idx="3">
                  <c:v>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0B1D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9525" cap="flat">
              <a:solidFill>
                <a:srgbClr val="D9E2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 el resultado de aprendizaje: Explicar en qué consiste la inteligencia contra amenazas, la gestión de riesgos, la evaluación de vulnerabilidades y la respuesta ante incidentes de ciberseguridad. Explique la dinámica: hoy no vamos a leer teoría; vamos a analizar 4 casos, y en cada uno descubrimos los conceptos. La teoría completa está en la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primera pregunta introduce el impacto; la segunda, los tratamientos del riesgo; la tercera, el CSIRT-CR y el OIJ.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 el recorrido. Cada caso tiene tres momentos: la situación (ustedes opinan primero), el diagrama de cómo funciona y los conceptos que salen del caso. Entre los casos hay dos mini actividades.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 la situación en voz alta y deje que el grupo responda antes de avanzar. Primero el plugin de pagos (CVSS 9,8, crítica): maneja dinero y datos de tarjetas, y se ataca desde internet. Después Apache (alta), el router (media) y la impresora (baja).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Recuerde la escala: 0,1–3,9 baja; 4–6,9 media; 7–8,9 alta; 9–10 crítica. Los códigos CVE identifican cada vulnerabilidad conocida.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Mencione fuentes de inteligencia: CVE, MITRE ATT&amp;CK y las alertas del CSIRT-CR.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 la situación en voz alta y deje que el grupo responda antes de avanzar. Phishing: 3 × 3 = 9, alto; mitigar con MFA y capacitación. Laptop: 2 × 3 = 6, alto; mitigar con cifrado o transferir con un seguro. Impresora: 1 × 1 = 1, bajo; aceptar.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Pida que propongan un ejemplo de cada tratamiento: evitar (dejar de guardar tarjetas), mitigar (MFA), transferir (seguro), aceptar (riesgo bajo).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Relacione con los controles: el MFA es un control técnico y preventivo.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5 min. Grupos de 3. Ejemplos: robo de equipos del laboratorio, contraseñas compartidas en Teams, corte eléctrico durante una prueba en línea. Revise que multipliquen bien y que el tratamiento sea coherente con el nivel.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 la situación en voz alta y deje que el grupo responda antes de avanzar. Primero, contener: desconectar los equipos para que no se propague. Formatear de inmediato destruye la evidencia (y la RAM se pierde al apagar). Pagar no garantiza recuperar los archivos.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Mencione el orden de volatilidad: primero la RAM y las conexiones, después el disco. Y la cadena de custodia si se va a denunciar ante el OIJ.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Reporte: CSIRT-CR para incidentes informáticos y OIJ si hay delito.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5 min. Grupos de 3. Con 3 integrantes, uno asume dos roles. Técnico: aislar equipos. Dirección: decidir no pagar y avisar al seguro. Comunicación: informar a clientes y personal. Evidencia: fotografiar pantallas y anotar horas para la cadena de custodia.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 la situación en voz alta y deje que el grupo responda antes de avanzar. En cualquiera: si se corta un paso de la cadena, el ataque fracasa. Los más fáciles para la ferretería: entrega (filtro de correo), explotación (parches) y comando y control (bloquear la IP).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Complemente con el modelo de diamante: adversario, capacidad (el malware), infraestructura (el servidor extranjero) y víctima (la ferretería).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la regla 3-2-1: tres copias, dos medios, una fuera de la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Recoja las hojas o pida fotos por Teams. Las preguntas pendientes sirven para abrir la próxima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pidiendo a varios estudiantes que expliquen un caso con sus palabras. Recuerde que la teoría completa y el cotidiano están en la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08760"/>
            <a:ext cx="566928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6324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9145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Fundamentos de ciberseguridad · RA5 · Casos para la clase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9145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Fundamentos de ciberseguridad · RA5 · Casos para la clase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9145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Fundamentos de ciberseguridad · RA5 · Casos para la clase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43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FUNDAMENTOS DE CIBERSEGURIDAD · DESARROLLO WEB 10°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Resultado de aprendizaje 5</a:t>
            </a:r>
            <a:endParaRPr lang="en-US" sz="18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0876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Inteligencia, riesgos y respuesta a incidentes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0632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Aprendemos con 4 casos reales para analizar en clase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46520" y="1051560"/>
            <a:ext cx="2286000" cy="2286000"/>
          </a:xfrm>
          <a:prstGeom prst="ellipse">
            <a:avLst/>
          </a:prstGeom>
          <a:solidFill>
            <a:schemeClr val="accent1">
              <a:alpha val="8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69164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4343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CTP Mercedes Norte · MsC. Ericka Hernández Mena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PREGUNTAS PARA INICIAR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Para empezar: ¿qué saben ya?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705" y="1710385"/>
            <a:ext cx="255118" cy="2551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286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 mañana roban todos los archivos del colegio,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¿qué sería lo peor que podría pasar?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68980" y="132588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97580" y="1554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485" y="1710385"/>
            <a:ext cx="255118" cy="2551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97580" y="2286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¿Qué preferirían: evitar un problema, prepararse o asegurarlo?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97580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¿De qué depende?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80760" y="1325880"/>
            <a:ext cx="2606040" cy="32004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1554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265" y="1710385"/>
            <a:ext cx="255118" cy="2551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286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¿Saben dónde se reporta un ataque informático en Costa Rica?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¿Y si les roban dinero del banco?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LA CLASE DE HOY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Los casos que vamos a resolver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5778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99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1504188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28016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Caso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12801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Cuatro fallas, tiempo para una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2121408"/>
            <a:ext cx="55778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" y="22402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2345436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000" y="212140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Caso 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920240" y="212140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¿Seguro, MFA o dejar de hacerlo?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57200" y="2962656"/>
            <a:ext cx="55778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6928" y="30815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318668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2962656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Caso 3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920240" y="296265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El lunes del ransomware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457200" y="3803904"/>
            <a:ext cx="55778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66928" y="392277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4027932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43000" y="3803904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Caso 4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920240" y="380390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¿Dónde se pudo cortar?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309360" y="1280160"/>
            <a:ext cx="2377440" cy="324612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49224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En cada caso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540" y="203454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059168" y="19202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Leemos la situación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492240" y="2743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540" y="285750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59168" y="2743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Vemos cómo funciona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6492240" y="3566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6540" y="3680460"/>
            <a:ext cx="228600" cy="22860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059168" y="35661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Sacamos los conceptos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CASO 1 DE 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Cuatro fallas, tiempo para una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76072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El escáner encontró cuatro vulnerabilidades en la Ferretería El Clavo: el plugin de pagos, el servidor Apache, el router y la impresora. Hoy solo hay tiempo para corregir una.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0" y="132588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828800"/>
            <a:ext cx="1005840" cy="1005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639312"/>
            <a:ext cx="8229600" cy="932688"/>
          </a:xfrm>
          <a:prstGeom prst="roundRect">
            <a:avLst>
              <a:gd name="adj" fmla="val 78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77056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37124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¿Qué harían ustedes?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398678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¿Cuál corrigen primero y por qué?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1 · ASÍ FUNCIONA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Puntaje CVSS de cada vulnerabilidad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37160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55080" y="1554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Escala CVSS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355080" y="210312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0" y="20848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Crítica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23042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9 a 10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55080" y="2670048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0" y="26517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Alta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28712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7 a 8,9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55080" y="3236976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0" y="32186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34381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4 a 6,9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55080" y="3803904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0" y="378561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Baja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40050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0,1 a 3,9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1 · LO QUE APRENDIMOS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Cuatro fallas, tiempo para una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356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CVSS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013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Puntaje de gravedad de 0 a 10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532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CVE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986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Código de una vulnerabilidad conocida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764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6301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IoC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99592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Huella de un ataque: IP, hash, dominio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1325880"/>
            <a:ext cx="3200400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1536192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0730" y="1661922"/>
            <a:ext cx="251460" cy="2514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355080" y="1536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Prioridad</a:t>
            </a:r>
            <a:endParaRPr lang="en-US" sz="17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231343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144768" y="228600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9 a 10, crítica: hoy</a:t>
            </a:r>
            <a:endParaRPr lang="en-US" sz="14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3026664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144768" y="299923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7 a 8,9, alta: esta semana</a:t>
            </a:r>
            <a:endParaRPr lang="en-US" sz="1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373989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144768" y="371246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Menos de 7: planificar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CASO 2 DE 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¿Seguro, MFA o dejar de hacerlo?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76072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La ferretería analiza tres riesgos: correos de phishing al personal (probabilidad alta, impacto alto), robo de la laptop del dueño (media, alto) y una impresora que se desconfigura (baja, bajo).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0" y="132588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828800"/>
            <a:ext cx="1005840" cy="1005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639312"/>
            <a:ext cx="8229600" cy="932688"/>
          </a:xfrm>
          <a:prstGeom prst="roundRect">
            <a:avLst>
              <a:gd name="adj" fmla="val 78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77056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37124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¿Qué harían ustedes?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398678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¿Qué nivel tiene cada riesgo y qué tratamiento le darían?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2 · ASÍ FUNCIONA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Matriz de riesgos de la ferretería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 rot="16200000">
            <a:off x="-320040" y="25374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Probabilidad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2588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Alta (3)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00200" y="1325880"/>
            <a:ext cx="1371600" cy="914400"/>
          </a:xfrm>
          <a:prstGeom prst="rect">
            <a:avLst/>
          </a:prstGeom>
          <a:solidFill>
            <a:schemeClr val="accent2">
              <a:alpha val="28000"/>
            </a:schemeClr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73352" y="1371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71800" y="1325880"/>
            <a:ext cx="1371600" cy="914400"/>
          </a:xfrm>
          <a:prstGeom prst="rect">
            <a:avLst/>
          </a:prstGeom>
          <a:solidFill>
            <a:schemeClr val="accent3">
              <a:alpha val="28000"/>
            </a:schemeClr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44952" y="1371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325880"/>
            <a:ext cx="1371600" cy="914400"/>
          </a:xfrm>
          <a:prstGeom prst="rect">
            <a:avLst/>
          </a:prstGeom>
          <a:solidFill>
            <a:schemeClr val="accent3">
              <a:alpha val="28000"/>
            </a:schemeClr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16552" y="1371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709928"/>
            <a:ext cx="109728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17099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Phishing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224028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Media (2)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00200" y="2240280"/>
            <a:ext cx="1371600" cy="914400"/>
          </a:xfrm>
          <a:prstGeom prst="rect">
            <a:avLst/>
          </a:prstGeom>
          <a:solidFill>
            <a:schemeClr val="accent4">
              <a:alpha val="28000"/>
            </a:schemeClr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73352" y="2286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71800" y="2240280"/>
            <a:ext cx="1371600" cy="914400"/>
          </a:xfrm>
          <a:prstGeom prst="rect">
            <a:avLst/>
          </a:prstGeom>
          <a:solidFill>
            <a:schemeClr val="accent2">
              <a:alpha val="28000"/>
            </a:schemeClr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44952" y="2286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2240280"/>
            <a:ext cx="1371600" cy="914400"/>
          </a:xfrm>
          <a:prstGeom prst="rect">
            <a:avLst/>
          </a:prstGeom>
          <a:solidFill>
            <a:schemeClr val="accent3">
              <a:alpha val="28000"/>
            </a:schemeClr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16552" y="2286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0560" y="2624328"/>
            <a:ext cx="109728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80560" y="2624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Laptop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315468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Baja (1)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00200" y="3154680"/>
            <a:ext cx="1371600" cy="914400"/>
          </a:xfrm>
          <a:prstGeom prst="rect">
            <a:avLst/>
          </a:prstGeom>
          <a:solidFill>
            <a:schemeClr val="accent4">
              <a:alpha val="28000"/>
            </a:schemeClr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73352" y="3200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737360" y="3538728"/>
            <a:ext cx="109728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737360" y="35387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Impresora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71800" y="3154680"/>
            <a:ext cx="1371600" cy="914400"/>
          </a:xfrm>
          <a:prstGeom prst="rect">
            <a:avLst/>
          </a:prstGeom>
          <a:solidFill>
            <a:schemeClr val="accent4">
              <a:alpha val="28000"/>
            </a:schemeClr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44952" y="3200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43400" y="3154680"/>
            <a:ext cx="1371600" cy="914400"/>
          </a:xfrm>
          <a:prstGeom prst="rect">
            <a:avLst/>
          </a:prstGeom>
          <a:solidFill>
            <a:schemeClr val="accent2">
              <a:alpha val="28000"/>
            </a:schemeClr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16552" y="3200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Bajo (1)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97180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Medio (2)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34340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Alto (3)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600200" y="43616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Impacto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89320" y="1325880"/>
            <a:ext cx="2697480" cy="274320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1792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Nivel = P × I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17920" y="2057400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accent3">
              <a:alpha val="6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66560" y="20299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Alto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766560" y="22768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6 a 9: tratar ya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17920" y="2697480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accent2">
              <a:alpha val="6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766560" y="26700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Medio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766560" y="291693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3 a 4: planificar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17920" y="3337560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accent4">
              <a:alpha val="6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766560" y="33101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Bajo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766560" y="355701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1 a 2: se puede aceptar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2 · LO QUE APRENDIMOS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¿Seguro, MFA o dejar de hacerlo?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356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Riesgo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013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Probabilidad × impacto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532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Mitigar y transferir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986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Reducir con controles o pasar a un seguro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764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6301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Evitar y aceptar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99592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Dejar la actividad o asumir lo bajo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1325880"/>
            <a:ext cx="3200400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1536192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0730" y="1661922"/>
            <a:ext cx="251460" cy="2514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355080" y="1536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Tratamiento</a:t>
            </a:r>
            <a:endParaRPr lang="en-US" sz="17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231343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144768" y="228600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Phishing (9): mitigar</a:t>
            </a:r>
            <a:endParaRPr lang="en-US" sz="14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3026664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144768" y="299923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Laptop (6): mitigar o transferir</a:t>
            </a:r>
            <a:endParaRPr lang="en-US" sz="1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373989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144768" y="371246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Impresora (1): aceptar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MINI ACTIVIDAD 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Matriz de riesgos del colegio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982980" cy="384048"/>
          </a:xfrm>
          <a:prstGeom prst="roundRect">
            <a:avLst>
              <a:gd name="adj" fmla="val 47619"/>
            </a:avLst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271016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1188720"/>
            <a:ext cx="525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5 min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577340" y="1188720"/>
            <a:ext cx="1504188" cy="384048"/>
          </a:xfrm>
          <a:prstGeom prst="roundRect">
            <a:avLst>
              <a:gd name="adj" fmla="val 47619"/>
            </a:avLst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356" y="1271016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88820" y="1188720"/>
            <a:ext cx="1046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Grupos de 3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178308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176479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Piensen en tres riesgos reales del colegio.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251460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7200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051560" y="249631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Asignen probabilidad e impacto de 1 a 3 y calculen el nivel.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57200" y="324612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" y="3246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051560" y="322783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Elijan un tratamiento para cada riesgo.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4069080"/>
            <a:ext cx="47091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0080" y="406908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Producto: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Tres riesgos con nivel y tratamiento.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486400" y="1188720"/>
            <a:ext cx="3200400" cy="3447288"/>
          </a:xfrm>
          <a:prstGeom prst="roundRect">
            <a:avLst>
              <a:gd name="adj" fmla="val 228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446520" y="1737360"/>
            <a:ext cx="1280160" cy="12801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057400"/>
            <a:ext cx="640080" cy="6400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760720" y="32461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Trabajen con casos reales del colegio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CASO 3 DE 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El lunes del ransomware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76072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Lunes, 7:10 a. m.: cuatro computadoras de la ferretería muestran una nota de rescate. El dueño quiere pagar y formatear todo de inmediato para seguir vendiendo.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0" y="132588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828800"/>
            <a:ext cx="1005840" cy="1005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639312"/>
            <a:ext cx="8229600" cy="932688"/>
          </a:xfrm>
          <a:prstGeom prst="roundRect">
            <a:avLst>
              <a:gd name="adj" fmla="val 78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77056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37124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¿Qué harían ustedes?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398678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¿Qué deben hacer primero? ¿Por qué no conviene formatear ya?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3 · ASÍ FUNCIONA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Ciclo de respuesta a incidentes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0" y="2404872"/>
            <a:ext cx="2194560" cy="10058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566160" y="240487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Respuesta a incidentes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504695" y="1933658"/>
            <a:ext cx="960959" cy="296457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6675038" y="2983421"/>
            <a:ext cx="367054" cy="479677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3978095" y="3928668"/>
            <a:ext cx="1187811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 flipV="1">
            <a:off x="2101908" y="2983421"/>
            <a:ext cx="367054" cy="479677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2678346" y="1933658"/>
            <a:ext cx="960959" cy="296457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66160" y="1316736"/>
            <a:ext cx="201168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5888" y="149047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75888" y="1490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131673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Preparación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92510" y="2188668"/>
            <a:ext cx="201168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2238" y="236240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02238" y="23624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95430" y="218866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Detección y análisis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12940" y="3599484"/>
            <a:ext cx="2011680" cy="658368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22668" y="37732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22668" y="37732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815860" y="359948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Contención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819380" y="3599484"/>
            <a:ext cx="201168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9108" y="37732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29108" y="37732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322300" y="359948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Erradicación y recuperación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9810" y="2188668"/>
            <a:ext cx="201168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9538" y="236240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9538" y="23624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242730" y="2188668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Lecciones aprendidas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3 · LO QUE APRENDIMOS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El lunes del ransomware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356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Contención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013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Aislar para que el daño no crezca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532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Cadena de custodia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986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Registro de quién manejó la evidencia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764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6301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Orden de volatilidad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99592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Primero la RAM, luego el disco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1325880"/>
            <a:ext cx="3200400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1536192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0730" y="1661922"/>
            <a:ext cx="251460" cy="2514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355080" y="1536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Qué hacer</a:t>
            </a:r>
            <a:endParaRPr lang="en-US" sz="17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231343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144768" y="228600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Desconectar los equipos afectados</a:t>
            </a:r>
            <a:endParaRPr lang="en-US" sz="14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3026664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144768" y="299923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Guardar evidencia y reportar</a:t>
            </a:r>
            <a:endParaRPr lang="en-US" sz="1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373989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144768" y="371246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Restaurar desde respaldos 3-2-1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MINI ACTIVIDAD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Simulacro: ¿quién hace qué?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982980" cy="384048"/>
          </a:xfrm>
          <a:prstGeom prst="roundRect">
            <a:avLst>
              <a:gd name="adj" fmla="val 47619"/>
            </a:avLst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271016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1188720"/>
            <a:ext cx="525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5 min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577340" y="1188720"/>
            <a:ext cx="1504188" cy="384048"/>
          </a:xfrm>
          <a:prstGeom prst="roundRect">
            <a:avLst>
              <a:gd name="adj" fmla="val 47619"/>
            </a:avLst>
          </a:prstGeom>
          <a:solidFill>
            <a:schemeClr val="accent2">
              <a:alpha val="3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356" y="1271016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988820" y="1188720"/>
            <a:ext cx="10469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Grupos de 3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178308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" y="1783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176479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Repártanse los roles de la derecha.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251460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7200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051560" y="249631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 el caso del lunes, cada rol escribe su primera acción.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57200" y="324612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" y="3246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051560" y="322783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Ordenen las acciones según las fases de respuesta.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4069080"/>
            <a:ext cx="47091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0080" y="406908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Producto: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Plan de primeras acciones ordenado por fases.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486400" y="1188720"/>
            <a:ext cx="3200400" cy="3447288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7150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Opciones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715000" y="1874520"/>
            <a:ext cx="27432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760720" y="1874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Técnico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715000" y="2587752"/>
            <a:ext cx="27432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760720" y="25877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Dirección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5715000" y="3300984"/>
            <a:ext cx="27432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760720" y="330098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Comunicación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5715000" y="4014216"/>
            <a:ext cx="27432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760720" y="40142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Evidencia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CASO 4 DE 4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¿Dónde se pudo cortar?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76072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Al investigar, descubren el recorrido: buscaron correos del personal en redes, prepararon un adjunto, lo enviaron, se ejecutó en una computadora sin parches, dejó una puerta trasera y se conectó a un servidor en el extranjero.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0" y="1325880"/>
            <a:ext cx="2011680" cy="2011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828800"/>
            <a:ext cx="1005840" cy="1005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639312"/>
            <a:ext cx="8229600" cy="932688"/>
          </a:xfrm>
          <a:prstGeom prst="roundRect">
            <a:avLst>
              <a:gd name="adj" fmla="val 78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77056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371246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¿Qué harían ustedes?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3986784"/>
            <a:ext cx="7223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¿En qué paso se pudo detener el ataque?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4 · ASÍ FUNCIONA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Cyber Kill Chain: siete pasos de un ataque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65376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" y="1536192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1664208"/>
            <a:ext cx="256032" cy="256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48132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12140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Reconocimiento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359152" y="2139696"/>
            <a:ext cx="18288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578608" y="1371600"/>
            <a:ext cx="1865376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55264" y="1536192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664208"/>
            <a:ext cx="256032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688336" y="148132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688336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2688336" y="212140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Preparación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480560" y="2139696"/>
            <a:ext cx="18288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700016" y="1371600"/>
            <a:ext cx="1865376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376672" y="1536192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664208"/>
            <a:ext cx="256032" cy="25603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809744" y="148132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809744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4809744" y="212140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Entrega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601968" y="2139696"/>
            <a:ext cx="18288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6821424" y="1371600"/>
            <a:ext cx="1865376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498080" y="1536192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096" y="1664208"/>
            <a:ext cx="256032" cy="25603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931152" y="1481328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931152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6931152" y="212140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Explotación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457200" y="3127248"/>
            <a:ext cx="2572512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487424" y="329184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5440" y="3419856"/>
            <a:ext cx="256032" cy="256032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566928" y="3236976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566928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566928" y="3877056"/>
            <a:ext cx="235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Instalación</a:t>
            </a:r>
            <a:endParaRPr lang="en-US" sz="1600" dirty="0"/>
          </a:p>
        </p:txBody>
      </p:sp>
      <p:sp>
        <p:nvSpPr>
          <p:cNvPr id="37" name="Shape 30"/>
          <p:cNvSpPr/>
          <p:nvPr/>
        </p:nvSpPr>
        <p:spPr>
          <a:xfrm>
            <a:off x="3066288" y="3895344"/>
            <a:ext cx="18288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8" name="Shape 31"/>
          <p:cNvSpPr/>
          <p:nvPr/>
        </p:nvSpPr>
        <p:spPr>
          <a:xfrm>
            <a:off x="3285744" y="3127248"/>
            <a:ext cx="2572512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4315968" y="329184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4" y="3419856"/>
            <a:ext cx="256032" cy="256032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3395472" y="3236976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3395472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6</a:t>
            </a:r>
            <a:endParaRPr lang="en-US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3395472" y="3877056"/>
            <a:ext cx="235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Comando y control</a:t>
            </a:r>
            <a:endParaRPr lang="en-US" sz="1600" dirty="0"/>
          </a:p>
        </p:txBody>
      </p:sp>
      <p:sp>
        <p:nvSpPr>
          <p:cNvPr id="44" name="Shape 36"/>
          <p:cNvSpPr/>
          <p:nvPr/>
        </p:nvSpPr>
        <p:spPr>
          <a:xfrm>
            <a:off x="5894832" y="3895344"/>
            <a:ext cx="18288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5" name="Shape 37"/>
          <p:cNvSpPr/>
          <p:nvPr/>
        </p:nvSpPr>
        <p:spPr>
          <a:xfrm>
            <a:off x="6114288" y="3127248"/>
            <a:ext cx="2572512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7144512" y="3291840"/>
            <a:ext cx="512064" cy="5120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2528" y="3419856"/>
            <a:ext cx="256032" cy="256032"/>
          </a:xfrm>
          <a:prstGeom prst="rect">
            <a:avLst/>
          </a:prstGeom>
        </p:spPr>
      </p:pic>
      <p:sp>
        <p:nvSpPr>
          <p:cNvPr id="48" name="Shape 39"/>
          <p:cNvSpPr/>
          <p:nvPr/>
        </p:nvSpPr>
        <p:spPr>
          <a:xfrm>
            <a:off x="6224016" y="3236976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6224016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7</a:t>
            </a:r>
            <a:endParaRPr lang="en-US" sz="1100" dirty="0"/>
          </a:p>
        </p:txBody>
      </p:sp>
      <p:sp>
        <p:nvSpPr>
          <p:cNvPr id="50" name="Text 41"/>
          <p:cNvSpPr txBox="1"/>
          <p:nvPr/>
        </p:nvSpPr>
        <p:spPr>
          <a:xfrm>
            <a:off x="6224016" y="3877056"/>
            <a:ext cx="235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Acciones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CASO 4 · LO QUE APRENDIMOS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¿Dónde se pudo cortar?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819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356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Cyber Kill Chain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013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Siete pasos de un ataque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791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532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Modelo de diamante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8986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Adversario, capacidad, infraestructura, víctima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754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764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63016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RPO y RTO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99592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Datos que se pueden perder y tiempo para volver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1325880"/>
            <a:ext cx="3200400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1536192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0730" y="1661922"/>
            <a:ext cx="251460" cy="25146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355080" y="15361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Dónde cortar</a:t>
            </a:r>
            <a:endParaRPr lang="en-US" sz="17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231343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144768" y="228600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Entrega: filtro de correo</a:t>
            </a:r>
            <a:endParaRPr lang="en-US" sz="14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3026664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144768" y="299923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Explotación: parches al día</a:t>
            </a:r>
            <a:endParaRPr lang="en-US" sz="14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373989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144768" y="371246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Comando y control: bloquear IoC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TICKET DE SALIDA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206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Antes de irse, respondan en una hoja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3520440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85800" y="3813048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85800" y="4105656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8580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81737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5800" y="25146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Qué haría primero ante un ransomware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26898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97580" y="3520440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3497580" y="3813048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3497580" y="4105656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3497580" y="164592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817370"/>
            <a:ext cx="342900" cy="3429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497580" y="25146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Cómo calculo el nivel de un riesgo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6080760" y="1371600"/>
            <a:ext cx="2606040" cy="30175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09360" y="3520440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6309360" y="3813048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6309360" y="4105656"/>
            <a:ext cx="2148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6309360" y="16459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817370"/>
            <a:ext cx="342900" cy="3429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309360" y="25146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Una pregunta que todavía tengo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Lo que nos llevamos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9304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12344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Cuatro fallas, tiempo para una</a:t>
            </a:r>
            <a:endParaRPr lang="en-US" sz="1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56232"/>
            <a:ext cx="329184" cy="3291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05840" y="18013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¿Seguro, MFA o dejar de hacerlo?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329184" cy="32918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05840" y="236829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El lunes del ransomware</a:t>
            </a:r>
            <a:endParaRPr lang="en-US" sz="17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90088"/>
            <a:ext cx="329184" cy="32918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05840" y="29352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¿Dónde se pudo cortar?</a:t>
            </a:r>
            <a:endParaRPr lang="en-US" sz="1700" dirty="0"/>
          </a:p>
        </p:txBody>
      </p:sp>
      <p:sp>
        <p:nvSpPr>
          <p:cNvPr id="11" name="Shape 5"/>
          <p:cNvSpPr/>
          <p:nvPr/>
        </p:nvSpPr>
        <p:spPr>
          <a:xfrm>
            <a:off x="548640" y="3794760"/>
            <a:ext cx="8046720" cy="713232"/>
          </a:xfrm>
          <a:prstGeom prst="roundRect">
            <a:avLst>
              <a:gd name="adj" fmla="val 1025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777240" y="379476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Siguiente paso: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estudiá la teoría en la plataforma y resolvé el cotidiano interactivo de este resultado de aprendizaje.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1456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berseguridad CTP">
  <a:themeElements>
    <a:clrScheme name="Ciberseguridad CTP">
      <a:dk1>
        <a:srgbClr val="1E293B"/>
      </a:dk1>
      <a:lt1>
        <a:srgbClr val="FFFFFF"/>
      </a:lt1>
      <a:dk2>
        <a:srgbClr val="0B1D2E"/>
      </a:dk2>
      <a:lt2>
        <a:srgbClr val="EEF5F6"/>
      </a:lt2>
      <a:accent1>
        <a:srgbClr val="0E7C86"/>
      </a:accent1>
      <a:accent2>
        <a:srgbClr val="F5A623"/>
      </a:accent2>
      <a:accent3>
        <a:srgbClr val="D64545"/>
      </a:accent3>
      <a:accent4>
        <a:srgbClr val="2E9E6A"/>
      </a:accent4>
      <a:accent5>
        <a:srgbClr val="64748B"/>
      </a:accent5>
      <a:accent6>
        <a:srgbClr val="7C5CD6"/>
      </a:accent6>
      <a:hlink>
        <a:srgbClr val="0E7C86"/>
      </a:hlink>
      <a:folHlink>
        <a:srgbClr val="7C5CD6"/>
      </a:folHlink>
    </a:clrScheme>
    <a:fontScheme name="Ciberseguridad CT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CTP Mercedes Norte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RA5 · Inteligencia, riesgos y respuesta a incidentes</dc:title>
  <dc:subject>PptxGenJS Presentation</dc:subject>
  <dc:creator>MsC. Ericka Hernández Mena</dc:creator>
  <cp:lastModifiedBy>MsC. Ericka Hernández Mena</cp:lastModifiedBy>
  <cp:revision>1</cp:revision>
  <dcterms:created xsi:type="dcterms:W3CDTF">2026-10-16T15:55:01Z</dcterms:created>
  <dcterms:modified xsi:type="dcterms:W3CDTF">2026-10-16T15:55:01Z</dcterms:modified>
</cp:coreProperties>
</file>