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 el resultado de aprendizaje: Explicar en qué consiste la inteligencia contra amenazas, la gestión de riesgos, la evaluación de vulnerabilidades y la respuesta ante incidentes de ciberseguridad. Pregunte qué saben del tema y anote ideas en la pizarra antes de empezar.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 la ruta de la clase. Cada número corresponde a un tema del material de estudio en el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inteligencia contra amenazas es información organizada sobre quién ataca, cómo lo hace y qué señales deja, para prepararse antes de que el ataque llegue. CVE: catálogo público de vulnerabilidades conocidas, cada una con un código (por ejemplo, CVE-2021-44228, conocida como Log4Shell).; MITRE ATT&amp;CK: base de conocimiento de las tácticas y técnicas que usan los atacantes.; CSIRT-CR: equipo de respuesta a incidentes de Costa Rica, que publica alertas nacionales.; Boletines de fabricantes: (Microsoft, Cisco), blogs de seguridad y foros especializados.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las «huellas» de un ataque: direcciones IP maliciosas, dominios, hashes de archivos de malware o nombres de procesos sospechosos.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Plataformas que comparten IoC de forma automática, como VirusTotal y AlienVault OTX, usando estándares como STIX (formato para describir amenazas) y TAXII (protocolo para intercambiarlas).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detectar lo anormal, primero hay que conocer lo normal. Eso es una línea base o perfil. Si el servidor de archivos suele enviar 2 GB al día y una noche envía 80 GB a un país desconocido, se aleja de su perfil: podría ser una fuga de datos. Recorra la tabla con la clase: Duración normal de las sesiones – Puertos abiertos y servicios que corren; Volumen de tráfico habitual – Cuentas de usuario y sus permisos; Puertos y protocolos que se usan – Procesos y tareas programadas; Espacio de direcciones IP críticas – Software instalado y sus versiones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evaluación de vulnerabilidades en terminales se hace con escáneres como OpenVAS o Nessus, que comparan el software instalado con las bases de datos de vulnerabilidades conocidas.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CVSS (sistema común de puntuación de vulnerabilidades) da a cada vulnerabilidad un puntaje de 0 a 10 para decidir qué corregir primero. Recorra la tabla con la clase: 0,0 – Ninguna; 0,1 – 3,9 – Baja; 4,0 – 6,9 – Media; 7,0 – 8,9 – Alta; 9,0 – 10,0 – Crítica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Base: características propias de la vulnerabilidad que no cambian: vector de ataque (red, local, físico), complejidad, privilegios requeridos, interacción del usuario e impacto en confidencialidad, integridad y disponibilidad.; Temporal (o de amenaza): cambia con el tiempo; por ejemplo, si ya existe un exploit público o un parche.; Ambiental: ajusta el puntaje a la organización; no es lo mismo una falla en un servidor crítico que en una computadora de pruebas.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Inventario de activos: no se puede proteger lo que no se sabe que existe. Hay que registrar cada equipo, software y servicio.; Administración de la configuración: mantener configuraciones seguras y documentadas en todos los equipos.; Administración de parches: probar e instalar las actualizaciones de forma ordenada, empezando por las vulnerabilidades críticas.; Administración de dispositivos móviles (MDM): controlar los teléfonos y tabletas de la empresa: exigir PIN, cifrado y permitir el borrado remoto.; Administración de vulnerabilidades: ciclo continuo de descubrir, priorizar (con CVSS), corregir y verificar.  Un administrador de dispositivos de seguridad centraliza la configuración de firewalls, IPS y otros equipos desde una sola consola, para que todos apliquen las mismas políticas.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administración de riesgos identifica, evalúa y trata los riesgos de forma continua. Riesgo = probabilidad × impacto. La evaluación puede ser cualitativa (bajo, medio, alto) o cuantitativa (en dinero). Recorra la tabla con la clase: Evitar – Dejar de hacer la actividad riesgosa. – No guardar números de tarjeta de los clientes.; Mitigar (reducir) – Aplicar controles para bajar el riesgo. – Activar MFA y capacitar al personal.; Transferir (compartir) – Pasar el costo a un tercero. – Contratar un seguro contra ciberataques.; Aceptar – Asumirlo cuando es bajo o tratarlo cuesta más que el daño. – Una impresora que a veces se desconfigura.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controles se clasifican según su tipo y según su función: Administrativos: Políticas, procedimientos, capacitación, revisión de personal.; Técnicos (lógicos): Firewalls, cifrado, contraseñas, antimalware, ACL.; Físicos: Cerraduras, cámaras, guardas, tarjetas de acceso.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Recorra la tabla con la clase: Preventivo – Evitar que ocurra el incidente. – Firewall, MFA; Disuasivo – Desanimar al atacante. – Rótulo de «área vigilada»; Detectivo – Descubrir el incidente. – IDS, cámaras, revisión de registros; Correctivo – Reducir el daño y corregir. – Aplicar un parche, restaurar un respaldo; Compensatorio – Sustituir un control que no se puede aplicar. – Supervisión extra si no se puede segmentar una 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Preparación: equipo, herramientas, planes y capacitación.; Detección y análisis: confirmar el incidente y medir su alcance.; Contención, erradicación y recuperación: aislar los equipos, eliminar la causa y volver a la normalidad.; Actividades posteriores: lecciones aprendidas y mejoras.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Orden de volatilidad: recolectar primero lo que se pierde más rápido: registros de la CPU y memoria RAM, luego procesos y conexiones de red, después los discos y por último los respaldos.; Cadena de custodia: registrar quién tuvo la evidencia, cuándo y qué hizo con ella, para que sea válida ante un juez.; Trabajar siempre sobre una copia (imagen forense) verificada con hash, nunca sobre el original. La atribución del ataque consiste en identificar al responsable a partir de las evidencias: IoC, técnicas usadas, infraestructura y motivaciones.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los 7 pasos de un ataque. Si se corta cualquier paso, el ataque fracasa: Reconocimiento: investigar a la víctima.; Preparación del arma: crear el malware o el exploit.; Entrega: enviarlo (correo, USB, sitio web).; Explotación: se ejecuta aprovechando una vulnerabilidad.; Instalación: deja una puerta trasera.; Comando y control (C2): el atacante controla el equipo a distancia. Analiza cada evento con cuatro vértices: adversario (quién ataca), capacidad (malware o técnica usada), infraestructura (IP, dominios, servidores del atacante) y víctima.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recuperación ante desastres (DRP): y plan de continuidad del negocio (BCP).; RPO: cuántos datos se pueden perder como máximo (por ejemplo, 24 horas).; RTO: en cuánto tiempo hay que volver a funcionar.; Regla 3-2-1 de respaldos: 3 copias, en 2 medios distintos, 1 fuera de la organización.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Relacione con la Cyber Kill Chain: ¿en qué paso se pudo cortar el ataque? (entrega, con filtrado de correo; explotación, con parches). Recuerde la cadena de custodia si se va a denunciar.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 1) Una huella de un ataque: IP o dominio malicioso, hash de malware, proceso sospechoso.  2) Crítica.  3) Para conocer lo normal y detectar lo anormal.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 4) Transferir.  5) El registro de quién tuvo la evidencia, cuándo y qué hizo con ella.  6) El reconocimiento.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pida a tres estudiantes que expliquen con sus palabras un tema distinto cada uno. Luego indique que resuelvan el cotidiano interactivo en el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914400"/>
            <a:ext cx="2377440" cy="2377440"/>
          </a:xfrm>
          <a:prstGeom prst="ellipse">
            <a:avLst/>
          </a:prstGeom>
          <a:solidFill>
            <a:srgbClr val="0E7C86">
              <a:alpha val="80000"/>
            </a:srgbClr>
          </a:solidFill>
          <a:ln w="12700">
            <a:solidFill>
              <a:srgbClr val="0E7C86">
                <a:alpha val="8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50876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400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DESARROLLO WEB 10°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 aprendizaje 5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Inteligencia, riesgos y respuesta a incidentes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0632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 en qué consiste la inteligencia contra amenazas, la gestión de riesgos, la evaluación de vulnerabilidades y la respuesta ante incidentes de ciberseguridad.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3434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CTP Mercedes Norte · MsC. Ericka Hernández Mena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493776"/>
            <a:ext cx="274320" cy="274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4114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vamos a ver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362456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62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143000" y="128930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contra amenazas: fuentes y servicios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2039112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2167128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4360" y="2167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209397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vulnerabilidades: perfiles de redes y servidores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843784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94360" y="2971800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" y="2971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143000" y="289864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puntuación CVSS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3648456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3776472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94360" y="3776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dispositivos de seguridad y activos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663440" y="1234440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800600" y="1362456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00600" y="1362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349240" y="128930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riesgos y evaluación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663440" y="2039112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800600" y="2167128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800600" y="2167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349240" y="209397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de seguridad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4663440" y="2843784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00600" y="2971800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800600" y="2971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349240" y="289864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a incidentes e informática forense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663440" y="3648456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800600" y="3776472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3776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34924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 de eliminación, modelo de diamante y recuperación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1 · INTELIGENCIA CONTRA AMENAZAS: FUENTES Y SERVICIOS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de información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contra amenazas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información organizada sobre quién ataca, cómo lo hace y qué señales deja, para prepararse antes de que el ataque llegue.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47672"/>
            <a:ext cx="4000500" cy="1243584"/>
          </a:xfrm>
          <a:prstGeom prst="roundRect">
            <a:avLst>
              <a:gd name="adj" fmla="val 5882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112264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066544"/>
            <a:ext cx="3223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606040"/>
            <a:ext cx="36713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público de vulnerabilidades conocidas, cada una con un código (por ejemplo, CVE-2021-44228, conocida como Log4Shell).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86300" y="1947672"/>
            <a:ext cx="4000500" cy="1243584"/>
          </a:xfrm>
          <a:prstGeom prst="roundRect">
            <a:avLst>
              <a:gd name="adj" fmla="val 5882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0892" y="2112264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50892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26380" y="2066544"/>
            <a:ext cx="3223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50892" y="2606040"/>
            <a:ext cx="36713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conocimiento de las tácticas y técnicas que usan los atacantes.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419856"/>
            <a:ext cx="4000500" cy="1243584"/>
          </a:xfrm>
          <a:prstGeom prst="roundRect">
            <a:avLst>
              <a:gd name="adj" fmla="val 5882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" y="3584448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38728"/>
            <a:ext cx="3223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CSIRT-CR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4078224"/>
            <a:ext cx="36713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 respuesta a incidentes de Costa Rica, que publica alertas nacionales.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686300" y="3419856"/>
            <a:ext cx="4000500" cy="1243584"/>
          </a:xfrm>
          <a:prstGeom prst="roundRect">
            <a:avLst>
              <a:gd name="adj" fmla="val 5882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50892" y="3584448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50892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26380" y="3538728"/>
            <a:ext cx="3223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Boletines de fabricantes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50892" y="4078224"/>
            <a:ext cx="36713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(Microsoft, Cisco), blogs de seguridad y foros especializados.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1 · INTELIGENCIA CONTRA AMENAZAS: FUENTES Y SERVICIOS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compromiso (IoC)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12280" y="1554480"/>
            <a:ext cx="1645920" cy="1645920"/>
          </a:xfrm>
          <a:prstGeom prst="ellipse">
            <a:avLst/>
          </a:prstGeom>
          <a:solidFill>
            <a:srgbClr val="D8EEF0"/>
          </a:solidFill>
          <a:ln w="12700">
            <a:solidFill>
              <a:srgbClr val="D8EEF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965960"/>
            <a:ext cx="822960" cy="8229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34440"/>
            <a:ext cx="60350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las «huellas» de un ataque: direcciones IP maliciosas, dominios, hashes de archivos de malware o nombres de procesos sospechosos.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1 · INTELIGENCIA CONTRA AMENAZAS: FUENTES Y SERVICIOS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de inteligencia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12280" y="1554480"/>
            <a:ext cx="1645920" cy="1645920"/>
          </a:xfrm>
          <a:prstGeom prst="ellipse">
            <a:avLst/>
          </a:prstGeom>
          <a:solidFill>
            <a:srgbClr val="D8EEF0"/>
          </a:solidFill>
          <a:ln w="12700">
            <a:solidFill>
              <a:srgbClr val="D8EEF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965960"/>
            <a:ext cx="822960" cy="8229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34440"/>
            <a:ext cx="60350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Plataformas que comparten IoC de forma automática, como </a:t>
            </a:r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AlienVault OTX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usando estándares como </a:t>
            </a:r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(formato para describir amenazas) y </a:t>
            </a:r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(protocolo para intercambiarlas).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vulnerabilidades: perfiles de redes y servidores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detectar lo anormal, primero hay que conocer lo normal. Eso es una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941064"/>
            <a:ext cx="8229600" cy="722376"/>
          </a:xfrm>
          <a:prstGeom prst="roundRect">
            <a:avLst>
              <a:gd name="adj" fmla="val 7595"/>
            </a:avLst>
          </a:prstGeom>
          <a:solidFill>
            <a:srgbClr val="FFF6E5"/>
          </a:solidFill>
          <a:ln w="12700">
            <a:solidFill>
              <a:srgbClr val="FFF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941064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servidor de archivos suele enviar 2 GB al día y una noche envía 80 GB a un país desconocido, se aleja de su perfil: podría ser una fuga de datos.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00784"/>
          <a:ext cx="8229600" cy="914400"/>
        </p:xfrm>
        <a:graphic>
          <a:graphicData uri="http://schemas.openxmlformats.org/drawingml/2006/table">
            <a:tbl>
              <a:tblPr/>
              <a:tblGrid>
                <a:gridCol w="3973717"/>
                <a:gridCol w="425588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de red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de servidor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Duración normal de las sesiones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Puertos abiertos y servicios que corren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Volumen de tráfico habitual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Cuentas de usuario y sus permisos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Puertos y protocolos que se usan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Procesos y tareas programadas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Espacio de direcciones IP críticas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instalado y sus versiones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vulnerabilidades: perfiles de redes y servidores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12280" y="1554480"/>
            <a:ext cx="1645920" cy="1645920"/>
          </a:xfrm>
          <a:prstGeom prst="ellipse">
            <a:avLst/>
          </a:prstGeom>
          <a:solidFill>
            <a:srgbClr val="D8EEF0"/>
          </a:solidFill>
          <a:ln w="12700">
            <a:solidFill>
              <a:srgbClr val="D8EEF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965960"/>
            <a:ext cx="822960" cy="8229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34440"/>
            <a:ext cx="60350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vulnerabilidades en terminales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hace con escáneres como OpenVAS o Nessus, que comparan el software instalado con las bases de datos de vulnerabilidades conocidas.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puntuación CVSS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CVSS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(sistema común de puntuación de vulnerabilidades) da a cada vulnerabilidad un puntaje de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 10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decidir qué corregir primero.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47672"/>
          <a:ext cx="8229600" cy="914400"/>
        </p:xfrm>
        <a:graphic>
          <a:graphicData uri="http://schemas.openxmlformats.org/drawingml/2006/table">
            <a:tbl>
              <a:tblPr/>
              <a:tblGrid>
                <a:gridCol w="4344110"/>
                <a:gridCol w="388549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Puntaje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Gravedad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Ninguna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 – 3,9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 – 6,9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 – 8,9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 – 10,0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3 · SISTEMA DE PUNTUACIÓN CVSS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de métricas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590800" cy="3057754"/>
          </a:xfrm>
          <a:prstGeom prst="roundRect">
            <a:avLst>
              <a:gd name="adj" fmla="val 2824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892808"/>
            <a:ext cx="2261616" cy="2280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propias de la vulnerabilidad que no cambian: vector de ataque (red, local, físico), complejidad, privilegios requeridos, interacción del usuario e impacto en confidencialidad, integridad y disponibilidad.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76600" y="1234440"/>
            <a:ext cx="2590800" cy="3057754"/>
          </a:xfrm>
          <a:prstGeom prst="roundRect">
            <a:avLst>
              <a:gd name="adj" fmla="val 2824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411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411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9166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(o de amenaza)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41192" y="1892808"/>
            <a:ext cx="2261616" cy="2280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con el tiempo; por ejemplo, si ya existe un exploit público o un parche.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096000" y="1234440"/>
            <a:ext cx="2590800" cy="3057754"/>
          </a:xfrm>
          <a:prstGeom prst="roundRect">
            <a:avLst>
              <a:gd name="adj" fmla="val 2824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605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605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7360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Ambiental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260592" y="1892808"/>
            <a:ext cx="2261616" cy="2280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el puntaje a la organización; no es lo mismo una falla en un servidor crítico que en una computadora de pruebas.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dispositivos de seguridad y activos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3941064"/>
            <a:ext cx="8229600" cy="722376"/>
          </a:xfrm>
          <a:prstGeom prst="roundRect">
            <a:avLst>
              <a:gd name="adj" fmla="val 7595"/>
            </a:avLst>
          </a:prstGeom>
          <a:solidFill>
            <a:srgbClr val="FFF6E5"/>
          </a:solidFill>
          <a:ln w="12700">
            <a:solidFill>
              <a:srgbClr val="FFF6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3941064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Importante: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administrador de dispositivos de seguridad centraliza la configuración de firewalls, IPS y otros equipos desde una sola consola, para que todos apliquen las mismas políticas.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2590800" cy="1170432"/>
          </a:xfrm>
          <a:prstGeom prst="roundRect">
            <a:avLst>
              <a:gd name="adj" fmla="val 6250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de activos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1892808"/>
            <a:ext cx="22616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proteger lo que no se sabe que existe. Hay que registrar cada equipo, software y servicio.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76600" y="1234440"/>
            <a:ext cx="2590800" cy="1170432"/>
          </a:xfrm>
          <a:prstGeom prst="roundRect">
            <a:avLst>
              <a:gd name="adj" fmla="val 6250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411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411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9166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la configuración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441192" y="1892808"/>
            <a:ext cx="22616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configuraciones seguras y documentadas en todos los equipos.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096000" y="1234440"/>
            <a:ext cx="2590800" cy="1170432"/>
          </a:xfrm>
          <a:prstGeom prst="roundRect">
            <a:avLst>
              <a:gd name="adj" fmla="val 6250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05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05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7360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parches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60592" y="1892808"/>
            <a:ext cx="22616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 instalar las actualizaciones de forma ordenada, empezando por las vulnerabilidades críticas.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2633472"/>
            <a:ext cx="2590800" cy="1170432"/>
          </a:xfrm>
          <a:prstGeom prst="roundRect">
            <a:avLst>
              <a:gd name="adj" fmla="val 6250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" y="2798064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" y="2798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2752344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dispositivos móviles (MDM)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" y="3291840"/>
            <a:ext cx="22616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Controlar los teléfonos y tabletas de la empresa: exigir PIN, cifrado y permitir el borrado remoto.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276600" y="2633472"/>
            <a:ext cx="2590800" cy="1170432"/>
          </a:xfrm>
          <a:prstGeom prst="roundRect">
            <a:avLst>
              <a:gd name="adj" fmla="val 6250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41192" y="2798064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41192" y="2798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916680" y="2752344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vulnerabilidades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3441192" y="3291840"/>
            <a:ext cx="22616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continuo de descubrir, priorizar (con CVSS), corregir y verificar.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5 · GESTIÓN DE RIESGOS Y EVALUACIÓN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 del riesgo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riesgos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identifica, evalúa y trata los riesgos de forma continua.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= probabilidad × impacto.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evaluación puede ser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cualitativa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(bajo, medio, alto) o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cuantitativa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(en dinero).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2022171"/>
                <a:gridCol w="3283375"/>
                <a:gridCol w="292405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Opción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significa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Dejar de hacer la actividad riesgosa.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guardar números de tarjeta de los clientes.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 (reducir)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Aplicar controles para bajar el riesgo.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Activar MFA y capacitar al personal.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Transferir (compartir)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Pasar el costo a un tercero.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Contratar un seguro contra ciberataques.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Aceptar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Asumirlo cuando es bajo o tratarlo cuesta más que el daño.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impresora que a veces se desconfigura.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de seguridad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controles se clasifican según su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según su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00784"/>
            <a:ext cx="2590800" cy="1650492"/>
          </a:xfrm>
          <a:prstGeom prst="roundRect">
            <a:avLst>
              <a:gd name="adj" fmla="val 4432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865376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1865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819656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Administrativos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359152"/>
            <a:ext cx="2261616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Políticas, procedimientos, capacitación, revisión de personal.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76600" y="1700784"/>
            <a:ext cx="2590800" cy="1650492"/>
          </a:xfrm>
          <a:prstGeom prst="roundRect">
            <a:avLst>
              <a:gd name="adj" fmla="val 4432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41192" y="1865376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41192" y="1865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16680" y="1819656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Técnicos (lógicos)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41192" y="2359152"/>
            <a:ext cx="2261616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Firewalls, cifrado, contraseñas, antimalware, ACL.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096000" y="1700784"/>
            <a:ext cx="2590800" cy="1650492"/>
          </a:xfrm>
          <a:prstGeom prst="roundRect">
            <a:avLst>
              <a:gd name="adj" fmla="val 4432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0592" y="1865376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0592" y="1865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36080" y="1819656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Físicos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60592" y="2359152"/>
            <a:ext cx="2261616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Cerraduras, cámaras, guardas, tarjetas de acceso.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de seguridad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706790"/>
                <a:gridCol w="3175519"/>
                <a:gridCol w="334729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Función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Evitar que ocurra el incidente.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Firewall, MFA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Disuasivo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Desanimar al atacante.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Rótulo de «área vigilada»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Descubrir el incidente.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IDS, cámaras, revisión de registros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Reducir el daño y corregir.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Aplicar un parche, restaurar un respaldo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Compensatorio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Sustituir un control que no se puede aplicar.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Supervisión extra si no se puede segmentar una red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7 · RESPUESTA A INCIDENTES E INFORMÁTICA FORENSE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respuesta a incidentes (NIST SP 800-61)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774954"/>
          </a:xfrm>
          <a:prstGeom prst="roundRect">
            <a:avLst>
              <a:gd name="adj" fmla="val 7080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429893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42989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1234440"/>
            <a:ext cx="7452360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equipo, herramientas, planes y capacitación.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119122"/>
            <a:ext cx="8229600" cy="774954"/>
          </a:xfrm>
          <a:prstGeom prst="roundRect">
            <a:avLst>
              <a:gd name="adj" fmla="val 7080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314575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31457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19122"/>
            <a:ext cx="7452360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y análisis: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el incidente y medir su alcance.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003804"/>
            <a:ext cx="8229600" cy="774954"/>
          </a:xfrm>
          <a:prstGeom prst="roundRect">
            <a:avLst>
              <a:gd name="adj" fmla="val 7080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3199257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1992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3003804"/>
            <a:ext cx="7452360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Contención, erradicación y recuperación: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aislar los equipos, eliminar la causa y volver a la normalidad.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888486"/>
            <a:ext cx="8229600" cy="774954"/>
          </a:xfrm>
          <a:prstGeom prst="roundRect">
            <a:avLst>
              <a:gd name="adj" fmla="val 7080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4083939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40839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15568" y="3888486"/>
            <a:ext cx="7452360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posteriores: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lecciones aprendidas y mejoras.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7 · RESPUESTA A INCIDENTES E INFORMÁTICA FORENSE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evidencia digital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3941064"/>
            <a:ext cx="8229600" cy="722376"/>
          </a:xfrm>
          <a:prstGeom prst="roundRect">
            <a:avLst>
              <a:gd name="adj" fmla="val 7595"/>
            </a:avLst>
          </a:prstGeom>
          <a:solidFill>
            <a:srgbClr val="FFF6E5"/>
          </a:solidFill>
          <a:ln w="12700">
            <a:solidFill>
              <a:srgbClr val="FFF6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3941064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atribución del ataque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consiste en identificar al responsable a partir de las evidencias: IoC, técnicas usadas, infraestructura y motivaciones.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765048"/>
          </a:xfrm>
          <a:prstGeom prst="roundRect">
            <a:avLst>
              <a:gd name="adj" fmla="val 717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488948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1234440"/>
            <a:ext cx="7498080" cy="765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de volatilidad: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recolectar primero lo que se pierde más rápido: registros de la CPU y memoria RAM, luego procesos y conexiones de red, después los discos y por último los respaldos.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36648"/>
            <a:ext cx="8229600" cy="765048"/>
          </a:xfrm>
          <a:prstGeom prst="roundRect">
            <a:avLst>
              <a:gd name="adj" fmla="val 717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2391156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2136648"/>
            <a:ext cx="7498080" cy="765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 de custodia: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quién tuvo la evidencia, cuándo y qué hizo con ella, para que sea válida ante un juez.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038856"/>
            <a:ext cx="8229600" cy="765048"/>
          </a:xfrm>
          <a:prstGeom prst="roundRect">
            <a:avLst>
              <a:gd name="adj" fmla="val 717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" y="329336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3038856"/>
            <a:ext cx="7498080" cy="765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siempre sobre una copia (imagen forense) verificada con hash, nunca sobre el original.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8 · CADENA DE ELIMINACIÓN, MODELO DE DIAMANTE Y RECUPERACIÓN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 de eliminación cibernética (Cyber Kill Chain)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los 7 pasos de un ataque. Si se corta cualquier paso, el ataque fracasa: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694176"/>
            <a:ext cx="8229600" cy="969264"/>
          </a:xfrm>
          <a:prstGeom prst="roundRect">
            <a:avLst>
              <a:gd name="adj" fmla="val 5660"/>
            </a:avLst>
          </a:prstGeom>
          <a:solidFill>
            <a:srgbClr val="FFF6E5"/>
          </a:solidFill>
          <a:ln w="12700">
            <a:solidFill>
              <a:srgbClr val="FFF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694176"/>
            <a:ext cx="78638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diamante de las intrusiones: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cada evento con cuatro vértices: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adversario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(quién ataca),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(malware o técnica usada),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(IP, dominios, servidores del atacante) y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víctima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1700784"/>
            <a:ext cx="4023360" cy="381762"/>
          </a:xfrm>
          <a:prstGeom prst="roundRect">
            <a:avLst>
              <a:gd name="adj" fmla="val 1437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1699641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69964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1700784"/>
            <a:ext cx="3246120" cy="38176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investigar a la víctima.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192274"/>
            <a:ext cx="4023360" cy="381762"/>
          </a:xfrm>
          <a:prstGeom prst="roundRect">
            <a:avLst>
              <a:gd name="adj" fmla="val 1437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191131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19113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2192274"/>
            <a:ext cx="3246120" cy="38176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del arma: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el malware o el exploit.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83764"/>
            <a:ext cx="4023360" cy="381762"/>
          </a:xfrm>
          <a:prstGeom prst="roundRect">
            <a:avLst>
              <a:gd name="adj" fmla="val 1437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2682621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268262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" y="2683764"/>
            <a:ext cx="3246120" cy="38176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enviarlo (correo, USB, sitio web).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175254"/>
            <a:ext cx="4023360" cy="381762"/>
          </a:xfrm>
          <a:prstGeom prst="roundRect">
            <a:avLst>
              <a:gd name="adj" fmla="val 1437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3174111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4360" y="317411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15568" y="3175254"/>
            <a:ext cx="3246120" cy="38176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Explotación: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ejecuta aprovechando una vulnerabilidad.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63440" y="1700784"/>
            <a:ext cx="4023360" cy="381762"/>
          </a:xfrm>
          <a:prstGeom prst="roundRect">
            <a:avLst>
              <a:gd name="adj" fmla="val 1437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1699641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00600" y="169964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321808" y="1700784"/>
            <a:ext cx="3246120" cy="38176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 una puerta trasera.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663440" y="2192274"/>
            <a:ext cx="4023360" cy="381762"/>
          </a:xfrm>
          <a:prstGeom prst="roundRect">
            <a:avLst>
              <a:gd name="adj" fmla="val 1437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2191131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00600" y="219113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321808" y="2192274"/>
            <a:ext cx="3246120" cy="38176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 y control (C2):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controla el equipo a distancia.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663440" y="2683764"/>
            <a:ext cx="4023360" cy="381762"/>
          </a:xfrm>
          <a:prstGeom prst="roundRect">
            <a:avLst>
              <a:gd name="adj" fmla="val 1437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00600" y="2682621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00600" y="268262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321808" y="2683764"/>
            <a:ext cx="3246120" cy="38176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sobre los objetivos: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roba, cifra o destruye.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8 · CADENA DE ELIMINACIÓN, MODELO DE DIAMANTE Y RECUPERACIÓN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Recuperación ante desastres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00500" cy="1389888"/>
          </a:xfrm>
          <a:prstGeom prst="roundRect">
            <a:avLst>
              <a:gd name="adj" fmla="val 5263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353312"/>
            <a:ext cx="3223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recuperación ante desastres (DRP)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892808"/>
            <a:ext cx="36713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plan de continuidad del negocio (BCP).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86300" y="1234440"/>
            <a:ext cx="4000500" cy="1389888"/>
          </a:xfrm>
          <a:prstGeom prst="roundRect">
            <a:avLst>
              <a:gd name="adj" fmla="val 5263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508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508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26380" y="1353312"/>
            <a:ext cx="3223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50892" y="1892808"/>
            <a:ext cx="36713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Cuántos datos se pueden perder como máximo (por ejemplo, 24 horas).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52928"/>
            <a:ext cx="4000500" cy="1389888"/>
          </a:xfrm>
          <a:prstGeom prst="roundRect">
            <a:avLst>
              <a:gd name="adj" fmla="val 5263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" y="3017520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2971800"/>
            <a:ext cx="3223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" y="3511296"/>
            <a:ext cx="36713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cuánto tiempo hay que volver a funcionar.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686300" y="2852928"/>
            <a:ext cx="4000500" cy="1389888"/>
          </a:xfrm>
          <a:prstGeom prst="roundRect">
            <a:avLst>
              <a:gd name="adj" fmla="val 5263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50892" y="3017520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50892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326380" y="2971800"/>
            <a:ext cx="3223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3-2-1 de respaldos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50892" y="3511296"/>
            <a:ext cx="36713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copias, en 2 medios distintos, 1 fuera de la organización.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84632"/>
            <a:ext cx="292608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APLICAMOS LO APRENDIDO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práctico: ransomware en la PyME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5"/>
          </a:solidFill>
          <a:ln w="12700">
            <a:solidFill>
              <a:srgbClr val="FFF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28016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lunes, los empleados de una ferretería no pueden abrir sus archivos y aparece una nota que pide un rescate en criptomonedas. El ataque entró por un correo con un adjunto.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57200" y="2514600"/>
            <a:ext cx="1885950" cy="2103120"/>
          </a:xfrm>
          <a:prstGeom prst="roundRect">
            <a:avLst>
              <a:gd name="adj" fmla="val 387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" y="267919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2660904"/>
            <a:ext cx="11544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y analizar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3200400"/>
            <a:ext cx="155676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el incidente, identificar los equipos afectados y los IoC.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571750" y="2514600"/>
            <a:ext cx="1885950" cy="2103120"/>
          </a:xfrm>
          <a:prstGeom prst="roundRect">
            <a:avLst>
              <a:gd name="adj" fmla="val 387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736342" y="267919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736342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211830" y="2660904"/>
            <a:ext cx="11544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Contener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736342" y="3200400"/>
            <a:ext cx="155676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Desconectar los equipos y bloquear las cuentas comprometidas.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686300" y="2514600"/>
            <a:ext cx="1885950" cy="2103120"/>
          </a:xfrm>
          <a:prstGeom prst="roundRect">
            <a:avLst>
              <a:gd name="adj" fmla="val 387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850892" y="267919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50892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326380" y="2660904"/>
            <a:ext cx="11544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Erradicar y recuperar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4850892" y="3200400"/>
            <a:ext cx="155676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el malware y restaurar desde respaldos 3-2-1.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00850" y="2514600"/>
            <a:ext cx="1885950" cy="2103120"/>
          </a:xfrm>
          <a:prstGeom prst="roundRect">
            <a:avLst>
              <a:gd name="adj" fmla="val 387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965442" y="267919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965442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440930" y="2660904"/>
            <a:ext cx="11544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Lecciones aprendidas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6965442" y="3200400"/>
            <a:ext cx="155676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Documentar, mejorar controles y capacitar contra el phishing.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502920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RÁPIDO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aprendimos? (1 de 2)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234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un indicador de compromiso (IoC)?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77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77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gravedad tiene una vulnerabilidad con CVSS 9,8?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520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¿Para qué sirve una línea base de la red?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502920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RÁPIDO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aprendimos? (2 de 2)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234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Contratar un seguro contra ataques, ¿qué tratamiento del riesgo es?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77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77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la cadena de custodia?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520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el primer paso de la Cyber Kill Chain?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35024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1417320"/>
            <a:ext cx="146304" cy="1463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05840" y="1280160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contra amenazas: fuentes y servicios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01952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984248"/>
            <a:ext cx="146304" cy="14630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05840" y="1847088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vulnerabilidades: perfiles de redes y servidores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468880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551176"/>
            <a:ext cx="146304" cy="14630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05840" y="2414016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puntuación CVSS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548640" y="3035808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3118104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05840" y="2980944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dispositivos de seguridad y activos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4663440" y="1335024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5736" y="1417320"/>
            <a:ext cx="146304" cy="14630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20640" y="1280160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riesgos y evaluación</a:t>
            </a:r>
            <a:endParaRPr lang="en-US" sz="1300" dirty="0"/>
          </a:p>
        </p:txBody>
      </p:sp>
      <p:sp>
        <p:nvSpPr>
          <p:cNvPr id="18" name="Shape 11"/>
          <p:cNvSpPr/>
          <p:nvPr/>
        </p:nvSpPr>
        <p:spPr>
          <a:xfrm>
            <a:off x="4663440" y="1901952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5736" y="1984248"/>
            <a:ext cx="146304" cy="146304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20640" y="1847088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de seguridad</a:t>
            </a:r>
            <a:endParaRPr lang="en-US" sz="1300" dirty="0"/>
          </a:p>
        </p:txBody>
      </p:sp>
      <p:sp>
        <p:nvSpPr>
          <p:cNvPr id="21" name="Shape 13"/>
          <p:cNvSpPr/>
          <p:nvPr/>
        </p:nvSpPr>
        <p:spPr>
          <a:xfrm>
            <a:off x="4663440" y="2468880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5736" y="2551176"/>
            <a:ext cx="146304" cy="146304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20640" y="2414016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a incidentes e informática forense</a:t>
            </a:r>
            <a:endParaRPr lang="en-US" sz="1300" dirty="0"/>
          </a:p>
        </p:txBody>
      </p:sp>
      <p:sp>
        <p:nvSpPr>
          <p:cNvPr id="24" name="Shape 15"/>
          <p:cNvSpPr/>
          <p:nvPr/>
        </p:nvSpPr>
        <p:spPr>
          <a:xfrm>
            <a:off x="4663440" y="3035808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5736" y="3118104"/>
            <a:ext cx="146304" cy="146304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20640" y="2980944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 de eliminación, modelo de diamante y recuperación</a:t>
            </a:r>
            <a:endParaRPr lang="en-US" sz="1300" dirty="0"/>
          </a:p>
        </p:txBody>
      </p:sp>
      <p:sp>
        <p:nvSpPr>
          <p:cNvPr id="27" name="Shape 17"/>
          <p:cNvSpPr/>
          <p:nvPr/>
        </p:nvSpPr>
        <p:spPr>
          <a:xfrm>
            <a:off x="548640" y="3794760"/>
            <a:ext cx="8046720" cy="685800"/>
          </a:xfrm>
          <a:prstGeom prst="roundRect">
            <a:avLst>
              <a:gd name="adj" fmla="val 10667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777240" y="379476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</a:t>
            </a:r>
            <a:pPr indent="0" marL="0">
              <a:buNone/>
            </a:pPr>
            <a:r>
              <a:rPr lang="en-US" sz="1500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resolvé el cotidiano interactivo de este resultado de aprendizaje en el portal del curso.</a:t>
            </a:r>
            <a:endParaRPr lang="en-US" sz="1500" dirty="0"/>
          </a:p>
        </p:txBody>
      </p:sp>
      <p:sp>
        <p:nvSpPr>
          <p:cNvPr id="29" name="Text 19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RA5</a:t>
            </a:r>
            <a:endParaRPr lang="en-US" sz="900" dirty="0"/>
          </a:p>
        </p:txBody>
      </p:sp>
      <p:sp>
        <p:nvSpPr>
          <p:cNvPr id="30" name="Text 20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RA5 · Inteligencia, riesgos y respuesta a incidentes</dc:title>
  <dc:subject>PptxGenJS Presentation</dc:subject>
  <dc:creator>MsC. Ericka Hernández Mena</dc:creator>
  <cp:lastModifiedBy>MsC. Ericka Hernández Mena</cp:lastModifiedBy>
  <cp:revision>1</cp:revision>
  <dcterms:created xsi:type="dcterms:W3CDTF">2026-10-01T21:36:11Z</dcterms:created>
  <dcterms:modified xsi:type="dcterms:W3CDTF">2026-10-01T21:36:11Z</dcterms:modified>
</cp:coreProperties>
</file>