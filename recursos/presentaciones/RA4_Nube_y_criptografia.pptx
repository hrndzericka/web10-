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icio" id="{dc1e7a51-996e-ce67-9c6c-c07e999dd47f}">
          <p14:sldIdLst>
            <p14:sldId id="256"/>
            <p14:sldId id="257"/>
            <p14:sldId id="258"/>
          </p14:sldIdLst>
        </p14:section>
        <p14:section name="Caso 1: Las notas a la vista de todos" id="{37f0ec09-9a09-1481-f9da-c7787478e74c}">
          <p14:sldIdLst>
            <p14:sldId id="259"/>
            <p14:sldId id="260"/>
            <p14:sldId id="261"/>
          </p14:sldIdLst>
        </p14:section>
        <p14:section name="Caso 2: El mensaje para Luis" id="{ac41e6c2-d705-a7c4-8a69-a79674094a78}">
          <p14:sldIdLst>
            <p14:sldId id="262"/>
            <p14:sldId id="263"/>
            <p14:sldId id="264"/>
            <p14:sldId id="265"/>
          </p14:sldIdLst>
        </p14:section>
        <p14:section name="Caso 3: ¿Es el mismo archivo?" id="{d75c500a-4777-2d17-3d20-54fdd1b0b380}">
          <p14:sldIdLst>
            <p14:sldId id="266"/>
            <p14:sldId id="267"/>
            <p14:sldId id="268"/>
          </p14:sldIdLst>
        </p14:section>
        <p14:section name="Caso 4: La alarma de las 3 de la madrugada" id="{3b2206f1-2973-abbc-bf65-9036c632db93}">
          <p14:sldIdLst>
            <p14:sldId id="269"/>
            <p14:sldId id="270"/>
            <p14:sldId id="271"/>
            <p14:sldId id="272"/>
          </p14:sldIdLst>
        </p14:section>
        <p14:section name="Cierre" id="{284fe612-f521-6604-2076-c583a0cda06d}">
          <p14:sldIdLst>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 el resultado de aprendizaje: Explicar la seguridad en la nube, la criptografía, el monitoreo y la gobernanza en la ciberseguridad. Explique la dinámica: hoy no vamos a leer teoría; vamos a analizar 4 casos, y en cada uno descubrimos los conceptos. La teoría completa está en la plataforma.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primera pregunta introduce la nube; la segunda, HTTPS y certificados; la tercera, cifrado y firma digital.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 el recorrido. Cada caso tiene tres momentos: la situación (ustedes opinan primero), el diagrama de cómo funciona y los conceptos que salen del caso. Entre los casos hay dos mini actividades.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 la situación en voz alta y deje que el grupo responda antes de avanzar. De la docente: en el modelo de responsabilidad compartida, el proveedor protege los centros de datos y el servicio; el cliente decide qué sube y con quién lo comparte. Drive es SaaS.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los modelos: en IaaS el cliente también cuida el sistema operativo; en PaaS, su código; en SaaS, solo sus datos y accesos.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Pida que revisen en casa con quién tienen compartidas sus carpetas de Drive.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 la situación en voz alta y deje que el grupo responda antes de avanzar. Cifra con la llave pública de Luis (solo la privada de Luis lo abre). Firma con su propia llave privada (cualquiera verifica con la pública de Ana). Así logra confidencialidad, autenticidad y no repudio.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Analogía: la llave pública es un buzón con ranura que cualquiera puede usar; solo el dueño tiene la llave para abrirlo.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Mencione la firma digital certificada de Costa Rica, con la tarjeta del BCCR.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5 min. En parejas. Reflexión: es cifrado simétrico (la misma llave cifra y descifra). Es débil porque solo hay 26 llaves: se rompe probando todas (fuerza bruta). AES usa llaves de 128 o 256 bits.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 la situación en voz alta y deje que el grupo responda antes de avanzar. Significa que el archivo cambió, aunque sea un solo carácter: perdió su integridad. No debe usarse; hay que descargarlo de nuevo desde la fuente oficial y avisar a la dirección.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hay computadoras, pida que calculen un hash: Get-FileHash en PowerShell o sha256sum en Linux. Que cambien una letra y comparen.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Relacione con el candado del navegador: el certificado lo emite una autoridad de certificación (CA).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 la situación en voz alta y deje que el grupo responda antes de avanzar. Se confirma revisando los registros: si el director estaba dormido y la IP es extranjera, es un verdadero positivo. El peor resultado es el falso negativo: un ataque real sin alerta.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Explique que demasiados falsos positivos cansan al analista, y eso aumenta el riesgo de ignorar una alerta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Mencione que NTP sincroniza la hora: sin ella no se puede ordenar lo que pasó.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4 min. En parejas. 1) No ética: sin autorización. 2) Ética: hay permiso por escrito y alcance definido. 3) No ética: expone a la empresa y a sus usuarios. 4) Ética: es la divulgación responsable.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Recoja las hojas o pida fotos por Teams. Las preguntas pendientes sirven para abrir la próxima clase.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pidiendo a varios estudiantes que expliquen un caso con sus palabras. Recuerde que la teoría completa y el cotidiano están en la plataforma.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508760"/>
            <a:ext cx="5669280" cy="141732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3" name="Text 0"/>
          <p:cNvSpPr/>
          <p:nvPr>
            <p:ph idx="101" type="body" hasCustomPrompt="1"/>
          </p:nvPr>
        </p:nvSpPr>
        <p:spPr>
          <a:xfrm>
            <a:off x="548640" y="3063240"/>
            <a:ext cx="5669280" cy="822960"/>
          </a:xfrm>
          <a:prstGeom prst="rect">
            <a:avLst/>
          </a:prstGeom>
          <a:noFill/>
          <a:ln/>
        </p:spPr>
        <p:txBody>
          <a:bodyPr wrap="square" rtlCol="0"/>
          <a:lstStyle>
            <a:lvl1pPr algn="l" indent="0" marL="0">
              <a:buNone/>
              <a:defRPr lang="en-US" sz="1500" dirty="0">
                <a:solidFill>
                  <a:schemeClr val="bg2"/>
                </a:solidFill>
              </a:defRPr>
            </a:lvl1pPr>
          </a:lstStyle>
          <a:p>
            <a:pPr algn="l" indent="0" marL="0">
              <a:buNone/>
            </a:pPr>
            <a:endParaRPr lang="en-US" sz="15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ASO">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502920"/>
            <a:ext cx="8229600" cy="68580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3" name="Text 0"/>
          <p:cNvSpPr/>
          <p:nvPr/>
        </p:nvSpPr>
        <p:spPr>
          <a:xfrm>
            <a:off x="457200" y="4791456"/>
            <a:ext cx="6400800" cy="237744"/>
          </a:xfrm>
          <a:prstGeom prst="rect">
            <a:avLst/>
          </a:prstGeom>
          <a:noFill/>
          <a:ln/>
        </p:spPr>
        <p:txBody>
          <a:bodyPr wrap="square" lIns="0" tIns="0" rIns="0" bIns="0" rtlCol="0" anchor="ctr"/>
          <a:lstStyle/>
          <a:p>
            <a:pPr indent="0" marL="0">
              <a:buNone/>
            </a:pPr>
            <a:r>
              <a:rPr lang="en-US" sz="900" dirty="0">
                <a:solidFill>
                  <a:schemeClr val="bg2"/>
                </a:solidFill>
              </a:rPr>
              <a:t>Fundamentos de ciberseguridad · RA4 · Casos para la clase</a:t>
            </a:r>
            <a:endParaRPr lang="en-US" sz="900" dirty="0"/>
          </a:p>
        </p:txBody>
      </p:sp>
      <p:sp>
        <p:nvSpPr>
          <p:cNvPr id="25" name="Slide Number Placeholder 0"/>
          <p:cNvSpPr>
            <a:spLocks noGrp="1"/>
          </p:cNvSpPr>
          <p:nvPr>
            <p:ph type="sldNum" sz="quarter" idx="4294967295"/>
          </p:nvPr>
        </p:nvSpPr>
        <p:spPr>
          <a:xfrm>
            <a:off x="8138160" y="4791456"/>
            <a:ext cx="548640" cy="237744"/>
          </a:xfrm>
          <a:prstGeom prst="rect">
            <a:avLst/>
          </a:prstGeom>
          <a:extLst>
            <a:ext uri="{C572A759-6A51-4108-AA02-DFA0A04FC94B}">
              <ma14:wrappingTextBoxFlag xmlns:ma14="http://schemas.microsoft.com/office/mac/drawingml/2011/main" val="0"/>
            </a:ext>
          </a:extLst>
        </p:spPr>
        <p:txBody>
          <a:bodyPr anchor="ctr"/>
          <a:lstStyle>
            <a:lvl1pPr>
              <a:defRPr sz="9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420624"/>
            <a:ext cx="8229600" cy="640080"/>
          </a:xfrm>
          <a:prstGeom prst="rect">
            <a:avLst/>
          </a:prstGeom>
          <a:noFill/>
          <a:ln/>
        </p:spPr>
        <p:txBody>
          <a:bodyPr wrap="square" rtlCol="0"/>
          <a:lstStyle>
            <a:lvl1pPr algn="l" indent="0" marL="0">
              <a:buNone/>
              <a:defRPr lang="en-US" sz="2600" b="1" dirty="0">
                <a:solidFill>
                  <a:schemeClr val="tx2"/>
                </a:solidFill>
              </a:defRPr>
            </a:lvl1pPr>
          </a:lstStyle>
          <a:p>
            <a:pPr algn="l" indent="0" marL="0">
              <a:buNone/>
            </a:pPr>
            <a:endParaRPr lang="en-US" sz="2600" dirty="0"/>
          </a:p>
        </p:txBody>
      </p:sp>
      <p:sp>
        <p:nvSpPr>
          <p:cNvPr id="3" name="Text 0"/>
          <p:cNvSpPr/>
          <p:nvPr/>
        </p:nvSpPr>
        <p:spPr>
          <a:xfrm>
            <a:off x="457200" y="4791456"/>
            <a:ext cx="6400800" cy="237744"/>
          </a:xfrm>
          <a:prstGeom prst="rect">
            <a:avLst/>
          </a:prstGeom>
          <a:noFill/>
          <a:ln/>
        </p:spPr>
        <p:txBody>
          <a:bodyPr wrap="square" lIns="0" tIns="0" rIns="0" bIns="0" rtlCol="0" anchor="ctr"/>
          <a:lstStyle/>
          <a:p>
            <a:pPr indent="0" marL="0">
              <a:buNone/>
            </a:pPr>
            <a:r>
              <a:rPr lang="en-US" sz="900" dirty="0">
                <a:solidFill>
                  <a:schemeClr val="accent5"/>
                </a:solidFill>
              </a:rPr>
              <a:t>Fundamentos de ciberseguridad · RA4 · Casos para la clase</a:t>
            </a:r>
            <a:endParaRPr lang="en-US" sz="900" dirty="0"/>
          </a:p>
        </p:txBody>
      </p:sp>
      <p:sp>
        <p:nvSpPr>
          <p:cNvPr id="25" name="Slide Number Placeholder 0"/>
          <p:cNvSpPr>
            <a:spLocks noGrp="1"/>
          </p:cNvSpPr>
          <p:nvPr>
            <p:ph type="sldNum" sz="quarter" idx="4294967295"/>
          </p:nvPr>
        </p:nvSpPr>
        <p:spPr>
          <a:xfrm>
            <a:off x="8138160" y="4791456"/>
            <a:ext cx="548640" cy="237744"/>
          </a:xfrm>
          <a:prstGeom prst="rect">
            <a:avLst/>
          </a:prstGeom>
          <a:extLst>
            <a:ext uri="{C572A759-6A51-4108-AA02-DFA0A04FC94B}">
              <ma14:wrappingTextBoxFlag xmlns:ma14="http://schemas.microsoft.com/office/mac/drawingml/2011/main" val="0"/>
            </a:ext>
          </a:extLst>
        </p:spPr>
        <p:txBody>
          <a:bodyPr anchor="ctr"/>
          <a:lstStyle>
            <a:lvl1pPr>
              <a:defRPr sz="9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IERR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8046720" cy="64008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3" name="Text 0"/>
          <p:cNvSpPr/>
          <p:nvPr/>
        </p:nvSpPr>
        <p:spPr>
          <a:xfrm>
            <a:off x="457200" y="4791456"/>
            <a:ext cx="6400800" cy="237744"/>
          </a:xfrm>
          <a:prstGeom prst="rect">
            <a:avLst/>
          </a:prstGeom>
          <a:noFill/>
          <a:ln/>
        </p:spPr>
        <p:txBody>
          <a:bodyPr wrap="square" lIns="0" tIns="0" rIns="0" bIns="0" rtlCol="0" anchor="ctr"/>
          <a:lstStyle/>
          <a:p>
            <a:pPr indent="0" marL="0">
              <a:buNone/>
            </a:pPr>
            <a:r>
              <a:rPr lang="en-US" sz="900" dirty="0">
                <a:solidFill>
                  <a:schemeClr val="bg2"/>
                </a:solidFill>
              </a:rPr>
              <a:t>Fundamentos de ciberseguridad · RA4 · Casos para la clase</a:t>
            </a:r>
            <a:endParaRPr lang="en-US" sz="900" dirty="0"/>
          </a:p>
        </p:txBody>
      </p:sp>
      <p:sp>
        <p:nvSpPr>
          <p:cNvPr id="25" name="Slide Number Placeholder 0"/>
          <p:cNvSpPr>
            <a:spLocks noGrp="1"/>
          </p:cNvSpPr>
          <p:nvPr>
            <p:ph type="sldNum" sz="quarter" idx="4294967295"/>
          </p:nvPr>
        </p:nvSpPr>
        <p:spPr>
          <a:xfrm>
            <a:off x="8138160" y="4791456"/>
            <a:ext cx="548640" cy="237744"/>
          </a:xfrm>
          <a:prstGeom prst="rect">
            <a:avLst/>
          </a:prstGeom>
          <a:extLst>
            <a:ext uri="{C572A759-6A51-4108-AA02-DFA0A04FC94B}">
              <ma14:wrappingTextBoxFlag xmlns:ma14="http://schemas.microsoft.com/office/mac/drawingml/2011/main" val="0"/>
            </a:ext>
          </a:extLst>
        </p:spPr>
        <p:txBody>
          <a:bodyPr anchor="ctr"/>
          <a:lstStyle>
            <a:lvl1pPr>
              <a:defRPr sz="900">
                <a:solidFill>
                  <a:schemeClr val="bg2"/>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791456"/>
            <a:ext cx="548640" cy="237744"/>
          </a:xfrm>
          <a:prstGeom prst="rect">
            <a:avLst/>
          </a:prstGeom>
          <a:extLst>
            <a:ext uri="{C572A759-6A51-4108-AA02-DFA0A04FC94B}">
              <ma14:wrappingTextBoxFlag xmlns:ma14="http://schemas.microsoft.com/office/mac/drawingml/2011/main" val="0"/>
            </a:ext>
          </a:extLst>
        </p:spPr>
        <p:txBody>
          <a:bodyPr anchor="ctr"/>
          <a:lstStyle>
            <a:lvl1pPr>
              <a:defRPr sz="9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4.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4.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4.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4.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4.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4.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4.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4.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4.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4.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5.xml"/><Relationship Id="rId6"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594360"/>
            <a:ext cx="585216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FUNDAMENTOS DE CIBERSEGURIDAD · DESARROLLO WEB 10°</a:t>
            </a:r>
            <a:endParaRPr lang="en-US" sz="1200" dirty="0"/>
          </a:p>
        </p:txBody>
      </p:sp>
      <p:sp>
        <p:nvSpPr>
          <p:cNvPr id="3" name="Text 1"/>
          <p:cNvSpPr txBox="1"/>
          <p:nvPr/>
        </p:nvSpPr>
        <p:spPr>
          <a:xfrm>
            <a:off x="548640" y="1051560"/>
            <a:ext cx="5669280" cy="365760"/>
          </a:xfrm>
          <a:prstGeom prst="rect">
            <a:avLst/>
          </a:prstGeom>
          <a:noFill/>
          <a:ln/>
        </p:spPr>
        <p:txBody>
          <a:bodyPr wrap="square" lIns="0" tIns="0" rIns="0" bIns="0" rtlCol="0" anchor="t"/>
          <a:lstStyle/>
          <a:p>
            <a:pPr indent="0" marL="0">
              <a:buNone/>
            </a:pPr>
            <a:r>
              <a:rPr lang="en-US" sz="1800" dirty="0">
                <a:solidFill>
                  <a:schemeClr val="bg2"/>
                </a:solidFill>
              </a:rPr>
              <a:t>Resultado de aprendizaje 4</a:t>
            </a:r>
            <a:endParaRPr lang="en-US" sz="1800" dirty="0"/>
          </a:p>
        </p:txBody>
      </p:sp>
      <p:sp>
        <p:nvSpPr>
          <p:cNvPr id="4" name="Text 0"/>
          <p:cNvSpPr/>
          <p:nvPr>
            <p:ph idx="100" type="title" hasCustomPrompt="1"/>
          </p:nvPr>
        </p:nvSpPr>
        <p:spPr>
          <a:xfrm>
            <a:off x="548640" y="1508760"/>
            <a:ext cx="5669280" cy="1417320"/>
          </a:xfrm>
          <a:prstGeom prst="rect">
            <a:avLst/>
          </a:prstGeom>
          <a:noFill/>
          <a:ln/>
        </p:spPr>
        <p:txBody>
          <a:bodyPr wrap="square" lIns="0" tIns="0" rIns="0" bIns="0" rtlCol="0" anchor="t"/>
          <a:lstStyle/>
          <a:p>
            <a:pPr algn="l" indent="0" marL="0">
              <a:buNone/>
            </a:pPr>
            <a:r>
              <a:rPr lang="en-US" sz="3400" b="1" dirty="0">
                <a:solidFill>
                  <a:schemeClr val="bg1"/>
                </a:solidFill>
              </a:rPr>
              <a:t>Nube, criptografía, monitoreo y gobernanza</a:t>
            </a:r>
            <a:endParaRPr lang="en-US" sz="3400" dirty="0"/>
          </a:p>
        </p:txBody>
      </p:sp>
      <p:sp>
        <p:nvSpPr>
          <p:cNvPr id="5" name="Text 0"/>
          <p:cNvSpPr/>
          <p:nvPr>
            <p:ph idx="101" type="body" hasCustomPrompt="1"/>
          </p:nvPr>
        </p:nvSpPr>
        <p:spPr>
          <a:xfrm>
            <a:off x="548640" y="3063240"/>
            <a:ext cx="5669280" cy="822960"/>
          </a:xfrm>
          <a:prstGeom prst="rect">
            <a:avLst/>
          </a:prstGeom>
          <a:noFill/>
          <a:ln/>
        </p:spPr>
        <p:txBody>
          <a:bodyPr wrap="square" lIns="0" tIns="0" rIns="0" bIns="0" rtlCol="0" anchor="t"/>
          <a:lstStyle/>
          <a:p>
            <a:pPr algn="l" indent="0" marL="0">
              <a:buNone/>
            </a:pPr>
            <a:r>
              <a:rPr lang="en-US" sz="1500" dirty="0">
                <a:solidFill>
                  <a:schemeClr val="bg2"/>
                </a:solidFill>
              </a:rPr>
              <a:t>Aprendemos con 4 casos reales para analizar en clase</a:t>
            </a:r>
            <a:endParaRPr lang="en-US" sz="1500" dirty="0"/>
          </a:p>
        </p:txBody>
      </p:sp>
      <p:sp>
        <p:nvSpPr>
          <p:cNvPr id="6" name="Shape 4"/>
          <p:cNvSpPr/>
          <p:nvPr/>
        </p:nvSpPr>
        <p:spPr>
          <a:xfrm>
            <a:off x="6446520" y="1051560"/>
            <a:ext cx="2286000" cy="2286000"/>
          </a:xfrm>
          <a:prstGeom prst="ellipse">
            <a:avLst/>
          </a:prstGeom>
          <a:solidFill>
            <a:schemeClr val="accent1">
              <a:alpha val="85000"/>
            </a:schemeClr>
          </a:solidFill>
          <a:ln w="12700">
            <a:solidFill>
              <a:schemeClr val="accent1"/>
            </a:solidFill>
            <a:prstDash val="solid"/>
          </a:ln>
        </p:spPr>
      </p:sp>
      <p:pic>
        <p:nvPicPr>
          <p:cNvPr id="7" name="Image 0" descr="preencoded.png">    </p:cNvPr>
          <p:cNvPicPr>
            <a:picLocks noChangeAspect="1"/>
          </p:cNvPicPr>
          <p:nvPr/>
        </p:nvPicPr>
        <p:blipFill>
          <a:blip r:embed="rId1"/>
          <a:stretch>
            <a:fillRect/>
          </a:stretch>
        </p:blipFill>
        <p:spPr>
          <a:xfrm>
            <a:off x="7086600" y="1691640"/>
            <a:ext cx="1005840" cy="1005840"/>
          </a:xfrm>
          <a:prstGeom prst="rect">
            <a:avLst/>
          </a:prstGeom>
        </p:spPr>
      </p:pic>
      <p:sp>
        <p:nvSpPr>
          <p:cNvPr id="8" name="Text 5"/>
          <p:cNvSpPr txBox="1"/>
          <p:nvPr/>
        </p:nvSpPr>
        <p:spPr>
          <a:xfrm>
            <a:off x="548640" y="4343400"/>
            <a:ext cx="5669280" cy="274320"/>
          </a:xfrm>
          <a:prstGeom prst="rect">
            <a:avLst/>
          </a:prstGeom>
          <a:noFill/>
          <a:ln/>
        </p:spPr>
        <p:txBody>
          <a:bodyPr wrap="square" lIns="0" tIns="0" rIns="0" bIns="0" rtlCol="0" anchor="t"/>
          <a:lstStyle/>
          <a:p>
            <a:pPr indent="0" marL="0">
              <a:buNone/>
            </a:pPr>
            <a:r>
              <a:rPr lang="en-US" sz="1100" dirty="0">
                <a:solidFill>
                  <a:schemeClr val="bg2"/>
                </a:solidFill>
              </a:rPr>
              <a:t>CTP Mercedes Norte · MsC. Ericka Hernández Mena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182880"/>
            <a:ext cx="8229600" cy="237744"/>
          </a:xfrm>
          <a:prstGeom prst="rect">
            <a:avLst/>
          </a:prstGeom>
          <a:noFill/>
          <a:ln/>
        </p:spPr>
        <p:txBody>
          <a:bodyPr wrap="square" lIns="0" tIns="0" rIns="0" bIns="0" rtlCol="0" anchor="t"/>
          <a:lstStyle/>
          <a:p>
            <a:pPr indent="0" marL="0">
              <a:buNone/>
            </a:pPr>
            <a:r>
              <a:rPr lang="en-US" sz="1100" b="1" spc="150" kern="0" dirty="0">
                <a:solidFill>
                  <a:schemeClr val="accent1"/>
                </a:solidFill>
              </a:rPr>
              <a:t>PREGUNTAS PARA INICIAR</a:t>
            </a:r>
            <a:endParaRPr lang="en-US" sz="1100" dirty="0"/>
          </a:p>
        </p:txBody>
      </p:sp>
      <p:sp>
        <p:nvSpPr>
          <p:cNvPr id="3" name="Text 0"/>
          <p:cNvSpPr/>
          <p:nvPr>
            <p:ph idx="100" type="title" hasCustomPrompt="1"/>
          </p:nvPr>
        </p:nvSpPr>
        <p:spPr>
          <a:xfrm>
            <a:off x="457200" y="420624"/>
            <a:ext cx="8229600" cy="640080"/>
          </a:xfrm>
          <a:prstGeom prst="rect">
            <a:avLst/>
          </a:prstGeom>
          <a:noFill/>
          <a:ln/>
        </p:spPr>
        <p:txBody>
          <a:bodyPr wrap="square" lIns="0" tIns="0" rIns="0" bIns="0" rtlCol="0" anchor="t"/>
          <a:lstStyle/>
          <a:p>
            <a:pPr algn="l" indent="0" marL="0">
              <a:buNone/>
            </a:pPr>
            <a:r>
              <a:rPr lang="en-US" sz="2600" b="1" dirty="0">
                <a:solidFill>
                  <a:schemeClr val="tx2"/>
                </a:solidFill>
              </a:rPr>
              <a:t>Para empezar: ¿qué saben ya?</a:t>
            </a:r>
            <a:endParaRPr lang="en-US" sz="2600" dirty="0"/>
          </a:p>
        </p:txBody>
      </p:sp>
      <p:sp>
        <p:nvSpPr>
          <p:cNvPr id="4" name="Shape 2"/>
          <p:cNvSpPr/>
          <p:nvPr/>
        </p:nvSpPr>
        <p:spPr>
          <a:xfrm>
            <a:off x="457200" y="1325880"/>
            <a:ext cx="2606040" cy="3200400"/>
          </a:xfrm>
          <a:prstGeom prst="roundRect">
            <a:avLst>
              <a:gd name="adj" fmla="val 2807"/>
            </a:avLst>
          </a:prstGeom>
          <a:solidFill>
            <a:schemeClr val="bg2"/>
          </a:solidFill>
          <a:ln w="12700">
            <a:solidFill>
              <a:schemeClr val="bg2"/>
            </a:solidFill>
            <a:prstDash val="solid"/>
          </a:ln>
        </p:spPr>
      </p:sp>
      <p:sp>
        <p:nvSpPr>
          <p:cNvPr id="5" name="Shape 3"/>
          <p:cNvSpPr/>
          <p:nvPr/>
        </p:nvSpPr>
        <p:spPr>
          <a:xfrm>
            <a:off x="685800" y="1554480"/>
            <a:ext cx="566928" cy="566928"/>
          </a:xfrm>
          <a:prstGeom prst="ellipse">
            <a:avLst/>
          </a:prstGeom>
          <a:solidFill>
            <a:schemeClr val="accent2"/>
          </a:solidFill>
          <a:ln w="12700">
            <a:solidFill>
              <a:schemeClr val="accent2"/>
            </a:solidFill>
            <a:prstDash val="solid"/>
          </a:ln>
        </p:spPr>
      </p:sp>
      <p:pic>
        <p:nvPicPr>
          <p:cNvPr id="6" name="Image 0" descr="preencoded.png">    </p:cNvPr>
          <p:cNvPicPr>
            <a:picLocks noChangeAspect="1"/>
          </p:cNvPicPr>
          <p:nvPr/>
        </p:nvPicPr>
        <p:blipFill>
          <a:blip r:embed="rId1"/>
          <a:stretch>
            <a:fillRect/>
          </a:stretch>
        </p:blipFill>
        <p:spPr>
          <a:xfrm>
            <a:off x="841705" y="1710385"/>
            <a:ext cx="255118" cy="255118"/>
          </a:xfrm>
          <a:prstGeom prst="rect">
            <a:avLst/>
          </a:prstGeom>
        </p:spPr>
      </p:pic>
      <p:sp>
        <p:nvSpPr>
          <p:cNvPr id="7" name="Text 4"/>
          <p:cNvSpPr txBox="1"/>
          <p:nvPr/>
        </p:nvSpPr>
        <p:spPr>
          <a:xfrm>
            <a:off x="685800" y="2286000"/>
            <a:ext cx="2148840" cy="1371600"/>
          </a:xfrm>
          <a:prstGeom prst="rect">
            <a:avLst/>
          </a:prstGeom>
          <a:noFill/>
          <a:ln/>
        </p:spPr>
        <p:txBody>
          <a:bodyPr wrap="square" lIns="0" tIns="0" rIns="0" bIns="0" rtlCol="0" anchor="t"/>
          <a:lstStyle/>
          <a:p>
            <a:pPr indent="0" marL="0">
              <a:buNone/>
            </a:pPr>
            <a:r>
              <a:rPr lang="en-US" sz="1600" b="1" dirty="0">
                <a:solidFill>
                  <a:schemeClr val="tx2"/>
                </a:solidFill>
              </a:rPr>
              <a:t>¿Dónde están guardadas sus fotos en este momento?</a:t>
            </a:r>
            <a:endParaRPr lang="en-US" sz="1600" dirty="0"/>
          </a:p>
        </p:txBody>
      </p:sp>
      <p:sp>
        <p:nvSpPr>
          <p:cNvPr id="8" name="Text 5"/>
          <p:cNvSpPr txBox="1"/>
          <p:nvPr/>
        </p:nvSpPr>
        <p:spPr>
          <a:xfrm>
            <a:off x="685800" y="3703320"/>
            <a:ext cx="2148840" cy="685800"/>
          </a:xfrm>
          <a:prstGeom prst="rect">
            <a:avLst/>
          </a:prstGeom>
          <a:noFill/>
          <a:ln/>
        </p:spPr>
        <p:txBody>
          <a:bodyPr wrap="square" lIns="0" tIns="0" rIns="0" bIns="0" rtlCol="0" anchor="t"/>
          <a:lstStyle/>
          <a:p>
            <a:pPr indent="0" marL="0">
              <a:buNone/>
            </a:pPr>
            <a:r>
              <a:rPr lang="en-US" sz="1300" dirty="0">
                <a:solidFill>
                  <a:schemeClr val="accent5"/>
                </a:solidFill>
              </a:rPr>
              <a:t>¿Quién las cuida?</a:t>
            </a:r>
            <a:endParaRPr lang="en-US" sz="1300" dirty="0"/>
          </a:p>
        </p:txBody>
      </p:sp>
      <p:sp>
        <p:nvSpPr>
          <p:cNvPr id="9" name="Shape 6"/>
          <p:cNvSpPr/>
          <p:nvPr/>
        </p:nvSpPr>
        <p:spPr>
          <a:xfrm>
            <a:off x="3268980" y="1325880"/>
            <a:ext cx="2606040" cy="3200400"/>
          </a:xfrm>
          <a:prstGeom prst="roundRect">
            <a:avLst>
              <a:gd name="adj" fmla="val 2807"/>
            </a:avLst>
          </a:prstGeom>
          <a:solidFill>
            <a:schemeClr val="bg2"/>
          </a:solidFill>
          <a:ln w="12700">
            <a:solidFill>
              <a:schemeClr val="bg2"/>
            </a:solidFill>
            <a:prstDash val="solid"/>
          </a:ln>
        </p:spPr>
      </p:sp>
      <p:sp>
        <p:nvSpPr>
          <p:cNvPr id="10" name="Shape 7"/>
          <p:cNvSpPr/>
          <p:nvPr/>
        </p:nvSpPr>
        <p:spPr>
          <a:xfrm>
            <a:off x="3497580" y="1554480"/>
            <a:ext cx="566928" cy="566928"/>
          </a:xfrm>
          <a:prstGeom prst="ellipse">
            <a:avLst/>
          </a:prstGeom>
          <a:solidFill>
            <a:schemeClr val="accent2"/>
          </a:solidFill>
          <a:ln w="12700">
            <a:solidFill>
              <a:schemeClr val="accent2"/>
            </a:solidFill>
            <a:prstDash val="solid"/>
          </a:ln>
        </p:spPr>
      </p:sp>
      <p:pic>
        <p:nvPicPr>
          <p:cNvPr id="11" name="Image 1" descr="preencoded.png">    </p:cNvPr>
          <p:cNvPicPr>
            <a:picLocks noChangeAspect="1"/>
          </p:cNvPicPr>
          <p:nvPr/>
        </p:nvPicPr>
        <p:blipFill>
          <a:blip r:embed="rId2"/>
          <a:stretch>
            <a:fillRect/>
          </a:stretch>
        </p:blipFill>
        <p:spPr>
          <a:xfrm>
            <a:off x="3653485" y="1710385"/>
            <a:ext cx="255118" cy="255118"/>
          </a:xfrm>
          <a:prstGeom prst="rect">
            <a:avLst/>
          </a:prstGeom>
        </p:spPr>
      </p:pic>
      <p:sp>
        <p:nvSpPr>
          <p:cNvPr id="12" name="Text 8"/>
          <p:cNvSpPr txBox="1"/>
          <p:nvPr/>
        </p:nvSpPr>
        <p:spPr>
          <a:xfrm>
            <a:off x="3497580" y="2286000"/>
            <a:ext cx="2148840" cy="1371600"/>
          </a:xfrm>
          <a:prstGeom prst="rect">
            <a:avLst/>
          </a:prstGeom>
          <a:noFill/>
          <a:ln/>
        </p:spPr>
        <p:txBody>
          <a:bodyPr wrap="square" lIns="0" tIns="0" rIns="0" bIns="0" rtlCol="0" anchor="t"/>
          <a:lstStyle/>
          <a:p>
            <a:pPr indent="0" marL="0">
              <a:buNone/>
            </a:pPr>
            <a:r>
              <a:rPr lang="en-US" sz="1600" b="1" dirty="0">
                <a:solidFill>
                  <a:schemeClr val="tx2"/>
                </a:solidFill>
              </a:rPr>
              <a:t>¿Han visto el candado al lado de la dirección de una página?</a:t>
            </a:r>
            <a:endParaRPr lang="en-US" sz="1600" dirty="0"/>
          </a:p>
        </p:txBody>
      </p:sp>
      <p:sp>
        <p:nvSpPr>
          <p:cNvPr id="13" name="Text 9"/>
          <p:cNvSpPr txBox="1"/>
          <p:nvPr/>
        </p:nvSpPr>
        <p:spPr>
          <a:xfrm>
            <a:off x="3497580" y="3703320"/>
            <a:ext cx="2148840" cy="685800"/>
          </a:xfrm>
          <a:prstGeom prst="rect">
            <a:avLst/>
          </a:prstGeom>
          <a:noFill/>
          <a:ln/>
        </p:spPr>
        <p:txBody>
          <a:bodyPr wrap="square" lIns="0" tIns="0" rIns="0" bIns="0" rtlCol="0" anchor="t"/>
          <a:lstStyle/>
          <a:p>
            <a:pPr indent="0" marL="0">
              <a:buNone/>
            </a:pPr>
            <a:r>
              <a:rPr lang="en-US" sz="1300" dirty="0">
                <a:solidFill>
                  <a:schemeClr val="accent5"/>
                </a:solidFill>
              </a:rPr>
              <a:t>¿Qué creen que significa?</a:t>
            </a:r>
            <a:endParaRPr lang="en-US" sz="1300" dirty="0"/>
          </a:p>
        </p:txBody>
      </p:sp>
      <p:sp>
        <p:nvSpPr>
          <p:cNvPr id="14" name="Shape 10"/>
          <p:cNvSpPr/>
          <p:nvPr/>
        </p:nvSpPr>
        <p:spPr>
          <a:xfrm>
            <a:off x="6080760" y="1325880"/>
            <a:ext cx="2606040" cy="3200400"/>
          </a:xfrm>
          <a:prstGeom prst="roundRect">
            <a:avLst>
              <a:gd name="adj" fmla="val 2807"/>
            </a:avLst>
          </a:prstGeom>
          <a:solidFill>
            <a:schemeClr val="bg2"/>
          </a:solidFill>
          <a:ln w="12700">
            <a:solidFill>
              <a:schemeClr val="bg2"/>
            </a:solidFill>
            <a:prstDash val="solid"/>
          </a:ln>
        </p:spPr>
      </p:sp>
      <p:sp>
        <p:nvSpPr>
          <p:cNvPr id="15" name="Shape 11"/>
          <p:cNvSpPr/>
          <p:nvPr/>
        </p:nvSpPr>
        <p:spPr>
          <a:xfrm>
            <a:off x="6309360" y="1554480"/>
            <a:ext cx="566928" cy="566928"/>
          </a:xfrm>
          <a:prstGeom prst="ellipse">
            <a:avLst/>
          </a:prstGeom>
          <a:solidFill>
            <a:schemeClr val="accent2"/>
          </a:solidFill>
          <a:ln w="12700">
            <a:solidFill>
              <a:schemeClr val="accent2"/>
            </a:solidFill>
            <a:prstDash val="solid"/>
          </a:ln>
        </p:spPr>
      </p:sp>
      <p:pic>
        <p:nvPicPr>
          <p:cNvPr id="16" name="Image 2" descr="preencoded.png">    </p:cNvPr>
          <p:cNvPicPr>
            <a:picLocks noChangeAspect="1"/>
          </p:cNvPicPr>
          <p:nvPr/>
        </p:nvPicPr>
        <p:blipFill>
          <a:blip r:embed="rId3"/>
          <a:stretch>
            <a:fillRect/>
          </a:stretch>
        </p:blipFill>
        <p:spPr>
          <a:xfrm>
            <a:off x="6465265" y="1710385"/>
            <a:ext cx="255118" cy="255118"/>
          </a:xfrm>
          <a:prstGeom prst="rect">
            <a:avLst/>
          </a:prstGeom>
        </p:spPr>
      </p:pic>
      <p:sp>
        <p:nvSpPr>
          <p:cNvPr id="17" name="Text 12"/>
          <p:cNvSpPr txBox="1"/>
          <p:nvPr/>
        </p:nvSpPr>
        <p:spPr>
          <a:xfrm>
            <a:off x="6309360" y="2286000"/>
            <a:ext cx="2148840" cy="1371600"/>
          </a:xfrm>
          <a:prstGeom prst="rect">
            <a:avLst/>
          </a:prstGeom>
          <a:noFill/>
          <a:ln/>
        </p:spPr>
        <p:txBody>
          <a:bodyPr wrap="square" lIns="0" tIns="0" rIns="0" bIns="0" rtlCol="0" anchor="t"/>
          <a:lstStyle/>
          <a:p>
            <a:pPr indent="0" marL="0">
              <a:buNone/>
            </a:pPr>
            <a:r>
              <a:rPr lang="en-US" sz="1600" b="1" dirty="0">
                <a:solidFill>
                  <a:schemeClr val="tx2"/>
                </a:solidFill>
              </a:rPr>
              <a:t>Si quisieran pasar un mensaje secreto en clase, ¿cómo lo esconderían?</a:t>
            </a:r>
            <a:endParaRPr lang="en-US" sz="1600" dirty="0"/>
          </a:p>
        </p:txBody>
      </p:sp>
      <p:sp>
        <p:nvSpPr>
          <p:cNvPr id="18" name="Text 13"/>
          <p:cNvSpPr txBox="1"/>
          <p:nvPr/>
        </p:nvSpPr>
        <p:spPr>
          <a:xfrm>
            <a:off x="6309360" y="3703320"/>
            <a:ext cx="2148840" cy="685800"/>
          </a:xfrm>
          <a:prstGeom prst="rect">
            <a:avLst/>
          </a:prstGeom>
          <a:noFill/>
          <a:ln/>
        </p:spPr>
        <p:txBody>
          <a:bodyPr wrap="square" lIns="0" tIns="0" rIns="0" bIns="0" rtlCol="0" anchor="t"/>
          <a:lstStyle/>
          <a:p>
            <a:pPr indent="0" marL="0">
              <a:buNone/>
            </a:pPr>
            <a:r>
              <a:rPr lang="en-US" sz="1300" dirty="0">
                <a:solidFill>
                  <a:schemeClr val="accent5"/>
                </a:solidFill>
              </a:rPr>
              <a:t>¿Cómo sabría el otro que es de ustedes?</a:t>
            </a:r>
            <a:endParaRPr lang="en-US" sz="1300" dirty="0"/>
          </a:p>
        </p:txBody>
      </p:sp>
      <p:sp>
        <p:nvSpPr>
          <p:cNvPr id="25" name="Slide Number Placeholder 0"/>
          <p:cNvSpPr>
            <a:spLocks noGrp="1"/>
          </p:cNvSpPr>
          <p:nvPr>
            <p:ph type="sldNum" sz="quarter" idx="4294967295"/>
          </p:nvPr>
        </p:nvSpPr>
        <p:spPr>
          <a:xfrm>
            <a:off x="8138160" y="4791456"/>
            <a:ext cx="548640" cy="237744"/>
          </a:xfrm>
          <a:prstGeom prst="rect">
            <a:avLst/>
          </a:prstGeom>
          <a:extLst>
            <a:ext uri="{C572A759-6A51-4108-AA02-DFA0A04FC94B}">
              <ma14:wrappingTextBoxFlag xmlns:ma14="http://schemas.microsoft.com/office/mac/drawingml/2011/main" val="0"/>
            </a:ext>
          </a:extLst>
        </p:spPr>
        <p:txBody>
          <a:bodyPr anchor="ctr"/>
          <a:lstStyle>
            <a:lvl1pPr>
              <a:defRPr sz="9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182880"/>
            <a:ext cx="8229600" cy="237744"/>
          </a:xfrm>
          <a:prstGeom prst="rect">
            <a:avLst/>
          </a:prstGeom>
          <a:noFill/>
          <a:ln/>
        </p:spPr>
        <p:txBody>
          <a:bodyPr wrap="square" lIns="0" tIns="0" rIns="0" bIns="0" rtlCol="0" anchor="t"/>
          <a:lstStyle/>
          <a:p>
            <a:pPr indent="0" marL="0">
              <a:buNone/>
            </a:pPr>
            <a:r>
              <a:rPr lang="en-US" sz="1100" b="1" spc="150" kern="0" dirty="0">
                <a:solidFill>
                  <a:schemeClr val="accent1"/>
                </a:solidFill>
              </a:rPr>
              <a:t>LA CLASE DE HOY</a:t>
            </a:r>
            <a:endParaRPr lang="en-US" sz="1100" dirty="0"/>
          </a:p>
        </p:txBody>
      </p:sp>
      <p:sp>
        <p:nvSpPr>
          <p:cNvPr id="3" name="Text 0"/>
          <p:cNvSpPr/>
          <p:nvPr>
            <p:ph idx="100" type="title" hasCustomPrompt="1"/>
          </p:nvPr>
        </p:nvSpPr>
        <p:spPr>
          <a:xfrm>
            <a:off x="457200" y="420624"/>
            <a:ext cx="8229600" cy="640080"/>
          </a:xfrm>
          <a:prstGeom prst="rect">
            <a:avLst/>
          </a:prstGeom>
          <a:noFill/>
          <a:ln/>
        </p:spPr>
        <p:txBody>
          <a:bodyPr wrap="square" lIns="0" tIns="0" rIns="0" bIns="0" rtlCol="0" anchor="t"/>
          <a:lstStyle/>
          <a:p>
            <a:pPr algn="l" indent="0" marL="0">
              <a:buNone/>
            </a:pPr>
            <a:r>
              <a:rPr lang="en-US" sz="2600" b="1" dirty="0">
                <a:solidFill>
                  <a:schemeClr val="tx2"/>
                </a:solidFill>
              </a:rPr>
              <a:t>Los casos que vamos a resolver</a:t>
            </a:r>
            <a:endParaRPr lang="en-US" sz="2600" dirty="0"/>
          </a:p>
        </p:txBody>
      </p:sp>
      <p:sp>
        <p:nvSpPr>
          <p:cNvPr id="4" name="Shape 2"/>
          <p:cNvSpPr/>
          <p:nvPr/>
        </p:nvSpPr>
        <p:spPr>
          <a:xfrm>
            <a:off x="457200" y="1280160"/>
            <a:ext cx="5577840" cy="658368"/>
          </a:xfrm>
          <a:prstGeom prst="roundRect">
            <a:avLst>
              <a:gd name="adj" fmla="val 11111"/>
            </a:avLst>
          </a:prstGeom>
          <a:solidFill>
            <a:schemeClr val="bg2"/>
          </a:solidFill>
          <a:ln w="12700">
            <a:solidFill>
              <a:schemeClr val="bg2"/>
            </a:solidFill>
            <a:prstDash val="solid"/>
          </a:ln>
        </p:spPr>
      </p:sp>
      <p:sp>
        <p:nvSpPr>
          <p:cNvPr id="5" name="Shape 3"/>
          <p:cNvSpPr/>
          <p:nvPr/>
        </p:nvSpPr>
        <p:spPr>
          <a:xfrm>
            <a:off x="566928" y="1399032"/>
            <a:ext cx="420624" cy="420624"/>
          </a:xfrm>
          <a:prstGeom prst="ellipse">
            <a:avLst/>
          </a:prstGeom>
          <a:solidFill>
            <a:schemeClr val="accent1"/>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672084" y="1504188"/>
            <a:ext cx="210312" cy="210312"/>
          </a:xfrm>
          <a:prstGeom prst="rect">
            <a:avLst/>
          </a:prstGeom>
        </p:spPr>
      </p:pic>
      <p:sp>
        <p:nvSpPr>
          <p:cNvPr id="7" name="Text 4"/>
          <p:cNvSpPr txBox="1"/>
          <p:nvPr/>
        </p:nvSpPr>
        <p:spPr>
          <a:xfrm>
            <a:off x="1143000" y="1280160"/>
            <a:ext cx="822960" cy="658368"/>
          </a:xfrm>
          <a:prstGeom prst="rect">
            <a:avLst/>
          </a:prstGeom>
          <a:noFill/>
          <a:ln/>
        </p:spPr>
        <p:txBody>
          <a:bodyPr wrap="square" lIns="0" tIns="0" rIns="0" bIns="0" rtlCol="0" anchor="ctr"/>
          <a:lstStyle/>
          <a:p>
            <a:pPr indent="0" marL="0">
              <a:buNone/>
            </a:pPr>
            <a:r>
              <a:rPr lang="en-US" sz="1200" b="1" dirty="0">
                <a:solidFill>
                  <a:schemeClr val="accent1"/>
                </a:solidFill>
              </a:rPr>
              <a:t>Caso 1</a:t>
            </a:r>
            <a:endParaRPr lang="en-US" sz="1200" dirty="0"/>
          </a:p>
        </p:txBody>
      </p:sp>
      <p:sp>
        <p:nvSpPr>
          <p:cNvPr id="8" name="Text 5"/>
          <p:cNvSpPr txBox="1"/>
          <p:nvPr/>
        </p:nvSpPr>
        <p:spPr>
          <a:xfrm>
            <a:off x="1920240" y="1280160"/>
            <a:ext cx="4023360" cy="658368"/>
          </a:xfrm>
          <a:prstGeom prst="rect">
            <a:avLst/>
          </a:prstGeom>
          <a:noFill/>
          <a:ln/>
        </p:spPr>
        <p:txBody>
          <a:bodyPr wrap="square" lIns="0" tIns="0" rIns="0" bIns="0" rtlCol="0" anchor="ctr"/>
          <a:lstStyle/>
          <a:p>
            <a:pPr indent="0" marL="0">
              <a:buNone/>
            </a:pPr>
            <a:r>
              <a:rPr lang="en-US" sz="1500" b="1" dirty="0">
                <a:solidFill>
                  <a:schemeClr val="tx2"/>
                </a:solidFill>
              </a:rPr>
              <a:t>Las notas a la vista de todos</a:t>
            </a:r>
            <a:endParaRPr lang="en-US" sz="1500" dirty="0"/>
          </a:p>
        </p:txBody>
      </p:sp>
      <p:sp>
        <p:nvSpPr>
          <p:cNvPr id="9" name="Shape 6"/>
          <p:cNvSpPr/>
          <p:nvPr/>
        </p:nvSpPr>
        <p:spPr>
          <a:xfrm>
            <a:off x="457200" y="2121408"/>
            <a:ext cx="5577840" cy="658368"/>
          </a:xfrm>
          <a:prstGeom prst="roundRect">
            <a:avLst>
              <a:gd name="adj" fmla="val 11111"/>
            </a:avLst>
          </a:prstGeom>
          <a:solidFill>
            <a:schemeClr val="bg2"/>
          </a:solidFill>
          <a:ln w="12700">
            <a:solidFill>
              <a:schemeClr val="bg2"/>
            </a:solidFill>
            <a:prstDash val="solid"/>
          </a:ln>
        </p:spPr>
      </p:sp>
      <p:sp>
        <p:nvSpPr>
          <p:cNvPr id="10" name="Shape 7"/>
          <p:cNvSpPr/>
          <p:nvPr/>
        </p:nvSpPr>
        <p:spPr>
          <a:xfrm>
            <a:off x="566928" y="2240280"/>
            <a:ext cx="420624" cy="420624"/>
          </a:xfrm>
          <a:prstGeom prst="ellipse">
            <a:avLst/>
          </a:prstGeom>
          <a:solidFill>
            <a:schemeClr val="accent1"/>
          </a:solidFill>
          <a:ln w="12700">
            <a:solidFill>
              <a:schemeClr val="accent1"/>
            </a:solidFill>
            <a:prstDash val="solid"/>
          </a:ln>
        </p:spPr>
      </p:sp>
      <p:pic>
        <p:nvPicPr>
          <p:cNvPr id="11" name="Image 1" descr="preencoded.png">    </p:cNvPr>
          <p:cNvPicPr>
            <a:picLocks noChangeAspect="1"/>
          </p:cNvPicPr>
          <p:nvPr/>
        </p:nvPicPr>
        <p:blipFill>
          <a:blip r:embed="rId2"/>
          <a:stretch>
            <a:fillRect/>
          </a:stretch>
        </p:blipFill>
        <p:spPr>
          <a:xfrm>
            <a:off x="672084" y="2345436"/>
            <a:ext cx="210312" cy="210312"/>
          </a:xfrm>
          <a:prstGeom prst="rect">
            <a:avLst/>
          </a:prstGeom>
        </p:spPr>
      </p:pic>
      <p:sp>
        <p:nvSpPr>
          <p:cNvPr id="12" name="Text 8"/>
          <p:cNvSpPr txBox="1"/>
          <p:nvPr/>
        </p:nvSpPr>
        <p:spPr>
          <a:xfrm>
            <a:off x="1143000" y="2121408"/>
            <a:ext cx="822960" cy="658368"/>
          </a:xfrm>
          <a:prstGeom prst="rect">
            <a:avLst/>
          </a:prstGeom>
          <a:noFill/>
          <a:ln/>
        </p:spPr>
        <p:txBody>
          <a:bodyPr wrap="square" lIns="0" tIns="0" rIns="0" bIns="0" rtlCol="0" anchor="ctr"/>
          <a:lstStyle/>
          <a:p>
            <a:pPr indent="0" marL="0">
              <a:buNone/>
            </a:pPr>
            <a:r>
              <a:rPr lang="en-US" sz="1200" b="1" dirty="0">
                <a:solidFill>
                  <a:schemeClr val="accent1"/>
                </a:solidFill>
              </a:rPr>
              <a:t>Caso 2</a:t>
            </a:r>
            <a:endParaRPr lang="en-US" sz="1200" dirty="0"/>
          </a:p>
        </p:txBody>
      </p:sp>
      <p:sp>
        <p:nvSpPr>
          <p:cNvPr id="13" name="Text 9"/>
          <p:cNvSpPr txBox="1"/>
          <p:nvPr/>
        </p:nvSpPr>
        <p:spPr>
          <a:xfrm>
            <a:off x="1920240" y="2121408"/>
            <a:ext cx="4023360" cy="658368"/>
          </a:xfrm>
          <a:prstGeom prst="rect">
            <a:avLst/>
          </a:prstGeom>
          <a:noFill/>
          <a:ln/>
        </p:spPr>
        <p:txBody>
          <a:bodyPr wrap="square" lIns="0" tIns="0" rIns="0" bIns="0" rtlCol="0" anchor="ctr"/>
          <a:lstStyle/>
          <a:p>
            <a:pPr indent="0" marL="0">
              <a:buNone/>
            </a:pPr>
            <a:r>
              <a:rPr lang="en-US" sz="1500" b="1" dirty="0">
                <a:solidFill>
                  <a:schemeClr val="tx2"/>
                </a:solidFill>
              </a:rPr>
              <a:t>El mensaje para Luis</a:t>
            </a:r>
            <a:endParaRPr lang="en-US" sz="1500" dirty="0"/>
          </a:p>
        </p:txBody>
      </p:sp>
      <p:sp>
        <p:nvSpPr>
          <p:cNvPr id="14" name="Shape 10"/>
          <p:cNvSpPr/>
          <p:nvPr/>
        </p:nvSpPr>
        <p:spPr>
          <a:xfrm>
            <a:off x="457200" y="2962656"/>
            <a:ext cx="5577840" cy="658368"/>
          </a:xfrm>
          <a:prstGeom prst="roundRect">
            <a:avLst>
              <a:gd name="adj" fmla="val 11111"/>
            </a:avLst>
          </a:prstGeom>
          <a:solidFill>
            <a:schemeClr val="bg2"/>
          </a:solidFill>
          <a:ln w="12700">
            <a:solidFill>
              <a:schemeClr val="bg2"/>
            </a:solidFill>
            <a:prstDash val="solid"/>
          </a:ln>
        </p:spPr>
      </p:sp>
      <p:sp>
        <p:nvSpPr>
          <p:cNvPr id="15" name="Shape 11"/>
          <p:cNvSpPr/>
          <p:nvPr/>
        </p:nvSpPr>
        <p:spPr>
          <a:xfrm>
            <a:off x="566928" y="3081528"/>
            <a:ext cx="420624" cy="420624"/>
          </a:xfrm>
          <a:prstGeom prst="ellipse">
            <a:avLst/>
          </a:prstGeom>
          <a:solidFill>
            <a:schemeClr val="accent1"/>
          </a:solidFill>
          <a:ln w="12700">
            <a:solidFill>
              <a:schemeClr val="accent1"/>
            </a:solidFill>
            <a:prstDash val="solid"/>
          </a:ln>
        </p:spPr>
      </p:sp>
      <p:pic>
        <p:nvPicPr>
          <p:cNvPr id="16" name="Image 2" descr="preencoded.png">    </p:cNvPr>
          <p:cNvPicPr>
            <a:picLocks noChangeAspect="1"/>
          </p:cNvPicPr>
          <p:nvPr/>
        </p:nvPicPr>
        <p:blipFill>
          <a:blip r:embed="rId3"/>
          <a:stretch>
            <a:fillRect/>
          </a:stretch>
        </p:blipFill>
        <p:spPr>
          <a:xfrm>
            <a:off x="672084" y="3186684"/>
            <a:ext cx="210312" cy="210312"/>
          </a:xfrm>
          <a:prstGeom prst="rect">
            <a:avLst/>
          </a:prstGeom>
        </p:spPr>
      </p:pic>
      <p:sp>
        <p:nvSpPr>
          <p:cNvPr id="17" name="Text 12"/>
          <p:cNvSpPr txBox="1"/>
          <p:nvPr/>
        </p:nvSpPr>
        <p:spPr>
          <a:xfrm>
            <a:off x="1143000" y="2962656"/>
            <a:ext cx="822960" cy="658368"/>
          </a:xfrm>
          <a:prstGeom prst="rect">
            <a:avLst/>
          </a:prstGeom>
          <a:noFill/>
          <a:ln/>
        </p:spPr>
        <p:txBody>
          <a:bodyPr wrap="square" lIns="0" tIns="0" rIns="0" bIns="0" rtlCol="0" anchor="ctr"/>
          <a:lstStyle/>
          <a:p>
            <a:pPr indent="0" marL="0">
              <a:buNone/>
            </a:pPr>
            <a:r>
              <a:rPr lang="en-US" sz="1200" b="1" dirty="0">
                <a:solidFill>
                  <a:schemeClr val="accent1"/>
                </a:solidFill>
              </a:rPr>
              <a:t>Caso 3</a:t>
            </a:r>
            <a:endParaRPr lang="en-US" sz="1200" dirty="0"/>
          </a:p>
        </p:txBody>
      </p:sp>
      <p:sp>
        <p:nvSpPr>
          <p:cNvPr id="18" name="Text 13"/>
          <p:cNvSpPr txBox="1"/>
          <p:nvPr/>
        </p:nvSpPr>
        <p:spPr>
          <a:xfrm>
            <a:off x="1920240" y="2962656"/>
            <a:ext cx="4023360" cy="658368"/>
          </a:xfrm>
          <a:prstGeom prst="rect">
            <a:avLst/>
          </a:prstGeom>
          <a:noFill/>
          <a:ln/>
        </p:spPr>
        <p:txBody>
          <a:bodyPr wrap="square" lIns="0" tIns="0" rIns="0" bIns="0" rtlCol="0" anchor="ctr"/>
          <a:lstStyle/>
          <a:p>
            <a:pPr indent="0" marL="0">
              <a:buNone/>
            </a:pPr>
            <a:r>
              <a:rPr lang="en-US" sz="1500" b="1" dirty="0">
                <a:solidFill>
                  <a:schemeClr val="tx2"/>
                </a:solidFill>
              </a:rPr>
              <a:t>¿Es el mismo archivo?</a:t>
            </a:r>
            <a:endParaRPr lang="en-US" sz="1500" dirty="0"/>
          </a:p>
        </p:txBody>
      </p:sp>
      <p:sp>
        <p:nvSpPr>
          <p:cNvPr id="19" name="Shape 14"/>
          <p:cNvSpPr/>
          <p:nvPr/>
        </p:nvSpPr>
        <p:spPr>
          <a:xfrm>
            <a:off x="457200" y="3803904"/>
            <a:ext cx="5577840" cy="658368"/>
          </a:xfrm>
          <a:prstGeom prst="roundRect">
            <a:avLst>
              <a:gd name="adj" fmla="val 11111"/>
            </a:avLst>
          </a:prstGeom>
          <a:solidFill>
            <a:schemeClr val="bg2"/>
          </a:solidFill>
          <a:ln w="12700">
            <a:solidFill>
              <a:schemeClr val="bg2"/>
            </a:solidFill>
            <a:prstDash val="solid"/>
          </a:ln>
        </p:spPr>
      </p:sp>
      <p:sp>
        <p:nvSpPr>
          <p:cNvPr id="20" name="Shape 15"/>
          <p:cNvSpPr/>
          <p:nvPr/>
        </p:nvSpPr>
        <p:spPr>
          <a:xfrm>
            <a:off x="566928" y="3922776"/>
            <a:ext cx="420624" cy="420624"/>
          </a:xfrm>
          <a:prstGeom prst="ellipse">
            <a:avLst/>
          </a:prstGeom>
          <a:solidFill>
            <a:schemeClr val="accent1"/>
          </a:solidFill>
          <a:ln w="12700">
            <a:solidFill>
              <a:schemeClr val="accent1"/>
            </a:solidFill>
            <a:prstDash val="solid"/>
          </a:ln>
        </p:spPr>
      </p:sp>
      <p:pic>
        <p:nvPicPr>
          <p:cNvPr id="21" name="Image 3" descr="preencoded.png">    </p:cNvPr>
          <p:cNvPicPr>
            <a:picLocks noChangeAspect="1"/>
          </p:cNvPicPr>
          <p:nvPr/>
        </p:nvPicPr>
        <p:blipFill>
          <a:blip r:embed="rId4"/>
          <a:stretch>
            <a:fillRect/>
          </a:stretch>
        </p:blipFill>
        <p:spPr>
          <a:xfrm>
            <a:off x="672084" y="4027932"/>
            <a:ext cx="210312" cy="210312"/>
          </a:xfrm>
          <a:prstGeom prst="rect">
            <a:avLst/>
          </a:prstGeom>
        </p:spPr>
      </p:pic>
      <p:sp>
        <p:nvSpPr>
          <p:cNvPr id="22" name="Text 16"/>
          <p:cNvSpPr txBox="1"/>
          <p:nvPr/>
        </p:nvSpPr>
        <p:spPr>
          <a:xfrm>
            <a:off x="1143000" y="3803904"/>
            <a:ext cx="822960" cy="658368"/>
          </a:xfrm>
          <a:prstGeom prst="rect">
            <a:avLst/>
          </a:prstGeom>
          <a:noFill/>
          <a:ln/>
        </p:spPr>
        <p:txBody>
          <a:bodyPr wrap="square" lIns="0" tIns="0" rIns="0" bIns="0" rtlCol="0" anchor="ctr"/>
          <a:lstStyle/>
          <a:p>
            <a:pPr indent="0" marL="0">
              <a:buNone/>
            </a:pPr>
            <a:r>
              <a:rPr lang="en-US" sz="1200" b="1" dirty="0">
                <a:solidFill>
                  <a:schemeClr val="accent1"/>
                </a:solidFill>
              </a:rPr>
              <a:t>Caso 4</a:t>
            </a:r>
            <a:endParaRPr lang="en-US" sz="1200" dirty="0"/>
          </a:p>
        </p:txBody>
      </p:sp>
      <p:sp>
        <p:nvSpPr>
          <p:cNvPr id="23" name="Text 17"/>
          <p:cNvSpPr txBox="1"/>
          <p:nvPr/>
        </p:nvSpPr>
        <p:spPr>
          <a:xfrm>
            <a:off x="1920240" y="3803904"/>
            <a:ext cx="4023360" cy="658368"/>
          </a:xfrm>
          <a:prstGeom prst="rect">
            <a:avLst/>
          </a:prstGeom>
          <a:noFill/>
          <a:ln/>
        </p:spPr>
        <p:txBody>
          <a:bodyPr wrap="square" lIns="0" tIns="0" rIns="0" bIns="0" rtlCol="0" anchor="ctr"/>
          <a:lstStyle/>
          <a:p>
            <a:pPr indent="0" marL="0">
              <a:buNone/>
            </a:pPr>
            <a:r>
              <a:rPr lang="en-US" sz="1500" b="1" dirty="0">
                <a:solidFill>
                  <a:schemeClr val="tx2"/>
                </a:solidFill>
              </a:rPr>
              <a:t>La alarma de las 3 de la madrugada</a:t>
            </a:r>
            <a:endParaRPr lang="en-US" sz="1500" dirty="0"/>
          </a:p>
        </p:txBody>
      </p:sp>
      <p:sp>
        <p:nvSpPr>
          <p:cNvPr id="24" name="Shape 18"/>
          <p:cNvSpPr/>
          <p:nvPr/>
        </p:nvSpPr>
        <p:spPr>
          <a:xfrm>
            <a:off x="6309360" y="1280160"/>
            <a:ext cx="2377440" cy="3246120"/>
          </a:xfrm>
          <a:prstGeom prst="roundRect">
            <a:avLst>
              <a:gd name="adj" fmla="val 3077"/>
            </a:avLst>
          </a:prstGeom>
          <a:solidFill>
            <a:schemeClr val="tx2"/>
          </a:solidFill>
          <a:ln w="12700">
            <a:solidFill>
              <a:schemeClr val="tx2"/>
            </a:solidFill>
            <a:prstDash val="solid"/>
          </a:ln>
        </p:spPr>
      </p:sp>
      <p:sp>
        <p:nvSpPr>
          <p:cNvPr id="25" name="Text 19"/>
          <p:cNvSpPr txBox="1"/>
          <p:nvPr/>
        </p:nvSpPr>
        <p:spPr>
          <a:xfrm>
            <a:off x="6492240" y="1463040"/>
            <a:ext cx="2011680" cy="320040"/>
          </a:xfrm>
          <a:prstGeom prst="rect">
            <a:avLst/>
          </a:prstGeom>
          <a:noFill/>
          <a:ln/>
        </p:spPr>
        <p:txBody>
          <a:bodyPr wrap="square" lIns="0" tIns="0" rIns="0" bIns="0" rtlCol="0" anchor="t"/>
          <a:lstStyle/>
          <a:p>
            <a:pPr indent="0" marL="0">
              <a:buNone/>
            </a:pPr>
            <a:r>
              <a:rPr lang="en-US" sz="1500" b="1" dirty="0">
                <a:solidFill>
                  <a:schemeClr val="accent2"/>
                </a:solidFill>
              </a:rPr>
              <a:t>En cada caso</a:t>
            </a:r>
            <a:endParaRPr lang="en-US" sz="1500" dirty="0"/>
          </a:p>
        </p:txBody>
      </p:sp>
      <p:sp>
        <p:nvSpPr>
          <p:cNvPr id="26" name="Shape 20"/>
          <p:cNvSpPr/>
          <p:nvPr/>
        </p:nvSpPr>
        <p:spPr>
          <a:xfrm>
            <a:off x="6492240" y="1920240"/>
            <a:ext cx="457200" cy="457200"/>
          </a:xfrm>
          <a:prstGeom prst="ellipse">
            <a:avLst/>
          </a:prstGeom>
          <a:solidFill>
            <a:schemeClr val="accent1"/>
          </a:solidFill>
          <a:ln w="12700">
            <a:solidFill>
              <a:schemeClr val="accent1"/>
            </a:solidFill>
            <a:prstDash val="solid"/>
          </a:ln>
        </p:spPr>
      </p:sp>
      <p:pic>
        <p:nvPicPr>
          <p:cNvPr id="27" name="Image 4" descr="preencoded.png">    </p:cNvPr>
          <p:cNvPicPr>
            <a:picLocks noChangeAspect="1"/>
          </p:cNvPicPr>
          <p:nvPr/>
        </p:nvPicPr>
        <p:blipFill>
          <a:blip r:embed="rId5"/>
          <a:stretch>
            <a:fillRect/>
          </a:stretch>
        </p:blipFill>
        <p:spPr>
          <a:xfrm>
            <a:off x="6606540" y="2034540"/>
            <a:ext cx="228600" cy="228600"/>
          </a:xfrm>
          <a:prstGeom prst="rect">
            <a:avLst/>
          </a:prstGeom>
        </p:spPr>
      </p:pic>
      <p:sp>
        <p:nvSpPr>
          <p:cNvPr id="28" name="Text 21"/>
          <p:cNvSpPr txBox="1"/>
          <p:nvPr/>
        </p:nvSpPr>
        <p:spPr>
          <a:xfrm>
            <a:off x="7059168" y="1920240"/>
            <a:ext cx="1508760" cy="457200"/>
          </a:xfrm>
          <a:prstGeom prst="rect">
            <a:avLst/>
          </a:prstGeom>
          <a:noFill/>
          <a:ln/>
        </p:spPr>
        <p:txBody>
          <a:bodyPr wrap="square" lIns="0" tIns="0" rIns="0" bIns="0" rtlCol="0" anchor="ctr"/>
          <a:lstStyle/>
          <a:p>
            <a:pPr indent="0" marL="0">
              <a:buNone/>
            </a:pPr>
            <a:r>
              <a:rPr lang="en-US" sz="1400" dirty="0">
                <a:solidFill>
                  <a:schemeClr val="bg1"/>
                </a:solidFill>
              </a:rPr>
              <a:t>Leemos la situación</a:t>
            </a:r>
            <a:endParaRPr lang="en-US" sz="1400" dirty="0"/>
          </a:p>
        </p:txBody>
      </p:sp>
      <p:sp>
        <p:nvSpPr>
          <p:cNvPr id="29" name="Shape 22"/>
          <p:cNvSpPr/>
          <p:nvPr/>
        </p:nvSpPr>
        <p:spPr>
          <a:xfrm>
            <a:off x="6492240" y="2743200"/>
            <a:ext cx="457200" cy="457200"/>
          </a:xfrm>
          <a:prstGeom prst="ellipse">
            <a:avLst/>
          </a:prstGeom>
          <a:solidFill>
            <a:schemeClr val="accent1"/>
          </a:solidFill>
          <a:ln w="12700">
            <a:solidFill>
              <a:schemeClr val="accent1"/>
            </a:solidFill>
            <a:prstDash val="solid"/>
          </a:ln>
        </p:spPr>
      </p:sp>
      <p:pic>
        <p:nvPicPr>
          <p:cNvPr id="30" name="Image 5" descr="preencoded.png">    </p:cNvPr>
          <p:cNvPicPr>
            <a:picLocks noChangeAspect="1"/>
          </p:cNvPicPr>
          <p:nvPr/>
        </p:nvPicPr>
        <p:blipFill>
          <a:blip r:embed="rId6"/>
          <a:stretch>
            <a:fillRect/>
          </a:stretch>
        </p:blipFill>
        <p:spPr>
          <a:xfrm>
            <a:off x="6606540" y="2857500"/>
            <a:ext cx="228600" cy="228600"/>
          </a:xfrm>
          <a:prstGeom prst="rect">
            <a:avLst/>
          </a:prstGeom>
        </p:spPr>
      </p:pic>
      <p:sp>
        <p:nvSpPr>
          <p:cNvPr id="31" name="Text 23"/>
          <p:cNvSpPr txBox="1"/>
          <p:nvPr/>
        </p:nvSpPr>
        <p:spPr>
          <a:xfrm>
            <a:off x="7059168" y="2743200"/>
            <a:ext cx="1508760" cy="457200"/>
          </a:xfrm>
          <a:prstGeom prst="rect">
            <a:avLst/>
          </a:prstGeom>
          <a:noFill/>
          <a:ln/>
        </p:spPr>
        <p:txBody>
          <a:bodyPr wrap="square" lIns="0" tIns="0" rIns="0" bIns="0" rtlCol="0" anchor="ctr"/>
          <a:lstStyle/>
          <a:p>
            <a:pPr indent="0" marL="0">
              <a:buNone/>
            </a:pPr>
            <a:r>
              <a:rPr lang="en-US" sz="1400" dirty="0">
                <a:solidFill>
                  <a:schemeClr val="bg1"/>
                </a:solidFill>
              </a:rPr>
              <a:t>Vemos cómo funciona</a:t>
            </a:r>
            <a:endParaRPr lang="en-US" sz="1400" dirty="0"/>
          </a:p>
        </p:txBody>
      </p:sp>
      <p:sp>
        <p:nvSpPr>
          <p:cNvPr id="32" name="Shape 24"/>
          <p:cNvSpPr/>
          <p:nvPr/>
        </p:nvSpPr>
        <p:spPr>
          <a:xfrm>
            <a:off x="6492240" y="3566160"/>
            <a:ext cx="457200" cy="457200"/>
          </a:xfrm>
          <a:prstGeom prst="ellipse">
            <a:avLst/>
          </a:prstGeom>
          <a:solidFill>
            <a:schemeClr val="accent1"/>
          </a:solidFill>
          <a:ln w="12700">
            <a:solidFill>
              <a:schemeClr val="accent1"/>
            </a:solidFill>
            <a:prstDash val="solid"/>
          </a:ln>
        </p:spPr>
      </p:sp>
      <p:pic>
        <p:nvPicPr>
          <p:cNvPr id="33" name="Image 6" descr="preencoded.png">    </p:cNvPr>
          <p:cNvPicPr>
            <a:picLocks noChangeAspect="1"/>
          </p:cNvPicPr>
          <p:nvPr/>
        </p:nvPicPr>
        <p:blipFill>
          <a:blip r:embed="rId7"/>
          <a:stretch>
            <a:fillRect/>
          </a:stretch>
        </p:blipFill>
        <p:spPr>
          <a:xfrm>
            <a:off x="6606540" y="3680460"/>
            <a:ext cx="228600" cy="228600"/>
          </a:xfrm>
          <a:prstGeom prst="rect">
            <a:avLst/>
          </a:prstGeom>
        </p:spPr>
      </p:pic>
      <p:sp>
        <p:nvSpPr>
          <p:cNvPr id="34" name="Text 25"/>
          <p:cNvSpPr txBox="1"/>
          <p:nvPr/>
        </p:nvSpPr>
        <p:spPr>
          <a:xfrm>
            <a:off x="7059168" y="3566160"/>
            <a:ext cx="1508760" cy="457200"/>
          </a:xfrm>
          <a:prstGeom prst="rect">
            <a:avLst/>
          </a:prstGeom>
          <a:noFill/>
          <a:ln/>
        </p:spPr>
        <p:txBody>
          <a:bodyPr wrap="square" lIns="0" tIns="0" rIns="0" bIns="0" rtlCol="0" anchor="ctr"/>
          <a:lstStyle/>
          <a:p>
            <a:pPr indent="0" marL="0">
              <a:buNone/>
            </a:pPr>
            <a:r>
              <a:rPr lang="en-US" sz="1400" dirty="0">
                <a:solidFill>
                  <a:schemeClr val="bg1"/>
                </a:solidFill>
              </a:rPr>
              <a:t>Sacamos los conceptos</a:t>
            </a:r>
            <a:endParaRPr lang="en-US" sz="1400" dirty="0"/>
          </a:p>
        </p:txBody>
      </p:sp>
      <p:sp>
        <p:nvSpPr>
          <p:cNvPr id="25" name="Slide Number Placeholder 0"/>
          <p:cNvSpPr>
            <a:spLocks noGrp="1"/>
          </p:cNvSpPr>
          <p:nvPr>
            <p:ph type="sldNum" sz="quarter" idx="4294967295"/>
          </p:nvPr>
        </p:nvSpPr>
        <p:spPr>
          <a:xfrm>
            <a:off x="8138160" y="4791456"/>
            <a:ext cx="548640" cy="237744"/>
          </a:xfrm>
          <a:prstGeom prst="rect">
            <a:avLst/>
          </a:prstGeom>
          <a:extLst>
            <a:ext uri="{C572A759-6A51-4108-AA02-DFA0A04FC94B}">
              <ma14:wrappingTextBoxFlag xmlns:ma14="http://schemas.microsoft.com/office/mac/drawingml/2011/main" val="0"/>
            </a:ext>
          </a:extLst>
        </p:spPr>
        <p:txBody>
          <a:bodyPr anchor="ctr"/>
          <a:lstStyle>
            <a:lvl1pPr>
              <a:defRPr sz="9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182880"/>
            <a:ext cx="8229600" cy="237744"/>
          </a:xfrm>
          <a:prstGeom prst="rect">
            <a:avLst/>
          </a:prstGeom>
          <a:noFill/>
          <a:ln/>
        </p:spPr>
        <p:txBody>
          <a:bodyPr wrap="square" lIns="0" tIns="0" rIns="0" bIns="0" rtlCol="0" anchor="t"/>
          <a:lstStyle/>
          <a:p>
            <a:pPr indent="0" marL="0">
              <a:buNone/>
            </a:pPr>
            <a:r>
              <a:rPr lang="en-US" sz="1100" b="1" spc="150" kern="0" dirty="0">
                <a:solidFill>
                  <a:schemeClr val="accent2"/>
                </a:solidFill>
              </a:rPr>
              <a:t>CASO 1 DE 4</a:t>
            </a:r>
            <a:endParaRPr lang="en-US" sz="1100" dirty="0"/>
          </a:p>
        </p:txBody>
      </p:sp>
      <p:sp>
        <p:nvSpPr>
          <p:cNvPr id="3" name="Text 0"/>
          <p:cNvSpPr/>
          <p:nvPr>
            <p:ph idx="100" type="title" hasCustomPrompt="1"/>
          </p:nvPr>
        </p:nvSpPr>
        <p:spPr>
          <a:xfrm>
            <a:off x="457200" y="502920"/>
            <a:ext cx="8229600" cy="685800"/>
          </a:xfrm>
          <a:prstGeom prst="rect">
            <a:avLst/>
          </a:prstGeom>
          <a:noFill/>
          <a:ln/>
        </p:spPr>
        <p:txBody>
          <a:bodyPr wrap="square" lIns="0" tIns="0" rIns="0" bIns="0" rtlCol="0" anchor="t"/>
          <a:lstStyle/>
          <a:p>
            <a:pPr algn="l" indent="0" marL="0">
              <a:buNone/>
            </a:pPr>
            <a:r>
              <a:rPr lang="en-US" sz="3000" b="1" dirty="0">
                <a:solidFill>
                  <a:schemeClr val="bg1"/>
                </a:solidFill>
              </a:rPr>
              <a:t>Las notas a la vista de todos</a:t>
            </a:r>
            <a:endParaRPr lang="en-US" sz="3000" dirty="0"/>
          </a:p>
        </p:txBody>
      </p:sp>
      <p:sp>
        <p:nvSpPr>
          <p:cNvPr id="4" name="Shape 2"/>
          <p:cNvSpPr/>
          <p:nvPr/>
        </p:nvSpPr>
        <p:spPr>
          <a:xfrm>
            <a:off x="457200" y="1371600"/>
            <a:ext cx="5760720" cy="2057400"/>
          </a:xfrm>
          <a:prstGeom prst="roundRect">
            <a:avLst>
              <a:gd name="adj" fmla="val 3556"/>
            </a:avLst>
          </a:prstGeom>
          <a:solidFill>
            <a:schemeClr val="bg1">
              <a:alpha val="10000"/>
            </a:schemeClr>
          </a:solidFill>
          <a:ln w="12700">
            <a:solidFill>
              <a:schemeClr val="bg1"/>
            </a:solidFill>
            <a:prstDash val="solid"/>
          </a:ln>
        </p:spPr>
      </p:sp>
      <p:sp>
        <p:nvSpPr>
          <p:cNvPr id="5" name="Text 3"/>
          <p:cNvSpPr txBox="1"/>
          <p:nvPr/>
        </p:nvSpPr>
        <p:spPr>
          <a:xfrm>
            <a:off x="685800" y="1554480"/>
            <a:ext cx="5349240" cy="1737360"/>
          </a:xfrm>
          <a:prstGeom prst="rect">
            <a:avLst/>
          </a:prstGeom>
          <a:noFill/>
          <a:ln/>
        </p:spPr>
        <p:txBody>
          <a:bodyPr wrap="square" lIns="0" tIns="0" rIns="0" bIns="0" rtlCol="0" anchor="ctr"/>
          <a:lstStyle/>
          <a:p>
            <a:pPr indent="0" marL="0">
              <a:buNone/>
            </a:pPr>
            <a:r>
              <a:rPr lang="en-US" sz="1800" dirty="0">
                <a:solidFill>
                  <a:schemeClr val="bg1"/>
                </a:solidFill>
              </a:rPr>
              <a:t>Una docente compartió en Drive la carpeta con las notas de 10° usando «Cualquier persona con el enlace». El enlace terminó en un grupo de WhatsApp de estudiantes.</a:t>
            </a:r>
            <a:endParaRPr lang="en-US" sz="1800" dirty="0"/>
          </a:p>
        </p:txBody>
      </p:sp>
      <p:sp>
        <p:nvSpPr>
          <p:cNvPr id="6" name="Shape 4"/>
          <p:cNvSpPr/>
          <p:nvPr/>
        </p:nvSpPr>
        <p:spPr>
          <a:xfrm>
            <a:off x="6583680" y="1325880"/>
            <a:ext cx="2011680" cy="2011680"/>
          </a:xfrm>
          <a:prstGeom prst="ellipse">
            <a:avLst/>
          </a:prstGeom>
          <a:solidFill>
            <a:schemeClr val="accent1"/>
          </a:solidFill>
          <a:ln w="12700">
            <a:solidFill>
              <a:schemeClr val="accent1"/>
            </a:solidFill>
            <a:prstDash val="solid"/>
          </a:ln>
        </p:spPr>
      </p:sp>
      <p:pic>
        <p:nvPicPr>
          <p:cNvPr id="7" name="Image 0" descr="preencoded.png">    </p:cNvPr>
          <p:cNvPicPr>
            <a:picLocks noChangeAspect="1"/>
          </p:cNvPicPr>
          <p:nvPr/>
        </p:nvPicPr>
        <p:blipFill>
          <a:blip r:embed="rId1"/>
          <a:stretch>
            <a:fillRect/>
          </a:stretch>
        </p:blipFill>
        <p:spPr>
          <a:xfrm>
            <a:off x="7086600" y="1828800"/>
            <a:ext cx="1005840" cy="1005840"/>
          </a:xfrm>
          <a:prstGeom prst="rect">
            <a:avLst/>
          </a:prstGeom>
        </p:spPr>
      </p:pic>
      <p:sp>
        <p:nvSpPr>
          <p:cNvPr id="8" name="Shape 5"/>
          <p:cNvSpPr/>
          <p:nvPr/>
        </p:nvSpPr>
        <p:spPr>
          <a:xfrm>
            <a:off x="457200" y="3639312"/>
            <a:ext cx="8229600" cy="932688"/>
          </a:xfrm>
          <a:prstGeom prst="roundRect">
            <a:avLst>
              <a:gd name="adj" fmla="val 7843"/>
            </a:avLst>
          </a:prstGeom>
          <a:solidFill>
            <a:schemeClr val="accent2"/>
          </a:solidFill>
          <a:ln w="12700">
            <a:solidFill>
              <a:schemeClr val="accent2"/>
            </a:solidFill>
            <a:prstDash val="solid"/>
          </a:ln>
        </p:spPr>
      </p:sp>
      <p:pic>
        <p:nvPicPr>
          <p:cNvPr id="9" name="Image 1" descr="preencoded.png">    </p:cNvPr>
          <p:cNvPicPr>
            <a:picLocks noChangeAspect="1"/>
          </p:cNvPicPr>
          <p:nvPr/>
        </p:nvPicPr>
        <p:blipFill>
          <a:blip r:embed="rId2"/>
          <a:stretch>
            <a:fillRect/>
          </a:stretch>
        </p:blipFill>
        <p:spPr>
          <a:xfrm>
            <a:off x="658368" y="3877056"/>
            <a:ext cx="457200" cy="457200"/>
          </a:xfrm>
          <a:prstGeom prst="rect">
            <a:avLst/>
          </a:prstGeom>
        </p:spPr>
      </p:pic>
      <p:sp>
        <p:nvSpPr>
          <p:cNvPr id="10" name="Text 6"/>
          <p:cNvSpPr txBox="1"/>
          <p:nvPr/>
        </p:nvSpPr>
        <p:spPr>
          <a:xfrm>
            <a:off x="1280160" y="3712464"/>
            <a:ext cx="7223760" cy="274320"/>
          </a:xfrm>
          <a:prstGeom prst="rect">
            <a:avLst/>
          </a:prstGeom>
          <a:noFill/>
          <a:ln/>
        </p:spPr>
        <p:txBody>
          <a:bodyPr wrap="square" lIns="0" tIns="0" rIns="0" bIns="0" rtlCol="0" anchor="t"/>
          <a:lstStyle/>
          <a:p>
            <a:pPr indent="0" marL="0">
              <a:buNone/>
            </a:pPr>
            <a:r>
              <a:rPr lang="en-US" sz="1200" b="1" dirty="0">
                <a:solidFill>
                  <a:schemeClr val="tx2"/>
                </a:solidFill>
              </a:rPr>
              <a:t>¿Qué harían ustedes?</a:t>
            </a:r>
            <a:endParaRPr lang="en-US" sz="1200" dirty="0"/>
          </a:p>
        </p:txBody>
      </p:sp>
      <p:sp>
        <p:nvSpPr>
          <p:cNvPr id="11" name="Text 7"/>
          <p:cNvSpPr txBox="1"/>
          <p:nvPr/>
        </p:nvSpPr>
        <p:spPr>
          <a:xfrm>
            <a:off x="1280160" y="3986784"/>
            <a:ext cx="7223760" cy="530352"/>
          </a:xfrm>
          <a:prstGeom prst="rect">
            <a:avLst/>
          </a:prstGeom>
          <a:noFill/>
          <a:ln/>
        </p:spPr>
        <p:txBody>
          <a:bodyPr wrap="square" lIns="0" tIns="0" rIns="0" bIns="0" rtlCol="0" anchor="t"/>
          <a:lstStyle/>
          <a:p>
            <a:pPr indent="0" marL="0">
              <a:buNone/>
            </a:pPr>
            <a:r>
              <a:rPr lang="en-US" sz="1600" b="1" dirty="0">
                <a:solidFill>
                  <a:schemeClr val="tx2"/>
                </a:solidFill>
              </a:rPr>
              <a:t>¿La culpa es de Google o de la docente? ¿Por qué?</a:t>
            </a:r>
            <a:endParaRPr lang="en-US" sz="1600" dirty="0"/>
          </a:p>
        </p:txBody>
      </p:sp>
      <p:sp>
        <p:nvSpPr>
          <p:cNvPr id="25" name="Slide Number Placeholder 0"/>
          <p:cNvSpPr>
            <a:spLocks noGrp="1"/>
          </p:cNvSpPr>
          <p:nvPr>
            <p:ph type="sldNum" sz="quarter" idx="4294967295"/>
          </p:nvPr>
        </p:nvSpPr>
        <p:spPr>
          <a:xfrm>
            <a:off x="8138160" y="4791456"/>
            <a:ext cx="548640" cy="237744"/>
          </a:xfrm>
          <a:prstGeom prst="rect">
            <a:avLst/>
          </a:prstGeom>
          <a:extLst>
            <a:ext uri="{C572A759-6A51-4108-AA02-DFA0A04FC94B}">
              <ma14:wrappingTextBoxFlag xmlns:ma14="http://schemas.microsoft.com/office/mac/drawingml/2011/main" val="0"/>
            </a:ext>
          </a:extLst>
        </p:spPr>
        <p:txBody>
          <a:bodyPr anchor="ctr"/>
          <a:lstStyle>
            <a:lvl1pPr>
              <a:defRPr sz="900">
                <a:solidFill>
                  <a:schemeClr val="bg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182880"/>
            <a:ext cx="8229600" cy="237744"/>
          </a:xfrm>
          <a:prstGeom prst="rect">
            <a:avLst/>
          </a:prstGeom>
          <a:noFill/>
          <a:ln/>
        </p:spPr>
        <p:txBody>
          <a:bodyPr wrap="square" lIns="0" tIns="0" rIns="0" bIns="0" rtlCol="0" anchor="t"/>
          <a:lstStyle/>
          <a:p>
            <a:pPr indent="0" marL="0">
              <a:buNone/>
            </a:pPr>
            <a:r>
              <a:rPr lang="en-US" sz="1100" b="1" spc="150" kern="0" dirty="0">
                <a:solidFill>
                  <a:schemeClr val="accent1"/>
                </a:solidFill>
              </a:rPr>
              <a:t>CASO 1 · ASÍ FUNCIONA</a:t>
            </a:r>
            <a:endParaRPr lang="en-US" sz="1100" dirty="0"/>
          </a:p>
        </p:txBody>
      </p:sp>
      <p:sp>
        <p:nvSpPr>
          <p:cNvPr id="3" name="Text 0"/>
          <p:cNvSpPr/>
          <p:nvPr>
            <p:ph idx="100" type="title" hasCustomPrompt="1"/>
          </p:nvPr>
        </p:nvSpPr>
        <p:spPr>
          <a:xfrm>
            <a:off x="457200" y="420624"/>
            <a:ext cx="8229600" cy="640080"/>
          </a:xfrm>
          <a:prstGeom prst="rect">
            <a:avLst/>
          </a:prstGeom>
          <a:noFill/>
          <a:ln/>
        </p:spPr>
        <p:txBody>
          <a:bodyPr wrap="square" lIns="0" tIns="0" rIns="0" bIns="0" rtlCol="0" anchor="t"/>
          <a:lstStyle/>
          <a:p>
            <a:pPr algn="l" indent="0" marL="0">
              <a:buNone/>
            </a:pPr>
            <a:r>
              <a:rPr lang="en-US" sz="2600" b="1" dirty="0">
                <a:solidFill>
                  <a:schemeClr val="tx2"/>
                </a:solidFill>
              </a:rPr>
              <a:t>Responsabilidad compartida</a:t>
            </a:r>
            <a:endParaRPr lang="en-US" sz="2600" dirty="0"/>
          </a:p>
        </p:txBody>
      </p:sp>
      <p:sp>
        <p:nvSpPr>
          <p:cNvPr id="4" name="Shape 2"/>
          <p:cNvSpPr/>
          <p:nvPr/>
        </p:nvSpPr>
        <p:spPr>
          <a:xfrm>
            <a:off x="457200" y="1325880"/>
            <a:ext cx="3886200" cy="3154680"/>
          </a:xfrm>
          <a:prstGeom prst="roundRect">
            <a:avLst>
              <a:gd name="adj" fmla="val 2319"/>
            </a:avLst>
          </a:prstGeom>
          <a:solidFill>
            <a:schemeClr val="bg2"/>
          </a:solidFill>
          <a:ln w="12700">
            <a:solidFill>
              <a:schemeClr val="bg2"/>
            </a:solidFill>
            <a:prstDash val="solid"/>
          </a:ln>
        </p:spPr>
      </p:sp>
      <p:sp>
        <p:nvSpPr>
          <p:cNvPr id="5" name="Shape 3"/>
          <p:cNvSpPr/>
          <p:nvPr/>
        </p:nvSpPr>
        <p:spPr>
          <a:xfrm>
            <a:off x="457200" y="1325880"/>
            <a:ext cx="3886200" cy="566928"/>
          </a:xfrm>
          <a:prstGeom prst="roundRect">
            <a:avLst>
              <a:gd name="adj" fmla="val 12903"/>
            </a:avLst>
          </a:prstGeom>
          <a:solidFill>
            <a:schemeClr val="accent4"/>
          </a:solidFill>
          <a:ln w="12700">
            <a:solidFill>
              <a:schemeClr val="accent4"/>
            </a:solidFill>
            <a:prstDash val="solid"/>
          </a:ln>
        </p:spPr>
      </p:sp>
      <p:sp>
        <p:nvSpPr>
          <p:cNvPr id="6" name="Text 4"/>
          <p:cNvSpPr txBox="1"/>
          <p:nvPr/>
        </p:nvSpPr>
        <p:spPr>
          <a:xfrm>
            <a:off x="685800" y="1325880"/>
            <a:ext cx="3429000" cy="566928"/>
          </a:xfrm>
          <a:prstGeom prst="rect">
            <a:avLst/>
          </a:prstGeom>
          <a:noFill/>
          <a:ln/>
        </p:spPr>
        <p:txBody>
          <a:bodyPr wrap="square" lIns="0" tIns="0" rIns="0" bIns="0" rtlCol="0" anchor="ctr"/>
          <a:lstStyle/>
          <a:p>
            <a:pPr indent="0" marL="0">
              <a:buNone/>
            </a:pPr>
            <a:r>
              <a:rPr lang="en-US" sz="1700" b="1" dirty="0">
                <a:solidFill>
                  <a:schemeClr val="bg1"/>
                </a:solidFill>
              </a:rPr>
              <a:t>Proveedor (Google)</a:t>
            </a:r>
            <a:endParaRPr lang="en-US" sz="1700" dirty="0"/>
          </a:p>
        </p:txBody>
      </p:sp>
      <p:pic>
        <p:nvPicPr>
          <p:cNvPr id="7" name="Image 0" descr="preencoded.png">    </p:cNvPr>
          <p:cNvPicPr>
            <a:picLocks noChangeAspect="1"/>
          </p:cNvPicPr>
          <p:nvPr/>
        </p:nvPicPr>
        <p:blipFill>
          <a:blip r:embed="rId1"/>
          <a:stretch>
            <a:fillRect/>
          </a:stretch>
        </p:blipFill>
        <p:spPr>
          <a:xfrm>
            <a:off x="713232" y="2157984"/>
            <a:ext cx="292608" cy="292608"/>
          </a:xfrm>
          <a:prstGeom prst="rect">
            <a:avLst/>
          </a:prstGeom>
        </p:spPr>
      </p:pic>
      <p:sp>
        <p:nvSpPr>
          <p:cNvPr id="8" name="Text 5"/>
          <p:cNvSpPr txBox="1"/>
          <p:nvPr/>
        </p:nvSpPr>
        <p:spPr>
          <a:xfrm>
            <a:off x="1143000" y="2103120"/>
            <a:ext cx="2971800" cy="658368"/>
          </a:xfrm>
          <a:prstGeom prst="rect">
            <a:avLst/>
          </a:prstGeom>
          <a:noFill/>
          <a:ln/>
        </p:spPr>
        <p:txBody>
          <a:bodyPr wrap="square" lIns="0" tIns="0" rIns="0" bIns="0" rtlCol="0" anchor="t"/>
          <a:lstStyle/>
          <a:p>
            <a:pPr indent="0" marL="0">
              <a:buNone/>
            </a:pPr>
            <a:r>
              <a:rPr lang="en-US" sz="1500" dirty="0">
                <a:solidFill>
                  <a:schemeClr val="tx1"/>
                </a:solidFill>
              </a:rPr>
              <a:t>Centros de datos y hardware</a:t>
            </a:r>
            <a:endParaRPr lang="en-US" sz="1500" dirty="0"/>
          </a:p>
        </p:txBody>
      </p:sp>
      <p:pic>
        <p:nvPicPr>
          <p:cNvPr id="9" name="Image 1" descr="preencoded.png">    </p:cNvPr>
          <p:cNvPicPr>
            <a:picLocks noChangeAspect="1"/>
          </p:cNvPicPr>
          <p:nvPr/>
        </p:nvPicPr>
        <p:blipFill>
          <a:blip r:embed="rId2"/>
          <a:stretch>
            <a:fillRect/>
          </a:stretch>
        </p:blipFill>
        <p:spPr>
          <a:xfrm>
            <a:off x="713232" y="2907792"/>
            <a:ext cx="292608" cy="292608"/>
          </a:xfrm>
          <a:prstGeom prst="rect">
            <a:avLst/>
          </a:prstGeom>
        </p:spPr>
      </p:pic>
      <p:sp>
        <p:nvSpPr>
          <p:cNvPr id="10" name="Text 6"/>
          <p:cNvSpPr txBox="1"/>
          <p:nvPr/>
        </p:nvSpPr>
        <p:spPr>
          <a:xfrm>
            <a:off x="1143000" y="2852928"/>
            <a:ext cx="2971800" cy="658368"/>
          </a:xfrm>
          <a:prstGeom prst="rect">
            <a:avLst/>
          </a:prstGeom>
          <a:noFill/>
          <a:ln/>
        </p:spPr>
        <p:txBody>
          <a:bodyPr wrap="square" lIns="0" tIns="0" rIns="0" bIns="0" rtlCol="0" anchor="t"/>
          <a:lstStyle/>
          <a:p>
            <a:pPr indent="0" marL="0">
              <a:buNone/>
            </a:pPr>
            <a:r>
              <a:rPr lang="en-US" sz="1500" dirty="0">
                <a:solidFill>
                  <a:schemeClr val="tx1"/>
                </a:solidFill>
              </a:rPr>
              <a:t>Red y virtualización</a:t>
            </a:r>
            <a:endParaRPr lang="en-US" sz="1500" dirty="0"/>
          </a:p>
        </p:txBody>
      </p:sp>
      <p:pic>
        <p:nvPicPr>
          <p:cNvPr id="11" name="Image 2" descr="preencoded.png">    </p:cNvPr>
          <p:cNvPicPr>
            <a:picLocks noChangeAspect="1"/>
          </p:cNvPicPr>
          <p:nvPr/>
        </p:nvPicPr>
        <p:blipFill>
          <a:blip r:embed="rId3"/>
          <a:stretch>
            <a:fillRect/>
          </a:stretch>
        </p:blipFill>
        <p:spPr>
          <a:xfrm>
            <a:off x="713232" y="3657600"/>
            <a:ext cx="292608" cy="292608"/>
          </a:xfrm>
          <a:prstGeom prst="rect">
            <a:avLst/>
          </a:prstGeom>
        </p:spPr>
      </p:pic>
      <p:sp>
        <p:nvSpPr>
          <p:cNvPr id="12" name="Text 7"/>
          <p:cNvSpPr txBox="1"/>
          <p:nvPr/>
        </p:nvSpPr>
        <p:spPr>
          <a:xfrm>
            <a:off x="1143000" y="3602736"/>
            <a:ext cx="2971800" cy="658368"/>
          </a:xfrm>
          <a:prstGeom prst="rect">
            <a:avLst/>
          </a:prstGeom>
          <a:noFill/>
          <a:ln/>
        </p:spPr>
        <p:txBody>
          <a:bodyPr wrap="square" lIns="0" tIns="0" rIns="0" bIns="0" rtlCol="0" anchor="t"/>
          <a:lstStyle/>
          <a:p>
            <a:pPr indent="0" marL="0">
              <a:buNone/>
            </a:pPr>
            <a:r>
              <a:rPr lang="en-US" sz="1500" dirty="0">
                <a:solidFill>
                  <a:schemeClr val="tx1"/>
                </a:solidFill>
              </a:rPr>
              <a:t>Que el servicio funcione</a:t>
            </a:r>
            <a:endParaRPr lang="en-US" sz="1500" dirty="0"/>
          </a:p>
        </p:txBody>
      </p:sp>
      <p:sp>
        <p:nvSpPr>
          <p:cNvPr id="13" name="Shape 8"/>
          <p:cNvSpPr/>
          <p:nvPr/>
        </p:nvSpPr>
        <p:spPr>
          <a:xfrm>
            <a:off x="4800600" y="1325880"/>
            <a:ext cx="3886200" cy="3154680"/>
          </a:xfrm>
          <a:prstGeom prst="roundRect">
            <a:avLst>
              <a:gd name="adj" fmla="val 2319"/>
            </a:avLst>
          </a:prstGeom>
          <a:solidFill>
            <a:schemeClr val="bg2"/>
          </a:solidFill>
          <a:ln w="12700">
            <a:solidFill>
              <a:schemeClr val="bg2"/>
            </a:solidFill>
            <a:prstDash val="solid"/>
          </a:ln>
        </p:spPr>
      </p:sp>
      <p:sp>
        <p:nvSpPr>
          <p:cNvPr id="14" name="Shape 9"/>
          <p:cNvSpPr/>
          <p:nvPr/>
        </p:nvSpPr>
        <p:spPr>
          <a:xfrm>
            <a:off x="4800600" y="1325880"/>
            <a:ext cx="3886200" cy="566928"/>
          </a:xfrm>
          <a:prstGeom prst="roundRect">
            <a:avLst>
              <a:gd name="adj" fmla="val 12903"/>
            </a:avLst>
          </a:prstGeom>
          <a:solidFill>
            <a:schemeClr val="accent2"/>
          </a:solidFill>
          <a:ln w="12700">
            <a:solidFill>
              <a:schemeClr val="accent2"/>
            </a:solidFill>
            <a:prstDash val="solid"/>
          </a:ln>
        </p:spPr>
      </p:sp>
      <p:sp>
        <p:nvSpPr>
          <p:cNvPr id="15" name="Text 10"/>
          <p:cNvSpPr txBox="1"/>
          <p:nvPr/>
        </p:nvSpPr>
        <p:spPr>
          <a:xfrm>
            <a:off x="5029200" y="1325880"/>
            <a:ext cx="3429000" cy="566928"/>
          </a:xfrm>
          <a:prstGeom prst="rect">
            <a:avLst/>
          </a:prstGeom>
          <a:noFill/>
          <a:ln/>
        </p:spPr>
        <p:txBody>
          <a:bodyPr wrap="square" lIns="0" tIns="0" rIns="0" bIns="0" rtlCol="0" anchor="ctr"/>
          <a:lstStyle/>
          <a:p>
            <a:pPr indent="0" marL="0">
              <a:buNone/>
            </a:pPr>
            <a:r>
              <a:rPr lang="en-US" sz="1700" b="1" dirty="0">
                <a:solidFill>
                  <a:schemeClr val="tx2"/>
                </a:solidFill>
              </a:rPr>
              <a:t>Cliente (la docente)</a:t>
            </a:r>
            <a:endParaRPr lang="en-US" sz="1700" dirty="0"/>
          </a:p>
        </p:txBody>
      </p:sp>
      <p:pic>
        <p:nvPicPr>
          <p:cNvPr id="16" name="Image 3" descr="preencoded.png">    </p:cNvPr>
          <p:cNvPicPr>
            <a:picLocks noChangeAspect="1"/>
          </p:cNvPicPr>
          <p:nvPr/>
        </p:nvPicPr>
        <p:blipFill>
          <a:blip r:embed="rId4"/>
          <a:stretch>
            <a:fillRect/>
          </a:stretch>
        </p:blipFill>
        <p:spPr>
          <a:xfrm>
            <a:off x="5056632" y="2157984"/>
            <a:ext cx="292608" cy="292608"/>
          </a:xfrm>
          <a:prstGeom prst="rect">
            <a:avLst/>
          </a:prstGeom>
        </p:spPr>
      </p:pic>
      <p:sp>
        <p:nvSpPr>
          <p:cNvPr id="17" name="Text 11"/>
          <p:cNvSpPr txBox="1"/>
          <p:nvPr/>
        </p:nvSpPr>
        <p:spPr>
          <a:xfrm>
            <a:off x="5486400" y="2103120"/>
            <a:ext cx="2971800" cy="658368"/>
          </a:xfrm>
          <a:prstGeom prst="rect">
            <a:avLst/>
          </a:prstGeom>
          <a:noFill/>
          <a:ln/>
        </p:spPr>
        <p:txBody>
          <a:bodyPr wrap="square" lIns="0" tIns="0" rIns="0" bIns="0" rtlCol="0" anchor="t"/>
          <a:lstStyle/>
          <a:p>
            <a:pPr indent="0" marL="0">
              <a:buNone/>
            </a:pPr>
            <a:r>
              <a:rPr lang="en-US" sz="1500" dirty="0">
                <a:solidFill>
                  <a:schemeClr val="tx1"/>
                </a:solidFill>
              </a:rPr>
              <a:t>Con quién comparte</a:t>
            </a:r>
            <a:endParaRPr lang="en-US" sz="1500" dirty="0"/>
          </a:p>
        </p:txBody>
      </p:sp>
      <p:pic>
        <p:nvPicPr>
          <p:cNvPr id="18" name="Image 4" descr="preencoded.png">    </p:cNvPr>
          <p:cNvPicPr>
            <a:picLocks noChangeAspect="1"/>
          </p:cNvPicPr>
          <p:nvPr/>
        </p:nvPicPr>
        <p:blipFill>
          <a:blip r:embed="rId5"/>
          <a:stretch>
            <a:fillRect/>
          </a:stretch>
        </p:blipFill>
        <p:spPr>
          <a:xfrm>
            <a:off x="5056632" y="2907792"/>
            <a:ext cx="292608" cy="292608"/>
          </a:xfrm>
          <a:prstGeom prst="rect">
            <a:avLst/>
          </a:prstGeom>
        </p:spPr>
      </p:pic>
      <p:sp>
        <p:nvSpPr>
          <p:cNvPr id="19" name="Text 12"/>
          <p:cNvSpPr txBox="1"/>
          <p:nvPr/>
        </p:nvSpPr>
        <p:spPr>
          <a:xfrm>
            <a:off x="5486400" y="2852928"/>
            <a:ext cx="2971800" cy="658368"/>
          </a:xfrm>
          <a:prstGeom prst="rect">
            <a:avLst/>
          </a:prstGeom>
          <a:noFill/>
          <a:ln/>
        </p:spPr>
        <p:txBody>
          <a:bodyPr wrap="square" lIns="0" tIns="0" rIns="0" bIns="0" rtlCol="0" anchor="t"/>
          <a:lstStyle/>
          <a:p>
            <a:pPr indent="0" marL="0">
              <a:buNone/>
            </a:pPr>
            <a:r>
              <a:rPr lang="en-US" sz="1500" dirty="0">
                <a:solidFill>
                  <a:schemeClr val="tx1"/>
                </a:solidFill>
              </a:rPr>
              <a:t>Contraseñas y MFA</a:t>
            </a:r>
            <a:endParaRPr lang="en-US" sz="1500" dirty="0"/>
          </a:p>
        </p:txBody>
      </p:sp>
      <p:pic>
        <p:nvPicPr>
          <p:cNvPr id="20" name="Image 5" descr="preencoded.png">    </p:cNvPr>
          <p:cNvPicPr>
            <a:picLocks noChangeAspect="1"/>
          </p:cNvPicPr>
          <p:nvPr/>
        </p:nvPicPr>
        <p:blipFill>
          <a:blip r:embed="rId6"/>
          <a:stretch>
            <a:fillRect/>
          </a:stretch>
        </p:blipFill>
        <p:spPr>
          <a:xfrm>
            <a:off x="5056632" y="3657600"/>
            <a:ext cx="292608" cy="292608"/>
          </a:xfrm>
          <a:prstGeom prst="rect">
            <a:avLst/>
          </a:prstGeom>
        </p:spPr>
      </p:pic>
      <p:sp>
        <p:nvSpPr>
          <p:cNvPr id="21" name="Text 13"/>
          <p:cNvSpPr txBox="1"/>
          <p:nvPr/>
        </p:nvSpPr>
        <p:spPr>
          <a:xfrm>
            <a:off x="5486400" y="3602736"/>
            <a:ext cx="2971800" cy="658368"/>
          </a:xfrm>
          <a:prstGeom prst="rect">
            <a:avLst/>
          </a:prstGeom>
          <a:noFill/>
          <a:ln/>
        </p:spPr>
        <p:txBody>
          <a:bodyPr wrap="square" lIns="0" tIns="0" rIns="0" bIns="0" rtlCol="0" anchor="t"/>
          <a:lstStyle/>
          <a:p>
            <a:pPr indent="0" marL="0">
              <a:buNone/>
            </a:pPr>
            <a:r>
              <a:rPr lang="en-US" sz="1500" dirty="0">
                <a:solidFill>
                  <a:schemeClr val="tx1"/>
                </a:solidFill>
              </a:rPr>
              <a:t>Qué datos sube</a:t>
            </a:r>
            <a:endParaRPr lang="en-US" sz="1500" dirty="0"/>
          </a:p>
        </p:txBody>
      </p:sp>
      <p:sp>
        <p:nvSpPr>
          <p:cNvPr id="22" name="Shape 14"/>
          <p:cNvSpPr/>
          <p:nvPr/>
        </p:nvSpPr>
        <p:spPr>
          <a:xfrm>
            <a:off x="4297680" y="2651760"/>
            <a:ext cx="548640" cy="548640"/>
          </a:xfrm>
          <a:prstGeom prst="ellipse">
            <a:avLst/>
          </a:prstGeom>
          <a:solidFill>
            <a:schemeClr val="tx2"/>
          </a:solidFill>
          <a:ln w="25400">
            <a:solidFill>
              <a:schemeClr val="bg1"/>
            </a:solidFill>
            <a:prstDash val="solid"/>
          </a:ln>
        </p:spPr>
      </p:sp>
      <p:sp>
        <p:nvSpPr>
          <p:cNvPr id="23" name="Text 15"/>
          <p:cNvSpPr txBox="1"/>
          <p:nvPr/>
        </p:nvSpPr>
        <p:spPr>
          <a:xfrm>
            <a:off x="4297680" y="2651760"/>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rPr>
              <a:t>vs</a:t>
            </a:r>
            <a:endParaRPr lang="en-US" sz="1400" dirty="0"/>
          </a:p>
        </p:txBody>
      </p:sp>
      <p:sp>
        <p:nvSpPr>
          <p:cNvPr id="25" name="Slide Number Placeholder 0"/>
          <p:cNvSpPr>
            <a:spLocks noGrp="1"/>
          </p:cNvSpPr>
          <p:nvPr>
            <p:ph type="sldNum" sz="quarter" idx="4294967295"/>
          </p:nvPr>
        </p:nvSpPr>
        <p:spPr>
          <a:xfrm>
            <a:off x="8138160" y="4791456"/>
            <a:ext cx="548640" cy="237744"/>
          </a:xfrm>
          <a:prstGeom prst="rect">
            <a:avLst/>
          </a:prstGeom>
          <a:extLst>
            <a:ext uri="{C572A759-6A51-4108-AA02-DFA0A04FC94B}">
              <ma14:wrappingTextBoxFlag xmlns:ma14="http://schemas.microsoft.com/office/mac/drawingml/2011/main" val="0"/>
            </a:ext>
          </a:extLst>
        </p:spPr>
        <p:txBody>
          <a:bodyPr anchor="ctr"/>
          <a:lstStyle>
            <a:lvl1pPr>
              <a:defRPr sz="9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182880"/>
            <a:ext cx="8229600" cy="237744"/>
          </a:xfrm>
          <a:prstGeom prst="rect">
            <a:avLst/>
          </a:prstGeom>
          <a:noFill/>
          <a:ln/>
        </p:spPr>
        <p:txBody>
          <a:bodyPr wrap="square" lIns="0" tIns="0" rIns="0" bIns="0" rtlCol="0" anchor="t"/>
          <a:lstStyle/>
          <a:p>
            <a:pPr indent="0" marL="0">
              <a:buNone/>
            </a:pPr>
            <a:r>
              <a:rPr lang="en-US" sz="1100" b="1" spc="150" kern="0" dirty="0">
                <a:solidFill>
                  <a:schemeClr val="accent1"/>
                </a:solidFill>
              </a:rPr>
              <a:t>CASO 1 · LO QUE APRENDIMOS</a:t>
            </a:r>
            <a:endParaRPr lang="en-US" sz="1100" dirty="0"/>
          </a:p>
        </p:txBody>
      </p:sp>
      <p:sp>
        <p:nvSpPr>
          <p:cNvPr id="3" name="Text 0"/>
          <p:cNvSpPr/>
          <p:nvPr>
            <p:ph idx="100" type="title" hasCustomPrompt="1"/>
          </p:nvPr>
        </p:nvSpPr>
        <p:spPr>
          <a:xfrm>
            <a:off x="457200" y="420624"/>
            <a:ext cx="8229600" cy="640080"/>
          </a:xfrm>
          <a:prstGeom prst="rect">
            <a:avLst/>
          </a:prstGeom>
          <a:noFill/>
          <a:ln/>
        </p:spPr>
        <p:txBody>
          <a:bodyPr wrap="square" lIns="0" tIns="0" rIns="0" bIns="0" rtlCol="0" anchor="t"/>
          <a:lstStyle/>
          <a:p>
            <a:pPr algn="l" indent="0" marL="0">
              <a:buNone/>
            </a:pPr>
            <a:r>
              <a:rPr lang="en-US" sz="2600" b="1" dirty="0">
                <a:solidFill>
                  <a:schemeClr val="tx2"/>
                </a:solidFill>
              </a:rPr>
              <a:t>Las notas a la vista de todos</a:t>
            </a:r>
            <a:endParaRPr lang="en-US" sz="2600" dirty="0"/>
          </a:p>
        </p:txBody>
      </p:sp>
      <p:sp>
        <p:nvSpPr>
          <p:cNvPr id="4" name="Shape 2"/>
          <p:cNvSpPr/>
          <p:nvPr/>
        </p:nvSpPr>
        <p:spPr>
          <a:xfrm>
            <a:off x="457200" y="1325880"/>
            <a:ext cx="4754880" cy="960120"/>
          </a:xfrm>
          <a:prstGeom prst="roundRect">
            <a:avLst>
              <a:gd name="adj" fmla="val 7619"/>
            </a:avLst>
          </a:prstGeom>
          <a:solidFill>
            <a:schemeClr val="bg2"/>
          </a:solidFill>
          <a:ln w="12700">
            <a:solidFill>
              <a:schemeClr val="bg2"/>
            </a:solidFill>
            <a:prstDash val="solid"/>
          </a:ln>
        </p:spPr>
      </p:sp>
      <p:sp>
        <p:nvSpPr>
          <p:cNvPr id="5" name="Shape 3"/>
          <p:cNvSpPr/>
          <p:nvPr/>
        </p:nvSpPr>
        <p:spPr>
          <a:xfrm>
            <a:off x="640080" y="1581912"/>
            <a:ext cx="457200" cy="457200"/>
          </a:xfrm>
          <a:prstGeom prst="ellipse">
            <a:avLst/>
          </a:prstGeom>
          <a:solidFill>
            <a:schemeClr val="accent1"/>
          </a:solidFill>
          <a:ln w="12700">
            <a:solidFill>
              <a:schemeClr val="accent1"/>
            </a:solidFill>
            <a:prstDash val="solid"/>
          </a:ln>
        </p:spPr>
      </p:sp>
      <p:sp>
        <p:nvSpPr>
          <p:cNvPr id="6" name="Text 4"/>
          <p:cNvSpPr txBox="1"/>
          <p:nvPr/>
        </p:nvSpPr>
        <p:spPr>
          <a:xfrm>
            <a:off x="640080" y="1581912"/>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7" name="Text 5"/>
          <p:cNvSpPr txBox="1"/>
          <p:nvPr/>
        </p:nvSpPr>
        <p:spPr>
          <a:xfrm>
            <a:off x="1280160" y="1435608"/>
            <a:ext cx="3794760" cy="347472"/>
          </a:xfrm>
          <a:prstGeom prst="rect">
            <a:avLst/>
          </a:prstGeom>
          <a:noFill/>
          <a:ln/>
        </p:spPr>
        <p:txBody>
          <a:bodyPr wrap="square" lIns="0" tIns="0" rIns="0" bIns="0" rtlCol="0" anchor="t"/>
          <a:lstStyle/>
          <a:p>
            <a:pPr indent="0" marL="0">
              <a:buNone/>
            </a:pPr>
            <a:r>
              <a:rPr lang="en-US" sz="1700" b="1" dirty="0">
                <a:solidFill>
                  <a:schemeClr val="tx2"/>
                </a:solidFill>
              </a:rPr>
              <a:t>SaaS</a:t>
            </a:r>
            <a:endParaRPr lang="en-US" sz="1700" dirty="0"/>
          </a:p>
        </p:txBody>
      </p:sp>
      <p:sp>
        <p:nvSpPr>
          <p:cNvPr id="8" name="Text 6"/>
          <p:cNvSpPr txBox="1"/>
          <p:nvPr/>
        </p:nvSpPr>
        <p:spPr>
          <a:xfrm>
            <a:off x="1280160" y="1801368"/>
            <a:ext cx="3794760" cy="411480"/>
          </a:xfrm>
          <a:prstGeom prst="rect">
            <a:avLst/>
          </a:prstGeom>
          <a:noFill/>
          <a:ln/>
        </p:spPr>
        <p:txBody>
          <a:bodyPr wrap="square" lIns="0" tIns="0" rIns="0" bIns="0" rtlCol="0" anchor="t"/>
          <a:lstStyle/>
          <a:p>
            <a:pPr indent="0" marL="0">
              <a:buNone/>
            </a:pPr>
            <a:r>
              <a:rPr lang="en-US" sz="1400" dirty="0">
                <a:solidFill>
                  <a:schemeClr val="tx1"/>
                </a:solidFill>
              </a:rPr>
              <a:t>Aplicación lista para usar: Drive, Gmail</a:t>
            </a:r>
            <a:endParaRPr lang="en-US" sz="1400" dirty="0"/>
          </a:p>
        </p:txBody>
      </p:sp>
      <p:sp>
        <p:nvSpPr>
          <p:cNvPr id="9" name="Shape 7"/>
          <p:cNvSpPr/>
          <p:nvPr/>
        </p:nvSpPr>
        <p:spPr>
          <a:xfrm>
            <a:off x="457200" y="2423160"/>
            <a:ext cx="4754880" cy="960120"/>
          </a:xfrm>
          <a:prstGeom prst="roundRect">
            <a:avLst>
              <a:gd name="adj" fmla="val 7619"/>
            </a:avLst>
          </a:prstGeom>
          <a:solidFill>
            <a:schemeClr val="bg2"/>
          </a:solidFill>
          <a:ln w="12700">
            <a:solidFill>
              <a:schemeClr val="bg2"/>
            </a:solidFill>
            <a:prstDash val="solid"/>
          </a:ln>
        </p:spPr>
      </p:sp>
      <p:sp>
        <p:nvSpPr>
          <p:cNvPr id="10" name="Shape 8"/>
          <p:cNvSpPr/>
          <p:nvPr/>
        </p:nvSpPr>
        <p:spPr>
          <a:xfrm>
            <a:off x="640080" y="2679192"/>
            <a:ext cx="457200" cy="457200"/>
          </a:xfrm>
          <a:prstGeom prst="ellipse">
            <a:avLst/>
          </a:prstGeom>
          <a:solidFill>
            <a:schemeClr val="accent1"/>
          </a:solidFill>
          <a:ln w="12700">
            <a:solidFill>
              <a:schemeClr val="accent1"/>
            </a:solidFill>
            <a:prstDash val="solid"/>
          </a:ln>
        </p:spPr>
      </p:sp>
      <p:sp>
        <p:nvSpPr>
          <p:cNvPr id="11" name="Text 9"/>
          <p:cNvSpPr txBox="1"/>
          <p:nvPr/>
        </p:nvSpPr>
        <p:spPr>
          <a:xfrm>
            <a:off x="640080" y="2679192"/>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2" name="Text 10"/>
          <p:cNvSpPr txBox="1"/>
          <p:nvPr/>
        </p:nvSpPr>
        <p:spPr>
          <a:xfrm>
            <a:off x="1280160" y="2532888"/>
            <a:ext cx="3794760" cy="347472"/>
          </a:xfrm>
          <a:prstGeom prst="rect">
            <a:avLst/>
          </a:prstGeom>
          <a:noFill/>
          <a:ln/>
        </p:spPr>
        <p:txBody>
          <a:bodyPr wrap="square" lIns="0" tIns="0" rIns="0" bIns="0" rtlCol="0" anchor="t"/>
          <a:lstStyle/>
          <a:p>
            <a:pPr indent="0" marL="0">
              <a:buNone/>
            </a:pPr>
            <a:r>
              <a:rPr lang="en-US" sz="1700" b="1" dirty="0">
                <a:solidFill>
                  <a:schemeClr val="tx2"/>
                </a:solidFill>
              </a:rPr>
              <a:t>IaaS y PaaS</a:t>
            </a:r>
            <a:endParaRPr lang="en-US" sz="1700" dirty="0"/>
          </a:p>
        </p:txBody>
      </p:sp>
      <p:sp>
        <p:nvSpPr>
          <p:cNvPr id="13" name="Text 11"/>
          <p:cNvSpPr txBox="1"/>
          <p:nvPr/>
        </p:nvSpPr>
        <p:spPr>
          <a:xfrm>
            <a:off x="1280160" y="2898648"/>
            <a:ext cx="3794760" cy="411480"/>
          </a:xfrm>
          <a:prstGeom prst="rect">
            <a:avLst/>
          </a:prstGeom>
          <a:noFill/>
          <a:ln/>
        </p:spPr>
        <p:txBody>
          <a:bodyPr wrap="square" lIns="0" tIns="0" rIns="0" bIns="0" rtlCol="0" anchor="t"/>
          <a:lstStyle/>
          <a:p>
            <a:pPr indent="0" marL="0">
              <a:buNone/>
            </a:pPr>
            <a:r>
              <a:rPr lang="en-US" sz="1400" dirty="0">
                <a:solidFill>
                  <a:schemeClr val="tx1"/>
                </a:solidFill>
              </a:rPr>
              <a:t>Infraestructura o plataforma para tu código</a:t>
            </a:r>
            <a:endParaRPr lang="en-US" sz="1400" dirty="0"/>
          </a:p>
        </p:txBody>
      </p:sp>
      <p:sp>
        <p:nvSpPr>
          <p:cNvPr id="14" name="Shape 12"/>
          <p:cNvSpPr/>
          <p:nvPr/>
        </p:nvSpPr>
        <p:spPr>
          <a:xfrm>
            <a:off x="457200" y="3520440"/>
            <a:ext cx="4754880" cy="960120"/>
          </a:xfrm>
          <a:prstGeom prst="roundRect">
            <a:avLst>
              <a:gd name="adj" fmla="val 7619"/>
            </a:avLst>
          </a:prstGeom>
          <a:solidFill>
            <a:schemeClr val="bg2"/>
          </a:solidFill>
          <a:ln w="12700">
            <a:solidFill>
              <a:schemeClr val="bg2"/>
            </a:solidFill>
            <a:prstDash val="solid"/>
          </a:ln>
        </p:spPr>
      </p:sp>
      <p:sp>
        <p:nvSpPr>
          <p:cNvPr id="15" name="Shape 13"/>
          <p:cNvSpPr/>
          <p:nvPr/>
        </p:nvSpPr>
        <p:spPr>
          <a:xfrm>
            <a:off x="640080" y="3776472"/>
            <a:ext cx="457200" cy="457200"/>
          </a:xfrm>
          <a:prstGeom prst="ellipse">
            <a:avLst/>
          </a:prstGeom>
          <a:solidFill>
            <a:schemeClr val="accent1"/>
          </a:solidFill>
          <a:ln w="12700">
            <a:solidFill>
              <a:schemeClr val="accent1"/>
            </a:solidFill>
            <a:prstDash val="solid"/>
          </a:ln>
        </p:spPr>
      </p:sp>
      <p:sp>
        <p:nvSpPr>
          <p:cNvPr id="16" name="Text 14"/>
          <p:cNvSpPr txBox="1"/>
          <p:nvPr/>
        </p:nvSpPr>
        <p:spPr>
          <a:xfrm>
            <a:off x="640080" y="3776472"/>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7" name="Text 15"/>
          <p:cNvSpPr txBox="1"/>
          <p:nvPr/>
        </p:nvSpPr>
        <p:spPr>
          <a:xfrm>
            <a:off x="1280160" y="3630168"/>
            <a:ext cx="3794760" cy="347472"/>
          </a:xfrm>
          <a:prstGeom prst="rect">
            <a:avLst/>
          </a:prstGeom>
          <a:noFill/>
          <a:ln/>
        </p:spPr>
        <p:txBody>
          <a:bodyPr wrap="square" lIns="0" tIns="0" rIns="0" bIns="0" rtlCol="0" anchor="t"/>
          <a:lstStyle/>
          <a:p>
            <a:pPr indent="0" marL="0">
              <a:buNone/>
            </a:pPr>
            <a:r>
              <a:rPr lang="en-US" sz="1700" b="1" dirty="0">
                <a:solidFill>
                  <a:schemeClr val="tx2"/>
                </a:solidFill>
              </a:rPr>
              <a:t>Responsabilidad compartida</a:t>
            </a:r>
            <a:endParaRPr lang="en-US" sz="1700" dirty="0"/>
          </a:p>
        </p:txBody>
      </p:sp>
      <p:sp>
        <p:nvSpPr>
          <p:cNvPr id="18" name="Text 16"/>
          <p:cNvSpPr txBox="1"/>
          <p:nvPr/>
        </p:nvSpPr>
        <p:spPr>
          <a:xfrm>
            <a:off x="1280160" y="3995928"/>
            <a:ext cx="3794760" cy="411480"/>
          </a:xfrm>
          <a:prstGeom prst="rect">
            <a:avLst/>
          </a:prstGeom>
          <a:noFill/>
          <a:ln/>
        </p:spPr>
        <p:txBody>
          <a:bodyPr wrap="square" lIns="0" tIns="0" rIns="0" bIns="0" rtlCol="0" anchor="t"/>
          <a:lstStyle/>
          <a:p>
            <a:pPr indent="0" marL="0">
              <a:buNone/>
            </a:pPr>
            <a:r>
              <a:rPr lang="en-US" sz="1400" dirty="0">
                <a:solidFill>
                  <a:schemeClr val="tx1"/>
                </a:solidFill>
              </a:rPr>
              <a:t>Proveedor: la base. Cliente: sus datos</a:t>
            </a:r>
            <a:endParaRPr lang="en-US" sz="1400" dirty="0"/>
          </a:p>
        </p:txBody>
      </p:sp>
      <p:sp>
        <p:nvSpPr>
          <p:cNvPr id="19" name="Shape 17"/>
          <p:cNvSpPr/>
          <p:nvPr/>
        </p:nvSpPr>
        <p:spPr>
          <a:xfrm>
            <a:off x="5486400" y="1325880"/>
            <a:ext cx="3200400" cy="3154680"/>
          </a:xfrm>
          <a:prstGeom prst="roundRect">
            <a:avLst>
              <a:gd name="adj" fmla="val 2319"/>
            </a:avLst>
          </a:prstGeom>
          <a:solidFill>
            <a:schemeClr val="tx2"/>
          </a:solidFill>
          <a:ln w="12700">
            <a:solidFill>
              <a:schemeClr val="tx2"/>
            </a:solidFill>
            <a:prstDash val="solid"/>
          </a:ln>
        </p:spPr>
      </p:sp>
      <p:sp>
        <p:nvSpPr>
          <p:cNvPr id="20" name="Shape 18"/>
          <p:cNvSpPr/>
          <p:nvPr/>
        </p:nvSpPr>
        <p:spPr>
          <a:xfrm>
            <a:off x="5715000" y="1536192"/>
            <a:ext cx="502920" cy="502920"/>
          </a:xfrm>
          <a:prstGeom prst="ellipse">
            <a:avLst/>
          </a:prstGeom>
          <a:solidFill>
            <a:schemeClr val="accent4"/>
          </a:solidFill>
          <a:ln w="12700">
            <a:solidFill>
              <a:schemeClr val="accent4"/>
            </a:solidFill>
            <a:prstDash val="solid"/>
          </a:ln>
        </p:spPr>
      </p:sp>
      <p:pic>
        <p:nvPicPr>
          <p:cNvPr id="21" name="Image 0" descr="preencoded.png">    </p:cNvPr>
          <p:cNvPicPr>
            <a:picLocks noChangeAspect="1"/>
          </p:cNvPicPr>
          <p:nvPr/>
        </p:nvPicPr>
        <p:blipFill>
          <a:blip r:embed="rId1"/>
          <a:stretch>
            <a:fillRect/>
          </a:stretch>
        </p:blipFill>
        <p:spPr>
          <a:xfrm>
            <a:off x="5840730" y="1661922"/>
            <a:ext cx="251460" cy="251460"/>
          </a:xfrm>
          <a:prstGeom prst="rect">
            <a:avLst/>
          </a:prstGeom>
        </p:spPr>
      </p:pic>
      <p:sp>
        <p:nvSpPr>
          <p:cNvPr id="22" name="Text 19"/>
          <p:cNvSpPr txBox="1"/>
          <p:nvPr/>
        </p:nvSpPr>
        <p:spPr>
          <a:xfrm>
            <a:off x="6355080" y="1536192"/>
            <a:ext cx="2194560" cy="502920"/>
          </a:xfrm>
          <a:prstGeom prst="rect">
            <a:avLst/>
          </a:prstGeom>
          <a:noFill/>
          <a:ln/>
        </p:spPr>
        <p:txBody>
          <a:bodyPr wrap="square" lIns="0" tIns="0" rIns="0" bIns="0" rtlCol="0" anchor="ctr"/>
          <a:lstStyle/>
          <a:p>
            <a:pPr indent="0" marL="0">
              <a:buNone/>
            </a:pPr>
            <a:r>
              <a:rPr lang="en-US" sz="1700" b="1" dirty="0">
                <a:solidFill>
                  <a:schemeClr val="bg1"/>
                </a:solidFill>
              </a:rPr>
              <a:t>Cómo se evita</a:t>
            </a:r>
            <a:endParaRPr lang="en-US" sz="1700" dirty="0"/>
          </a:p>
        </p:txBody>
      </p:sp>
      <p:pic>
        <p:nvPicPr>
          <p:cNvPr id="23" name="Image 1" descr="preencoded.png">    </p:cNvPr>
          <p:cNvPicPr>
            <a:picLocks noChangeAspect="1"/>
          </p:cNvPicPr>
          <p:nvPr/>
        </p:nvPicPr>
        <p:blipFill>
          <a:blip r:embed="rId2"/>
          <a:stretch>
            <a:fillRect/>
          </a:stretch>
        </p:blipFill>
        <p:spPr>
          <a:xfrm>
            <a:off x="5733288" y="2313432"/>
            <a:ext cx="274320" cy="274320"/>
          </a:xfrm>
          <a:prstGeom prst="rect">
            <a:avLst/>
          </a:prstGeom>
        </p:spPr>
      </p:pic>
      <p:sp>
        <p:nvSpPr>
          <p:cNvPr id="24" name="Text 20"/>
          <p:cNvSpPr txBox="1"/>
          <p:nvPr/>
        </p:nvSpPr>
        <p:spPr>
          <a:xfrm>
            <a:off x="6144768" y="2286000"/>
            <a:ext cx="2395728" cy="658368"/>
          </a:xfrm>
          <a:prstGeom prst="rect">
            <a:avLst/>
          </a:prstGeom>
          <a:noFill/>
          <a:ln/>
        </p:spPr>
        <p:txBody>
          <a:bodyPr wrap="square" lIns="0" tIns="0" rIns="0" bIns="0" rtlCol="0" anchor="t"/>
          <a:lstStyle/>
          <a:p>
            <a:pPr indent="0" marL="0">
              <a:buNone/>
            </a:pPr>
            <a:r>
              <a:rPr lang="en-US" sz="1400" dirty="0">
                <a:solidFill>
                  <a:schemeClr val="bg1"/>
                </a:solidFill>
              </a:rPr>
              <a:t>Compartir con correos específicos</a:t>
            </a:r>
            <a:endParaRPr lang="en-US" sz="1400" dirty="0"/>
          </a:p>
        </p:txBody>
      </p:sp>
      <p:pic>
        <p:nvPicPr>
          <p:cNvPr id="25" name="Image 2" descr="preencoded.png">    </p:cNvPr>
          <p:cNvPicPr>
            <a:picLocks noChangeAspect="1"/>
          </p:cNvPicPr>
          <p:nvPr/>
        </p:nvPicPr>
        <p:blipFill>
          <a:blip r:embed="rId3"/>
          <a:stretch>
            <a:fillRect/>
          </a:stretch>
        </p:blipFill>
        <p:spPr>
          <a:xfrm>
            <a:off x="5733288" y="3026664"/>
            <a:ext cx="274320" cy="274320"/>
          </a:xfrm>
          <a:prstGeom prst="rect">
            <a:avLst/>
          </a:prstGeom>
        </p:spPr>
      </p:pic>
      <p:sp>
        <p:nvSpPr>
          <p:cNvPr id="26" name="Text 21"/>
          <p:cNvSpPr txBox="1"/>
          <p:nvPr/>
        </p:nvSpPr>
        <p:spPr>
          <a:xfrm>
            <a:off x="6144768" y="2999232"/>
            <a:ext cx="2395728" cy="658368"/>
          </a:xfrm>
          <a:prstGeom prst="rect">
            <a:avLst/>
          </a:prstGeom>
          <a:noFill/>
          <a:ln/>
        </p:spPr>
        <p:txBody>
          <a:bodyPr wrap="square" lIns="0" tIns="0" rIns="0" bIns="0" rtlCol="0" anchor="t"/>
          <a:lstStyle/>
          <a:p>
            <a:pPr indent="0" marL="0">
              <a:buNone/>
            </a:pPr>
            <a:r>
              <a:rPr lang="en-US" sz="1400" dirty="0">
                <a:solidFill>
                  <a:schemeClr val="bg1"/>
                </a:solidFill>
              </a:rPr>
              <a:t>Revisar permisos de las carpetas</a:t>
            </a:r>
            <a:endParaRPr lang="en-US" sz="1400" dirty="0"/>
          </a:p>
        </p:txBody>
      </p:sp>
      <p:pic>
        <p:nvPicPr>
          <p:cNvPr id="27" name="Image 3" descr="preencoded.png">    </p:cNvPr>
          <p:cNvPicPr>
            <a:picLocks noChangeAspect="1"/>
          </p:cNvPicPr>
          <p:nvPr/>
        </p:nvPicPr>
        <p:blipFill>
          <a:blip r:embed="rId4"/>
          <a:stretch>
            <a:fillRect/>
          </a:stretch>
        </p:blipFill>
        <p:spPr>
          <a:xfrm>
            <a:off x="5733288" y="3739896"/>
            <a:ext cx="274320" cy="274320"/>
          </a:xfrm>
          <a:prstGeom prst="rect">
            <a:avLst/>
          </a:prstGeom>
        </p:spPr>
      </p:pic>
      <p:sp>
        <p:nvSpPr>
          <p:cNvPr id="28" name="Text 22"/>
          <p:cNvSpPr txBox="1"/>
          <p:nvPr/>
        </p:nvSpPr>
        <p:spPr>
          <a:xfrm>
            <a:off x="6144768" y="3712464"/>
            <a:ext cx="2395728" cy="658368"/>
          </a:xfrm>
          <a:prstGeom prst="rect">
            <a:avLst/>
          </a:prstGeom>
          <a:noFill/>
          <a:ln/>
        </p:spPr>
        <p:txBody>
          <a:bodyPr wrap="square" lIns="0" tIns="0" rIns="0" bIns="0" rtlCol="0" anchor="t"/>
          <a:lstStyle/>
          <a:p>
            <a:pPr indent="0" marL="0">
              <a:buNone/>
            </a:pPr>
            <a:r>
              <a:rPr lang="en-US" sz="1400" dirty="0">
                <a:solidFill>
                  <a:schemeClr val="bg1"/>
                </a:solidFill>
              </a:rPr>
              <a:t>Activar MFA</a:t>
            </a:r>
            <a:endParaRPr lang="en-US" sz="1400" dirty="0"/>
          </a:p>
        </p:txBody>
      </p:sp>
      <p:sp>
        <p:nvSpPr>
          <p:cNvPr id="25" name="Slide Number Placeholder 0"/>
          <p:cNvSpPr>
            <a:spLocks noGrp="1"/>
          </p:cNvSpPr>
          <p:nvPr>
            <p:ph type="sldNum" sz="quarter" idx="4294967295"/>
          </p:nvPr>
        </p:nvSpPr>
        <p:spPr>
          <a:xfrm>
            <a:off x="8138160" y="4791456"/>
            <a:ext cx="548640" cy="237744"/>
          </a:xfrm>
          <a:prstGeom prst="rect">
            <a:avLst/>
          </a:prstGeom>
          <a:extLst>
            <a:ext uri="{C572A759-6A51-4108-AA02-DFA0A04FC94B}">
              <ma14:wrappingTextBoxFlag xmlns:ma14="http://schemas.microsoft.com/office/mac/drawingml/2011/main" val="0"/>
            </a:ext>
          </a:extLst>
        </p:spPr>
        <p:txBody>
          <a:bodyPr anchor="ctr"/>
          <a:lstStyle>
            <a:lvl1pPr>
              <a:defRPr sz="9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182880"/>
            <a:ext cx="8229600" cy="237744"/>
          </a:xfrm>
          <a:prstGeom prst="rect">
            <a:avLst/>
          </a:prstGeom>
          <a:noFill/>
          <a:ln/>
        </p:spPr>
        <p:txBody>
          <a:bodyPr wrap="square" lIns="0" tIns="0" rIns="0" bIns="0" rtlCol="0" anchor="t"/>
          <a:lstStyle/>
          <a:p>
            <a:pPr indent="0" marL="0">
              <a:buNone/>
            </a:pPr>
            <a:r>
              <a:rPr lang="en-US" sz="1100" b="1" spc="150" kern="0" dirty="0">
                <a:solidFill>
                  <a:schemeClr val="accent2"/>
                </a:solidFill>
              </a:rPr>
              <a:t>CASO 2 DE 4</a:t>
            </a:r>
            <a:endParaRPr lang="en-US" sz="1100" dirty="0"/>
          </a:p>
        </p:txBody>
      </p:sp>
      <p:sp>
        <p:nvSpPr>
          <p:cNvPr id="3" name="Text 0"/>
          <p:cNvSpPr/>
          <p:nvPr>
            <p:ph idx="100" type="title" hasCustomPrompt="1"/>
          </p:nvPr>
        </p:nvSpPr>
        <p:spPr>
          <a:xfrm>
            <a:off x="457200" y="502920"/>
            <a:ext cx="8229600" cy="685800"/>
          </a:xfrm>
          <a:prstGeom prst="rect">
            <a:avLst/>
          </a:prstGeom>
          <a:noFill/>
          <a:ln/>
        </p:spPr>
        <p:txBody>
          <a:bodyPr wrap="square" lIns="0" tIns="0" rIns="0" bIns="0" rtlCol="0" anchor="t"/>
          <a:lstStyle/>
          <a:p>
            <a:pPr algn="l" indent="0" marL="0">
              <a:buNone/>
            </a:pPr>
            <a:r>
              <a:rPr lang="en-US" sz="3000" b="1" dirty="0">
                <a:solidFill>
                  <a:schemeClr val="bg1"/>
                </a:solidFill>
              </a:rPr>
              <a:t>El mensaje para Luis</a:t>
            </a:r>
            <a:endParaRPr lang="en-US" sz="3000" dirty="0"/>
          </a:p>
        </p:txBody>
      </p:sp>
      <p:sp>
        <p:nvSpPr>
          <p:cNvPr id="4" name="Shape 2"/>
          <p:cNvSpPr/>
          <p:nvPr/>
        </p:nvSpPr>
        <p:spPr>
          <a:xfrm>
            <a:off x="457200" y="1371600"/>
            <a:ext cx="5760720" cy="2057400"/>
          </a:xfrm>
          <a:prstGeom prst="roundRect">
            <a:avLst>
              <a:gd name="adj" fmla="val 3556"/>
            </a:avLst>
          </a:prstGeom>
          <a:solidFill>
            <a:schemeClr val="bg1">
              <a:alpha val="10000"/>
            </a:schemeClr>
          </a:solidFill>
          <a:ln w="12700">
            <a:solidFill>
              <a:schemeClr val="bg1"/>
            </a:solidFill>
            <a:prstDash val="solid"/>
          </a:ln>
        </p:spPr>
      </p:sp>
      <p:sp>
        <p:nvSpPr>
          <p:cNvPr id="5" name="Text 3"/>
          <p:cNvSpPr txBox="1"/>
          <p:nvPr/>
        </p:nvSpPr>
        <p:spPr>
          <a:xfrm>
            <a:off x="685800" y="1554480"/>
            <a:ext cx="5349240" cy="1737360"/>
          </a:xfrm>
          <a:prstGeom prst="rect">
            <a:avLst/>
          </a:prstGeom>
          <a:noFill/>
          <a:ln/>
        </p:spPr>
        <p:txBody>
          <a:bodyPr wrap="square" lIns="0" tIns="0" rIns="0" bIns="0" rtlCol="0" anchor="ctr"/>
          <a:lstStyle/>
          <a:p>
            <a:pPr indent="0" marL="0">
              <a:buNone/>
            </a:pPr>
            <a:r>
              <a:rPr lang="en-US" sz="1800" dirty="0">
                <a:solidFill>
                  <a:schemeClr val="bg1"/>
                </a:solidFill>
              </a:rPr>
              <a:t>Ana debe enviarle a Luis por correo las contraseñas del laboratorio. Nadie más debe leerlas, y Luis necesita estar seguro de que el mensaje lo envió Ana y no otra persona.</a:t>
            </a:r>
            <a:endParaRPr lang="en-US" sz="1800" dirty="0"/>
          </a:p>
        </p:txBody>
      </p:sp>
      <p:sp>
        <p:nvSpPr>
          <p:cNvPr id="6" name="Shape 4"/>
          <p:cNvSpPr/>
          <p:nvPr/>
        </p:nvSpPr>
        <p:spPr>
          <a:xfrm>
            <a:off x="6583680" y="1325880"/>
            <a:ext cx="2011680" cy="2011680"/>
          </a:xfrm>
          <a:prstGeom prst="ellipse">
            <a:avLst/>
          </a:prstGeom>
          <a:solidFill>
            <a:schemeClr val="accent1"/>
          </a:solidFill>
          <a:ln w="12700">
            <a:solidFill>
              <a:schemeClr val="accent1"/>
            </a:solidFill>
            <a:prstDash val="solid"/>
          </a:ln>
        </p:spPr>
      </p:sp>
      <p:pic>
        <p:nvPicPr>
          <p:cNvPr id="7" name="Image 0" descr="preencoded.png">    </p:cNvPr>
          <p:cNvPicPr>
            <a:picLocks noChangeAspect="1"/>
          </p:cNvPicPr>
          <p:nvPr/>
        </p:nvPicPr>
        <p:blipFill>
          <a:blip r:embed="rId1"/>
          <a:stretch>
            <a:fillRect/>
          </a:stretch>
        </p:blipFill>
        <p:spPr>
          <a:xfrm>
            <a:off x="7086600" y="1828800"/>
            <a:ext cx="1005840" cy="1005840"/>
          </a:xfrm>
          <a:prstGeom prst="rect">
            <a:avLst/>
          </a:prstGeom>
        </p:spPr>
      </p:pic>
      <p:sp>
        <p:nvSpPr>
          <p:cNvPr id="8" name="Shape 5"/>
          <p:cNvSpPr/>
          <p:nvPr/>
        </p:nvSpPr>
        <p:spPr>
          <a:xfrm>
            <a:off x="457200" y="3639312"/>
            <a:ext cx="8229600" cy="932688"/>
          </a:xfrm>
          <a:prstGeom prst="roundRect">
            <a:avLst>
              <a:gd name="adj" fmla="val 7843"/>
            </a:avLst>
          </a:prstGeom>
          <a:solidFill>
            <a:schemeClr val="accent2"/>
          </a:solidFill>
          <a:ln w="12700">
            <a:solidFill>
              <a:schemeClr val="accent2"/>
            </a:solidFill>
            <a:prstDash val="solid"/>
          </a:ln>
        </p:spPr>
      </p:sp>
      <p:pic>
        <p:nvPicPr>
          <p:cNvPr id="9" name="Image 1" descr="preencoded.png">    </p:cNvPr>
          <p:cNvPicPr>
            <a:picLocks noChangeAspect="1"/>
          </p:cNvPicPr>
          <p:nvPr/>
        </p:nvPicPr>
        <p:blipFill>
          <a:blip r:embed="rId2"/>
          <a:stretch>
            <a:fillRect/>
          </a:stretch>
        </p:blipFill>
        <p:spPr>
          <a:xfrm>
            <a:off x="658368" y="3877056"/>
            <a:ext cx="457200" cy="457200"/>
          </a:xfrm>
          <a:prstGeom prst="rect">
            <a:avLst/>
          </a:prstGeom>
        </p:spPr>
      </p:pic>
      <p:sp>
        <p:nvSpPr>
          <p:cNvPr id="10" name="Text 6"/>
          <p:cNvSpPr txBox="1"/>
          <p:nvPr/>
        </p:nvSpPr>
        <p:spPr>
          <a:xfrm>
            <a:off x="1280160" y="3712464"/>
            <a:ext cx="7223760" cy="274320"/>
          </a:xfrm>
          <a:prstGeom prst="rect">
            <a:avLst/>
          </a:prstGeom>
          <a:noFill/>
          <a:ln/>
        </p:spPr>
        <p:txBody>
          <a:bodyPr wrap="square" lIns="0" tIns="0" rIns="0" bIns="0" rtlCol="0" anchor="t"/>
          <a:lstStyle/>
          <a:p>
            <a:pPr indent="0" marL="0">
              <a:buNone/>
            </a:pPr>
            <a:r>
              <a:rPr lang="en-US" sz="1200" b="1" dirty="0">
                <a:solidFill>
                  <a:schemeClr val="tx2"/>
                </a:solidFill>
              </a:rPr>
              <a:t>¿Qué harían ustedes?</a:t>
            </a:r>
            <a:endParaRPr lang="en-US" sz="1200" dirty="0"/>
          </a:p>
        </p:txBody>
      </p:sp>
      <p:sp>
        <p:nvSpPr>
          <p:cNvPr id="11" name="Text 7"/>
          <p:cNvSpPr txBox="1"/>
          <p:nvPr/>
        </p:nvSpPr>
        <p:spPr>
          <a:xfrm>
            <a:off x="1280160" y="3986784"/>
            <a:ext cx="7223760" cy="530352"/>
          </a:xfrm>
          <a:prstGeom prst="rect">
            <a:avLst/>
          </a:prstGeom>
          <a:noFill/>
          <a:ln/>
        </p:spPr>
        <p:txBody>
          <a:bodyPr wrap="square" lIns="0" tIns="0" rIns="0" bIns="0" rtlCol="0" anchor="t"/>
          <a:lstStyle/>
          <a:p>
            <a:pPr indent="0" marL="0">
              <a:buNone/>
            </a:pPr>
            <a:r>
              <a:rPr lang="en-US" sz="1600" b="1" dirty="0">
                <a:solidFill>
                  <a:schemeClr val="tx2"/>
                </a:solidFill>
              </a:rPr>
              <a:t>¿Con qué llave cifra Ana el mensaje? ¿Con cuál lo firma?</a:t>
            </a:r>
            <a:endParaRPr lang="en-US" sz="1600" dirty="0"/>
          </a:p>
        </p:txBody>
      </p:sp>
      <p:sp>
        <p:nvSpPr>
          <p:cNvPr id="25" name="Slide Number Placeholder 0"/>
          <p:cNvSpPr>
            <a:spLocks noGrp="1"/>
          </p:cNvSpPr>
          <p:nvPr>
            <p:ph type="sldNum" sz="quarter" idx="4294967295"/>
          </p:nvPr>
        </p:nvSpPr>
        <p:spPr>
          <a:xfrm>
            <a:off x="8138160" y="4791456"/>
            <a:ext cx="548640" cy="237744"/>
          </a:xfrm>
          <a:prstGeom prst="rect">
            <a:avLst/>
          </a:prstGeom>
          <a:extLst>
            <a:ext uri="{C572A759-6A51-4108-AA02-DFA0A04FC94B}">
              <ma14:wrappingTextBoxFlag xmlns:ma14="http://schemas.microsoft.com/office/mac/drawingml/2011/main" val="0"/>
            </a:ext>
          </a:extLst>
        </p:spPr>
        <p:txBody>
          <a:bodyPr anchor="ctr"/>
          <a:lstStyle>
            <a:lvl1pPr>
              <a:defRPr sz="900">
                <a:solidFill>
                  <a:schemeClr val="bg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182880"/>
            <a:ext cx="8229600" cy="237744"/>
          </a:xfrm>
          <a:prstGeom prst="rect">
            <a:avLst/>
          </a:prstGeom>
          <a:noFill/>
          <a:ln/>
        </p:spPr>
        <p:txBody>
          <a:bodyPr wrap="square" lIns="0" tIns="0" rIns="0" bIns="0" rtlCol="0" anchor="t"/>
          <a:lstStyle/>
          <a:p>
            <a:pPr indent="0" marL="0">
              <a:buNone/>
            </a:pPr>
            <a:r>
              <a:rPr lang="en-US" sz="1100" b="1" spc="150" kern="0" dirty="0">
                <a:solidFill>
                  <a:schemeClr val="accent1"/>
                </a:solidFill>
              </a:rPr>
              <a:t>CASO 2 · ASÍ FUNCIONA</a:t>
            </a:r>
            <a:endParaRPr lang="en-US" sz="1100" dirty="0"/>
          </a:p>
        </p:txBody>
      </p:sp>
      <p:sp>
        <p:nvSpPr>
          <p:cNvPr id="3" name="Text 0"/>
          <p:cNvSpPr/>
          <p:nvPr>
            <p:ph idx="100" type="title" hasCustomPrompt="1"/>
          </p:nvPr>
        </p:nvSpPr>
        <p:spPr>
          <a:xfrm>
            <a:off x="457200" y="420624"/>
            <a:ext cx="8229600" cy="640080"/>
          </a:xfrm>
          <a:prstGeom prst="rect">
            <a:avLst/>
          </a:prstGeom>
          <a:noFill/>
          <a:ln/>
        </p:spPr>
        <p:txBody>
          <a:bodyPr wrap="square" lIns="0" tIns="0" rIns="0" bIns="0" rtlCol="0" anchor="t"/>
          <a:lstStyle/>
          <a:p>
            <a:pPr algn="l" indent="0" marL="0">
              <a:buNone/>
            </a:pPr>
            <a:r>
              <a:rPr lang="en-US" sz="2600" b="1" dirty="0">
                <a:solidFill>
                  <a:schemeClr val="tx2"/>
                </a:solidFill>
              </a:rPr>
              <a:t>Cifrado asimétrico paso a paso</a:t>
            </a:r>
            <a:endParaRPr lang="en-US" sz="2600" dirty="0"/>
          </a:p>
        </p:txBody>
      </p:sp>
      <p:sp>
        <p:nvSpPr>
          <p:cNvPr id="4" name="Shape 2"/>
          <p:cNvSpPr/>
          <p:nvPr/>
        </p:nvSpPr>
        <p:spPr>
          <a:xfrm>
            <a:off x="457200" y="1691640"/>
            <a:ext cx="1824228" cy="2514600"/>
          </a:xfrm>
          <a:prstGeom prst="roundRect">
            <a:avLst>
              <a:gd name="adj" fmla="val 4010"/>
            </a:avLst>
          </a:prstGeom>
          <a:solidFill>
            <a:schemeClr val="bg2"/>
          </a:solidFill>
          <a:ln w="12700">
            <a:solidFill>
              <a:schemeClr val="bg2"/>
            </a:solidFill>
            <a:prstDash val="solid"/>
          </a:ln>
        </p:spPr>
      </p:sp>
      <p:sp>
        <p:nvSpPr>
          <p:cNvPr id="5" name="Shape 3"/>
          <p:cNvSpPr/>
          <p:nvPr/>
        </p:nvSpPr>
        <p:spPr>
          <a:xfrm>
            <a:off x="1003554" y="2011680"/>
            <a:ext cx="731520" cy="731520"/>
          </a:xfrm>
          <a:prstGeom prst="ellipse">
            <a:avLst/>
          </a:prstGeom>
          <a:solidFill>
            <a:schemeClr val="accent1"/>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1186434" y="2194560"/>
            <a:ext cx="365760" cy="365760"/>
          </a:xfrm>
          <a:prstGeom prst="rect">
            <a:avLst/>
          </a:prstGeom>
        </p:spPr>
      </p:pic>
      <p:sp>
        <p:nvSpPr>
          <p:cNvPr id="7" name="Shape 4"/>
          <p:cNvSpPr/>
          <p:nvPr/>
        </p:nvSpPr>
        <p:spPr>
          <a:xfrm>
            <a:off x="566928" y="1801368"/>
            <a:ext cx="292608" cy="292608"/>
          </a:xfrm>
          <a:prstGeom prst="ellipse">
            <a:avLst/>
          </a:prstGeom>
          <a:solidFill>
            <a:schemeClr val="accent2"/>
          </a:solidFill>
          <a:ln w="12700">
            <a:solidFill>
              <a:schemeClr val="accent2"/>
            </a:solidFill>
            <a:prstDash val="solid"/>
          </a:ln>
        </p:spPr>
      </p:sp>
      <p:sp>
        <p:nvSpPr>
          <p:cNvPr id="8" name="Text 5"/>
          <p:cNvSpPr txBox="1"/>
          <p:nvPr/>
        </p:nvSpPr>
        <p:spPr>
          <a:xfrm>
            <a:off x="566928" y="1801368"/>
            <a:ext cx="292608" cy="292608"/>
          </a:xfrm>
          <a:prstGeom prst="rect">
            <a:avLst/>
          </a:prstGeom>
          <a:noFill/>
          <a:ln/>
        </p:spPr>
        <p:txBody>
          <a:bodyPr wrap="square" lIns="0" tIns="0" rIns="0" bIns="0" rtlCol="0" anchor="ctr"/>
          <a:lstStyle/>
          <a:p>
            <a:pPr algn="ctr" indent="0" marL="0">
              <a:buNone/>
            </a:pPr>
            <a:r>
              <a:rPr lang="en-US" sz="1100" b="1" dirty="0">
                <a:solidFill>
                  <a:schemeClr val="tx2"/>
                </a:solidFill>
              </a:rPr>
              <a:t>1</a:t>
            </a:r>
            <a:endParaRPr lang="en-US" sz="1100" dirty="0"/>
          </a:p>
        </p:txBody>
      </p:sp>
      <p:sp>
        <p:nvSpPr>
          <p:cNvPr id="9" name="Text 6"/>
          <p:cNvSpPr txBox="1"/>
          <p:nvPr/>
        </p:nvSpPr>
        <p:spPr>
          <a:xfrm>
            <a:off x="566928" y="2926080"/>
            <a:ext cx="1604772" cy="566928"/>
          </a:xfrm>
          <a:prstGeom prst="rect">
            <a:avLst/>
          </a:prstGeom>
          <a:noFill/>
          <a:ln/>
        </p:spPr>
        <p:txBody>
          <a:bodyPr wrap="square" lIns="0" tIns="0" rIns="0" bIns="0" rtlCol="0" anchor="t"/>
          <a:lstStyle/>
          <a:p>
            <a:pPr algn="ctr" indent="0" marL="0">
              <a:buNone/>
            </a:pPr>
            <a:r>
              <a:rPr lang="en-US" sz="1600" b="1" dirty="0">
                <a:solidFill>
                  <a:schemeClr val="tx2"/>
                </a:solidFill>
              </a:rPr>
              <a:t>Ana escribe</a:t>
            </a:r>
            <a:endParaRPr lang="en-US" sz="1600" dirty="0"/>
          </a:p>
        </p:txBody>
      </p:sp>
      <p:sp>
        <p:nvSpPr>
          <p:cNvPr id="10" name="Text 7"/>
          <p:cNvSpPr txBox="1"/>
          <p:nvPr/>
        </p:nvSpPr>
        <p:spPr>
          <a:xfrm>
            <a:off x="566928" y="3529584"/>
            <a:ext cx="1604772" cy="594360"/>
          </a:xfrm>
          <a:prstGeom prst="rect">
            <a:avLst/>
          </a:prstGeom>
          <a:noFill/>
          <a:ln/>
        </p:spPr>
        <p:txBody>
          <a:bodyPr wrap="square" lIns="0" tIns="0" rIns="0" bIns="0" rtlCol="0" anchor="t"/>
          <a:lstStyle/>
          <a:p>
            <a:pPr algn="ctr" indent="0" marL="0">
              <a:buNone/>
            </a:pPr>
            <a:r>
              <a:rPr lang="en-US" sz="1400" dirty="0">
                <a:solidFill>
                  <a:schemeClr val="accent5"/>
                </a:solidFill>
              </a:rPr>
              <a:t>El mensaje secreto</a:t>
            </a:r>
            <a:endParaRPr lang="en-US" sz="1400" dirty="0"/>
          </a:p>
        </p:txBody>
      </p:sp>
      <p:sp>
        <p:nvSpPr>
          <p:cNvPr id="11" name="Shape 8"/>
          <p:cNvSpPr/>
          <p:nvPr/>
        </p:nvSpPr>
        <p:spPr>
          <a:xfrm>
            <a:off x="2318004" y="2948940"/>
            <a:ext cx="237744" cy="914"/>
          </a:xfrm>
          <a:prstGeom prst="line">
            <a:avLst/>
          </a:prstGeom>
          <a:noFill/>
          <a:ln w="25400">
            <a:solidFill>
              <a:schemeClr val="accent5"/>
            </a:solidFill>
            <a:prstDash val="solid"/>
            <a:tailEnd type="triangle"/>
          </a:ln>
        </p:spPr>
      </p:sp>
      <p:sp>
        <p:nvSpPr>
          <p:cNvPr id="12" name="Shape 9"/>
          <p:cNvSpPr/>
          <p:nvPr/>
        </p:nvSpPr>
        <p:spPr>
          <a:xfrm>
            <a:off x="2592324" y="1691640"/>
            <a:ext cx="1824228" cy="2514600"/>
          </a:xfrm>
          <a:prstGeom prst="roundRect">
            <a:avLst>
              <a:gd name="adj" fmla="val 4010"/>
            </a:avLst>
          </a:prstGeom>
          <a:solidFill>
            <a:schemeClr val="bg2"/>
          </a:solidFill>
          <a:ln w="12700">
            <a:solidFill>
              <a:schemeClr val="bg2"/>
            </a:solidFill>
            <a:prstDash val="solid"/>
          </a:ln>
        </p:spPr>
      </p:sp>
      <p:sp>
        <p:nvSpPr>
          <p:cNvPr id="13" name="Shape 10"/>
          <p:cNvSpPr/>
          <p:nvPr/>
        </p:nvSpPr>
        <p:spPr>
          <a:xfrm>
            <a:off x="3138678" y="2011680"/>
            <a:ext cx="731520" cy="731520"/>
          </a:xfrm>
          <a:prstGeom prst="ellipse">
            <a:avLst/>
          </a:prstGeom>
          <a:solidFill>
            <a:schemeClr val="accent1"/>
          </a:solidFill>
          <a:ln w="12700">
            <a:solidFill>
              <a:schemeClr val="accent1"/>
            </a:solidFill>
            <a:prstDash val="solid"/>
          </a:ln>
        </p:spPr>
      </p:sp>
      <p:pic>
        <p:nvPicPr>
          <p:cNvPr id="14" name="Image 1" descr="preencoded.png">    </p:cNvPr>
          <p:cNvPicPr>
            <a:picLocks noChangeAspect="1"/>
          </p:cNvPicPr>
          <p:nvPr/>
        </p:nvPicPr>
        <p:blipFill>
          <a:blip r:embed="rId2"/>
          <a:stretch>
            <a:fillRect/>
          </a:stretch>
        </p:blipFill>
        <p:spPr>
          <a:xfrm>
            <a:off x="3321558" y="2194560"/>
            <a:ext cx="365760" cy="365760"/>
          </a:xfrm>
          <a:prstGeom prst="rect">
            <a:avLst/>
          </a:prstGeom>
        </p:spPr>
      </p:pic>
      <p:sp>
        <p:nvSpPr>
          <p:cNvPr id="15" name="Shape 11"/>
          <p:cNvSpPr/>
          <p:nvPr/>
        </p:nvSpPr>
        <p:spPr>
          <a:xfrm>
            <a:off x="2702052" y="1801368"/>
            <a:ext cx="292608" cy="292608"/>
          </a:xfrm>
          <a:prstGeom prst="ellipse">
            <a:avLst/>
          </a:prstGeom>
          <a:solidFill>
            <a:schemeClr val="accent2"/>
          </a:solidFill>
          <a:ln w="12700">
            <a:solidFill>
              <a:schemeClr val="accent2"/>
            </a:solidFill>
            <a:prstDash val="solid"/>
          </a:ln>
        </p:spPr>
      </p:sp>
      <p:sp>
        <p:nvSpPr>
          <p:cNvPr id="16" name="Text 12"/>
          <p:cNvSpPr txBox="1"/>
          <p:nvPr/>
        </p:nvSpPr>
        <p:spPr>
          <a:xfrm>
            <a:off x="2702052" y="1801368"/>
            <a:ext cx="292608" cy="292608"/>
          </a:xfrm>
          <a:prstGeom prst="rect">
            <a:avLst/>
          </a:prstGeom>
          <a:noFill/>
          <a:ln/>
        </p:spPr>
        <p:txBody>
          <a:bodyPr wrap="square" lIns="0" tIns="0" rIns="0" bIns="0" rtlCol="0" anchor="ctr"/>
          <a:lstStyle/>
          <a:p>
            <a:pPr algn="ctr" indent="0" marL="0">
              <a:buNone/>
            </a:pPr>
            <a:r>
              <a:rPr lang="en-US" sz="1100" b="1" dirty="0">
                <a:solidFill>
                  <a:schemeClr val="tx2"/>
                </a:solidFill>
              </a:rPr>
              <a:t>2</a:t>
            </a:r>
            <a:endParaRPr lang="en-US" sz="1100" dirty="0"/>
          </a:p>
        </p:txBody>
      </p:sp>
      <p:sp>
        <p:nvSpPr>
          <p:cNvPr id="17" name="Text 13"/>
          <p:cNvSpPr txBox="1"/>
          <p:nvPr/>
        </p:nvSpPr>
        <p:spPr>
          <a:xfrm>
            <a:off x="2702052" y="2926080"/>
            <a:ext cx="1604772" cy="566928"/>
          </a:xfrm>
          <a:prstGeom prst="rect">
            <a:avLst/>
          </a:prstGeom>
          <a:noFill/>
          <a:ln/>
        </p:spPr>
        <p:txBody>
          <a:bodyPr wrap="square" lIns="0" tIns="0" rIns="0" bIns="0" rtlCol="0" anchor="t"/>
          <a:lstStyle/>
          <a:p>
            <a:pPr algn="ctr" indent="0" marL="0">
              <a:buNone/>
            </a:pPr>
            <a:r>
              <a:rPr lang="en-US" sz="1600" b="1" dirty="0">
                <a:solidFill>
                  <a:schemeClr val="tx2"/>
                </a:solidFill>
              </a:rPr>
              <a:t>Cifra</a:t>
            </a:r>
            <a:endParaRPr lang="en-US" sz="1600" dirty="0"/>
          </a:p>
        </p:txBody>
      </p:sp>
      <p:sp>
        <p:nvSpPr>
          <p:cNvPr id="18" name="Text 14"/>
          <p:cNvSpPr txBox="1"/>
          <p:nvPr/>
        </p:nvSpPr>
        <p:spPr>
          <a:xfrm>
            <a:off x="2702052" y="3529584"/>
            <a:ext cx="1604772" cy="594360"/>
          </a:xfrm>
          <a:prstGeom prst="rect">
            <a:avLst/>
          </a:prstGeom>
          <a:noFill/>
          <a:ln/>
        </p:spPr>
        <p:txBody>
          <a:bodyPr wrap="square" lIns="0" tIns="0" rIns="0" bIns="0" rtlCol="0" anchor="t"/>
          <a:lstStyle/>
          <a:p>
            <a:pPr algn="ctr" indent="0" marL="0">
              <a:buNone/>
            </a:pPr>
            <a:r>
              <a:rPr lang="en-US" sz="1400" dirty="0">
                <a:solidFill>
                  <a:schemeClr val="accent5"/>
                </a:solidFill>
              </a:rPr>
              <a:t>Con la llave pública de Luis</a:t>
            </a:r>
            <a:endParaRPr lang="en-US" sz="1400" dirty="0"/>
          </a:p>
        </p:txBody>
      </p:sp>
      <p:sp>
        <p:nvSpPr>
          <p:cNvPr id="19" name="Shape 15"/>
          <p:cNvSpPr/>
          <p:nvPr/>
        </p:nvSpPr>
        <p:spPr>
          <a:xfrm>
            <a:off x="4453128" y="2948940"/>
            <a:ext cx="237744" cy="914"/>
          </a:xfrm>
          <a:prstGeom prst="line">
            <a:avLst/>
          </a:prstGeom>
          <a:noFill/>
          <a:ln w="25400">
            <a:solidFill>
              <a:schemeClr val="accent5"/>
            </a:solidFill>
            <a:prstDash val="solid"/>
            <a:tailEnd type="triangle"/>
          </a:ln>
        </p:spPr>
      </p:sp>
      <p:sp>
        <p:nvSpPr>
          <p:cNvPr id="20" name="Shape 16"/>
          <p:cNvSpPr/>
          <p:nvPr/>
        </p:nvSpPr>
        <p:spPr>
          <a:xfrm>
            <a:off x="4727448" y="1691640"/>
            <a:ext cx="1824228" cy="2514600"/>
          </a:xfrm>
          <a:prstGeom prst="roundRect">
            <a:avLst>
              <a:gd name="adj" fmla="val 4010"/>
            </a:avLst>
          </a:prstGeom>
          <a:solidFill>
            <a:schemeClr val="bg2"/>
          </a:solidFill>
          <a:ln w="12700">
            <a:solidFill>
              <a:schemeClr val="bg2"/>
            </a:solidFill>
            <a:prstDash val="solid"/>
          </a:ln>
        </p:spPr>
      </p:sp>
      <p:sp>
        <p:nvSpPr>
          <p:cNvPr id="21" name="Shape 17"/>
          <p:cNvSpPr/>
          <p:nvPr/>
        </p:nvSpPr>
        <p:spPr>
          <a:xfrm>
            <a:off x="5273802" y="2011680"/>
            <a:ext cx="731520" cy="731520"/>
          </a:xfrm>
          <a:prstGeom prst="ellipse">
            <a:avLst/>
          </a:prstGeom>
          <a:solidFill>
            <a:schemeClr val="accent1"/>
          </a:solidFill>
          <a:ln w="12700">
            <a:solidFill>
              <a:schemeClr val="accent1"/>
            </a:solidFill>
            <a:prstDash val="solid"/>
          </a:ln>
        </p:spPr>
      </p:sp>
      <p:pic>
        <p:nvPicPr>
          <p:cNvPr id="22" name="Image 2" descr="preencoded.png">    </p:cNvPr>
          <p:cNvPicPr>
            <a:picLocks noChangeAspect="1"/>
          </p:cNvPicPr>
          <p:nvPr/>
        </p:nvPicPr>
        <p:blipFill>
          <a:blip r:embed="rId3"/>
          <a:stretch>
            <a:fillRect/>
          </a:stretch>
        </p:blipFill>
        <p:spPr>
          <a:xfrm>
            <a:off x="5456682" y="2194560"/>
            <a:ext cx="365760" cy="365760"/>
          </a:xfrm>
          <a:prstGeom prst="rect">
            <a:avLst/>
          </a:prstGeom>
        </p:spPr>
      </p:pic>
      <p:sp>
        <p:nvSpPr>
          <p:cNvPr id="23" name="Shape 18"/>
          <p:cNvSpPr/>
          <p:nvPr/>
        </p:nvSpPr>
        <p:spPr>
          <a:xfrm>
            <a:off x="4837176" y="1801368"/>
            <a:ext cx="292608" cy="292608"/>
          </a:xfrm>
          <a:prstGeom prst="ellipse">
            <a:avLst/>
          </a:prstGeom>
          <a:solidFill>
            <a:schemeClr val="accent2"/>
          </a:solidFill>
          <a:ln w="12700">
            <a:solidFill>
              <a:schemeClr val="accent2"/>
            </a:solidFill>
            <a:prstDash val="solid"/>
          </a:ln>
        </p:spPr>
      </p:sp>
      <p:sp>
        <p:nvSpPr>
          <p:cNvPr id="24" name="Text 19"/>
          <p:cNvSpPr txBox="1"/>
          <p:nvPr/>
        </p:nvSpPr>
        <p:spPr>
          <a:xfrm>
            <a:off x="4837176" y="1801368"/>
            <a:ext cx="292608" cy="292608"/>
          </a:xfrm>
          <a:prstGeom prst="rect">
            <a:avLst/>
          </a:prstGeom>
          <a:noFill/>
          <a:ln/>
        </p:spPr>
        <p:txBody>
          <a:bodyPr wrap="square" lIns="0" tIns="0" rIns="0" bIns="0" rtlCol="0" anchor="ctr"/>
          <a:lstStyle/>
          <a:p>
            <a:pPr algn="ctr" indent="0" marL="0">
              <a:buNone/>
            </a:pPr>
            <a:r>
              <a:rPr lang="en-US" sz="1100" b="1" dirty="0">
                <a:solidFill>
                  <a:schemeClr val="tx2"/>
                </a:solidFill>
              </a:rPr>
              <a:t>3</a:t>
            </a:r>
            <a:endParaRPr lang="en-US" sz="1100" dirty="0"/>
          </a:p>
        </p:txBody>
      </p:sp>
      <p:sp>
        <p:nvSpPr>
          <p:cNvPr id="25" name="Text 20"/>
          <p:cNvSpPr txBox="1"/>
          <p:nvPr/>
        </p:nvSpPr>
        <p:spPr>
          <a:xfrm>
            <a:off x="4837176" y="2926080"/>
            <a:ext cx="1604772" cy="566928"/>
          </a:xfrm>
          <a:prstGeom prst="rect">
            <a:avLst/>
          </a:prstGeom>
          <a:noFill/>
          <a:ln/>
        </p:spPr>
        <p:txBody>
          <a:bodyPr wrap="square" lIns="0" tIns="0" rIns="0" bIns="0" rtlCol="0" anchor="t"/>
          <a:lstStyle/>
          <a:p>
            <a:pPr algn="ctr" indent="0" marL="0">
              <a:buNone/>
            </a:pPr>
            <a:r>
              <a:rPr lang="en-US" sz="1600" b="1" dirty="0">
                <a:solidFill>
                  <a:schemeClr val="tx2"/>
                </a:solidFill>
              </a:rPr>
              <a:t>Viaja</a:t>
            </a:r>
            <a:endParaRPr lang="en-US" sz="1600" dirty="0"/>
          </a:p>
        </p:txBody>
      </p:sp>
      <p:sp>
        <p:nvSpPr>
          <p:cNvPr id="26" name="Text 21"/>
          <p:cNvSpPr txBox="1"/>
          <p:nvPr/>
        </p:nvSpPr>
        <p:spPr>
          <a:xfrm>
            <a:off x="4837176" y="3529584"/>
            <a:ext cx="1604772" cy="594360"/>
          </a:xfrm>
          <a:prstGeom prst="rect">
            <a:avLst/>
          </a:prstGeom>
          <a:noFill/>
          <a:ln/>
        </p:spPr>
        <p:txBody>
          <a:bodyPr wrap="square" lIns="0" tIns="0" rIns="0" bIns="0" rtlCol="0" anchor="t"/>
          <a:lstStyle/>
          <a:p>
            <a:pPr algn="ctr" indent="0" marL="0">
              <a:buNone/>
            </a:pPr>
            <a:r>
              <a:rPr lang="en-US" sz="1400" dirty="0">
                <a:solidFill>
                  <a:schemeClr val="accent5"/>
                </a:solidFill>
              </a:rPr>
              <a:t>Ilegible para cualquiera</a:t>
            </a:r>
            <a:endParaRPr lang="en-US" sz="1400" dirty="0"/>
          </a:p>
        </p:txBody>
      </p:sp>
      <p:sp>
        <p:nvSpPr>
          <p:cNvPr id="27" name="Shape 22"/>
          <p:cNvSpPr/>
          <p:nvPr/>
        </p:nvSpPr>
        <p:spPr>
          <a:xfrm>
            <a:off x="6588252" y="2948940"/>
            <a:ext cx="237744" cy="914"/>
          </a:xfrm>
          <a:prstGeom prst="line">
            <a:avLst/>
          </a:prstGeom>
          <a:noFill/>
          <a:ln w="25400">
            <a:solidFill>
              <a:schemeClr val="accent5"/>
            </a:solidFill>
            <a:prstDash val="solid"/>
            <a:tailEnd type="triangle"/>
          </a:ln>
        </p:spPr>
      </p:sp>
      <p:sp>
        <p:nvSpPr>
          <p:cNvPr id="28" name="Shape 23"/>
          <p:cNvSpPr/>
          <p:nvPr/>
        </p:nvSpPr>
        <p:spPr>
          <a:xfrm>
            <a:off x="6862572" y="1691640"/>
            <a:ext cx="1824228" cy="2514600"/>
          </a:xfrm>
          <a:prstGeom prst="roundRect">
            <a:avLst>
              <a:gd name="adj" fmla="val 4010"/>
            </a:avLst>
          </a:prstGeom>
          <a:solidFill>
            <a:schemeClr val="bg2"/>
          </a:solidFill>
          <a:ln w="19050">
            <a:solidFill>
              <a:schemeClr val="accent4"/>
            </a:solidFill>
            <a:prstDash val="solid"/>
          </a:ln>
        </p:spPr>
      </p:sp>
      <p:sp>
        <p:nvSpPr>
          <p:cNvPr id="29" name="Shape 24"/>
          <p:cNvSpPr/>
          <p:nvPr/>
        </p:nvSpPr>
        <p:spPr>
          <a:xfrm>
            <a:off x="7408926" y="2011680"/>
            <a:ext cx="731520" cy="731520"/>
          </a:xfrm>
          <a:prstGeom prst="ellipse">
            <a:avLst/>
          </a:prstGeom>
          <a:solidFill>
            <a:schemeClr val="accent4"/>
          </a:solidFill>
          <a:ln w="12700">
            <a:solidFill>
              <a:schemeClr val="accent4"/>
            </a:solidFill>
            <a:prstDash val="solid"/>
          </a:ln>
        </p:spPr>
      </p:sp>
      <p:pic>
        <p:nvPicPr>
          <p:cNvPr id="30" name="Image 3" descr="preencoded.png">    </p:cNvPr>
          <p:cNvPicPr>
            <a:picLocks noChangeAspect="1"/>
          </p:cNvPicPr>
          <p:nvPr/>
        </p:nvPicPr>
        <p:blipFill>
          <a:blip r:embed="rId4"/>
          <a:stretch>
            <a:fillRect/>
          </a:stretch>
        </p:blipFill>
        <p:spPr>
          <a:xfrm>
            <a:off x="7591806" y="2194560"/>
            <a:ext cx="365760" cy="365760"/>
          </a:xfrm>
          <a:prstGeom prst="rect">
            <a:avLst/>
          </a:prstGeom>
        </p:spPr>
      </p:pic>
      <p:sp>
        <p:nvSpPr>
          <p:cNvPr id="31" name="Shape 25"/>
          <p:cNvSpPr/>
          <p:nvPr/>
        </p:nvSpPr>
        <p:spPr>
          <a:xfrm>
            <a:off x="6972300" y="1801368"/>
            <a:ext cx="292608" cy="292608"/>
          </a:xfrm>
          <a:prstGeom prst="ellipse">
            <a:avLst/>
          </a:prstGeom>
          <a:solidFill>
            <a:schemeClr val="accent2"/>
          </a:solidFill>
          <a:ln w="12700">
            <a:solidFill>
              <a:schemeClr val="accent2"/>
            </a:solidFill>
            <a:prstDash val="solid"/>
          </a:ln>
        </p:spPr>
      </p:sp>
      <p:sp>
        <p:nvSpPr>
          <p:cNvPr id="32" name="Text 26"/>
          <p:cNvSpPr txBox="1"/>
          <p:nvPr/>
        </p:nvSpPr>
        <p:spPr>
          <a:xfrm>
            <a:off x="6972300" y="1801368"/>
            <a:ext cx="292608" cy="292608"/>
          </a:xfrm>
          <a:prstGeom prst="rect">
            <a:avLst/>
          </a:prstGeom>
          <a:noFill/>
          <a:ln/>
        </p:spPr>
        <p:txBody>
          <a:bodyPr wrap="square" lIns="0" tIns="0" rIns="0" bIns="0" rtlCol="0" anchor="ctr"/>
          <a:lstStyle/>
          <a:p>
            <a:pPr algn="ctr" indent="0" marL="0">
              <a:buNone/>
            </a:pPr>
            <a:r>
              <a:rPr lang="en-US" sz="1100" b="1" dirty="0">
                <a:solidFill>
                  <a:schemeClr val="tx2"/>
                </a:solidFill>
              </a:rPr>
              <a:t>4</a:t>
            </a:r>
            <a:endParaRPr lang="en-US" sz="1100" dirty="0"/>
          </a:p>
        </p:txBody>
      </p:sp>
      <p:sp>
        <p:nvSpPr>
          <p:cNvPr id="33" name="Text 27"/>
          <p:cNvSpPr txBox="1"/>
          <p:nvPr/>
        </p:nvSpPr>
        <p:spPr>
          <a:xfrm>
            <a:off x="6972300" y="2926080"/>
            <a:ext cx="1604772" cy="566928"/>
          </a:xfrm>
          <a:prstGeom prst="rect">
            <a:avLst/>
          </a:prstGeom>
          <a:noFill/>
          <a:ln/>
        </p:spPr>
        <p:txBody>
          <a:bodyPr wrap="square" lIns="0" tIns="0" rIns="0" bIns="0" rtlCol="0" anchor="t"/>
          <a:lstStyle/>
          <a:p>
            <a:pPr algn="ctr" indent="0" marL="0">
              <a:buNone/>
            </a:pPr>
            <a:r>
              <a:rPr lang="en-US" sz="1600" b="1" dirty="0">
                <a:solidFill>
                  <a:schemeClr val="tx2"/>
                </a:solidFill>
              </a:rPr>
              <a:t>Luis descifra</a:t>
            </a:r>
            <a:endParaRPr lang="en-US" sz="1600" dirty="0"/>
          </a:p>
        </p:txBody>
      </p:sp>
      <p:sp>
        <p:nvSpPr>
          <p:cNvPr id="34" name="Text 28"/>
          <p:cNvSpPr txBox="1"/>
          <p:nvPr/>
        </p:nvSpPr>
        <p:spPr>
          <a:xfrm>
            <a:off x="6972300" y="3529584"/>
            <a:ext cx="1604772" cy="594360"/>
          </a:xfrm>
          <a:prstGeom prst="rect">
            <a:avLst/>
          </a:prstGeom>
          <a:noFill/>
          <a:ln/>
        </p:spPr>
        <p:txBody>
          <a:bodyPr wrap="square" lIns="0" tIns="0" rIns="0" bIns="0" rtlCol="0" anchor="t"/>
          <a:lstStyle/>
          <a:p>
            <a:pPr algn="ctr" indent="0" marL="0">
              <a:buNone/>
            </a:pPr>
            <a:r>
              <a:rPr lang="en-US" sz="1400" dirty="0">
                <a:solidFill>
                  <a:schemeClr val="accent5"/>
                </a:solidFill>
              </a:rPr>
              <a:t>Con su llave privada</a:t>
            </a:r>
            <a:endParaRPr lang="en-US" sz="1400" dirty="0"/>
          </a:p>
        </p:txBody>
      </p:sp>
      <p:sp>
        <p:nvSpPr>
          <p:cNvPr id="25" name="Slide Number Placeholder 0"/>
          <p:cNvSpPr>
            <a:spLocks noGrp="1"/>
          </p:cNvSpPr>
          <p:nvPr>
            <p:ph type="sldNum" sz="quarter" idx="4294967295"/>
          </p:nvPr>
        </p:nvSpPr>
        <p:spPr>
          <a:xfrm>
            <a:off x="8138160" y="4791456"/>
            <a:ext cx="548640" cy="237744"/>
          </a:xfrm>
          <a:prstGeom prst="rect">
            <a:avLst/>
          </a:prstGeom>
          <a:extLst>
            <a:ext uri="{C572A759-6A51-4108-AA02-DFA0A04FC94B}">
              <ma14:wrappingTextBoxFlag xmlns:ma14="http://schemas.microsoft.com/office/mac/drawingml/2011/main" val="0"/>
            </a:ext>
          </a:extLst>
        </p:spPr>
        <p:txBody>
          <a:bodyPr anchor="ctr"/>
          <a:lstStyle>
            <a:lvl1pPr>
              <a:defRPr sz="9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182880"/>
            <a:ext cx="8229600" cy="237744"/>
          </a:xfrm>
          <a:prstGeom prst="rect">
            <a:avLst/>
          </a:prstGeom>
          <a:noFill/>
          <a:ln/>
        </p:spPr>
        <p:txBody>
          <a:bodyPr wrap="square" lIns="0" tIns="0" rIns="0" bIns="0" rtlCol="0" anchor="t"/>
          <a:lstStyle/>
          <a:p>
            <a:pPr indent="0" marL="0">
              <a:buNone/>
            </a:pPr>
            <a:r>
              <a:rPr lang="en-US" sz="1100" b="1" spc="150" kern="0" dirty="0">
                <a:solidFill>
                  <a:schemeClr val="accent1"/>
                </a:solidFill>
              </a:rPr>
              <a:t>CASO 2 · LO QUE APRENDIMOS</a:t>
            </a:r>
            <a:endParaRPr lang="en-US" sz="1100" dirty="0"/>
          </a:p>
        </p:txBody>
      </p:sp>
      <p:sp>
        <p:nvSpPr>
          <p:cNvPr id="3" name="Text 0"/>
          <p:cNvSpPr/>
          <p:nvPr>
            <p:ph idx="100" type="title" hasCustomPrompt="1"/>
          </p:nvPr>
        </p:nvSpPr>
        <p:spPr>
          <a:xfrm>
            <a:off x="457200" y="420624"/>
            <a:ext cx="8229600" cy="640080"/>
          </a:xfrm>
          <a:prstGeom prst="rect">
            <a:avLst/>
          </a:prstGeom>
          <a:noFill/>
          <a:ln/>
        </p:spPr>
        <p:txBody>
          <a:bodyPr wrap="square" lIns="0" tIns="0" rIns="0" bIns="0" rtlCol="0" anchor="t"/>
          <a:lstStyle/>
          <a:p>
            <a:pPr algn="l" indent="0" marL="0">
              <a:buNone/>
            </a:pPr>
            <a:r>
              <a:rPr lang="en-US" sz="2600" b="1" dirty="0">
                <a:solidFill>
                  <a:schemeClr val="tx2"/>
                </a:solidFill>
              </a:rPr>
              <a:t>El mensaje para Luis</a:t>
            </a:r>
            <a:endParaRPr lang="en-US" sz="2600" dirty="0"/>
          </a:p>
        </p:txBody>
      </p:sp>
      <p:sp>
        <p:nvSpPr>
          <p:cNvPr id="4" name="Shape 2"/>
          <p:cNvSpPr/>
          <p:nvPr/>
        </p:nvSpPr>
        <p:spPr>
          <a:xfrm>
            <a:off x="457200" y="1325880"/>
            <a:ext cx="4754880" cy="960120"/>
          </a:xfrm>
          <a:prstGeom prst="roundRect">
            <a:avLst>
              <a:gd name="adj" fmla="val 7619"/>
            </a:avLst>
          </a:prstGeom>
          <a:solidFill>
            <a:schemeClr val="bg2"/>
          </a:solidFill>
          <a:ln w="12700">
            <a:solidFill>
              <a:schemeClr val="bg2"/>
            </a:solidFill>
            <a:prstDash val="solid"/>
          </a:ln>
        </p:spPr>
      </p:sp>
      <p:sp>
        <p:nvSpPr>
          <p:cNvPr id="5" name="Shape 3"/>
          <p:cNvSpPr/>
          <p:nvPr/>
        </p:nvSpPr>
        <p:spPr>
          <a:xfrm>
            <a:off x="640080" y="1581912"/>
            <a:ext cx="457200" cy="457200"/>
          </a:xfrm>
          <a:prstGeom prst="ellipse">
            <a:avLst/>
          </a:prstGeom>
          <a:solidFill>
            <a:schemeClr val="accent1"/>
          </a:solidFill>
          <a:ln w="12700">
            <a:solidFill>
              <a:schemeClr val="accent1"/>
            </a:solidFill>
            <a:prstDash val="solid"/>
          </a:ln>
        </p:spPr>
      </p:sp>
      <p:sp>
        <p:nvSpPr>
          <p:cNvPr id="6" name="Text 4"/>
          <p:cNvSpPr txBox="1"/>
          <p:nvPr/>
        </p:nvSpPr>
        <p:spPr>
          <a:xfrm>
            <a:off x="640080" y="1581912"/>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7" name="Text 5"/>
          <p:cNvSpPr txBox="1"/>
          <p:nvPr/>
        </p:nvSpPr>
        <p:spPr>
          <a:xfrm>
            <a:off x="1280160" y="1435608"/>
            <a:ext cx="3794760" cy="347472"/>
          </a:xfrm>
          <a:prstGeom prst="rect">
            <a:avLst/>
          </a:prstGeom>
          <a:noFill/>
          <a:ln/>
        </p:spPr>
        <p:txBody>
          <a:bodyPr wrap="square" lIns="0" tIns="0" rIns="0" bIns="0" rtlCol="0" anchor="t"/>
          <a:lstStyle/>
          <a:p>
            <a:pPr indent="0" marL="0">
              <a:buNone/>
            </a:pPr>
            <a:r>
              <a:rPr lang="en-US" sz="1700" b="1" dirty="0">
                <a:solidFill>
                  <a:schemeClr val="tx2"/>
                </a:solidFill>
              </a:rPr>
              <a:t>Cifrado simétrico</a:t>
            </a:r>
            <a:endParaRPr lang="en-US" sz="1700" dirty="0"/>
          </a:p>
        </p:txBody>
      </p:sp>
      <p:sp>
        <p:nvSpPr>
          <p:cNvPr id="8" name="Text 6"/>
          <p:cNvSpPr txBox="1"/>
          <p:nvPr/>
        </p:nvSpPr>
        <p:spPr>
          <a:xfrm>
            <a:off x="1280160" y="1801368"/>
            <a:ext cx="3794760" cy="411480"/>
          </a:xfrm>
          <a:prstGeom prst="rect">
            <a:avLst/>
          </a:prstGeom>
          <a:noFill/>
          <a:ln/>
        </p:spPr>
        <p:txBody>
          <a:bodyPr wrap="square" lIns="0" tIns="0" rIns="0" bIns="0" rtlCol="0" anchor="t"/>
          <a:lstStyle/>
          <a:p>
            <a:pPr indent="0" marL="0">
              <a:buNone/>
            </a:pPr>
            <a:r>
              <a:rPr lang="en-US" sz="1400" dirty="0">
                <a:solidFill>
                  <a:schemeClr val="tx1"/>
                </a:solidFill>
              </a:rPr>
              <a:t>Una sola llave: AES</a:t>
            </a:r>
            <a:endParaRPr lang="en-US" sz="1400" dirty="0"/>
          </a:p>
        </p:txBody>
      </p:sp>
      <p:sp>
        <p:nvSpPr>
          <p:cNvPr id="9" name="Shape 7"/>
          <p:cNvSpPr/>
          <p:nvPr/>
        </p:nvSpPr>
        <p:spPr>
          <a:xfrm>
            <a:off x="457200" y="2423160"/>
            <a:ext cx="4754880" cy="960120"/>
          </a:xfrm>
          <a:prstGeom prst="roundRect">
            <a:avLst>
              <a:gd name="adj" fmla="val 7619"/>
            </a:avLst>
          </a:prstGeom>
          <a:solidFill>
            <a:schemeClr val="bg2"/>
          </a:solidFill>
          <a:ln w="12700">
            <a:solidFill>
              <a:schemeClr val="bg2"/>
            </a:solidFill>
            <a:prstDash val="solid"/>
          </a:ln>
        </p:spPr>
      </p:sp>
      <p:sp>
        <p:nvSpPr>
          <p:cNvPr id="10" name="Shape 8"/>
          <p:cNvSpPr/>
          <p:nvPr/>
        </p:nvSpPr>
        <p:spPr>
          <a:xfrm>
            <a:off x="640080" y="2679192"/>
            <a:ext cx="457200" cy="457200"/>
          </a:xfrm>
          <a:prstGeom prst="ellipse">
            <a:avLst/>
          </a:prstGeom>
          <a:solidFill>
            <a:schemeClr val="accent1"/>
          </a:solidFill>
          <a:ln w="12700">
            <a:solidFill>
              <a:schemeClr val="accent1"/>
            </a:solidFill>
            <a:prstDash val="solid"/>
          </a:ln>
        </p:spPr>
      </p:sp>
      <p:sp>
        <p:nvSpPr>
          <p:cNvPr id="11" name="Text 9"/>
          <p:cNvSpPr txBox="1"/>
          <p:nvPr/>
        </p:nvSpPr>
        <p:spPr>
          <a:xfrm>
            <a:off x="640080" y="2679192"/>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2" name="Text 10"/>
          <p:cNvSpPr txBox="1"/>
          <p:nvPr/>
        </p:nvSpPr>
        <p:spPr>
          <a:xfrm>
            <a:off x="1280160" y="2532888"/>
            <a:ext cx="3794760" cy="347472"/>
          </a:xfrm>
          <a:prstGeom prst="rect">
            <a:avLst/>
          </a:prstGeom>
          <a:noFill/>
          <a:ln/>
        </p:spPr>
        <p:txBody>
          <a:bodyPr wrap="square" lIns="0" tIns="0" rIns="0" bIns="0" rtlCol="0" anchor="t"/>
          <a:lstStyle/>
          <a:p>
            <a:pPr indent="0" marL="0">
              <a:buNone/>
            </a:pPr>
            <a:r>
              <a:rPr lang="en-US" sz="1700" b="1" dirty="0">
                <a:solidFill>
                  <a:schemeClr val="tx2"/>
                </a:solidFill>
              </a:rPr>
              <a:t>Cifrado asimétrico</a:t>
            </a:r>
            <a:endParaRPr lang="en-US" sz="1700" dirty="0"/>
          </a:p>
        </p:txBody>
      </p:sp>
      <p:sp>
        <p:nvSpPr>
          <p:cNvPr id="13" name="Text 11"/>
          <p:cNvSpPr txBox="1"/>
          <p:nvPr/>
        </p:nvSpPr>
        <p:spPr>
          <a:xfrm>
            <a:off x="1280160" y="2898648"/>
            <a:ext cx="3794760" cy="411480"/>
          </a:xfrm>
          <a:prstGeom prst="rect">
            <a:avLst/>
          </a:prstGeom>
          <a:noFill/>
          <a:ln/>
        </p:spPr>
        <p:txBody>
          <a:bodyPr wrap="square" lIns="0" tIns="0" rIns="0" bIns="0" rtlCol="0" anchor="t"/>
          <a:lstStyle/>
          <a:p>
            <a:pPr indent="0" marL="0">
              <a:buNone/>
            </a:pPr>
            <a:r>
              <a:rPr lang="en-US" sz="1400" dirty="0">
                <a:solidFill>
                  <a:schemeClr val="tx1"/>
                </a:solidFill>
              </a:rPr>
              <a:t>Llave pública y privada: RSA</a:t>
            </a:r>
            <a:endParaRPr lang="en-US" sz="1400" dirty="0"/>
          </a:p>
        </p:txBody>
      </p:sp>
      <p:sp>
        <p:nvSpPr>
          <p:cNvPr id="14" name="Shape 12"/>
          <p:cNvSpPr/>
          <p:nvPr/>
        </p:nvSpPr>
        <p:spPr>
          <a:xfrm>
            <a:off x="457200" y="3520440"/>
            <a:ext cx="4754880" cy="960120"/>
          </a:xfrm>
          <a:prstGeom prst="roundRect">
            <a:avLst>
              <a:gd name="adj" fmla="val 7619"/>
            </a:avLst>
          </a:prstGeom>
          <a:solidFill>
            <a:schemeClr val="bg2"/>
          </a:solidFill>
          <a:ln w="12700">
            <a:solidFill>
              <a:schemeClr val="bg2"/>
            </a:solidFill>
            <a:prstDash val="solid"/>
          </a:ln>
        </p:spPr>
      </p:sp>
      <p:sp>
        <p:nvSpPr>
          <p:cNvPr id="15" name="Shape 13"/>
          <p:cNvSpPr/>
          <p:nvPr/>
        </p:nvSpPr>
        <p:spPr>
          <a:xfrm>
            <a:off x="640080" y="3776472"/>
            <a:ext cx="457200" cy="457200"/>
          </a:xfrm>
          <a:prstGeom prst="ellipse">
            <a:avLst/>
          </a:prstGeom>
          <a:solidFill>
            <a:schemeClr val="accent1"/>
          </a:solidFill>
          <a:ln w="12700">
            <a:solidFill>
              <a:schemeClr val="accent1"/>
            </a:solidFill>
            <a:prstDash val="solid"/>
          </a:ln>
        </p:spPr>
      </p:sp>
      <p:sp>
        <p:nvSpPr>
          <p:cNvPr id="16" name="Text 14"/>
          <p:cNvSpPr txBox="1"/>
          <p:nvPr/>
        </p:nvSpPr>
        <p:spPr>
          <a:xfrm>
            <a:off x="640080" y="3776472"/>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7" name="Text 15"/>
          <p:cNvSpPr txBox="1"/>
          <p:nvPr/>
        </p:nvSpPr>
        <p:spPr>
          <a:xfrm>
            <a:off x="1280160" y="3630168"/>
            <a:ext cx="3794760" cy="347472"/>
          </a:xfrm>
          <a:prstGeom prst="rect">
            <a:avLst/>
          </a:prstGeom>
          <a:noFill/>
          <a:ln/>
        </p:spPr>
        <p:txBody>
          <a:bodyPr wrap="square" lIns="0" tIns="0" rIns="0" bIns="0" rtlCol="0" anchor="t"/>
          <a:lstStyle/>
          <a:p>
            <a:pPr indent="0" marL="0">
              <a:buNone/>
            </a:pPr>
            <a:r>
              <a:rPr lang="en-US" sz="1700" b="1" dirty="0">
                <a:solidFill>
                  <a:schemeClr val="tx2"/>
                </a:solidFill>
              </a:rPr>
              <a:t>Firma digital</a:t>
            </a:r>
            <a:endParaRPr lang="en-US" sz="1700" dirty="0"/>
          </a:p>
        </p:txBody>
      </p:sp>
      <p:sp>
        <p:nvSpPr>
          <p:cNvPr id="18" name="Text 16"/>
          <p:cNvSpPr txBox="1"/>
          <p:nvPr/>
        </p:nvSpPr>
        <p:spPr>
          <a:xfrm>
            <a:off x="1280160" y="3995928"/>
            <a:ext cx="3794760" cy="411480"/>
          </a:xfrm>
          <a:prstGeom prst="rect">
            <a:avLst/>
          </a:prstGeom>
          <a:noFill/>
          <a:ln/>
        </p:spPr>
        <p:txBody>
          <a:bodyPr wrap="square" lIns="0" tIns="0" rIns="0" bIns="0" rtlCol="0" anchor="t"/>
          <a:lstStyle/>
          <a:p>
            <a:pPr indent="0" marL="0">
              <a:buNone/>
            </a:pPr>
            <a:r>
              <a:rPr lang="en-US" sz="1400" dirty="0">
                <a:solidFill>
                  <a:schemeClr val="tx1"/>
                </a:solidFill>
              </a:rPr>
              <a:t>Hash cifrado con la llave privada del autor</a:t>
            </a:r>
            <a:endParaRPr lang="en-US" sz="1400" dirty="0"/>
          </a:p>
        </p:txBody>
      </p:sp>
      <p:sp>
        <p:nvSpPr>
          <p:cNvPr id="19" name="Shape 17"/>
          <p:cNvSpPr/>
          <p:nvPr/>
        </p:nvSpPr>
        <p:spPr>
          <a:xfrm>
            <a:off x="5486400" y="1325880"/>
            <a:ext cx="3200400" cy="3154680"/>
          </a:xfrm>
          <a:prstGeom prst="roundRect">
            <a:avLst>
              <a:gd name="adj" fmla="val 2319"/>
            </a:avLst>
          </a:prstGeom>
          <a:solidFill>
            <a:schemeClr val="tx2"/>
          </a:solidFill>
          <a:ln w="12700">
            <a:solidFill>
              <a:schemeClr val="tx2"/>
            </a:solidFill>
            <a:prstDash val="solid"/>
          </a:ln>
        </p:spPr>
      </p:sp>
      <p:sp>
        <p:nvSpPr>
          <p:cNvPr id="20" name="Shape 18"/>
          <p:cNvSpPr/>
          <p:nvPr/>
        </p:nvSpPr>
        <p:spPr>
          <a:xfrm>
            <a:off x="5715000" y="1536192"/>
            <a:ext cx="502920" cy="502920"/>
          </a:xfrm>
          <a:prstGeom prst="ellipse">
            <a:avLst/>
          </a:prstGeom>
          <a:solidFill>
            <a:schemeClr val="accent4"/>
          </a:solidFill>
          <a:ln w="12700">
            <a:solidFill>
              <a:schemeClr val="accent4"/>
            </a:solidFill>
            <a:prstDash val="solid"/>
          </a:ln>
        </p:spPr>
      </p:sp>
      <p:pic>
        <p:nvPicPr>
          <p:cNvPr id="21" name="Image 0" descr="preencoded.png">    </p:cNvPr>
          <p:cNvPicPr>
            <a:picLocks noChangeAspect="1"/>
          </p:cNvPicPr>
          <p:nvPr/>
        </p:nvPicPr>
        <p:blipFill>
          <a:blip r:embed="rId1"/>
          <a:stretch>
            <a:fillRect/>
          </a:stretch>
        </p:blipFill>
        <p:spPr>
          <a:xfrm>
            <a:off x="5840730" y="1661922"/>
            <a:ext cx="251460" cy="251460"/>
          </a:xfrm>
          <a:prstGeom prst="rect">
            <a:avLst/>
          </a:prstGeom>
        </p:spPr>
      </p:pic>
      <p:sp>
        <p:nvSpPr>
          <p:cNvPr id="22" name="Text 19"/>
          <p:cNvSpPr txBox="1"/>
          <p:nvPr/>
        </p:nvSpPr>
        <p:spPr>
          <a:xfrm>
            <a:off x="6355080" y="1536192"/>
            <a:ext cx="2194560" cy="502920"/>
          </a:xfrm>
          <a:prstGeom prst="rect">
            <a:avLst/>
          </a:prstGeom>
          <a:noFill/>
          <a:ln/>
        </p:spPr>
        <p:txBody>
          <a:bodyPr wrap="square" lIns="0" tIns="0" rIns="0" bIns="0" rtlCol="0" anchor="ctr"/>
          <a:lstStyle/>
          <a:p>
            <a:pPr indent="0" marL="0">
              <a:buNone/>
            </a:pPr>
            <a:r>
              <a:rPr lang="en-US" sz="1700" b="1" dirty="0">
                <a:solidFill>
                  <a:schemeClr val="bg1"/>
                </a:solidFill>
              </a:rPr>
              <a:t>Regla de oro</a:t>
            </a:r>
            <a:endParaRPr lang="en-US" sz="1700" dirty="0"/>
          </a:p>
        </p:txBody>
      </p:sp>
      <p:pic>
        <p:nvPicPr>
          <p:cNvPr id="23" name="Image 1" descr="preencoded.png">    </p:cNvPr>
          <p:cNvPicPr>
            <a:picLocks noChangeAspect="1"/>
          </p:cNvPicPr>
          <p:nvPr/>
        </p:nvPicPr>
        <p:blipFill>
          <a:blip r:embed="rId2"/>
          <a:stretch>
            <a:fillRect/>
          </a:stretch>
        </p:blipFill>
        <p:spPr>
          <a:xfrm>
            <a:off x="5733288" y="2313432"/>
            <a:ext cx="274320" cy="274320"/>
          </a:xfrm>
          <a:prstGeom prst="rect">
            <a:avLst/>
          </a:prstGeom>
        </p:spPr>
      </p:pic>
      <p:sp>
        <p:nvSpPr>
          <p:cNvPr id="24" name="Text 20"/>
          <p:cNvSpPr txBox="1"/>
          <p:nvPr/>
        </p:nvSpPr>
        <p:spPr>
          <a:xfrm>
            <a:off x="6144768" y="2286000"/>
            <a:ext cx="2395728" cy="658368"/>
          </a:xfrm>
          <a:prstGeom prst="rect">
            <a:avLst/>
          </a:prstGeom>
          <a:noFill/>
          <a:ln/>
        </p:spPr>
        <p:txBody>
          <a:bodyPr wrap="square" lIns="0" tIns="0" rIns="0" bIns="0" rtlCol="0" anchor="t"/>
          <a:lstStyle/>
          <a:p>
            <a:pPr indent="0" marL="0">
              <a:buNone/>
            </a:pPr>
            <a:r>
              <a:rPr lang="en-US" sz="1400" dirty="0">
                <a:solidFill>
                  <a:schemeClr val="bg1"/>
                </a:solidFill>
              </a:rPr>
              <a:t>Para que solo él lea: su pública</a:t>
            </a:r>
            <a:endParaRPr lang="en-US" sz="1400" dirty="0"/>
          </a:p>
        </p:txBody>
      </p:sp>
      <p:pic>
        <p:nvPicPr>
          <p:cNvPr id="25" name="Image 2" descr="preencoded.png">    </p:cNvPr>
          <p:cNvPicPr>
            <a:picLocks noChangeAspect="1"/>
          </p:cNvPicPr>
          <p:nvPr/>
        </p:nvPicPr>
        <p:blipFill>
          <a:blip r:embed="rId3"/>
          <a:stretch>
            <a:fillRect/>
          </a:stretch>
        </p:blipFill>
        <p:spPr>
          <a:xfrm>
            <a:off x="5733288" y="3026664"/>
            <a:ext cx="274320" cy="274320"/>
          </a:xfrm>
          <a:prstGeom prst="rect">
            <a:avLst/>
          </a:prstGeom>
        </p:spPr>
      </p:pic>
      <p:sp>
        <p:nvSpPr>
          <p:cNvPr id="26" name="Text 21"/>
          <p:cNvSpPr txBox="1"/>
          <p:nvPr/>
        </p:nvSpPr>
        <p:spPr>
          <a:xfrm>
            <a:off x="6144768" y="2999232"/>
            <a:ext cx="2395728" cy="658368"/>
          </a:xfrm>
          <a:prstGeom prst="rect">
            <a:avLst/>
          </a:prstGeom>
          <a:noFill/>
          <a:ln/>
        </p:spPr>
        <p:txBody>
          <a:bodyPr wrap="square" lIns="0" tIns="0" rIns="0" bIns="0" rtlCol="0" anchor="t"/>
          <a:lstStyle/>
          <a:p>
            <a:pPr indent="0" marL="0">
              <a:buNone/>
            </a:pPr>
            <a:r>
              <a:rPr lang="en-US" sz="1400" dirty="0">
                <a:solidFill>
                  <a:schemeClr val="bg1"/>
                </a:solidFill>
              </a:rPr>
              <a:t>Para firmar: mi privada</a:t>
            </a:r>
            <a:endParaRPr lang="en-US" sz="1400" dirty="0"/>
          </a:p>
        </p:txBody>
      </p:sp>
      <p:pic>
        <p:nvPicPr>
          <p:cNvPr id="27" name="Image 3" descr="preencoded.png">    </p:cNvPr>
          <p:cNvPicPr>
            <a:picLocks noChangeAspect="1"/>
          </p:cNvPicPr>
          <p:nvPr/>
        </p:nvPicPr>
        <p:blipFill>
          <a:blip r:embed="rId4"/>
          <a:stretch>
            <a:fillRect/>
          </a:stretch>
        </p:blipFill>
        <p:spPr>
          <a:xfrm>
            <a:off x="5733288" y="3739896"/>
            <a:ext cx="274320" cy="274320"/>
          </a:xfrm>
          <a:prstGeom prst="rect">
            <a:avLst/>
          </a:prstGeom>
        </p:spPr>
      </p:pic>
      <p:sp>
        <p:nvSpPr>
          <p:cNvPr id="28" name="Text 22"/>
          <p:cNvSpPr txBox="1"/>
          <p:nvPr/>
        </p:nvSpPr>
        <p:spPr>
          <a:xfrm>
            <a:off x="6144768" y="3712464"/>
            <a:ext cx="2395728" cy="658368"/>
          </a:xfrm>
          <a:prstGeom prst="rect">
            <a:avLst/>
          </a:prstGeom>
          <a:noFill/>
          <a:ln/>
        </p:spPr>
        <p:txBody>
          <a:bodyPr wrap="square" lIns="0" tIns="0" rIns="0" bIns="0" rtlCol="0" anchor="t"/>
          <a:lstStyle/>
          <a:p>
            <a:pPr indent="0" marL="0">
              <a:buNone/>
            </a:pPr>
            <a:r>
              <a:rPr lang="en-US" sz="1400" dirty="0">
                <a:solidFill>
                  <a:schemeClr val="bg1"/>
                </a:solidFill>
              </a:rPr>
              <a:t>La privada nunca se comparte</a:t>
            </a:r>
            <a:endParaRPr lang="en-US" sz="1400" dirty="0"/>
          </a:p>
        </p:txBody>
      </p:sp>
      <p:sp>
        <p:nvSpPr>
          <p:cNvPr id="25" name="Slide Number Placeholder 0"/>
          <p:cNvSpPr>
            <a:spLocks noGrp="1"/>
          </p:cNvSpPr>
          <p:nvPr>
            <p:ph type="sldNum" sz="quarter" idx="4294967295"/>
          </p:nvPr>
        </p:nvSpPr>
        <p:spPr>
          <a:xfrm>
            <a:off x="8138160" y="4791456"/>
            <a:ext cx="548640" cy="237744"/>
          </a:xfrm>
          <a:prstGeom prst="rect">
            <a:avLst/>
          </a:prstGeom>
          <a:extLst>
            <a:ext uri="{C572A759-6A51-4108-AA02-DFA0A04FC94B}">
              <ma14:wrappingTextBoxFlag xmlns:ma14="http://schemas.microsoft.com/office/mac/drawingml/2011/main" val="0"/>
            </a:ext>
          </a:extLst>
        </p:spPr>
        <p:txBody>
          <a:bodyPr anchor="ctr"/>
          <a:lstStyle>
            <a:lvl1pPr>
              <a:defRPr sz="9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182880"/>
            <a:ext cx="8229600" cy="237744"/>
          </a:xfrm>
          <a:prstGeom prst="rect">
            <a:avLst/>
          </a:prstGeom>
          <a:noFill/>
          <a:ln/>
        </p:spPr>
        <p:txBody>
          <a:bodyPr wrap="square" lIns="0" tIns="0" rIns="0" bIns="0" rtlCol="0" anchor="t"/>
          <a:lstStyle/>
          <a:p>
            <a:pPr indent="0" marL="0">
              <a:buNone/>
            </a:pPr>
            <a:r>
              <a:rPr lang="en-US" sz="1100" b="1" spc="150" kern="0" dirty="0">
                <a:solidFill>
                  <a:schemeClr val="accent1"/>
                </a:solidFill>
              </a:rPr>
              <a:t>MINI ACTIVIDAD 1</a:t>
            </a:r>
            <a:endParaRPr lang="en-US" sz="1100" dirty="0"/>
          </a:p>
        </p:txBody>
      </p:sp>
      <p:sp>
        <p:nvSpPr>
          <p:cNvPr id="3" name="Text 0"/>
          <p:cNvSpPr/>
          <p:nvPr>
            <p:ph idx="100" type="title" hasCustomPrompt="1"/>
          </p:nvPr>
        </p:nvSpPr>
        <p:spPr>
          <a:xfrm>
            <a:off x="457200" y="420624"/>
            <a:ext cx="8229600" cy="640080"/>
          </a:xfrm>
          <a:prstGeom prst="rect">
            <a:avLst/>
          </a:prstGeom>
          <a:noFill/>
          <a:ln/>
        </p:spPr>
        <p:txBody>
          <a:bodyPr wrap="square" lIns="0" tIns="0" rIns="0" bIns="0" rtlCol="0" anchor="t"/>
          <a:lstStyle/>
          <a:p>
            <a:pPr algn="l" indent="0" marL="0">
              <a:buNone/>
            </a:pPr>
            <a:r>
              <a:rPr lang="en-US" sz="2600" b="1" dirty="0">
                <a:solidFill>
                  <a:schemeClr val="tx2"/>
                </a:solidFill>
              </a:rPr>
              <a:t>Mensajes con cifrado César</a:t>
            </a:r>
            <a:endParaRPr lang="en-US" sz="2600" dirty="0"/>
          </a:p>
        </p:txBody>
      </p:sp>
      <p:sp>
        <p:nvSpPr>
          <p:cNvPr id="4" name="Shape 2"/>
          <p:cNvSpPr/>
          <p:nvPr/>
        </p:nvSpPr>
        <p:spPr>
          <a:xfrm>
            <a:off x="457200" y="1188720"/>
            <a:ext cx="982980" cy="384048"/>
          </a:xfrm>
          <a:prstGeom prst="roundRect">
            <a:avLst>
              <a:gd name="adj" fmla="val 47619"/>
            </a:avLst>
          </a:prstGeom>
          <a:solidFill>
            <a:schemeClr val="accent2">
              <a:alpha val="30000"/>
            </a:schemeClr>
          </a:solidFill>
          <a:ln w="12700">
            <a:solidFill>
              <a:schemeClr val="accent2"/>
            </a:solidFill>
            <a:prstDash val="solid"/>
          </a:ln>
        </p:spPr>
      </p:sp>
      <p:pic>
        <p:nvPicPr>
          <p:cNvPr id="5" name="Image 0" descr="preencoded.png">    </p:cNvPr>
          <p:cNvPicPr>
            <a:picLocks noChangeAspect="1"/>
          </p:cNvPicPr>
          <p:nvPr/>
        </p:nvPicPr>
        <p:blipFill>
          <a:blip r:embed="rId1"/>
          <a:stretch>
            <a:fillRect/>
          </a:stretch>
        </p:blipFill>
        <p:spPr>
          <a:xfrm>
            <a:off x="585216" y="1271016"/>
            <a:ext cx="219456" cy="219456"/>
          </a:xfrm>
          <a:prstGeom prst="rect">
            <a:avLst/>
          </a:prstGeom>
        </p:spPr>
      </p:pic>
      <p:sp>
        <p:nvSpPr>
          <p:cNvPr id="6" name="Text 3"/>
          <p:cNvSpPr txBox="1"/>
          <p:nvPr/>
        </p:nvSpPr>
        <p:spPr>
          <a:xfrm>
            <a:off x="868680" y="1188720"/>
            <a:ext cx="525780" cy="384048"/>
          </a:xfrm>
          <a:prstGeom prst="rect">
            <a:avLst/>
          </a:prstGeom>
          <a:noFill/>
          <a:ln/>
        </p:spPr>
        <p:txBody>
          <a:bodyPr wrap="square" lIns="0" tIns="0" rIns="0" bIns="0" rtlCol="0" anchor="ctr"/>
          <a:lstStyle/>
          <a:p>
            <a:pPr indent="0" marL="0">
              <a:buNone/>
            </a:pPr>
            <a:r>
              <a:rPr lang="en-US" sz="1300" b="1" dirty="0">
                <a:solidFill>
                  <a:schemeClr val="tx2"/>
                </a:solidFill>
              </a:rPr>
              <a:t>5 min</a:t>
            </a:r>
            <a:endParaRPr lang="en-US" sz="1300" dirty="0"/>
          </a:p>
        </p:txBody>
      </p:sp>
      <p:sp>
        <p:nvSpPr>
          <p:cNvPr id="7" name="Shape 4"/>
          <p:cNvSpPr/>
          <p:nvPr/>
        </p:nvSpPr>
        <p:spPr>
          <a:xfrm>
            <a:off x="1577340" y="1188720"/>
            <a:ext cx="1417320" cy="384048"/>
          </a:xfrm>
          <a:prstGeom prst="roundRect">
            <a:avLst>
              <a:gd name="adj" fmla="val 47619"/>
            </a:avLst>
          </a:prstGeom>
          <a:solidFill>
            <a:schemeClr val="accent2">
              <a:alpha val="30000"/>
            </a:schemeClr>
          </a:solidFill>
          <a:ln w="12700">
            <a:solidFill>
              <a:schemeClr val="accent2"/>
            </a:solidFill>
            <a:prstDash val="solid"/>
          </a:ln>
        </p:spPr>
      </p:sp>
      <p:pic>
        <p:nvPicPr>
          <p:cNvPr id="8" name="Image 1" descr="preencoded.png">    </p:cNvPr>
          <p:cNvPicPr>
            <a:picLocks noChangeAspect="1"/>
          </p:cNvPicPr>
          <p:nvPr/>
        </p:nvPicPr>
        <p:blipFill>
          <a:blip r:embed="rId2"/>
          <a:stretch>
            <a:fillRect/>
          </a:stretch>
        </p:blipFill>
        <p:spPr>
          <a:xfrm>
            <a:off x="1705356" y="1271016"/>
            <a:ext cx="219456" cy="219456"/>
          </a:xfrm>
          <a:prstGeom prst="rect">
            <a:avLst/>
          </a:prstGeom>
        </p:spPr>
      </p:pic>
      <p:sp>
        <p:nvSpPr>
          <p:cNvPr id="9" name="Text 5"/>
          <p:cNvSpPr txBox="1"/>
          <p:nvPr/>
        </p:nvSpPr>
        <p:spPr>
          <a:xfrm>
            <a:off x="1988820" y="1188720"/>
            <a:ext cx="960120" cy="384048"/>
          </a:xfrm>
          <a:prstGeom prst="rect">
            <a:avLst/>
          </a:prstGeom>
          <a:noFill/>
          <a:ln/>
        </p:spPr>
        <p:txBody>
          <a:bodyPr wrap="square" lIns="0" tIns="0" rIns="0" bIns="0" rtlCol="0" anchor="ctr"/>
          <a:lstStyle/>
          <a:p>
            <a:pPr indent="0" marL="0">
              <a:buNone/>
            </a:pPr>
            <a:r>
              <a:rPr lang="en-US" sz="1300" b="1" dirty="0">
                <a:solidFill>
                  <a:schemeClr val="tx2"/>
                </a:solidFill>
              </a:rPr>
              <a:t>En parejas</a:t>
            </a:r>
            <a:endParaRPr lang="en-US" sz="1300" dirty="0"/>
          </a:p>
        </p:txBody>
      </p:sp>
      <p:sp>
        <p:nvSpPr>
          <p:cNvPr id="10" name="Shape 6"/>
          <p:cNvSpPr/>
          <p:nvPr/>
        </p:nvSpPr>
        <p:spPr>
          <a:xfrm>
            <a:off x="457200" y="1783080"/>
            <a:ext cx="438912" cy="438912"/>
          </a:xfrm>
          <a:prstGeom prst="ellipse">
            <a:avLst/>
          </a:prstGeom>
          <a:solidFill>
            <a:schemeClr val="accent2"/>
          </a:solidFill>
          <a:ln w="12700">
            <a:solidFill>
              <a:schemeClr val="accent2"/>
            </a:solidFill>
            <a:prstDash val="solid"/>
          </a:ln>
        </p:spPr>
      </p:sp>
      <p:sp>
        <p:nvSpPr>
          <p:cNvPr id="11" name="Text 7"/>
          <p:cNvSpPr txBox="1"/>
          <p:nvPr/>
        </p:nvSpPr>
        <p:spPr>
          <a:xfrm>
            <a:off x="457200" y="1783080"/>
            <a:ext cx="438912" cy="438912"/>
          </a:xfrm>
          <a:prstGeom prst="rect">
            <a:avLst/>
          </a:prstGeom>
          <a:noFill/>
          <a:ln/>
        </p:spPr>
        <p:txBody>
          <a:bodyPr wrap="square" lIns="0" tIns="0" rIns="0" bIns="0" rtlCol="0" anchor="ctr"/>
          <a:lstStyle/>
          <a:p>
            <a:pPr algn="ctr" indent="0" marL="0">
              <a:buNone/>
            </a:pPr>
            <a:r>
              <a:rPr lang="en-US" sz="1500" b="1" dirty="0">
                <a:solidFill>
                  <a:schemeClr val="tx2"/>
                </a:solidFill>
              </a:rPr>
              <a:t>1</a:t>
            </a:r>
            <a:endParaRPr lang="en-US" sz="1500" dirty="0"/>
          </a:p>
        </p:txBody>
      </p:sp>
      <p:sp>
        <p:nvSpPr>
          <p:cNvPr id="12" name="Text 8"/>
          <p:cNvSpPr txBox="1"/>
          <p:nvPr/>
        </p:nvSpPr>
        <p:spPr>
          <a:xfrm>
            <a:off x="1051560" y="1764792"/>
            <a:ext cx="4114800" cy="694944"/>
          </a:xfrm>
          <a:prstGeom prst="rect">
            <a:avLst/>
          </a:prstGeom>
          <a:noFill/>
          <a:ln/>
        </p:spPr>
        <p:txBody>
          <a:bodyPr wrap="square" lIns="0" tIns="0" rIns="0" bIns="0" rtlCol="0" anchor="t"/>
          <a:lstStyle/>
          <a:p>
            <a:pPr indent="0" marL="0">
              <a:buNone/>
            </a:pPr>
            <a:r>
              <a:rPr lang="en-US" sz="1500" dirty="0">
                <a:solidFill>
                  <a:schemeClr val="tx1"/>
                </a:solidFill>
              </a:rPr>
              <a:t>Elijan una llave: un número del 1 al 5.</a:t>
            </a:r>
            <a:endParaRPr lang="en-US" sz="1500" dirty="0"/>
          </a:p>
        </p:txBody>
      </p:sp>
      <p:sp>
        <p:nvSpPr>
          <p:cNvPr id="13" name="Shape 9"/>
          <p:cNvSpPr/>
          <p:nvPr/>
        </p:nvSpPr>
        <p:spPr>
          <a:xfrm>
            <a:off x="457200" y="2514600"/>
            <a:ext cx="438912" cy="438912"/>
          </a:xfrm>
          <a:prstGeom prst="ellipse">
            <a:avLst/>
          </a:prstGeom>
          <a:solidFill>
            <a:schemeClr val="accent2"/>
          </a:solidFill>
          <a:ln w="12700">
            <a:solidFill>
              <a:schemeClr val="accent2"/>
            </a:solidFill>
            <a:prstDash val="solid"/>
          </a:ln>
        </p:spPr>
      </p:sp>
      <p:sp>
        <p:nvSpPr>
          <p:cNvPr id="14" name="Text 10"/>
          <p:cNvSpPr txBox="1"/>
          <p:nvPr/>
        </p:nvSpPr>
        <p:spPr>
          <a:xfrm>
            <a:off x="457200" y="2514600"/>
            <a:ext cx="438912" cy="438912"/>
          </a:xfrm>
          <a:prstGeom prst="rect">
            <a:avLst/>
          </a:prstGeom>
          <a:noFill/>
          <a:ln/>
        </p:spPr>
        <p:txBody>
          <a:bodyPr wrap="square" lIns="0" tIns="0" rIns="0" bIns="0" rtlCol="0" anchor="ctr"/>
          <a:lstStyle/>
          <a:p>
            <a:pPr algn="ctr" indent="0" marL="0">
              <a:buNone/>
            </a:pPr>
            <a:r>
              <a:rPr lang="en-US" sz="1500" b="1" dirty="0">
                <a:solidFill>
                  <a:schemeClr val="tx2"/>
                </a:solidFill>
              </a:rPr>
              <a:t>2</a:t>
            </a:r>
            <a:endParaRPr lang="en-US" sz="1500" dirty="0"/>
          </a:p>
        </p:txBody>
      </p:sp>
      <p:sp>
        <p:nvSpPr>
          <p:cNvPr id="15" name="Text 11"/>
          <p:cNvSpPr txBox="1"/>
          <p:nvPr/>
        </p:nvSpPr>
        <p:spPr>
          <a:xfrm>
            <a:off x="1051560" y="2496312"/>
            <a:ext cx="4114800" cy="694944"/>
          </a:xfrm>
          <a:prstGeom prst="rect">
            <a:avLst/>
          </a:prstGeom>
          <a:noFill/>
          <a:ln/>
        </p:spPr>
        <p:txBody>
          <a:bodyPr wrap="square" lIns="0" tIns="0" rIns="0" bIns="0" rtlCol="0" anchor="t"/>
          <a:lstStyle/>
          <a:p>
            <a:pPr indent="0" marL="0">
              <a:buNone/>
            </a:pPr>
            <a:r>
              <a:rPr lang="en-US" sz="1500" dirty="0">
                <a:solidFill>
                  <a:schemeClr val="tx1"/>
                </a:solidFill>
              </a:rPr>
              <a:t>Cifren un mensaje corto corriendo cada letra esa cantidad de posiciones.</a:t>
            </a:r>
            <a:endParaRPr lang="en-US" sz="1500" dirty="0"/>
          </a:p>
        </p:txBody>
      </p:sp>
      <p:sp>
        <p:nvSpPr>
          <p:cNvPr id="16" name="Shape 12"/>
          <p:cNvSpPr/>
          <p:nvPr/>
        </p:nvSpPr>
        <p:spPr>
          <a:xfrm>
            <a:off x="457200" y="3246120"/>
            <a:ext cx="438912" cy="438912"/>
          </a:xfrm>
          <a:prstGeom prst="ellipse">
            <a:avLst/>
          </a:prstGeom>
          <a:solidFill>
            <a:schemeClr val="accent2"/>
          </a:solidFill>
          <a:ln w="12700">
            <a:solidFill>
              <a:schemeClr val="accent2"/>
            </a:solidFill>
            <a:prstDash val="solid"/>
          </a:ln>
        </p:spPr>
      </p:sp>
      <p:sp>
        <p:nvSpPr>
          <p:cNvPr id="17" name="Text 13"/>
          <p:cNvSpPr txBox="1"/>
          <p:nvPr/>
        </p:nvSpPr>
        <p:spPr>
          <a:xfrm>
            <a:off x="457200" y="3246120"/>
            <a:ext cx="438912" cy="438912"/>
          </a:xfrm>
          <a:prstGeom prst="rect">
            <a:avLst/>
          </a:prstGeom>
          <a:noFill/>
          <a:ln/>
        </p:spPr>
        <p:txBody>
          <a:bodyPr wrap="square" lIns="0" tIns="0" rIns="0" bIns="0" rtlCol="0" anchor="ctr"/>
          <a:lstStyle/>
          <a:p>
            <a:pPr algn="ctr" indent="0" marL="0">
              <a:buNone/>
            </a:pPr>
            <a:r>
              <a:rPr lang="en-US" sz="1500" b="1" dirty="0">
                <a:solidFill>
                  <a:schemeClr val="tx2"/>
                </a:solidFill>
              </a:rPr>
              <a:t>3</a:t>
            </a:r>
            <a:endParaRPr lang="en-US" sz="1500" dirty="0"/>
          </a:p>
        </p:txBody>
      </p:sp>
      <p:sp>
        <p:nvSpPr>
          <p:cNvPr id="18" name="Text 14"/>
          <p:cNvSpPr txBox="1"/>
          <p:nvPr/>
        </p:nvSpPr>
        <p:spPr>
          <a:xfrm>
            <a:off x="1051560" y="3227832"/>
            <a:ext cx="4114800" cy="694944"/>
          </a:xfrm>
          <a:prstGeom prst="rect">
            <a:avLst/>
          </a:prstGeom>
          <a:noFill/>
          <a:ln/>
        </p:spPr>
        <p:txBody>
          <a:bodyPr wrap="square" lIns="0" tIns="0" rIns="0" bIns="0" rtlCol="0" anchor="t"/>
          <a:lstStyle/>
          <a:p>
            <a:pPr indent="0" marL="0">
              <a:buNone/>
            </a:pPr>
            <a:r>
              <a:rPr lang="en-US" sz="1500" dirty="0">
                <a:solidFill>
                  <a:schemeClr val="tx1"/>
                </a:solidFill>
              </a:rPr>
              <a:t>Intercambien con otra pareja: ¿lo descifran sin la llave?</a:t>
            </a:r>
            <a:endParaRPr lang="en-US" sz="1500" dirty="0"/>
          </a:p>
        </p:txBody>
      </p:sp>
      <p:sp>
        <p:nvSpPr>
          <p:cNvPr id="19" name="Shape 15"/>
          <p:cNvSpPr/>
          <p:nvPr/>
        </p:nvSpPr>
        <p:spPr>
          <a:xfrm>
            <a:off x="457200" y="4069080"/>
            <a:ext cx="4709160" cy="566928"/>
          </a:xfrm>
          <a:prstGeom prst="roundRect">
            <a:avLst>
              <a:gd name="adj" fmla="val 12903"/>
            </a:avLst>
          </a:prstGeom>
          <a:solidFill>
            <a:schemeClr val="bg2"/>
          </a:solidFill>
          <a:ln w="12700">
            <a:solidFill>
              <a:schemeClr val="bg2"/>
            </a:solidFill>
            <a:prstDash val="solid"/>
          </a:ln>
        </p:spPr>
      </p:sp>
      <p:sp>
        <p:nvSpPr>
          <p:cNvPr id="20" name="Text 16"/>
          <p:cNvSpPr txBox="1"/>
          <p:nvPr/>
        </p:nvSpPr>
        <p:spPr>
          <a:xfrm>
            <a:off x="640080" y="4069080"/>
            <a:ext cx="4389120" cy="566928"/>
          </a:xfrm>
          <a:prstGeom prst="rect">
            <a:avLst/>
          </a:prstGeom>
          <a:noFill/>
          <a:ln/>
        </p:spPr>
        <p:txBody>
          <a:bodyPr wrap="square" lIns="0" tIns="0" rIns="0" bIns="0" rtlCol="0" anchor="ctr"/>
          <a:lstStyle/>
          <a:p>
            <a:pPr indent="0" marL="0">
              <a:buNone/>
            </a:pPr>
            <a:r>
              <a:rPr lang="en-US" sz="1300" b="1" dirty="0">
                <a:solidFill>
                  <a:schemeClr val="accent1"/>
                </a:solidFill>
              </a:rPr>
              <a:t>Producto: </a:t>
            </a:r>
            <a:pPr indent="0" marL="0">
              <a:buNone/>
            </a:pPr>
            <a:r>
              <a:rPr lang="en-US" sz="1300" dirty="0">
                <a:solidFill>
                  <a:schemeClr val="tx1"/>
                </a:solidFill>
              </a:rPr>
              <a:t>Un mensaje cifrado y otro descifrado.</a:t>
            </a:r>
            <a:endParaRPr lang="en-US" sz="1300" dirty="0"/>
          </a:p>
        </p:txBody>
      </p:sp>
      <p:sp>
        <p:nvSpPr>
          <p:cNvPr id="21" name="Shape 17"/>
          <p:cNvSpPr/>
          <p:nvPr/>
        </p:nvSpPr>
        <p:spPr>
          <a:xfrm>
            <a:off x="5486400" y="1188720"/>
            <a:ext cx="3200400" cy="3447288"/>
          </a:xfrm>
          <a:prstGeom prst="roundRect">
            <a:avLst>
              <a:gd name="adj" fmla="val 2286"/>
            </a:avLst>
          </a:prstGeom>
          <a:solidFill>
            <a:schemeClr val="tx2"/>
          </a:solidFill>
          <a:ln w="12700">
            <a:solidFill>
              <a:schemeClr val="tx2"/>
            </a:solidFill>
            <a:prstDash val="solid"/>
          </a:ln>
        </p:spPr>
      </p:sp>
      <p:sp>
        <p:nvSpPr>
          <p:cNvPr id="22" name="Text 18"/>
          <p:cNvSpPr txBox="1"/>
          <p:nvPr/>
        </p:nvSpPr>
        <p:spPr>
          <a:xfrm>
            <a:off x="5715000" y="1371600"/>
            <a:ext cx="2743200" cy="320040"/>
          </a:xfrm>
          <a:prstGeom prst="rect">
            <a:avLst/>
          </a:prstGeom>
          <a:noFill/>
          <a:ln/>
        </p:spPr>
        <p:txBody>
          <a:bodyPr wrap="square" lIns="0" tIns="0" rIns="0" bIns="0" rtlCol="0" anchor="t"/>
          <a:lstStyle/>
          <a:p>
            <a:pPr indent="0" marL="0">
              <a:buNone/>
            </a:pPr>
            <a:r>
              <a:rPr lang="en-US" sz="1400" b="1" dirty="0">
                <a:solidFill>
                  <a:schemeClr val="accent2"/>
                </a:solidFill>
              </a:rPr>
              <a:t>Material</a:t>
            </a:r>
            <a:endParaRPr lang="en-US" sz="1400" dirty="0"/>
          </a:p>
        </p:txBody>
      </p:sp>
      <p:sp>
        <p:nvSpPr>
          <p:cNvPr id="23" name="Text 19"/>
          <p:cNvSpPr txBox="1"/>
          <p:nvPr/>
        </p:nvSpPr>
        <p:spPr>
          <a:xfrm>
            <a:off x="5715000" y="1828800"/>
            <a:ext cx="2834640" cy="2624328"/>
          </a:xfrm>
          <a:prstGeom prst="rect">
            <a:avLst/>
          </a:prstGeom>
          <a:noFill/>
          <a:ln/>
        </p:spPr>
        <p:txBody>
          <a:bodyPr wrap="square" lIns="0" tIns="0" rIns="0" bIns="0" rtlCol="0" anchor="t"/>
          <a:lstStyle/>
          <a:p>
            <a:pPr indent="0" marL="0">
              <a:spcAft>
                <a:spcPts val="600"/>
              </a:spcAft>
              <a:buNone/>
            </a:pPr>
            <a:r>
              <a:rPr lang="en-US" sz="1300" dirty="0">
                <a:solidFill>
                  <a:schemeClr val="bg1"/>
                </a:solidFill>
                <a:latin typeface="Courier New" pitchFamily="34" charset="0"/>
                <a:ea typeface="Courier New" pitchFamily="34" charset="-122"/>
                <a:cs typeface="Courier New" pitchFamily="34" charset="-120"/>
              </a:rPr>
              <a:t>Ejemplo con llave 3:</a:t>
            </a:r>
            <a:endParaRPr lang="en-US" sz="1300" dirty="0"/>
          </a:p>
          <a:p>
            <a:pPr indent="0" marL="0">
              <a:spcAft>
                <a:spcPts val="600"/>
              </a:spcAft>
              <a:buNone/>
            </a:pPr>
            <a:r>
              <a:rPr lang="en-US" sz="1300" dirty="0">
                <a:solidFill>
                  <a:schemeClr val="bg1"/>
                </a:solidFill>
                <a:latin typeface="Courier New" pitchFamily="34" charset="0"/>
                <a:ea typeface="Courier New" pitchFamily="34" charset="-122"/>
                <a:cs typeface="Courier New" pitchFamily="34" charset="-120"/>
              </a:rPr>
              <a:t>HOLA  →  KROD</a:t>
            </a:r>
            <a:endParaRPr lang="en-US" sz="1300" dirty="0"/>
          </a:p>
          <a:p>
            <a:pPr indent="0" marL="0">
              <a:spcAft>
                <a:spcPts val="600"/>
              </a:spcAft>
              <a:buNone/>
            </a:pPr>
            <a:r>
              <a:rPr lang="en-US" sz="1300" dirty="0">
                <a:solidFill>
                  <a:schemeClr val="bg1"/>
                </a:solidFill>
                <a:latin typeface="Courier New" pitchFamily="34" charset="0"/>
                <a:ea typeface="Courier New" pitchFamily="34" charset="-122"/>
                <a:cs typeface="Courier New" pitchFamily="34" charset="-120"/>
              </a:rPr>
              <a:t>A→D   B→E   C→F …</a:t>
            </a:r>
            <a:endParaRPr lang="en-US" sz="1300" dirty="0"/>
          </a:p>
        </p:txBody>
      </p:sp>
      <p:sp>
        <p:nvSpPr>
          <p:cNvPr id="25" name="Slide Number Placeholder 0"/>
          <p:cNvSpPr>
            <a:spLocks noGrp="1"/>
          </p:cNvSpPr>
          <p:nvPr>
            <p:ph type="sldNum" sz="quarter" idx="4294967295"/>
          </p:nvPr>
        </p:nvSpPr>
        <p:spPr>
          <a:xfrm>
            <a:off x="8138160" y="4791456"/>
            <a:ext cx="548640" cy="237744"/>
          </a:xfrm>
          <a:prstGeom prst="rect">
            <a:avLst/>
          </a:prstGeom>
          <a:extLst>
            <a:ext uri="{C572A759-6A51-4108-AA02-DFA0A04FC94B}">
              <ma14:wrappingTextBoxFlag xmlns:ma14="http://schemas.microsoft.com/office/mac/drawingml/2011/main" val="0"/>
            </a:ext>
          </a:extLst>
        </p:spPr>
        <p:txBody>
          <a:bodyPr anchor="ctr"/>
          <a:lstStyle>
            <a:lvl1pPr>
              <a:defRPr sz="9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182880"/>
            <a:ext cx="8229600" cy="237744"/>
          </a:xfrm>
          <a:prstGeom prst="rect">
            <a:avLst/>
          </a:prstGeom>
          <a:noFill/>
          <a:ln/>
        </p:spPr>
        <p:txBody>
          <a:bodyPr wrap="square" lIns="0" tIns="0" rIns="0" bIns="0" rtlCol="0" anchor="t"/>
          <a:lstStyle/>
          <a:p>
            <a:pPr indent="0" marL="0">
              <a:buNone/>
            </a:pPr>
            <a:r>
              <a:rPr lang="en-US" sz="1100" b="1" spc="150" kern="0" dirty="0">
                <a:solidFill>
                  <a:schemeClr val="accent2"/>
                </a:solidFill>
              </a:rPr>
              <a:t>CASO 3 DE 4</a:t>
            </a:r>
            <a:endParaRPr lang="en-US" sz="1100" dirty="0"/>
          </a:p>
        </p:txBody>
      </p:sp>
      <p:sp>
        <p:nvSpPr>
          <p:cNvPr id="3" name="Text 0"/>
          <p:cNvSpPr/>
          <p:nvPr>
            <p:ph idx="100" type="title" hasCustomPrompt="1"/>
          </p:nvPr>
        </p:nvSpPr>
        <p:spPr>
          <a:xfrm>
            <a:off x="457200" y="502920"/>
            <a:ext cx="8229600" cy="685800"/>
          </a:xfrm>
          <a:prstGeom prst="rect">
            <a:avLst/>
          </a:prstGeom>
          <a:noFill/>
          <a:ln/>
        </p:spPr>
        <p:txBody>
          <a:bodyPr wrap="square" lIns="0" tIns="0" rIns="0" bIns="0" rtlCol="0" anchor="t"/>
          <a:lstStyle/>
          <a:p>
            <a:pPr algn="l" indent="0" marL="0">
              <a:buNone/>
            </a:pPr>
            <a:r>
              <a:rPr lang="en-US" sz="3000" b="1" dirty="0">
                <a:solidFill>
                  <a:schemeClr val="bg1"/>
                </a:solidFill>
              </a:rPr>
              <a:t>¿Es el mismo archivo?</a:t>
            </a:r>
            <a:endParaRPr lang="en-US" sz="3000" dirty="0"/>
          </a:p>
        </p:txBody>
      </p:sp>
      <p:sp>
        <p:nvSpPr>
          <p:cNvPr id="4" name="Shape 2"/>
          <p:cNvSpPr/>
          <p:nvPr/>
        </p:nvSpPr>
        <p:spPr>
          <a:xfrm>
            <a:off x="457200" y="1371600"/>
            <a:ext cx="5760720" cy="2057400"/>
          </a:xfrm>
          <a:prstGeom prst="roundRect">
            <a:avLst>
              <a:gd name="adj" fmla="val 3556"/>
            </a:avLst>
          </a:prstGeom>
          <a:solidFill>
            <a:schemeClr val="bg1">
              <a:alpha val="10000"/>
            </a:schemeClr>
          </a:solidFill>
          <a:ln w="12700">
            <a:solidFill>
              <a:schemeClr val="bg1"/>
            </a:solidFill>
            <a:prstDash val="solid"/>
          </a:ln>
        </p:spPr>
      </p:sp>
      <p:sp>
        <p:nvSpPr>
          <p:cNvPr id="5" name="Text 3"/>
          <p:cNvSpPr txBox="1"/>
          <p:nvPr/>
        </p:nvSpPr>
        <p:spPr>
          <a:xfrm>
            <a:off x="685800" y="1554480"/>
            <a:ext cx="5349240" cy="1737360"/>
          </a:xfrm>
          <a:prstGeom prst="rect">
            <a:avLst/>
          </a:prstGeom>
          <a:noFill/>
          <a:ln/>
        </p:spPr>
        <p:txBody>
          <a:bodyPr wrap="square" lIns="0" tIns="0" rIns="0" bIns="0" rtlCol="0" anchor="ctr"/>
          <a:lstStyle/>
          <a:p>
            <a:pPr indent="0" marL="0">
              <a:buNone/>
            </a:pPr>
            <a:r>
              <a:rPr lang="en-US" sz="1800" dirty="0">
                <a:solidFill>
                  <a:schemeClr val="bg1"/>
                </a:solidFill>
              </a:rPr>
              <a:t>La dirección publica el archivo de notas finales y su hash SHA-256. Un estudiante descarga el archivo, calcula el hash y le da distinto en los últimos cuatro caracteres.</a:t>
            </a:r>
            <a:endParaRPr lang="en-US" sz="1800" dirty="0"/>
          </a:p>
        </p:txBody>
      </p:sp>
      <p:sp>
        <p:nvSpPr>
          <p:cNvPr id="6" name="Shape 4"/>
          <p:cNvSpPr/>
          <p:nvPr/>
        </p:nvSpPr>
        <p:spPr>
          <a:xfrm>
            <a:off x="6583680" y="1325880"/>
            <a:ext cx="2011680" cy="2011680"/>
          </a:xfrm>
          <a:prstGeom prst="ellipse">
            <a:avLst/>
          </a:prstGeom>
          <a:solidFill>
            <a:schemeClr val="accent1"/>
          </a:solidFill>
          <a:ln w="12700">
            <a:solidFill>
              <a:schemeClr val="accent1"/>
            </a:solidFill>
            <a:prstDash val="solid"/>
          </a:ln>
        </p:spPr>
      </p:sp>
      <p:pic>
        <p:nvPicPr>
          <p:cNvPr id="7" name="Image 0" descr="preencoded.png">    </p:cNvPr>
          <p:cNvPicPr>
            <a:picLocks noChangeAspect="1"/>
          </p:cNvPicPr>
          <p:nvPr/>
        </p:nvPicPr>
        <p:blipFill>
          <a:blip r:embed="rId1"/>
          <a:stretch>
            <a:fillRect/>
          </a:stretch>
        </p:blipFill>
        <p:spPr>
          <a:xfrm>
            <a:off x="7086600" y="1828800"/>
            <a:ext cx="1005840" cy="1005840"/>
          </a:xfrm>
          <a:prstGeom prst="rect">
            <a:avLst/>
          </a:prstGeom>
        </p:spPr>
      </p:pic>
      <p:sp>
        <p:nvSpPr>
          <p:cNvPr id="8" name="Shape 5"/>
          <p:cNvSpPr/>
          <p:nvPr/>
        </p:nvSpPr>
        <p:spPr>
          <a:xfrm>
            <a:off x="457200" y="3639312"/>
            <a:ext cx="8229600" cy="932688"/>
          </a:xfrm>
          <a:prstGeom prst="roundRect">
            <a:avLst>
              <a:gd name="adj" fmla="val 7843"/>
            </a:avLst>
          </a:prstGeom>
          <a:solidFill>
            <a:schemeClr val="accent2"/>
          </a:solidFill>
          <a:ln w="12700">
            <a:solidFill>
              <a:schemeClr val="accent2"/>
            </a:solidFill>
            <a:prstDash val="solid"/>
          </a:ln>
        </p:spPr>
      </p:sp>
      <p:pic>
        <p:nvPicPr>
          <p:cNvPr id="9" name="Image 1" descr="preencoded.png">    </p:cNvPr>
          <p:cNvPicPr>
            <a:picLocks noChangeAspect="1"/>
          </p:cNvPicPr>
          <p:nvPr/>
        </p:nvPicPr>
        <p:blipFill>
          <a:blip r:embed="rId2"/>
          <a:stretch>
            <a:fillRect/>
          </a:stretch>
        </p:blipFill>
        <p:spPr>
          <a:xfrm>
            <a:off x="658368" y="3877056"/>
            <a:ext cx="457200" cy="457200"/>
          </a:xfrm>
          <a:prstGeom prst="rect">
            <a:avLst/>
          </a:prstGeom>
        </p:spPr>
      </p:pic>
      <p:sp>
        <p:nvSpPr>
          <p:cNvPr id="10" name="Text 6"/>
          <p:cNvSpPr txBox="1"/>
          <p:nvPr/>
        </p:nvSpPr>
        <p:spPr>
          <a:xfrm>
            <a:off x="1280160" y="3712464"/>
            <a:ext cx="7223760" cy="274320"/>
          </a:xfrm>
          <a:prstGeom prst="rect">
            <a:avLst/>
          </a:prstGeom>
          <a:noFill/>
          <a:ln/>
        </p:spPr>
        <p:txBody>
          <a:bodyPr wrap="square" lIns="0" tIns="0" rIns="0" bIns="0" rtlCol="0" anchor="t"/>
          <a:lstStyle/>
          <a:p>
            <a:pPr indent="0" marL="0">
              <a:buNone/>
            </a:pPr>
            <a:r>
              <a:rPr lang="en-US" sz="1200" b="1" dirty="0">
                <a:solidFill>
                  <a:schemeClr val="tx2"/>
                </a:solidFill>
              </a:rPr>
              <a:t>¿Qué harían ustedes?</a:t>
            </a:r>
            <a:endParaRPr lang="en-US" sz="1200" dirty="0"/>
          </a:p>
        </p:txBody>
      </p:sp>
      <p:sp>
        <p:nvSpPr>
          <p:cNvPr id="11" name="Text 7"/>
          <p:cNvSpPr txBox="1"/>
          <p:nvPr/>
        </p:nvSpPr>
        <p:spPr>
          <a:xfrm>
            <a:off x="1280160" y="3986784"/>
            <a:ext cx="7223760" cy="530352"/>
          </a:xfrm>
          <a:prstGeom prst="rect">
            <a:avLst/>
          </a:prstGeom>
          <a:noFill/>
          <a:ln/>
        </p:spPr>
        <p:txBody>
          <a:bodyPr wrap="square" lIns="0" tIns="0" rIns="0" bIns="0" rtlCol="0" anchor="t"/>
          <a:lstStyle/>
          <a:p>
            <a:pPr indent="0" marL="0">
              <a:buNone/>
            </a:pPr>
            <a:r>
              <a:rPr lang="en-US" sz="1600" b="1" dirty="0">
                <a:solidFill>
                  <a:schemeClr val="tx2"/>
                </a:solidFill>
              </a:rPr>
              <a:t>¿Qué significa eso? ¿Se puede usar el archivo?</a:t>
            </a:r>
            <a:endParaRPr lang="en-US" sz="1600" dirty="0"/>
          </a:p>
        </p:txBody>
      </p:sp>
      <p:sp>
        <p:nvSpPr>
          <p:cNvPr id="25" name="Slide Number Placeholder 0"/>
          <p:cNvSpPr>
            <a:spLocks noGrp="1"/>
          </p:cNvSpPr>
          <p:nvPr>
            <p:ph type="sldNum" sz="quarter" idx="4294967295"/>
          </p:nvPr>
        </p:nvSpPr>
        <p:spPr>
          <a:xfrm>
            <a:off x="8138160" y="4791456"/>
            <a:ext cx="548640" cy="237744"/>
          </a:xfrm>
          <a:prstGeom prst="rect">
            <a:avLst/>
          </a:prstGeom>
          <a:extLst>
            <a:ext uri="{C572A759-6A51-4108-AA02-DFA0A04FC94B}">
              <ma14:wrappingTextBoxFlag xmlns:ma14="http://schemas.microsoft.com/office/mac/drawingml/2011/main" val="0"/>
            </a:ext>
          </a:extLst>
        </p:spPr>
        <p:txBody>
          <a:bodyPr anchor="ctr"/>
          <a:lstStyle>
            <a:lvl1pPr>
              <a:defRPr sz="900">
                <a:solidFill>
                  <a:schemeClr val="bg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182880"/>
            <a:ext cx="8229600" cy="237744"/>
          </a:xfrm>
          <a:prstGeom prst="rect">
            <a:avLst/>
          </a:prstGeom>
          <a:noFill/>
          <a:ln/>
        </p:spPr>
        <p:txBody>
          <a:bodyPr wrap="square" lIns="0" tIns="0" rIns="0" bIns="0" rtlCol="0" anchor="t"/>
          <a:lstStyle/>
          <a:p>
            <a:pPr indent="0" marL="0">
              <a:buNone/>
            </a:pPr>
            <a:r>
              <a:rPr lang="en-US" sz="1100" b="1" spc="150" kern="0" dirty="0">
                <a:solidFill>
                  <a:schemeClr val="accent1"/>
                </a:solidFill>
              </a:rPr>
              <a:t>CASO 3 · ASÍ FUNCIONA</a:t>
            </a:r>
            <a:endParaRPr lang="en-US" sz="1100" dirty="0"/>
          </a:p>
        </p:txBody>
      </p:sp>
      <p:sp>
        <p:nvSpPr>
          <p:cNvPr id="3" name="Text 0"/>
          <p:cNvSpPr/>
          <p:nvPr>
            <p:ph idx="100" type="title" hasCustomPrompt="1"/>
          </p:nvPr>
        </p:nvSpPr>
        <p:spPr>
          <a:xfrm>
            <a:off x="457200" y="420624"/>
            <a:ext cx="8229600" cy="640080"/>
          </a:xfrm>
          <a:prstGeom prst="rect">
            <a:avLst/>
          </a:prstGeom>
          <a:noFill/>
          <a:ln/>
        </p:spPr>
        <p:txBody>
          <a:bodyPr wrap="square" lIns="0" tIns="0" rIns="0" bIns="0" rtlCol="0" anchor="t"/>
          <a:lstStyle/>
          <a:p>
            <a:pPr algn="l" indent="0" marL="0">
              <a:buNone/>
            </a:pPr>
            <a:r>
              <a:rPr lang="en-US" sz="2600" b="1" dirty="0">
                <a:solidFill>
                  <a:schemeClr val="tx2"/>
                </a:solidFill>
              </a:rPr>
              <a:t>Cómo se comprueba la integridad</a:t>
            </a:r>
            <a:endParaRPr lang="en-US" sz="2600" dirty="0"/>
          </a:p>
        </p:txBody>
      </p:sp>
      <p:sp>
        <p:nvSpPr>
          <p:cNvPr id="4" name="Shape 2"/>
          <p:cNvSpPr/>
          <p:nvPr/>
        </p:nvSpPr>
        <p:spPr>
          <a:xfrm>
            <a:off x="457200" y="1691640"/>
            <a:ext cx="1824228" cy="2514600"/>
          </a:xfrm>
          <a:prstGeom prst="roundRect">
            <a:avLst>
              <a:gd name="adj" fmla="val 4010"/>
            </a:avLst>
          </a:prstGeom>
          <a:solidFill>
            <a:schemeClr val="bg2"/>
          </a:solidFill>
          <a:ln w="12700">
            <a:solidFill>
              <a:schemeClr val="bg2"/>
            </a:solidFill>
            <a:prstDash val="solid"/>
          </a:ln>
        </p:spPr>
      </p:sp>
      <p:sp>
        <p:nvSpPr>
          <p:cNvPr id="5" name="Shape 3"/>
          <p:cNvSpPr/>
          <p:nvPr/>
        </p:nvSpPr>
        <p:spPr>
          <a:xfrm>
            <a:off x="1003554" y="2011680"/>
            <a:ext cx="731520" cy="731520"/>
          </a:xfrm>
          <a:prstGeom prst="ellipse">
            <a:avLst/>
          </a:prstGeom>
          <a:solidFill>
            <a:schemeClr val="accent1"/>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1186434" y="2194560"/>
            <a:ext cx="365760" cy="365760"/>
          </a:xfrm>
          <a:prstGeom prst="rect">
            <a:avLst/>
          </a:prstGeom>
        </p:spPr>
      </p:pic>
      <p:sp>
        <p:nvSpPr>
          <p:cNvPr id="7" name="Shape 4"/>
          <p:cNvSpPr/>
          <p:nvPr/>
        </p:nvSpPr>
        <p:spPr>
          <a:xfrm>
            <a:off x="566928" y="1801368"/>
            <a:ext cx="292608" cy="292608"/>
          </a:xfrm>
          <a:prstGeom prst="ellipse">
            <a:avLst/>
          </a:prstGeom>
          <a:solidFill>
            <a:schemeClr val="accent2"/>
          </a:solidFill>
          <a:ln w="12700">
            <a:solidFill>
              <a:schemeClr val="accent2"/>
            </a:solidFill>
            <a:prstDash val="solid"/>
          </a:ln>
        </p:spPr>
      </p:sp>
      <p:sp>
        <p:nvSpPr>
          <p:cNvPr id="8" name="Text 5"/>
          <p:cNvSpPr txBox="1"/>
          <p:nvPr/>
        </p:nvSpPr>
        <p:spPr>
          <a:xfrm>
            <a:off x="566928" y="1801368"/>
            <a:ext cx="292608" cy="292608"/>
          </a:xfrm>
          <a:prstGeom prst="rect">
            <a:avLst/>
          </a:prstGeom>
          <a:noFill/>
          <a:ln/>
        </p:spPr>
        <p:txBody>
          <a:bodyPr wrap="square" lIns="0" tIns="0" rIns="0" bIns="0" rtlCol="0" anchor="ctr"/>
          <a:lstStyle/>
          <a:p>
            <a:pPr algn="ctr" indent="0" marL="0">
              <a:buNone/>
            </a:pPr>
            <a:r>
              <a:rPr lang="en-US" sz="1100" b="1" dirty="0">
                <a:solidFill>
                  <a:schemeClr val="tx2"/>
                </a:solidFill>
              </a:rPr>
              <a:t>1</a:t>
            </a:r>
            <a:endParaRPr lang="en-US" sz="1100" dirty="0"/>
          </a:p>
        </p:txBody>
      </p:sp>
      <p:sp>
        <p:nvSpPr>
          <p:cNvPr id="9" name="Text 6"/>
          <p:cNvSpPr txBox="1"/>
          <p:nvPr/>
        </p:nvSpPr>
        <p:spPr>
          <a:xfrm>
            <a:off x="566928" y="2926080"/>
            <a:ext cx="1604772" cy="566928"/>
          </a:xfrm>
          <a:prstGeom prst="rect">
            <a:avLst/>
          </a:prstGeom>
          <a:noFill/>
          <a:ln/>
        </p:spPr>
        <p:txBody>
          <a:bodyPr wrap="square" lIns="0" tIns="0" rIns="0" bIns="0" rtlCol="0" anchor="t"/>
          <a:lstStyle/>
          <a:p>
            <a:pPr algn="ctr" indent="0" marL="0">
              <a:buNone/>
            </a:pPr>
            <a:r>
              <a:rPr lang="en-US" sz="1600" b="1" dirty="0">
                <a:solidFill>
                  <a:schemeClr val="tx2"/>
                </a:solidFill>
              </a:rPr>
              <a:t>Archivo</a:t>
            </a:r>
            <a:endParaRPr lang="en-US" sz="1600" dirty="0"/>
          </a:p>
        </p:txBody>
      </p:sp>
      <p:sp>
        <p:nvSpPr>
          <p:cNvPr id="10" name="Text 7"/>
          <p:cNvSpPr txBox="1"/>
          <p:nvPr/>
        </p:nvSpPr>
        <p:spPr>
          <a:xfrm>
            <a:off x="566928" y="3529584"/>
            <a:ext cx="1604772" cy="594360"/>
          </a:xfrm>
          <a:prstGeom prst="rect">
            <a:avLst/>
          </a:prstGeom>
          <a:noFill/>
          <a:ln/>
        </p:spPr>
        <p:txBody>
          <a:bodyPr wrap="square" lIns="0" tIns="0" rIns="0" bIns="0" rtlCol="0" anchor="t"/>
          <a:lstStyle/>
          <a:p>
            <a:pPr algn="ctr" indent="0" marL="0">
              <a:buNone/>
            </a:pPr>
            <a:r>
              <a:rPr lang="en-US" sz="1400" dirty="0">
                <a:solidFill>
                  <a:schemeClr val="accent5"/>
                </a:solidFill>
              </a:rPr>
              <a:t>notas_finales.xlsx</a:t>
            </a:r>
            <a:endParaRPr lang="en-US" sz="1400" dirty="0"/>
          </a:p>
        </p:txBody>
      </p:sp>
      <p:sp>
        <p:nvSpPr>
          <p:cNvPr id="11" name="Shape 8"/>
          <p:cNvSpPr/>
          <p:nvPr/>
        </p:nvSpPr>
        <p:spPr>
          <a:xfrm>
            <a:off x="2318004" y="2948940"/>
            <a:ext cx="237744" cy="914"/>
          </a:xfrm>
          <a:prstGeom prst="line">
            <a:avLst/>
          </a:prstGeom>
          <a:noFill/>
          <a:ln w="25400">
            <a:solidFill>
              <a:schemeClr val="accent5"/>
            </a:solidFill>
            <a:prstDash val="solid"/>
            <a:tailEnd type="triangle"/>
          </a:ln>
        </p:spPr>
      </p:sp>
      <p:sp>
        <p:nvSpPr>
          <p:cNvPr id="12" name="Shape 9"/>
          <p:cNvSpPr/>
          <p:nvPr/>
        </p:nvSpPr>
        <p:spPr>
          <a:xfrm>
            <a:off x="2592324" y="1691640"/>
            <a:ext cx="1824228" cy="2514600"/>
          </a:xfrm>
          <a:prstGeom prst="roundRect">
            <a:avLst>
              <a:gd name="adj" fmla="val 4010"/>
            </a:avLst>
          </a:prstGeom>
          <a:solidFill>
            <a:schemeClr val="bg2"/>
          </a:solidFill>
          <a:ln w="12700">
            <a:solidFill>
              <a:schemeClr val="bg2"/>
            </a:solidFill>
            <a:prstDash val="solid"/>
          </a:ln>
        </p:spPr>
      </p:sp>
      <p:sp>
        <p:nvSpPr>
          <p:cNvPr id="13" name="Shape 10"/>
          <p:cNvSpPr/>
          <p:nvPr/>
        </p:nvSpPr>
        <p:spPr>
          <a:xfrm>
            <a:off x="3138678" y="2011680"/>
            <a:ext cx="731520" cy="731520"/>
          </a:xfrm>
          <a:prstGeom prst="ellipse">
            <a:avLst/>
          </a:prstGeom>
          <a:solidFill>
            <a:schemeClr val="accent1"/>
          </a:solidFill>
          <a:ln w="12700">
            <a:solidFill>
              <a:schemeClr val="accent1"/>
            </a:solidFill>
            <a:prstDash val="solid"/>
          </a:ln>
        </p:spPr>
      </p:sp>
      <p:pic>
        <p:nvPicPr>
          <p:cNvPr id="14" name="Image 1" descr="preencoded.png">    </p:cNvPr>
          <p:cNvPicPr>
            <a:picLocks noChangeAspect="1"/>
          </p:cNvPicPr>
          <p:nvPr/>
        </p:nvPicPr>
        <p:blipFill>
          <a:blip r:embed="rId2"/>
          <a:stretch>
            <a:fillRect/>
          </a:stretch>
        </p:blipFill>
        <p:spPr>
          <a:xfrm>
            <a:off x="3321558" y="2194560"/>
            <a:ext cx="365760" cy="365760"/>
          </a:xfrm>
          <a:prstGeom prst="rect">
            <a:avLst/>
          </a:prstGeom>
        </p:spPr>
      </p:pic>
      <p:sp>
        <p:nvSpPr>
          <p:cNvPr id="15" name="Shape 11"/>
          <p:cNvSpPr/>
          <p:nvPr/>
        </p:nvSpPr>
        <p:spPr>
          <a:xfrm>
            <a:off x="2702052" y="1801368"/>
            <a:ext cx="292608" cy="292608"/>
          </a:xfrm>
          <a:prstGeom prst="ellipse">
            <a:avLst/>
          </a:prstGeom>
          <a:solidFill>
            <a:schemeClr val="accent2"/>
          </a:solidFill>
          <a:ln w="12700">
            <a:solidFill>
              <a:schemeClr val="accent2"/>
            </a:solidFill>
            <a:prstDash val="solid"/>
          </a:ln>
        </p:spPr>
      </p:sp>
      <p:sp>
        <p:nvSpPr>
          <p:cNvPr id="16" name="Text 12"/>
          <p:cNvSpPr txBox="1"/>
          <p:nvPr/>
        </p:nvSpPr>
        <p:spPr>
          <a:xfrm>
            <a:off x="2702052" y="1801368"/>
            <a:ext cx="292608" cy="292608"/>
          </a:xfrm>
          <a:prstGeom prst="rect">
            <a:avLst/>
          </a:prstGeom>
          <a:noFill/>
          <a:ln/>
        </p:spPr>
        <p:txBody>
          <a:bodyPr wrap="square" lIns="0" tIns="0" rIns="0" bIns="0" rtlCol="0" anchor="ctr"/>
          <a:lstStyle/>
          <a:p>
            <a:pPr algn="ctr" indent="0" marL="0">
              <a:buNone/>
            </a:pPr>
            <a:r>
              <a:rPr lang="en-US" sz="1100" b="1" dirty="0">
                <a:solidFill>
                  <a:schemeClr val="tx2"/>
                </a:solidFill>
              </a:rPr>
              <a:t>2</a:t>
            </a:r>
            <a:endParaRPr lang="en-US" sz="1100" dirty="0"/>
          </a:p>
        </p:txBody>
      </p:sp>
      <p:sp>
        <p:nvSpPr>
          <p:cNvPr id="17" name="Text 13"/>
          <p:cNvSpPr txBox="1"/>
          <p:nvPr/>
        </p:nvSpPr>
        <p:spPr>
          <a:xfrm>
            <a:off x="2702052" y="2926080"/>
            <a:ext cx="1604772" cy="566928"/>
          </a:xfrm>
          <a:prstGeom prst="rect">
            <a:avLst/>
          </a:prstGeom>
          <a:noFill/>
          <a:ln/>
        </p:spPr>
        <p:txBody>
          <a:bodyPr wrap="square" lIns="0" tIns="0" rIns="0" bIns="0" rtlCol="0" anchor="t"/>
          <a:lstStyle/>
          <a:p>
            <a:pPr algn="ctr" indent="0" marL="0">
              <a:buNone/>
            </a:pPr>
            <a:r>
              <a:rPr lang="en-US" sz="1600" b="1" dirty="0">
                <a:solidFill>
                  <a:schemeClr val="tx2"/>
                </a:solidFill>
              </a:rPr>
              <a:t>SHA-256</a:t>
            </a:r>
            <a:endParaRPr lang="en-US" sz="1600" dirty="0"/>
          </a:p>
        </p:txBody>
      </p:sp>
      <p:sp>
        <p:nvSpPr>
          <p:cNvPr id="18" name="Text 14"/>
          <p:cNvSpPr txBox="1"/>
          <p:nvPr/>
        </p:nvSpPr>
        <p:spPr>
          <a:xfrm>
            <a:off x="2702052" y="3529584"/>
            <a:ext cx="1604772" cy="594360"/>
          </a:xfrm>
          <a:prstGeom prst="rect">
            <a:avLst/>
          </a:prstGeom>
          <a:noFill/>
          <a:ln/>
        </p:spPr>
        <p:txBody>
          <a:bodyPr wrap="square" lIns="0" tIns="0" rIns="0" bIns="0" rtlCol="0" anchor="t"/>
          <a:lstStyle/>
          <a:p>
            <a:pPr algn="ctr" indent="0" marL="0">
              <a:buNone/>
            </a:pPr>
            <a:r>
              <a:rPr lang="en-US" sz="1400" dirty="0">
                <a:solidFill>
                  <a:schemeClr val="accent5"/>
                </a:solidFill>
              </a:rPr>
              <a:t>Función de una sola vía</a:t>
            </a:r>
            <a:endParaRPr lang="en-US" sz="1400" dirty="0"/>
          </a:p>
        </p:txBody>
      </p:sp>
      <p:sp>
        <p:nvSpPr>
          <p:cNvPr id="19" name="Shape 15"/>
          <p:cNvSpPr/>
          <p:nvPr/>
        </p:nvSpPr>
        <p:spPr>
          <a:xfrm>
            <a:off x="4453128" y="2948940"/>
            <a:ext cx="237744" cy="914"/>
          </a:xfrm>
          <a:prstGeom prst="line">
            <a:avLst/>
          </a:prstGeom>
          <a:noFill/>
          <a:ln w="25400">
            <a:solidFill>
              <a:schemeClr val="accent5"/>
            </a:solidFill>
            <a:prstDash val="solid"/>
            <a:tailEnd type="triangle"/>
          </a:ln>
        </p:spPr>
      </p:sp>
      <p:sp>
        <p:nvSpPr>
          <p:cNvPr id="20" name="Shape 16"/>
          <p:cNvSpPr/>
          <p:nvPr/>
        </p:nvSpPr>
        <p:spPr>
          <a:xfrm>
            <a:off x="4727448" y="1691640"/>
            <a:ext cx="1824228" cy="2514600"/>
          </a:xfrm>
          <a:prstGeom prst="roundRect">
            <a:avLst>
              <a:gd name="adj" fmla="val 4010"/>
            </a:avLst>
          </a:prstGeom>
          <a:solidFill>
            <a:schemeClr val="bg2"/>
          </a:solidFill>
          <a:ln w="12700">
            <a:solidFill>
              <a:schemeClr val="bg2"/>
            </a:solidFill>
            <a:prstDash val="solid"/>
          </a:ln>
        </p:spPr>
      </p:sp>
      <p:sp>
        <p:nvSpPr>
          <p:cNvPr id="21" name="Shape 17"/>
          <p:cNvSpPr/>
          <p:nvPr/>
        </p:nvSpPr>
        <p:spPr>
          <a:xfrm>
            <a:off x="5273802" y="2011680"/>
            <a:ext cx="731520" cy="731520"/>
          </a:xfrm>
          <a:prstGeom prst="ellipse">
            <a:avLst/>
          </a:prstGeom>
          <a:solidFill>
            <a:schemeClr val="accent1"/>
          </a:solidFill>
          <a:ln w="12700">
            <a:solidFill>
              <a:schemeClr val="accent1"/>
            </a:solidFill>
            <a:prstDash val="solid"/>
          </a:ln>
        </p:spPr>
      </p:sp>
      <p:pic>
        <p:nvPicPr>
          <p:cNvPr id="22" name="Image 2" descr="preencoded.png">    </p:cNvPr>
          <p:cNvPicPr>
            <a:picLocks noChangeAspect="1"/>
          </p:cNvPicPr>
          <p:nvPr/>
        </p:nvPicPr>
        <p:blipFill>
          <a:blip r:embed="rId3"/>
          <a:stretch>
            <a:fillRect/>
          </a:stretch>
        </p:blipFill>
        <p:spPr>
          <a:xfrm>
            <a:off x="5456682" y="2194560"/>
            <a:ext cx="365760" cy="365760"/>
          </a:xfrm>
          <a:prstGeom prst="rect">
            <a:avLst/>
          </a:prstGeom>
        </p:spPr>
      </p:pic>
      <p:sp>
        <p:nvSpPr>
          <p:cNvPr id="23" name="Shape 18"/>
          <p:cNvSpPr/>
          <p:nvPr/>
        </p:nvSpPr>
        <p:spPr>
          <a:xfrm>
            <a:off x="4837176" y="1801368"/>
            <a:ext cx="292608" cy="292608"/>
          </a:xfrm>
          <a:prstGeom prst="ellipse">
            <a:avLst/>
          </a:prstGeom>
          <a:solidFill>
            <a:schemeClr val="accent2"/>
          </a:solidFill>
          <a:ln w="12700">
            <a:solidFill>
              <a:schemeClr val="accent2"/>
            </a:solidFill>
            <a:prstDash val="solid"/>
          </a:ln>
        </p:spPr>
      </p:sp>
      <p:sp>
        <p:nvSpPr>
          <p:cNvPr id="24" name="Text 19"/>
          <p:cNvSpPr txBox="1"/>
          <p:nvPr/>
        </p:nvSpPr>
        <p:spPr>
          <a:xfrm>
            <a:off x="4837176" y="1801368"/>
            <a:ext cx="292608" cy="292608"/>
          </a:xfrm>
          <a:prstGeom prst="rect">
            <a:avLst/>
          </a:prstGeom>
          <a:noFill/>
          <a:ln/>
        </p:spPr>
        <p:txBody>
          <a:bodyPr wrap="square" lIns="0" tIns="0" rIns="0" bIns="0" rtlCol="0" anchor="ctr"/>
          <a:lstStyle/>
          <a:p>
            <a:pPr algn="ctr" indent="0" marL="0">
              <a:buNone/>
            </a:pPr>
            <a:r>
              <a:rPr lang="en-US" sz="1100" b="1" dirty="0">
                <a:solidFill>
                  <a:schemeClr val="tx2"/>
                </a:solidFill>
              </a:rPr>
              <a:t>3</a:t>
            </a:r>
            <a:endParaRPr lang="en-US" sz="1100" dirty="0"/>
          </a:p>
        </p:txBody>
      </p:sp>
      <p:sp>
        <p:nvSpPr>
          <p:cNvPr id="25" name="Text 20"/>
          <p:cNvSpPr txBox="1"/>
          <p:nvPr/>
        </p:nvSpPr>
        <p:spPr>
          <a:xfrm>
            <a:off x="4837176" y="2926080"/>
            <a:ext cx="1604772" cy="566928"/>
          </a:xfrm>
          <a:prstGeom prst="rect">
            <a:avLst/>
          </a:prstGeom>
          <a:noFill/>
          <a:ln/>
        </p:spPr>
        <p:txBody>
          <a:bodyPr wrap="square" lIns="0" tIns="0" rIns="0" bIns="0" rtlCol="0" anchor="t"/>
          <a:lstStyle/>
          <a:p>
            <a:pPr algn="ctr" indent="0" marL="0">
              <a:buNone/>
            </a:pPr>
            <a:r>
              <a:rPr lang="en-US" sz="1600" b="1" dirty="0">
                <a:solidFill>
                  <a:schemeClr val="tx2"/>
                </a:solidFill>
              </a:rPr>
              <a:t>Huella</a:t>
            </a:r>
            <a:endParaRPr lang="en-US" sz="1600" dirty="0"/>
          </a:p>
        </p:txBody>
      </p:sp>
      <p:sp>
        <p:nvSpPr>
          <p:cNvPr id="26" name="Text 21"/>
          <p:cNvSpPr txBox="1"/>
          <p:nvPr/>
        </p:nvSpPr>
        <p:spPr>
          <a:xfrm>
            <a:off x="4837176" y="3529584"/>
            <a:ext cx="1604772" cy="594360"/>
          </a:xfrm>
          <a:prstGeom prst="rect">
            <a:avLst/>
          </a:prstGeom>
          <a:noFill/>
          <a:ln/>
        </p:spPr>
        <p:txBody>
          <a:bodyPr wrap="square" lIns="0" tIns="0" rIns="0" bIns="0" rtlCol="0" anchor="t"/>
          <a:lstStyle/>
          <a:p>
            <a:pPr algn="ctr" indent="0" marL="0">
              <a:buNone/>
            </a:pPr>
            <a:r>
              <a:rPr lang="en-US" sz="1400" dirty="0">
                <a:solidFill>
                  <a:schemeClr val="accent5"/>
                </a:solidFill>
              </a:rPr>
              <a:t>9f2c…a4f5</a:t>
            </a:r>
            <a:endParaRPr lang="en-US" sz="1400" dirty="0"/>
          </a:p>
        </p:txBody>
      </p:sp>
      <p:sp>
        <p:nvSpPr>
          <p:cNvPr id="27" name="Shape 22"/>
          <p:cNvSpPr/>
          <p:nvPr/>
        </p:nvSpPr>
        <p:spPr>
          <a:xfrm>
            <a:off x="6588252" y="2948940"/>
            <a:ext cx="237744" cy="914"/>
          </a:xfrm>
          <a:prstGeom prst="line">
            <a:avLst/>
          </a:prstGeom>
          <a:noFill/>
          <a:ln w="25400">
            <a:solidFill>
              <a:schemeClr val="accent5"/>
            </a:solidFill>
            <a:prstDash val="solid"/>
            <a:tailEnd type="triangle"/>
          </a:ln>
        </p:spPr>
      </p:sp>
      <p:sp>
        <p:nvSpPr>
          <p:cNvPr id="28" name="Shape 23"/>
          <p:cNvSpPr/>
          <p:nvPr/>
        </p:nvSpPr>
        <p:spPr>
          <a:xfrm>
            <a:off x="6862572" y="1691640"/>
            <a:ext cx="1824228" cy="2514600"/>
          </a:xfrm>
          <a:prstGeom prst="roundRect">
            <a:avLst>
              <a:gd name="adj" fmla="val 4010"/>
            </a:avLst>
          </a:prstGeom>
          <a:solidFill>
            <a:schemeClr val="bg2"/>
          </a:solidFill>
          <a:ln w="19050">
            <a:solidFill>
              <a:schemeClr val="accent3"/>
            </a:solidFill>
            <a:prstDash val="solid"/>
          </a:ln>
        </p:spPr>
      </p:sp>
      <p:sp>
        <p:nvSpPr>
          <p:cNvPr id="29" name="Shape 24"/>
          <p:cNvSpPr/>
          <p:nvPr/>
        </p:nvSpPr>
        <p:spPr>
          <a:xfrm>
            <a:off x="7408926" y="2011680"/>
            <a:ext cx="731520" cy="731520"/>
          </a:xfrm>
          <a:prstGeom prst="ellipse">
            <a:avLst/>
          </a:prstGeom>
          <a:solidFill>
            <a:schemeClr val="accent3"/>
          </a:solidFill>
          <a:ln w="12700">
            <a:solidFill>
              <a:schemeClr val="accent3"/>
            </a:solidFill>
            <a:prstDash val="solid"/>
          </a:ln>
        </p:spPr>
      </p:sp>
      <p:pic>
        <p:nvPicPr>
          <p:cNvPr id="30" name="Image 3" descr="preencoded.png">    </p:cNvPr>
          <p:cNvPicPr>
            <a:picLocks noChangeAspect="1"/>
          </p:cNvPicPr>
          <p:nvPr/>
        </p:nvPicPr>
        <p:blipFill>
          <a:blip r:embed="rId4"/>
          <a:stretch>
            <a:fillRect/>
          </a:stretch>
        </p:blipFill>
        <p:spPr>
          <a:xfrm>
            <a:off x="7591806" y="2194560"/>
            <a:ext cx="365760" cy="365760"/>
          </a:xfrm>
          <a:prstGeom prst="rect">
            <a:avLst/>
          </a:prstGeom>
        </p:spPr>
      </p:pic>
      <p:sp>
        <p:nvSpPr>
          <p:cNvPr id="31" name="Shape 25"/>
          <p:cNvSpPr/>
          <p:nvPr/>
        </p:nvSpPr>
        <p:spPr>
          <a:xfrm>
            <a:off x="6972300" y="1801368"/>
            <a:ext cx="292608" cy="292608"/>
          </a:xfrm>
          <a:prstGeom prst="ellipse">
            <a:avLst/>
          </a:prstGeom>
          <a:solidFill>
            <a:schemeClr val="accent2"/>
          </a:solidFill>
          <a:ln w="12700">
            <a:solidFill>
              <a:schemeClr val="accent2"/>
            </a:solidFill>
            <a:prstDash val="solid"/>
          </a:ln>
        </p:spPr>
      </p:sp>
      <p:sp>
        <p:nvSpPr>
          <p:cNvPr id="32" name="Text 26"/>
          <p:cNvSpPr txBox="1"/>
          <p:nvPr/>
        </p:nvSpPr>
        <p:spPr>
          <a:xfrm>
            <a:off x="6972300" y="1801368"/>
            <a:ext cx="292608" cy="292608"/>
          </a:xfrm>
          <a:prstGeom prst="rect">
            <a:avLst/>
          </a:prstGeom>
          <a:noFill/>
          <a:ln/>
        </p:spPr>
        <p:txBody>
          <a:bodyPr wrap="square" lIns="0" tIns="0" rIns="0" bIns="0" rtlCol="0" anchor="ctr"/>
          <a:lstStyle/>
          <a:p>
            <a:pPr algn="ctr" indent="0" marL="0">
              <a:buNone/>
            </a:pPr>
            <a:r>
              <a:rPr lang="en-US" sz="1100" b="1" dirty="0">
                <a:solidFill>
                  <a:schemeClr val="tx2"/>
                </a:solidFill>
              </a:rPr>
              <a:t>4</a:t>
            </a:r>
            <a:endParaRPr lang="en-US" sz="1100" dirty="0"/>
          </a:p>
        </p:txBody>
      </p:sp>
      <p:sp>
        <p:nvSpPr>
          <p:cNvPr id="33" name="Text 27"/>
          <p:cNvSpPr txBox="1"/>
          <p:nvPr/>
        </p:nvSpPr>
        <p:spPr>
          <a:xfrm>
            <a:off x="6972300" y="2926080"/>
            <a:ext cx="1604772" cy="566928"/>
          </a:xfrm>
          <a:prstGeom prst="rect">
            <a:avLst/>
          </a:prstGeom>
          <a:noFill/>
          <a:ln/>
        </p:spPr>
        <p:txBody>
          <a:bodyPr wrap="square" lIns="0" tIns="0" rIns="0" bIns="0" rtlCol="0" anchor="t"/>
          <a:lstStyle/>
          <a:p>
            <a:pPr algn="ctr" indent="0" marL="0">
              <a:buNone/>
            </a:pPr>
            <a:r>
              <a:rPr lang="en-US" sz="1600" b="1" dirty="0">
                <a:solidFill>
                  <a:schemeClr val="tx2"/>
                </a:solidFill>
              </a:rPr>
              <a:t>Comparar</a:t>
            </a:r>
            <a:endParaRPr lang="en-US" sz="1600" dirty="0"/>
          </a:p>
        </p:txBody>
      </p:sp>
      <p:sp>
        <p:nvSpPr>
          <p:cNvPr id="34" name="Text 28"/>
          <p:cNvSpPr txBox="1"/>
          <p:nvPr/>
        </p:nvSpPr>
        <p:spPr>
          <a:xfrm>
            <a:off x="6972300" y="3529584"/>
            <a:ext cx="1604772" cy="594360"/>
          </a:xfrm>
          <a:prstGeom prst="rect">
            <a:avLst/>
          </a:prstGeom>
          <a:noFill/>
          <a:ln/>
        </p:spPr>
        <p:txBody>
          <a:bodyPr wrap="square" lIns="0" tIns="0" rIns="0" bIns="0" rtlCol="0" anchor="t"/>
          <a:lstStyle/>
          <a:p>
            <a:pPr algn="ctr" indent="0" marL="0">
              <a:buNone/>
            </a:pPr>
            <a:r>
              <a:rPr lang="en-US" sz="1400" dirty="0">
                <a:solidFill>
                  <a:schemeClr val="accent5"/>
                </a:solidFill>
              </a:rPr>
              <a:t>Distinta a la oficial (…a405)</a:t>
            </a:r>
            <a:endParaRPr lang="en-US" sz="1400" dirty="0"/>
          </a:p>
        </p:txBody>
      </p:sp>
      <p:sp>
        <p:nvSpPr>
          <p:cNvPr id="25" name="Slide Number Placeholder 0"/>
          <p:cNvSpPr>
            <a:spLocks noGrp="1"/>
          </p:cNvSpPr>
          <p:nvPr>
            <p:ph type="sldNum" sz="quarter" idx="4294967295"/>
          </p:nvPr>
        </p:nvSpPr>
        <p:spPr>
          <a:xfrm>
            <a:off x="8138160" y="4791456"/>
            <a:ext cx="548640" cy="237744"/>
          </a:xfrm>
          <a:prstGeom prst="rect">
            <a:avLst/>
          </a:prstGeom>
          <a:extLst>
            <a:ext uri="{C572A759-6A51-4108-AA02-DFA0A04FC94B}">
              <ma14:wrappingTextBoxFlag xmlns:ma14="http://schemas.microsoft.com/office/mac/drawingml/2011/main" val="0"/>
            </a:ext>
          </a:extLst>
        </p:spPr>
        <p:txBody>
          <a:bodyPr anchor="ctr"/>
          <a:lstStyle>
            <a:lvl1pPr>
              <a:defRPr sz="9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182880"/>
            <a:ext cx="8229600" cy="237744"/>
          </a:xfrm>
          <a:prstGeom prst="rect">
            <a:avLst/>
          </a:prstGeom>
          <a:noFill/>
          <a:ln/>
        </p:spPr>
        <p:txBody>
          <a:bodyPr wrap="square" lIns="0" tIns="0" rIns="0" bIns="0" rtlCol="0" anchor="t"/>
          <a:lstStyle/>
          <a:p>
            <a:pPr indent="0" marL="0">
              <a:buNone/>
            </a:pPr>
            <a:r>
              <a:rPr lang="en-US" sz="1100" b="1" spc="150" kern="0" dirty="0">
                <a:solidFill>
                  <a:schemeClr val="accent1"/>
                </a:solidFill>
              </a:rPr>
              <a:t>CASO 3 · LO QUE APRENDIMOS</a:t>
            </a:r>
            <a:endParaRPr lang="en-US" sz="1100" dirty="0"/>
          </a:p>
        </p:txBody>
      </p:sp>
      <p:sp>
        <p:nvSpPr>
          <p:cNvPr id="3" name="Text 0"/>
          <p:cNvSpPr/>
          <p:nvPr>
            <p:ph idx="100" type="title" hasCustomPrompt="1"/>
          </p:nvPr>
        </p:nvSpPr>
        <p:spPr>
          <a:xfrm>
            <a:off x="457200" y="420624"/>
            <a:ext cx="8229600" cy="640080"/>
          </a:xfrm>
          <a:prstGeom prst="rect">
            <a:avLst/>
          </a:prstGeom>
          <a:noFill/>
          <a:ln/>
        </p:spPr>
        <p:txBody>
          <a:bodyPr wrap="square" lIns="0" tIns="0" rIns="0" bIns="0" rtlCol="0" anchor="t"/>
          <a:lstStyle/>
          <a:p>
            <a:pPr algn="l" indent="0" marL="0">
              <a:buNone/>
            </a:pPr>
            <a:r>
              <a:rPr lang="en-US" sz="2600" b="1" dirty="0">
                <a:solidFill>
                  <a:schemeClr val="tx2"/>
                </a:solidFill>
              </a:rPr>
              <a:t>¿Es el mismo archivo?</a:t>
            </a:r>
            <a:endParaRPr lang="en-US" sz="2600" dirty="0"/>
          </a:p>
        </p:txBody>
      </p:sp>
      <p:sp>
        <p:nvSpPr>
          <p:cNvPr id="4" name="Shape 2"/>
          <p:cNvSpPr/>
          <p:nvPr/>
        </p:nvSpPr>
        <p:spPr>
          <a:xfrm>
            <a:off x="457200" y="1325880"/>
            <a:ext cx="4754880" cy="960120"/>
          </a:xfrm>
          <a:prstGeom prst="roundRect">
            <a:avLst>
              <a:gd name="adj" fmla="val 7619"/>
            </a:avLst>
          </a:prstGeom>
          <a:solidFill>
            <a:schemeClr val="bg2"/>
          </a:solidFill>
          <a:ln w="12700">
            <a:solidFill>
              <a:schemeClr val="bg2"/>
            </a:solidFill>
            <a:prstDash val="solid"/>
          </a:ln>
        </p:spPr>
      </p:sp>
      <p:sp>
        <p:nvSpPr>
          <p:cNvPr id="5" name="Shape 3"/>
          <p:cNvSpPr/>
          <p:nvPr/>
        </p:nvSpPr>
        <p:spPr>
          <a:xfrm>
            <a:off x="640080" y="1581912"/>
            <a:ext cx="457200" cy="457200"/>
          </a:xfrm>
          <a:prstGeom prst="ellipse">
            <a:avLst/>
          </a:prstGeom>
          <a:solidFill>
            <a:schemeClr val="accent1"/>
          </a:solidFill>
          <a:ln w="12700">
            <a:solidFill>
              <a:schemeClr val="accent1"/>
            </a:solidFill>
            <a:prstDash val="solid"/>
          </a:ln>
        </p:spPr>
      </p:sp>
      <p:sp>
        <p:nvSpPr>
          <p:cNvPr id="6" name="Text 4"/>
          <p:cNvSpPr txBox="1"/>
          <p:nvPr/>
        </p:nvSpPr>
        <p:spPr>
          <a:xfrm>
            <a:off x="640080" y="1581912"/>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7" name="Text 5"/>
          <p:cNvSpPr txBox="1"/>
          <p:nvPr/>
        </p:nvSpPr>
        <p:spPr>
          <a:xfrm>
            <a:off x="1280160" y="1435608"/>
            <a:ext cx="3794760" cy="347472"/>
          </a:xfrm>
          <a:prstGeom prst="rect">
            <a:avLst/>
          </a:prstGeom>
          <a:noFill/>
          <a:ln/>
        </p:spPr>
        <p:txBody>
          <a:bodyPr wrap="square" lIns="0" tIns="0" rIns="0" bIns="0" rtlCol="0" anchor="t"/>
          <a:lstStyle/>
          <a:p>
            <a:pPr indent="0" marL="0">
              <a:buNone/>
            </a:pPr>
            <a:r>
              <a:rPr lang="en-US" sz="1700" b="1" dirty="0">
                <a:solidFill>
                  <a:schemeClr val="tx2"/>
                </a:solidFill>
              </a:rPr>
              <a:t>Hash</a:t>
            </a:r>
            <a:endParaRPr lang="en-US" sz="1700" dirty="0"/>
          </a:p>
        </p:txBody>
      </p:sp>
      <p:sp>
        <p:nvSpPr>
          <p:cNvPr id="8" name="Text 6"/>
          <p:cNvSpPr txBox="1"/>
          <p:nvPr/>
        </p:nvSpPr>
        <p:spPr>
          <a:xfrm>
            <a:off x="1280160" y="1801368"/>
            <a:ext cx="3794760" cy="411480"/>
          </a:xfrm>
          <a:prstGeom prst="rect">
            <a:avLst/>
          </a:prstGeom>
          <a:noFill/>
          <a:ln/>
        </p:spPr>
        <p:txBody>
          <a:bodyPr wrap="square" lIns="0" tIns="0" rIns="0" bIns="0" rtlCol="0" anchor="t"/>
          <a:lstStyle/>
          <a:p>
            <a:pPr indent="0" marL="0">
              <a:buNone/>
            </a:pPr>
            <a:r>
              <a:rPr lang="en-US" sz="1400" dirty="0">
                <a:solidFill>
                  <a:schemeClr val="tx1"/>
                </a:solidFill>
              </a:rPr>
              <a:t>Huella de una sola vía de un archivo</a:t>
            </a:r>
            <a:endParaRPr lang="en-US" sz="1400" dirty="0"/>
          </a:p>
        </p:txBody>
      </p:sp>
      <p:sp>
        <p:nvSpPr>
          <p:cNvPr id="9" name="Shape 7"/>
          <p:cNvSpPr/>
          <p:nvPr/>
        </p:nvSpPr>
        <p:spPr>
          <a:xfrm>
            <a:off x="457200" y="2423160"/>
            <a:ext cx="4754880" cy="960120"/>
          </a:xfrm>
          <a:prstGeom prst="roundRect">
            <a:avLst>
              <a:gd name="adj" fmla="val 7619"/>
            </a:avLst>
          </a:prstGeom>
          <a:solidFill>
            <a:schemeClr val="bg2"/>
          </a:solidFill>
          <a:ln w="12700">
            <a:solidFill>
              <a:schemeClr val="bg2"/>
            </a:solidFill>
            <a:prstDash val="solid"/>
          </a:ln>
        </p:spPr>
      </p:sp>
      <p:sp>
        <p:nvSpPr>
          <p:cNvPr id="10" name="Shape 8"/>
          <p:cNvSpPr/>
          <p:nvPr/>
        </p:nvSpPr>
        <p:spPr>
          <a:xfrm>
            <a:off x="640080" y="2679192"/>
            <a:ext cx="457200" cy="457200"/>
          </a:xfrm>
          <a:prstGeom prst="ellipse">
            <a:avLst/>
          </a:prstGeom>
          <a:solidFill>
            <a:schemeClr val="accent1"/>
          </a:solidFill>
          <a:ln w="12700">
            <a:solidFill>
              <a:schemeClr val="accent1"/>
            </a:solidFill>
            <a:prstDash val="solid"/>
          </a:ln>
        </p:spPr>
      </p:sp>
      <p:sp>
        <p:nvSpPr>
          <p:cNvPr id="11" name="Text 9"/>
          <p:cNvSpPr txBox="1"/>
          <p:nvPr/>
        </p:nvSpPr>
        <p:spPr>
          <a:xfrm>
            <a:off x="640080" y="2679192"/>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2" name="Text 10"/>
          <p:cNvSpPr txBox="1"/>
          <p:nvPr/>
        </p:nvSpPr>
        <p:spPr>
          <a:xfrm>
            <a:off x="1280160" y="2532888"/>
            <a:ext cx="3794760" cy="347472"/>
          </a:xfrm>
          <a:prstGeom prst="rect">
            <a:avLst/>
          </a:prstGeom>
          <a:noFill/>
          <a:ln/>
        </p:spPr>
        <p:txBody>
          <a:bodyPr wrap="square" lIns="0" tIns="0" rIns="0" bIns="0" rtlCol="0" anchor="t"/>
          <a:lstStyle/>
          <a:p>
            <a:pPr indent="0" marL="0">
              <a:buNone/>
            </a:pPr>
            <a:r>
              <a:rPr lang="en-US" sz="1700" b="1" dirty="0">
                <a:solidFill>
                  <a:schemeClr val="tx2"/>
                </a:solidFill>
              </a:rPr>
              <a:t>Integridad</a:t>
            </a:r>
            <a:endParaRPr lang="en-US" sz="1700" dirty="0"/>
          </a:p>
        </p:txBody>
      </p:sp>
      <p:sp>
        <p:nvSpPr>
          <p:cNvPr id="13" name="Text 11"/>
          <p:cNvSpPr txBox="1"/>
          <p:nvPr/>
        </p:nvSpPr>
        <p:spPr>
          <a:xfrm>
            <a:off x="1280160" y="2898648"/>
            <a:ext cx="3794760" cy="411480"/>
          </a:xfrm>
          <a:prstGeom prst="rect">
            <a:avLst/>
          </a:prstGeom>
          <a:noFill/>
          <a:ln/>
        </p:spPr>
        <p:txBody>
          <a:bodyPr wrap="square" lIns="0" tIns="0" rIns="0" bIns="0" rtlCol="0" anchor="t"/>
          <a:lstStyle/>
          <a:p>
            <a:pPr indent="0" marL="0">
              <a:buNone/>
            </a:pPr>
            <a:r>
              <a:rPr lang="en-US" sz="1400" dirty="0">
                <a:solidFill>
                  <a:schemeClr val="tx1"/>
                </a:solidFill>
              </a:rPr>
              <a:t>Los datos no cambiaron sin permiso</a:t>
            </a:r>
            <a:endParaRPr lang="en-US" sz="1400" dirty="0"/>
          </a:p>
        </p:txBody>
      </p:sp>
      <p:sp>
        <p:nvSpPr>
          <p:cNvPr id="14" name="Shape 12"/>
          <p:cNvSpPr/>
          <p:nvPr/>
        </p:nvSpPr>
        <p:spPr>
          <a:xfrm>
            <a:off x="457200" y="3520440"/>
            <a:ext cx="4754880" cy="960120"/>
          </a:xfrm>
          <a:prstGeom prst="roundRect">
            <a:avLst>
              <a:gd name="adj" fmla="val 7619"/>
            </a:avLst>
          </a:prstGeom>
          <a:solidFill>
            <a:schemeClr val="bg2"/>
          </a:solidFill>
          <a:ln w="12700">
            <a:solidFill>
              <a:schemeClr val="bg2"/>
            </a:solidFill>
            <a:prstDash val="solid"/>
          </a:ln>
        </p:spPr>
      </p:sp>
      <p:sp>
        <p:nvSpPr>
          <p:cNvPr id="15" name="Shape 13"/>
          <p:cNvSpPr/>
          <p:nvPr/>
        </p:nvSpPr>
        <p:spPr>
          <a:xfrm>
            <a:off x="640080" y="3776472"/>
            <a:ext cx="457200" cy="457200"/>
          </a:xfrm>
          <a:prstGeom prst="ellipse">
            <a:avLst/>
          </a:prstGeom>
          <a:solidFill>
            <a:schemeClr val="accent1"/>
          </a:solidFill>
          <a:ln w="12700">
            <a:solidFill>
              <a:schemeClr val="accent1"/>
            </a:solidFill>
            <a:prstDash val="solid"/>
          </a:ln>
        </p:spPr>
      </p:sp>
      <p:sp>
        <p:nvSpPr>
          <p:cNvPr id="16" name="Text 14"/>
          <p:cNvSpPr txBox="1"/>
          <p:nvPr/>
        </p:nvSpPr>
        <p:spPr>
          <a:xfrm>
            <a:off x="640080" y="3776472"/>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7" name="Text 15"/>
          <p:cNvSpPr txBox="1"/>
          <p:nvPr/>
        </p:nvSpPr>
        <p:spPr>
          <a:xfrm>
            <a:off x="1280160" y="3630168"/>
            <a:ext cx="3794760" cy="347472"/>
          </a:xfrm>
          <a:prstGeom prst="rect">
            <a:avLst/>
          </a:prstGeom>
          <a:noFill/>
          <a:ln/>
        </p:spPr>
        <p:txBody>
          <a:bodyPr wrap="square" lIns="0" tIns="0" rIns="0" bIns="0" rtlCol="0" anchor="t"/>
          <a:lstStyle/>
          <a:p>
            <a:pPr indent="0" marL="0">
              <a:buNone/>
            </a:pPr>
            <a:r>
              <a:rPr lang="en-US" sz="1700" b="1" dirty="0">
                <a:solidFill>
                  <a:schemeClr val="tx2"/>
                </a:solidFill>
              </a:rPr>
              <a:t>Certificado digital</a:t>
            </a:r>
            <a:endParaRPr lang="en-US" sz="1700" dirty="0"/>
          </a:p>
        </p:txBody>
      </p:sp>
      <p:sp>
        <p:nvSpPr>
          <p:cNvPr id="18" name="Text 16"/>
          <p:cNvSpPr txBox="1"/>
          <p:nvPr/>
        </p:nvSpPr>
        <p:spPr>
          <a:xfrm>
            <a:off x="1280160" y="3995928"/>
            <a:ext cx="3794760" cy="411480"/>
          </a:xfrm>
          <a:prstGeom prst="rect">
            <a:avLst/>
          </a:prstGeom>
          <a:noFill/>
          <a:ln/>
        </p:spPr>
        <p:txBody>
          <a:bodyPr wrap="square" lIns="0" tIns="0" rIns="0" bIns="0" rtlCol="0" anchor="t"/>
          <a:lstStyle/>
          <a:p>
            <a:pPr indent="0" marL="0">
              <a:buNone/>
            </a:pPr>
            <a:r>
              <a:rPr lang="en-US" sz="1400" dirty="0">
                <a:solidFill>
                  <a:schemeClr val="tx1"/>
                </a:solidFill>
              </a:rPr>
              <a:t>Une una llave pública con su dueño</a:t>
            </a:r>
            <a:endParaRPr lang="en-US" sz="1400" dirty="0"/>
          </a:p>
        </p:txBody>
      </p:sp>
      <p:sp>
        <p:nvSpPr>
          <p:cNvPr id="19" name="Shape 17"/>
          <p:cNvSpPr/>
          <p:nvPr/>
        </p:nvSpPr>
        <p:spPr>
          <a:xfrm>
            <a:off x="5486400" y="1325880"/>
            <a:ext cx="3200400" cy="3154680"/>
          </a:xfrm>
          <a:prstGeom prst="roundRect">
            <a:avLst>
              <a:gd name="adj" fmla="val 2319"/>
            </a:avLst>
          </a:prstGeom>
          <a:solidFill>
            <a:schemeClr val="tx2"/>
          </a:solidFill>
          <a:ln w="12700">
            <a:solidFill>
              <a:schemeClr val="tx2"/>
            </a:solidFill>
            <a:prstDash val="solid"/>
          </a:ln>
        </p:spPr>
      </p:sp>
      <p:sp>
        <p:nvSpPr>
          <p:cNvPr id="20" name="Shape 18"/>
          <p:cNvSpPr/>
          <p:nvPr/>
        </p:nvSpPr>
        <p:spPr>
          <a:xfrm>
            <a:off x="5715000" y="1536192"/>
            <a:ext cx="502920" cy="502920"/>
          </a:xfrm>
          <a:prstGeom prst="ellipse">
            <a:avLst/>
          </a:prstGeom>
          <a:solidFill>
            <a:schemeClr val="accent4"/>
          </a:solidFill>
          <a:ln w="12700">
            <a:solidFill>
              <a:schemeClr val="accent4"/>
            </a:solidFill>
            <a:prstDash val="solid"/>
          </a:ln>
        </p:spPr>
      </p:sp>
      <p:pic>
        <p:nvPicPr>
          <p:cNvPr id="21" name="Image 0" descr="preencoded.png">    </p:cNvPr>
          <p:cNvPicPr>
            <a:picLocks noChangeAspect="1"/>
          </p:cNvPicPr>
          <p:nvPr/>
        </p:nvPicPr>
        <p:blipFill>
          <a:blip r:embed="rId1"/>
          <a:stretch>
            <a:fillRect/>
          </a:stretch>
        </p:blipFill>
        <p:spPr>
          <a:xfrm>
            <a:off x="5840730" y="1661922"/>
            <a:ext cx="251460" cy="251460"/>
          </a:xfrm>
          <a:prstGeom prst="rect">
            <a:avLst/>
          </a:prstGeom>
        </p:spPr>
      </p:pic>
      <p:sp>
        <p:nvSpPr>
          <p:cNvPr id="22" name="Text 19"/>
          <p:cNvSpPr txBox="1"/>
          <p:nvPr/>
        </p:nvSpPr>
        <p:spPr>
          <a:xfrm>
            <a:off x="6355080" y="1536192"/>
            <a:ext cx="2194560" cy="502920"/>
          </a:xfrm>
          <a:prstGeom prst="rect">
            <a:avLst/>
          </a:prstGeom>
          <a:noFill/>
          <a:ln/>
        </p:spPr>
        <p:txBody>
          <a:bodyPr wrap="square" lIns="0" tIns="0" rIns="0" bIns="0" rtlCol="0" anchor="ctr"/>
          <a:lstStyle/>
          <a:p>
            <a:pPr indent="0" marL="0">
              <a:buNone/>
            </a:pPr>
            <a:r>
              <a:rPr lang="en-US" sz="1700" b="1" dirty="0">
                <a:solidFill>
                  <a:schemeClr val="bg1"/>
                </a:solidFill>
              </a:rPr>
              <a:t>Cómo se evita</a:t>
            </a:r>
            <a:endParaRPr lang="en-US" sz="1700" dirty="0"/>
          </a:p>
        </p:txBody>
      </p:sp>
      <p:pic>
        <p:nvPicPr>
          <p:cNvPr id="23" name="Image 1" descr="preencoded.png">    </p:cNvPr>
          <p:cNvPicPr>
            <a:picLocks noChangeAspect="1"/>
          </p:cNvPicPr>
          <p:nvPr/>
        </p:nvPicPr>
        <p:blipFill>
          <a:blip r:embed="rId2"/>
          <a:stretch>
            <a:fillRect/>
          </a:stretch>
        </p:blipFill>
        <p:spPr>
          <a:xfrm>
            <a:off x="5733288" y="2313432"/>
            <a:ext cx="274320" cy="274320"/>
          </a:xfrm>
          <a:prstGeom prst="rect">
            <a:avLst/>
          </a:prstGeom>
        </p:spPr>
      </p:pic>
      <p:sp>
        <p:nvSpPr>
          <p:cNvPr id="24" name="Text 20"/>
          <p:cNvSpPr txBox="1"/>
          <p:nvPr/>
        </p:nvSpPr>
        <p:spPr>
          <a:xfrm>
            <a:off x="6144768" y="2286000"/>
            <a:ext cx="2395728" cy="658368"/>
          </a:xfrm>
          <a:prstGeom prst="rect">
            <a:avLst/>
          </a:prstGeom>
          <a:noFill/>
          <a:ln/>
        </p:spPr>
        <p:txBody>
          <a:bodyPr wrap="square" lIns="0" tIns="0" rIns="0" bIns="0" rtlCol="0" anchor="t"/>
          <a:lstStyle/>
          <a:p>
            <a:pPr indent="0" marL="0">
              <a:buNone/>
            </a:pPr>
            <a:r>
              <a:rPr lang="en-US" sz="1400" dirty="0">
                <a:solidFill>
                  <a:schemeClr val="bg1"/>
                </a:solidFill>
              </a:rPr>
              <a:t>Comparar con el hash oficial</a:t>
            </a:r>
            <a:endParaRPr lang="en-US" sz="1400" dirty="0"/>
          </a:p>
        </p:txBody>
      </p:sp>
      <p:pic>
        <p:nvPicPr>
          <p:cNvPr id="25" name="Image 2" descr="preencoded.png">    </p:cNvPr>
          <p:cNvPicPr>
            <a:picLocks noChangeAspect="1"/>
          </p:cNvPicPr>
          <p:nvPr/>
        </p:nvPicPr>
        <p:blipFill>
          <a:blip r:embed="rId3"/>
          <a:stretch>
            <a:fillRect/>
          </a:stretch>
        </p:blipFill>
        <p:spPr>
          <a:xfrm>
            <a:off x="5733288" y="3026664"/>
            <a:ext cx="274320" cy="274320"/>
          </a:xfrm>
          <a:prstGeom prst="rect">
            <a:avLst/>
          </a:prstGeom>
        </p:spPr>
      </p:pic>
      <p:sp>
        <p:nvSpPr>
          <p:cNvPr id="26" name="Text 21"/>
          <p:cNvSpPr txBox="1"/>
          <p:nvPr/>
        </p:nvSpPr>
        <p:spPr>
          <a:xfrm>
            <a:off x="6144768" y="2999232"/>
            <a:ext cx="2395728" cy="658368"/>
          </a:xfrm>
          <a:prstGeom prst="rect">
            <a:avLst/>
          </a:prstGeom>
          <a:noFill/>
          <a:ln/>
        </p:spPr>
        <p:txBody>
          <a:bodyPr wrap="square" lIns="0" tIns="0" rIns="0" bIns="0" rtlCol="0" anchor="t"/>
          <a:lstStyle/>
          <a:p>
            <a:pPr indent="0" marL="0">
              <a:buNone/>
            </a:pPr>
            <a:r>
              <a:rPr lang="en-US" sz="1400" dirty="0">
                <a:solidFill>
                  <a:schemeClr val="bg1"/>
                </a:solidFill>
              </a:rPr>
              <a:t>Descargar solo del sitio oficial</a:t>
            </a:r>
            <a:endParaRPr lang="en-US" sz="1400" dirty="0"/>
          </a:p>
        </p:txBody>
      </p:sp>
      <p:pic>
        <p:nvPicPr>
          <p:cNvPr id="27" name="Image 3" descr="preencoded.png">    </p:cNvPr>
          <p:cNvPicPr>
            <a:picLocks noChangeAspect="1"/>
          </p:cNvPicPr>
          <p:nvPr/>
        </p:nvPicPr>
        <p:blipFill>
          <a:blip r:embed="rId4"/>
          <a:stretch>
            <a:fillRect/>
          </a:stretch>
        </p:blipFill>
        <p:spPr>
          <a:xfrm>
            <a:off x="5733288" y="3739896"/>
            <a:ext cx="274320" cy="274320"/>
          </a:xfrm>
          <a:prstGeom prst="rect">
            <a:avLst/>
          </a:prstGeom>
        </p:spPr>
      </p:pic>
      <p:sp>
        <p:nvSpPr>
          <p:cNvPr id="28" name="Text 22"/>
          <p:cNvSpPr txBox="1"/>
          <p:nvPr/>
        </p:nvSpPr>
        <p:spPr>
          <a:xfrm>
            <a:off x="6144768" y="3712464"/>
            <a:ext cx="2395728" cy="658368"/>
          </a:xfrm>
          <a:prstGeom prst="rect">
            <a:avLst/>
          </a:prstGeom>
          <a:noFill/>
          <a:ln/>
        </p:spPr>
        <p:txBody>
          <a:bodyPr wrap="square" lIns="0" tIns="0" rIns="0" bIns="0" rtlCol="0" anchor="t"/>
          <a:lstStyle/>
          <a:p>
            <a:pPr indent="0" marL="0">
              <a:buNone/>
            </a:pPr>
            <a:r>
              <a:rPr lang="en-US" sz="1400" dirty="0">
                <a:solidFill>
                  <a:schemeClr val="bg1"/>
                </a:solidFill>
              </a:rPr>
              <a:t>Revisar el candado y el certificado</a:t>
            </a:r>
            <a:endParaRPr lang="en-US" sz="1400" dirty="0"/>
          </a:p>
        </p:txBody>
      </p:sp>
      <p:sp>
        <p:nvSpPr>
          <p:cNvPr id="25" name="Slide Number Placeholder 0"/>
          <p:cNvSpPr>
            <a:spLocks noGrp="1"/>
          </p:cNvSpPr>
          <p:nvPr>
            <p:ph type="sldNum" sz="quarter" idx="4294967295"/>
          </p:nvPr>
        </p:nvSpPr>
        <p:spPr>
          <a:xfrm>
            <a:off x="8138160" y="4791456"/>
            <a:ext cx="548640" cy="237744"/>
          </a:xfrm>
          <a:prstGeom prst="rect">
            <a:avLst/>
          </a:prstGeom>
          <a:extLst>
            <a:ext uri="{C572A759-6A51-4108-AA02-DFA0A04FC94B}">
              <ma14:wrappingTextBoxFlag xmlns:ma14="http://schemas.microsoft.com/office/mac/drawingml/2011/main" val="0"/>
            </a:ext>
          </a:extLst>
        </p:spPr>
        <p:txBody>
          <a:bodyPr anchor="ctr"/>
          <a:lstStyle>
            <a:lvl1pPr>
              <a:defRPr sz="9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182880"/>
            <a:ext cx="8229600" cy="237744"/>
          </a:xfrm>
          <a:prstGeom prst="rect">
            <a:avLst/>
          </a:prstGeom>
          <a:noFill/>
          <a:ln/>
        </p:spPr>
        <p:txBody>
          <a:bodyPr wrap="square" lIns="0" tIns="0" rIns="0" bIns="0" rtlCol="0" anchor="t"/>
          <a:lstStyle/>
          <a:p>
            <a:pPr indent="0" marL="0">
              <a:buNone/>
            </a:pPr>
            <a:r>
              <a:rPr lang="en-US" sz="1100" b="1" spc="150" kern="0" dirty="0">
                <a:solidFill>
                  <a:schemeClr val="accent2"/>
                </a:solidFill>
              </a:rPr>
              <a:t>CASO 4 DE 4</a:t>
            </a:r>
            <a:endParaRPr lang="en-US" sz="1100" dirty="0"/>
          </a:p>
        </p:txBody>
      </p:sp>
      <p:sp>
        <p:nvSpPr>
          <p:cNvPr id="3" name="Text 0"/>
          <p:cNvSpPr/>
          <p:nvPr>
            <p:ph idx="100" type="title" hasCustomPrompt="1"/>
          </p:nvPr>
        </p:nvSpPr>
        <p:spPr>
          <a:xfrm>
            <a:off x="457200" y="502920"/>
            <a:ext cx="8229600" cy="685800"/>
          </a:xfrm>
          <a:prstGeom prst="rect">
            <a:avLst/>
          </a:prstGeom>
          <a:noFill/>
          <a:ln/>
        </p:spPr>
        <p:txBody>
          <a:bodyPr wrap="square" lIns="0" tIns="0" rIns="0" bIns="0" rtlCol="0" anchor="t"/>
          <a:lstStyle/>
          <a:p>
            <a:pPr algn="l" indent="0" marL="0">
              <a:buNone/>
            </a:pPr>
            <a:r>
              <a:rPr lang="en-US" sz="3000" b="1" dirty="0">
                <a:solidFill>
                  <a:schemeClr val="bg1"/>
                </a:solidFill>
              </a:rPr>
              <a:t>La alarma de las 3 de la madrugada</a:t>
            </a:r>
            <a:endParaRPr lang="en-US" sz="3000" dirty="0"/>
          </a:p>
        </p:txBody>
      </p:sp>
      <p:sp>
        <p:nvSpPr>
          <p:cNvPr id="4" name="Shape 2"/>
          <p:cNvSpPr/>
          <p:nvPr/>
        </p:nvSpPr>
        <p:spPr>
          <a:xfrm>
            <a:off x="457200" y="1371600"/>
            <a:ext cx="5760720" cy="2057400"/>
          </a:xfrm>
          <a:prstGeom prst="roundRect">
            <a:avLst>
              <a:gd name="adj" fmla="val 3556"/>
            </a:avLst>
          </a:prstGeom>
          <a:solidFill>
            <a:schemeClr val="bg1">
              <a:alpha val="10000"/>
            </a:schemeClr>
          </a:solidFill>
          <a:ln w="12700">
            <a:solidFill>
              <a:schemeClr val="bg1"/>
            </a:solidFill>
            <a:prstDash val="solid"/>
          </a:ln>
        </p:spPr>
      </p:sp>
      <p:sp>
        <p:nvSpPr>
          <p:cNvPr id="5" name="Text 3"/>
          <p:cNvSpPr txBox="1"/>
          <p:nvPr/>
        </p:nvSpPr>
        <p:spPr>
          <a:xfrm>
            <a:off x="685800" y="1554480"/>
            <a:ext cx="5349240" cy="1737360"/>
          </a:xfrm>
          <a:prstGeom prst="rect">
            <a:avLst/>
          </a:prstGeom>
          <a:noFill/>
          <a:ln/>
        </p:spPr>
        <p:txBody>
          <a:bodyPr wrap="square" lIns="0" tIns="0" rIns="0" bIns="0" rtlCol="0" anchor="ctr"/>
          <a:lstStyle/>
          <a:p>
            <a:pPr indent="0" marL="0">
              <a:buNone/>
            </a:pPr>
            <a:r>
              <a:rPr lang="en-US" sz="1800" dirty="0">
                <a:solidFill>
                  <a:schemeClr val="bg1"/>
                </a:solidFill>
              </a:rPr>
              <a:t>A las 3 a. m. el SIEM del colegio genera 200 alertas: inicios de sesión desde otro país en la cuenta del director. Casi todas las noches hay alertas que terminan siendo nada.</a:t>
            </a:r>
            <a:endParaRPr lang="en-US" sz="1800" dirty="0"/>
          </a:p>
        </p:txBody>
      </p:sp>
      <p:sp>
        <p:nvSpPr>
          <p:cNvPr id="6" name="Shape 4"/>
          <p:cNvSpPr/>
          <p:nvPr/>
        </p:nvSpPr>
        <p:spPr>
          <a:xfrm>
            <a:off x="6583680" y="1325880"/>
            <a:ext cx="2011680" cy="2011680"/>
          </a:xfrm>
          <a:prstGeom prst="ellipse">
            <a:avLst/>
          </a:prstGeom>
          <a:solidFill>
            <a:schemeClr val="accent1"/>
          </a:solidFill>
          <a:ln w="12700">
            <a:solidFill>
              <a:schemeClr val="accent1"/>
            </a:solidFill>
            <a:prstDash val="solid"/>
          </a:ln>
        </p:spPr>
      </p:sp>
      <p:pic>
        <p:nvPicPr>
          <p:cNvPr id="7" name="Image 0" descr="preencoded.png">    </p:cNvPr>
          <p:cNvPicPr>
            <a:picLocks noChangeAspect="1"/>
          </p:cNvPicPr>
          <p:nvPr/>
        </p:nvPicPr>
        <p:blipFill>
          <a:blip r:embed="rId1"/>
          <a:stretch>
            <a:fillRect/>
          </a:stretch>
        </p:blipFill>
        <p:spPr>
          <a:xfrm>
            <a:off x="7086600" y="1828800"/>
            <a:ext cx="1005840" cy="1005840"/>
          </a:xfrm>
          <a:prstGeom prst="rect">
            <a:avLst/>
          </a:prstGeom>
        </p:spPr>
      </p:pic>
      <p:sp>
        <p:nvSpPr>
          <p:cNvPr id="8" name="Shape 5"/>
          <p:cNvSpPr/>
          <p:nvPr/>
        </p:nvSpPr>
        <p:spPr>
          <a:xfrm>
            <a:off x="457200" y="3639312"/>
            <a:ext cx="8229600" cy="932688"/>
          </a:xfrm>
          <a:prstGeom prst="roundRect">
            <a:avLst>
              <a:gd name="adj" fmla="val 7843"/>
            </a:avLst>
          </a:prstGeom>
          <a:solidFill>
            <a:schemeClr val="accent2"/>
          </a:solidFill>
          <a:ln w="12700">
            <a:solidFill>
              <a:schemeClr val="accent2"/>
            </a:solidFill>
            <a:prstDash val="solid"/>
          </a:ln>
        </p:spPr>
      </p:sp>
      <p:pic>
        <p:nvPicPr>
          <p:cNvPr id="9" name="Image 1" descr="preencoded.png">    </p:cNvPr>
          <p:cNvPicPr>
            <a:picLocks noChangeAspect="1"/>
          </p:cNvPicPr>
          <p:nvPr/>
        </p:nvPicPr>
        <p:blipFill>
          <a:blip r:embed="rId2"/>
          <a:stretch>
            <a:fillRect/>
          </a:stretch>
        </p:blipFill>
        <p:spPr>
          <a:xfrm>
            <a:off x="658368" y="3877056"/>
            <a:ext cx="457200" cy="457200"/>
          </a:xfrm>
          <a:prstGeom prst="rect">
            <a:avLst/>
          </a:prstGeom>
        </p:spPr>
      </p:pic>
      <p:sp>
        <p:nvSpPr>
          <p:cNvPr id="10" name="Text 6"/>
          <p:cNvSpPr txBox="1"/>
          <p:nvPr/>
        </p:nvSpPr>
        <p:spPr>
          <a:xfrm>
            <a:off x="1280160" y="3712464"/>
            <a:ext cx="7223760" cy="274320"/>
          </a:xfrm>
          <a:prstGeom prst="rect">
            <a:avLst/>
          </a:prstGeom>
          <a:noFill/>
          <a:ln/>
        </p:spPr>
        <p:txBody>
          <a:bodyPr wrap="square" lIns="0" tIns="0" rIns="0" bIns="0" rtlCol="0" anchor="t"/>
          <a:lstStyle/>
          <a:p>
            <a:pPr indent="0" marL="0">
              <a:buNone/>
            </a:pPr>
            <a:r>
              <a:rPr lang="en-US" sz="1200" b="1" dirty="0">
                <a:solidFill>
                  <a:schemeClr val="tx2"/>
                </a:solidFill>
              </a:rPr>
              <a:t>¿Qué harían ustedes?</a:t>
            </a:r>
            <a:endParaRPr lang="en-US" sz="1200" dirty="0"/>
          </a:p>
        </p:txBody>
      </p:sp>
      <p:sp>
        <p:nvSpPr>
          <p:cNvPr id="11" name="Text 7"/>
          <p:cNvSpPr txBox="1"/>
          <p:nvPr/>
        </p:nvSpPr>
        <p:spPr>
          <a:xfrm>
            <a:off x="1280160" y="3986784"/>
            <a:ext cx="7223760" cy="530352"/>
          </a:xfrm>
          <a:prstGeom prst="rect">
            <a:avLst/>
          </a:prstGeom>
          <a:noFill/>
          <a:ln/>
        </p:spPr>
        <p:txBody>
          <a:bodyPr wrap="square" lIns="0" tIns="0" rIns="0" bIns="0" rtlCol="0" anchor="t"/>
          <a:lstStyle/>
          <a:p>
            <a:pPr indent="0" marL="0">
              <a:buNone/>
            </a:pPr>
            <a:r>
              <a:rPr lang="en-US" sz="1600" b="1" dirty="0">
                <a:solidFill>
                  <a:schemeClr val="tx2"/>
                </a:solidFill>
              </a:rPr>
              <a:t>¿Cómo saben si esta vez es real? ¿Qué resultado sería el peor?</a:t>
            </a:r>
            <a:endParaRPr lang="en-US" sz="1600" dirty="0"/>
          </a:p>
        </p:txBody>
      </p:sp>
      <p:sp>
        <p:nvSpPr>
          <p:cNvPr id="25" name="Slide Number Placeholder 0"/>
          <p:cNvSpPr>
            <a:spLocks noGrp="1"/>
          </p:cNvSpPr>
          <p:nvPr>
            <p:ph type="sldNum" sz="quarter" idx="4294967295"/>
          </p:nvPr>
        </p:nvSpPr>
        <p:spPr>
          <a:xfrm>
            <a:off x="8138160" y="4791456"/>
            <a:ext cx="548640" cy="237744"/>
          </a:xfrm>
          <a:prstGeom prst="rect">
            <a:avLst/>
          </a:prstGeom>
          <a:extLst>
            <a:ext uri="{C572A759-6A51-4108-AA02-DFA0A04FC94B}">
              <ma14:wrappingTextBoxFlag xmlns:ma14="http://schemas.microsoft.com/office/mac/drawingml/2011/main" val="0"/>
            </a:ext>
          </a:extLst>
        </p:spPr>
        <p:txBody>
          <a:bodyPr anchor="ctr"/>
          <a:lstStyle>
            <a:lvl1pPr>
              <a:defRPr sz="900">
                <a:solidFill>
                  <a:schemeClr val="bg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57200" y="182880"/>
            <a:ext cx="8229600" cy="237744"/>
          </a:xfrm>
          <a:prstGeom prst="rect">
            <a:avLst/>
          </a:prstGeom>
          <a:noFill/>
          <a:ln/>
        </p:spPr>
        <p:txBody>
          <a:bodyPr wrap="square" lIns="0" tIns="0" rIns="0" bIns="0" rtlCol="0" anchor="t"/>
          <a:lstStyle/>
          <a:p>
            <a:pPr indent="0" marL="0">
              <a:buNone/>
            </a:pPr>
            <a:r>
              <a:rPr lang="en-US" sz="1100" b="1" spc="150" kern="0" dirty="0">
                <a:solidFill>
                  <a:schemeClr val="accent1"/>
                </a:solidFill>
              </a:rPr>
              <a:t>CASO 4 · ASÍ FUNCIONA</a:t>
            </a:r>
            <a:endParaRPr lang="en-US" sz="1100" dirty="0"/>
          </a:p>
        </p:txBody>
      </p:sp>
      <p:sp>
        <p:nvSpPr>
          <p:cNvPr id="3" name="Text 0"/>
          <p:cNvSpPr/>
          <p:nvPr>
            <p:ph idx="100" type="title" hasCustomPrompt="1"/>
          </p:nvPr>
        </p:nvSpPr>
        <p:spPr>
          <a:xfrm>
            <a:off x="457200" y="420624"/>
            <a:ext cx="8229600" cy="640080"/>
          </a:xfrm>
          <a:prstGeom prst="rect">
            <a:avLst/>
          </a:prstGeom>
          <a:noFill/>
          <a:ln/>
        </p:spPr>
        <p:txBody>
          <a:bodyPr wrap="square" lIns="0" tIns="0" rIns="0" bIns="0" rtlCol="0" anchor="t"/>
          <a:lstStyle/>
          <a:p>
            <a:pPr algn="l" indent="0" marL="0">
              <a:buNone/>
            </a:pPr>
            <a:r>
              <a:rPr lang="en-US" sz="2600" b="1" dirty="0">
                <a:solidFill>
                  <a:schemeClr val="tx2"/>
                </a:solidFill>
              </a:rPr>
              <a:t>Cuatro resultados posibles de una alerta</a:t>
            </a:r>
            <a:endParaRPr lang="en-US" sz="2600" dirty="0"/>
          </a:p>
        </p:txBody>
      </p:sp>
      <p:sp>
        <p:nvSpPr>
          <p:cNvPr id="4" name="Text 2"/>
          <p:cNvSpPr txBox="1"/>
          <p:nvPr/>
        </p:nvSpPr>
        <p:spPr>
          <a:xfrm>
            <a:off x="2331720" y="1325880"/>
            <a:ext cx="3154680" cy="457200"/>
          </a:xfrm>
          <a:prstGeom prst="rect">
            <a:avLst/>
          </a:prstGeom>
          <a:noFill/>
          <a:ln/>
        </p:spPr>
        <p:txBody>
          <a:bodyPr wrap="square" lIns="0" tIns="0" rIns="0" bIns="0" rtlCol="0" anchor="ctr"/>
          <a:lstStyle/>
          <a:p>
            <a:pPr algn="ctr" indent="0" marL="0">
              <a:buNone/>
            </a:pPr>
            <a:r>
              <a:rPr lang="en-US" sz="1500" b="1" dirty="0">
                <a:solidFill>
                  <a:schemeClr val="tx2"/>
                </a:solidFill>
              </a:rPr>
              <a:t>Hubo ataque</a:t>
            </a:r>
            <a:endParaRPr lang="en-US" sz="1500" dirty="0"/>
          </a:p>
        </p:txBody>
      </p:sp>
      <p:sp>
        <p:nvSpPr>
          <p:cNvPr id="5" name="Text 3"/>
          <p:cNvSpPr txBox="1"/>
          <p:nvPr/>
        </p:nvSpPr>
        <p:spPr>
          <a:xfrm>
            <a:off x="5623560" y="1325880"/>
            <a:ext cx="3154680" cy="457200"/>
          </a:xfrm>
          <a:prstGeom prst="rect">
            <a:avLst/>
          </a:prstGeom>
          <a:noFill/>
          <a:ln/>
        </p:spPr>
        <p:txBody>
          <a:bodyPr wrap="square" lIns="0" tIns="0" rIns="0" bIns="0" rtlCol="0" anchor="ctr"/>
          <a:lstStyle/>
          <a:p>
            <a:pPr algn="ctr" indent="0" marL="0">
              <a:buNone/>
            </a:pPr>
            <a:r>
              <a:rPr lang="en-US" sz="1500" b="1" dirty="0">
                <a:solidFill>
                  <a:schemeClr val="tx2"/>
                </a:solidFill>
              </a:rPr>
              <a:t>No hubo ataque</a:t>
            </a:r>
            <a:endParaRPr lang="en-US" sz="1500" dirty="0"/>
          </a:p>
        </p:txBody>
      </p:sp>
      <p:sp>
        <p:nvSpPr>
          <p:cNvPr id="6" name="Shape 4"/>
          <p:cNvSpPr/>
          <p:nvPr/>
        </p:nvSpPr>
        <p:spPr>
          <a:xfrm>
            <a:off x="457200" y="1874520"/>
            <a:ext cx="1737360" cy="1280160"/>
          </a:xfrm>
          <a:prstGeom prst="roundRect">
            <a:avLst>
              <a:gd name="adj" fmla="val 5714"/>
            </a:avLst>
          </a:prstGeom>
          <a:solidFill>
            <a:schemeClr val="tx2"/>
          </a:solidFill>
          <a:ln w="12700">
            <a:solidFill>
              <a:schemeClr val="tx2"/>
            </a:solidFill>
            <a:prstDash val="solid"/>
          </a:ln>
        </p:spPr>
      </p:sp>
      <p:sp>
        <p:nvSpPr>
          <p:cNvPr id="7" name="Text 5"/>
          <p:cNvSpPr txBox="1"/>
          <p:nvPr/>
        </p:nvSpPr>
        <p:spPr>
          <a:xfrm>
            <a:off x="594360" y="1874520"/>
            <a:ext cx="1463040" cy="1280160"/>
          </a:xfrm>
          <a:prstGeom prst="rect">
            <a:avLst/>
          </a:prstGeom>
          <a:noFill/>
          <a:ln/>
        </p:spPr>
        <p:txBody>
          <a:bodyPr wrap="square" lIns="0" tIns="0" rIns="0" bIns="0" rtlCol="0" anchor="ctr"/>
          <a:lstStyle/>
          <a:p>
            <a:pPr indent="0" marL="0">
              <a:buNone/>
            </a:pPr>
            <a:r>
              <a:rPr lang="en-US" sz="1500" b="1" dirty="0">
                <a:solidFill>
                  <a:schemeClr val="bg1"/>
                </a:solidFill>
              </a:rPr>
              <a:t>Sonó la alerta</a:t>
            </a:r>
            <a:endParaRPr lang="en-US" sz="1500" dirty="0"/>
          </a:p>
        </p:txBody>
      </p:sp>
      <p:sp>
        <p:nvSpPr>
          <p:cNvPr id="8" name="Shape 6"/>
          <p:cNvSpPr/>
          <p:nvPr/>
        </p:nvSpPr>
        <p:spPr>
          <a:xfrm>
            <a:off x="2331720" y="1874520"/>
            <a:ext cx="3154680" cy="1280160"/>
          </a:xfrm>
          <a:prstGeom prst="roundRect">
            <a:avLst>
              <a:gd name="adj" fmla="val 5714"/>
            </a:avLst>
          </a:prstGeom>
          <a:solidFill>
            <a:schemeClr val="accent4">
              <a:alpha val="22000"/>
            </a:schemeClr>
          </a:solidFill>
          <a:ln w="12700">
            <a:solidFill>
              <a:schemeClr val="accent4"/>
            </a:solidFill>
            <a:prstDash val="solid"/>
          </a:ln>
        </p:spPr>
      </p:sp>
      <p:sp>
        <p:nvSpPr>
          <p:cNvPr id="9" name="Text 7"/>
          <p:cNvSpPr txBox="1"/>
          <p:nvPr/>
        </p:nvSpPr>
        <p:spPr>
          <a:xfrm>
            <a:off x="2560320" y="2130552"/>
            <a:ext cx="2697480" cy="411480"/>
          </a:xfrm>
          <a:prstGeom prst="rect">
            <a:avLst/>
          </a:prstGeom>
          <a:noFill/>
          <a:ln/>
        </p:spPr>
        <p:txBody>
          <a:bodyPr wrap="square" lIns="0" tIns="0" rIns="0" bIns="0" rtlCol="0" anchor="t"/>
          <a:lstStyle/>
          <a:p>
            <a:pPr indent="0" marL="0">
              <a:buNone/>
            </a:pPr>
            <a:r>
              <a:rPr lang="en-US" sz="1800" b="1" dirty="0">
                <a:solidFill>
                  <a:schemeClr val="tx2"/>
                </a:solidFill>
              </a:rPr>
              <a:t>Verdadero positivo</a:t>
            </a:r>
            <a:endParaRPr lang="en-US" sz="1800" dirty="0"/>
          </a:p>
        </p:txBody>
      </p:sp>
      <p:sp>
        <p:nvSpPr>
          <p:cNvPr id="10" name="Text 8"/>
          <p:cNvSpPr txBox="1"/>
          <p:nvPr/>
        </p:nvSpPr>
        <p:spPr>
          <a:xfrm>
            <a:off x="2560320" y="2587752"/>
            <a:ext cx="2697480" cy="411480"/>
          </a:xfrm>
          <a:prstGeom prst="rect">
            <a:avLst/>
          </a:prstGeom>
          <a:noFill/>
          <a:ln/>
        </p:spPr>
        <p:txBody>
          <a:bodyPr wrap="square" lIns="0" tIns="0" rIns="0" bIns="0" rtlCol="0" anchor="t"/>
          <a:lstStyle/>
          <a:p>
            <a:pPr indent="0" marL="0">
              <a:buNone/>
            </a:pPr>
            <a:r>
              <a:rPr lang="en-US" sz="1400" dirty="0">
                <a:solidFill>
                  <a:schemeClr val="tx1"/>
                </a:solidFill>
              </a:rPr>
              <a:t>Se investiga y se detiene</a:t>
            </a:r>
            <a:endParaRPr lang="en-US" sz="1400" dirty="0"/>
          </a:p>
        </p:txBody>
      </p:sp>
      <p:sp>
        <p:nvSpPr>
          <p:cNvPr id="11" name="Shape 9"/>
          <p:cNvSpPr/>
          <p:nvPr/>
        </p:nvSpPr>
        <p:spPr>
          <a:xfrm>
            <a:off x="5623560" y="1874520"/>
            <a:ext cx="3154680" cy="1280160"/>
          </a:xfrm>
          <a:prstGeom prst="roundRect">
            <a:avLst>
              <a:gd name="adj" fmla="val 5714"/>
            </a:avLst>
          </a:prstGeom>
          <a:solidFill>
            <a:schemeClr val="accent2">
              <a:alpha val="22000"/>
            </a:schemeClr>
          </a:solidFill>
          <a:ln w="12700">
            <a:solidFill>
              <a:schemeClr val="accent2"/>
            </a:solidFill>
            <a:prstDash val="solid"/>
          </a:ln>
        </p:spPr>
      </p:sp>
      <p:sp>
        <p:nvSpPr>
          <p:cNvPr id="12" name="Text 10"/>
          <p:cNvSpPr txBox="1"/>
          <p:nvPr/>
        </p:nvSpPr>
        <p:spPr>
          <a:xfrm>
            <a:off x="5852160" y="2130552"/>
            <a:ext cx="2697480" cy="411480"/>
          </a:xfrm>
          <a:prstGeom prst="rect">
            <a:avLst/>
          </a:prstGeom>
          <a:noFill/>
          <a:ln/>
        </p:spPr>
        <p:txBody>
          <a:bodyPr wrap="square" lIns="0" tIns="0" rIns="0" bIns="0" rtlCol="0" anchor="t"/>
          <a:lstStyle/>
          <a:p>
            <a:pPr indent="0" marL="0">
              <a:buNone/>
            </a:pPr>
            <a:r>
              <a:rPr lang="en-US" sz="1800" b="1" dirty="0">
                <a:solidFill>
                  <a:schemeClr val="tx2"/>
                </a:solidFill>
              </a:rPr>
              <a:t>Falso positivo</a:t>
            </a:r>
            <a:endParaRPr lang="en-US" sz="1800" dirty="0"/>
          </a:p>
        </p:txBody>
      </p:sp>
      <p:sp>
        <p:nvSpPr>
          <p:cNvPr id="13" name="Text 11"/>
          <p:cNvSpPr txBox="1"/>
          <p:nvPr/>
        </p:nvSpPr>
        <p:spPr>
          <a:xfrm>
            <a:off x="5852160" y="2587752"/>
            <a:ext cx="2697480" cy="411480"/>
          </a:xfrm>
          <a:prstGeom prst="rect">
            <a:avLst/>
          </a:prstGeom>
          <a:noFill/>
          <a:ln/>
        </p:spPr>
        <p:txBody>
          <a:bodyPr wrap="square" lIns="0" tIns="0" rIns="0" bIns="0" rtlCol="0" anchor="t"/>
          <a:lstStyle/>
          <a:p>
            <a:pPr indent="0" marL="0">
              <a:buNone/>
            </a:pPr>
            <a:r>
              <a:rPr lang="en-US" sz="1400" dirty="0">
                <a:solidFill>
                  <a:schemeClr val="tx1"/>
                </a:solidFill>
              </a:rPr>
              <a:t>Alarma innecesaria</a:t>
            </a:r>
            <a:endParaRPr lang="en-US" sz="1400" dirty="0"/>
          </a:p>
        </p:txBody>
      </p:sp>
      <p:sp>
        <p:nvSpPr>
          <p:cNvPr id="14" name="Shape 12"/>
          <p:cNvSpPr/>
          <p:nvPr/>
        </p:nvSpPr>
        <p:spPr>
          <a:xfrm>
            <a:off x="457200" y="3291840"/>
            <a:ext cx="1737360" cy="1280160"/>
          </a:xfrm>
          <a:prstGeom prst="roundRect">
            <a:avLst>
              <a:gd name="adj" fmla="val 5714"/>
            </a:avLst>
          </a:prstGeom>
          <a:solidFill>
            <a:schemeClr val="tx2"/>
          </a:solidFill>
          <a:ln w="12700">
            <a:solidFill>
              <a:schemeClr val="tx2"/>
            </a:solidFill>
            <a:prstDash val="solid"/>
          </a:ln>
        </p:spPr>
      </p:sp>
      <p:sp>
        <p:nvSpPr>
          <p:cNvPr id="15" name="Text 13"/>
          <p:cNvSpPr txBox="1"/>
          <p:nvPr/>
        </p:nvSpPr>
        <p:spPr>
          <a:xfrm>
            <a:off x="594360" y="3291840"/>
            <a:ext cx="1463040" cy="1280160"/>
          </a:xfrm>
          <a:prstGeom prst="rect">
            <a:avLst/>
          </a:prstGeom>
          <a:noFill/>
          <a:ln/>
        </p:spPr>
        <p:txBody>
          <a:bodyPr wrap="square" lIns="0" tIns="0" rIns="0" bIns="0" rtlCol="0" anchor="ctr"/>
          <a:lstStyle/>
          <a:p>
            <a:pPr indent="0" marL="0">
              <a:buNone/>
            </a:pPr>
            <a:r>
              <a:rPr lang="en-US" sz="1500" b="1" dirty="0">
                <a:solidFill>
                  <a:schemeClr val="bg1"/>
                </a:solidFill>
              </a:rPr>
              <a:t>No sonó la alerta</a:t>
            </a:r>
            <a:endParaRPr lang="en-US" sz="1500" dirty="0"/>
          </a:p>
        </p:txBody>
      </p:sp>
      <p:sp>
        <p:nvSpPr>
          <p:cNvPr id="16" name="Shape 14"/>
          <p:cNvSpPr/>
          <p:nvPr/>
        </p:nvSpPr>
        <p:spPr>
          <a:xfrm>
            <a:off x="2331720" y="3291840"/>
            <a:ext cx="3154680" cy="1280160"/>
          </a:xfrm>
          <a:prstGeom prst="roundRect">
            <a:avLst>
              <a:gd name="adj" fmla="val 5714"/>
            </a:avLst>
          </a:prstGeom>
          <a:solidFill>
            <a:schemeClr val="accent3">
              <a:alpha val="22000"/>
            </a:schemeClr>
          </a:solidFill>
          <a:ln w="31750">
            <a:solidFill>
              <a:schemeClr val="accent3"/>
            </a:solidFill>
            <a:prstDash val="solid"/>
          </a:ln>
        </p:spPr>
      </p:sp>
      <p:sp>
        <p:nvSpPr>
          <p:cNvPr id="17" name="Text 15"/>
          <p:cNvSpPr txBox="1"/>
          <p:nvPr/>
        </p:nvSpPr>
        <p:spPr>
          <a:xfrm>
            <a:off x="2560320" y="3547872"/>
            <a:ext cx="2697480" cy="411480"/>
          </a:xfrm>
          <a:prstGeom prst="rect">
            <a:avLst/>
          </a:prstGeom>
          <a:noFill/>
          <a:ln/>
        </p:spPr>
        <p:txBody>
          <a:bodyPr wrap="square" lIns="0" tIns="0" rIns="0" bIns="0" rtlCol="0" anchor="t"/>
          <a:lstStyle/>
          <a:p>
            <a:pPr indent="0" marL="0">
              <a:buNone/>
            </a:pPr>
            <a:r>
              <a:rPr lang="en-US" sz="1800" b="1" dirty="0">
                <a:solidFill>
                  <a:schemeClr val="tx2"/>
                </a:solidFill>
              </a:rPr>
              <a:t>Falso negativo</a:t>
            </a:r>
            <a:endParaRPr lang="en-US" sz="1800" dirty="0"/>
          </a:p>
        </p:txBody>
      </p:sp>
      <p:sp>
        <p:nvSpPr>
          <p:cNvPr id="18" name="Text 16"/>
          <p:cNvSpPr txBox="1"/>
          <p:nvPr/>
        </p:nvSpPr>
        <p:spPr>
          <a:xfrm>
            <a:off x="2560320" y="4005072"/>
            <a:ext cx="2697480" cy="411480"/>
          </a:xfrm>
          <a:prstGeom prst="rect">
            <a:avLst/>
          </a:prstGeom>
          <a:noFill/>
          <a:ln/>
        </p:spPr>
        <p:txBody>
          <a:bodyPr wrap="square" lIns="0" tIns="0" rIns="0" bIns="0" rtlCol="0" anchor="t"/>
          <a:lstStyle/>
          <a:p>
            <a:pPr indent="0" marL="0">
              <a:buNone/>
            </a:pPr>
            <a:r>
              <a:rPr lang="en-US" sz="1400" dirty="0">
                <a:solidFill>
                  <a:schemeClr val="tx1"/>
                </a:solidFill>
              </a:rPr>
              <a:t>¡El más peligroso!</a:t>
            </a:r>
            <a:endParaRPr lang="en-US" sz="1400" dirty="0"/>
          </a:p>
        </p:txBody>
      </p:sp>
      <p:sp>
        <p:nvSpPr>
          <p:cNvPr id="19" name="Shape 17"/>
          <p:cNvSpPr/>
          <p:nvPr/>
        </p:nvSpPr>
        <p:spPr>
          <a:xfrm>
            <a:off x="5623560" y="3291840"/>
            <a:ext cx="3154680" cy="1280160"/>
          </a:xfrm>
          <a:prstGeom prst="roundRect">
            <a:avLst>
              <a:gd name="adj" fmla="val 5714"/>
            </a:avLst>
          </a:prstGeom>
          <a:solidFill>
            <a:schemeClr val="accent4">
              <a:alpha val="22000"/>
            </a:schemeClr>
          </a:solidFill>
          <a:ln w="12700">
            <a:solidFill>
              <a:schemeClr val="accent4"/>
            </a:solidFill>
            <a:prstDash val="solid"/>
          </a:ln>
        </p:spPr>
      </p:sp>
      <p:sp>
        <p:nvSpPr>
          <p:cNvPr id="20" name="Text 18"/>
          <p:cNvSpPr txBox="1"/>
          <p:nvPr/>
        </p:nvSpPr>
        <p:spPr>
          <a:xfrm>
            <a:off x="5852160" y="3547872"/>
            <a:ext cx="2697480" cy="411480"/>
          </a:xfrm>
          <a:prstGeom prst="rect">
            <a:avLst/>
          </a:prstGeom>
          <a:noFill/>
          <a:ln/>
        </p:spPr>
        <p:txBody>
          <a:bodyPr wrap="square" lIns="0" tIns="0" rIns="0" bIns="0" rtlCol="0" anchor="t"/>
          <a:lstStyle/>
          <a:p>
            <a:pPr indent="0" marL="0">
              <a:buNone/>
            </a:pPr>
            <a:r>
              <a:rPr lang="en-US" sz="1800" b="1" dirty="0">
                <a:solidFill>
                  <a:schemeClr val="tx2"/>
                </a:solidFill>
              </a:rPr>
              <a:t>Verdadero negativo</a:t>
            </a:r>
            <a:endParaRPr lang="en-US" sz="1800" dirty="0"/>
          </a:p>
        </p:txBody>
      </p:sp>
      <p:sp>
        <p:nvSpPr>
          <p:cNvPr id="21" name="Text 19"/>
          <p:cNvSpPr txBox="1"/>
          <p:nvPr/>
        </p:nvSpPr>
        <p:spPr>
          <a:xfrm>
            <a:off x="5852160" y="4005072"/>
            <a:ext cx="2697480" cy="411480"/>
          </a:xfrm>
          <a:prstGeom prst="rect">
            <a:avLst/>
          </a:prstGeom>
          <a:noFill/>
          <a:ln/>
        </p:spPr>
        <p:txBody>
          <a:bodyPr wrap="square" lIns="0" tIns="0" rIns="0" bIns="0" rtlCol="0" anchor="t"/>
          <a:lstStyle/>
          <a:p>
            <a:pPr indent="0" marL="0">
              <a:buNone/>
            </a:pPr>
            <a:r>
              <a:rPr lang="en-US" sz="1400" dirty="0">
                <a:solidFill>
                  <a:schemeClr val="tx1"/>
                </a:solidFill>
              </a:rPr>
              <a:t>Todo en orden</a:t>
            </a:r>
            <a:endParaRPr lang="en-US" sz="1400" dirty="0"/>
          </a:p>
        </p:txBody>
      </p:sp>
      <p:sp>
        <p:nvSpPr>
          <p:cNvPr id="25" name="Slide Number Placeholder 0"/>
          <p:cNvSpPr>
            <a:spLocks noGrp="1"/>
          </p:cNvSpPr>
          <p:nvPr>
            <p:ph type="sldNum" sz="quarter" idx="4294967295"/>
          </p:nvPr>
        </p:nvSpPr>
        <p:spPr>
          <a:xfrm>
            <a:off x="8138160" y="4791456"/>
            <a:ext cx="548640" cy="237744"/>
          </a:xfrm>
          <a:prstGeom prst="rect">
            <a:avLst/>
          </a:prstGeom>
          <a:extLst>
            <a:ext uri="{C572A759-6A51-4108-AA02-DFA0A04FC94B}">
              <ma14:wrappingTextBoxFlag xmlns:ma14="http://schemas.microsoft.com/office/mac/drawingml/2011/main" val="0"/>
            </a:ext>
          </a:extLst>
        </p:spPr>
        <p:txBody>
          <a:bodyPr anchor="ctr"/>
          <a:lstStyle>
            <a:lvl1pPr>
              <a:defRPr sz="9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457200" y="182880"/>
            <a:ext cx="8229600" cy="237744"/>
          </a:xfrm>
          <a:prstGeom prst="rect">
            <a:avLst/>
          </a:prstGeom>
          <a:noFill/>
          <a:ln/>
        </p:spPr>
        <p:txBody>
          <a:bodyPr wrap="square" lIns="0" tIns="0" rIns="0" bIns="0" rtlCol="0" anchor="t"/>
          <a:lstStyle/>
          <a:p>
            <a:pPr indent="0" marL="0">
              <a:buNone/>
            </a:pPr>
            <a:r>
              <a:rPr lang="en-US" sz="1100" b="1" spc="150" kern="0" dirty="0">
                <a:solidFill>
                  <a:schemeClr val="accent1"/>
                </a:solidFill>
              </a:rPr>
              <a:t>CASO 4 · LO QUE APRENDIMOS</a:t>
            </a:r>
            <a:endParaRPr lang="en-US" sz="1100" dirty="0"/>
          </a:p>
        </p:txBody>
      </p:sp>
      <p:sp>
        <p:nvSpPr>
          <p:cNvPr id="3" name="Text 0"/>
          <p:cNvSpPr/>
          <p:nvPr>
            <p:ph idx="100" type="title" hasCustomPrompt="1"/>
          </p:nvPr>
        </p:nvSpPr>
        <p:spPr>
          <a:xfrm>
            <a:off x="457200" y="420624"/>
            <a:ext cx="8229600" cy="640080"/>
          </a:xfrm>
          <a:prstGeom prst="rect">
            <a:avLst/>
          </a:prstGeom>
          <a:noFill/>
          <a:ln/>
        </p:spPr>
        <p:txBody>
          <a:bodyPr wrap="square" lIns="0" tIns="0" rIns="0" bIns="0" rtlCol="0" anchor="t"/>
          <a:lstStyle/>
          <a:p>
            <a:pPr algn="l" indent="0" marL="0">
              <a:buNone/>
            </a:pPr>
            <a:r>
              <a:rPr lang="en-US" sz="2600" b="1" dirty="0">
                <a:solidFill>
                  <a:schemeClr val="tx2"/>
                </a:solidFill>
              </a:rPr>
              <a:t>La alarma de las 3 de la madrugada</a:t>
            </a:r>
            <a:endParaRPr lang="en-US" sz="2600" dirty="0"/>
          </a:p>
        </p:txBody>
      </p:sp>
      <p:sp>
        <p:nvSpPr>
          <p:cNvPr id="4" name="Shape 2"/>
          <p:cNvSpPr/>
          <p:nvPr/>
        </p:nvSpPr>
        <p:spPr>
          <a:xfrm>
            <a:off x="457200" y="1325880"/>
            <a:ext cx="4754880" cy="960120"/>
          </a:xfrm>
          <a:prstGeom prst="roundRect">
            <a:avLst>
              <a:gd name="adj" fmla="val 7619"/>
            </a:avLst>
          </a:prstGeom>
          <a:solidFill>
            <a:schemeClr val="bg2"/>
          </a:solidFill>
          <a:ln w="12700">
            <a:solidFill>
              <a:schemeClr val="bg2"/>
            </a:solidFill>
            <a:prstDash val="solid"/>
          </a:ln>
        </p:spPr>
      </p:sp>
      <p:sp>
        <p:nvSpPr>
          <p:cNvPr id="5" name="Shape 3"/>
          <p:cNvSpPr/>
          <p:nvPr/>
        </p:nvSpPr>
        <p:spPr>
          <a:xfrm>
            <a:off x="640080" y="1581912"/>
            <a:ext cx="457200" cy="457200"/>
          </a:xfrm>
          <a:prstGeom prst="ellipse">
            <a:avLst/>
          </a:prstGeom>
          <a:solidFill>
            <a:schemeClr val="accent1"/>
          </a:solidFill>
          <a:ln w="12700">
            <a:solidFill>
              <a:schemeClr val="accent1"/>
            </a:solidFill>
            <a:prstDash val="solid"/>
          </a:ln>
        </p:spPr>
      </p:sp>
      <p:sp>
        <p:nvSpPr>
          <p:cNvPr id="6" name="Text 4"/>
          <p:cNvSpPr txBox="1"/>
          <p:nvPr/>
        </p:nvSpPr>
        <p:spPr>
          <a:xfrm>
            <a:off x="640080" y="1581912"/>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7" name="Text 5"/>
          <p:cNvSpPr txBox="1"/>
          <p:nvPr/>
        </p:nvSpPr>
        <p:spPr>
          <a:xfrm>
            <a:off x="1280160" y="1435608"/>
            <a:ext cx="3794760" cy="347472"/>
          </a:xfrm>
          <a:prstGeom prst="rect">
            <a:avLst/>
          </a:prstGeom>
          <a:noFill/>
          <a:ln/>
        </p:spPr>
        <p:txBody>
          <a:bodyPr wrap="square" lIns="0" tIns="0" rIns="0" bIns="0" rtlCol="0" anchor="t"/>
          <a:lstStyle/>
          <a:p>
            <a:pPr indent="0" marL="0">
              <a:buNone/>
            </a:pPr>
            <a:r>
              <a:rPr lang="en-US" sz="1700" b="1" dirty="0">
                <a:solidFill>
                  <a:schemeClr val="tx2"/>
                </a:solidFill>
              </a:rPr>
              <a:t>SIEM</a:t>
            </a:r>
            <a:endParaRPr lang="en-US" sz="1700" dirty="0"/>
          </a:p>
        </p:txBody>
      </p:sp>
      <p:sp>
        <p:nvSpPr>
          <p:cNvPr id="8" name="Text 6"/>
          <p:cNvSpPr txBox="1"/>
          <p:nvPr/>
        </p:nvSpPr>
        <p:spPr>
          <a:xfrm>
            <a:off x="1280160" y="1801368"/>
            <a:ext cx="3794760" cy="411480"/>
          </a:xfrm>
          <a:prstGeom prst="rect">
            <a:avLst/>
          </a:prstGeom>
          <a:noFill/>
          <a:ln/>
        </p:spPr>
        <p:txBody>
          <a:bodyPr wrap="square" lIns="0" tIns="0" rIns="0" bIns="0" rtlCol="0" anchor="t"/>
          <a:lstStyle/>
          <a:p>
            <a:pPr indent="0" marL="0">
              <a:buNone/>
            </a:pPr>
            <a:r>
              <a:rPr lang="en-US" sz="1400" dirty="0">
                <a:solidFill>
                  <a:schemeClr val="tx1"/>
                </a:solidFill>
              </a:rPr>
              <a:t>Junta registros y genera alertas</a:t>
            </a:r>
            <a:endParaRPr lang="en-US" sz="1400" dirty="0"/>
          </a:p>
        </p:txBody>
      </p:sp>
      <p:sp>
        <p:nvSpPr>
          <p:cNvPr id="9" name="Shape 7"/>
          <p:cNvSpPr/>
          <p:nvPr/>
        </p:nvSpPr>
        <p:spPr>
          <a:xfrm>
            <a:off x="457200" y="2423160"/>
            <a:ext cx="4754880" cy="960120"/>
          </a:xfrm>
          <a:prstGeom prst="roundRect">
            <a:avLst>
              <a:gd name="adj" fmla="val 7619"/>
            </a:avLst>
          </a:prstGeom>
          <a:solidFill>
            <a:schemeClr val="bg2"/>
          </a:solidFill>
          <a:ln w="12700">
            <a:solidFill>
              <a:schemeClr val="bg2"/>
            </a:solidFill>
            <a:prstDash val="solid"/>
          </a:ln>
        </p:spPr>
      </p:sp>
      <p:sp>
        <p:nvSpPr>
          <p:cNvPr id="10" name="Shape 8"/>
          <p:cNvSpPr/>
          <p:nvPr/>
        </p:nvSpPr>
        <p:spPr>
          <a:xfrm>
            <a:off x="640080" y="2679192"/>
            <a:ext cx="457200" cy="457200"/>
          </a:xfrm>
          <a:prstGeom prst="ellipse">
            <a:avLst/>
          </a:prstGeom>
          <a:solidFill>
            <a:schemeClr val="accent1"/>
          </a:solidFill>
          <a:ln w="12700">
            <a:solidFill>
              <a:schemeClr val="accent1"/>
            </a:solidFill>
            <a:prstDash val="solid"/>
          </a:ln>
        </p:spPr>
      </p:sp>
      <p:sp>
        <p:nvSpPr>
          <p:cNvPr id="11" name="Text 9"/>
          <p:cNvSpPr txBox="1"/>
          <p:nvPr/>
        </p:nvSpPr>
        <p:spPr>
          <a:xfrm>
            <a:off x="640080" y="2679192"/>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2" name="Text 10"/>
          <p:cNvSpPr txBox="1"/>
          <p:nvPr/>
        </p:nvSpPr>
        <p:spPr>
          <a:xfrm>
            <a:off x="1280160" y="2532888"/>
            <a:ext cx="3794760" cy="347472"/>
          </a:xfrm>
          <a:prstGeom prst="rect">
            <a:avLst/>
          </a:prstGeom>
          <a:noFill/>
          <a:ln/>
        </p:spPr>
        <p:txBody>
          <a:bodyPr wrap="square" lIns="0" tIns="0" rIns="0" bIns="0" rtlCol="0" anchor="t"/>
          <a:lstStyle/>
          <a:p>
            <a:pPr indent="0" marL="0">
              <a:buNone/>
            </a:pPr>
            <a:r>
              <a:rPr lang="en-US" sz="1700" b="1" dirty="0">
                <a:solidFill>
                  <a:schemeClr val="tx2"/>
                </a:solidFill>
              </a:rPr>
              <a:t>Falso positivo</a:t>
            </a:r>
            <a:endParaRPr lang="en-US" sz="1700" dirty="0"/>
          </a:p>
        </p:txBody>
      </p:sp>
      <p:sp>
        <p:nvSpPr>
          <p:cNvPr id="13" name="Text 11"/>
          <p:cNvSpPr txBox="1"/>
          <p:nvPr/>
        </p:nvSpPr>
        <p:spPr>
          <a:xfrm>
            <a:off x="1280160" y="2898648"/>
            <a:ext cx="3794760" cy="411480"/>
          </a:xfrm>
          <a:prstGeom prst="rect">
            <a:avLst/>
          </a:prstGeom>
          <a:noFill/>
          <a:ln/>
        </p:spPr>
        <p:txBody>
          <a:bodyPr wrap="square" lIns="0" tIns="0" rIns="0" bIns="0" rtlCol="0" anchor="t"/>
          <a:lstStyle/>
          <a:p>
            <a:pPr indent="0" marL="0">
              <a:buNone/>
            </a:pPr>
            <a:r>
              <a:rPr lang="en-US" sz="1400" dirty="0">
                <a:solidFill>
                  <a:schemeClr val="tx1"/>
                </a:solidFill>
              </a:rPr>
              <a:t>Alarma sin ataque real</a:t>
            </a:r>
            <a:endParaRPr lang="en-US" sz="1400" dirty="0"/>
          </a:p>
        </p:txBody>
      </p:sp>
      <p:sp>
        <p:nvSpPr>
          <p:cNvPr id="14" name="Shape 12"/>
          <p:cNvSpPr/>
          <p:nvPr/>
        </p:nvSpPr>
        <p:spPr>
          <a:xfrm>
            <a:off x="457200" y="3520440"/>
            <a:ext cx="4754880" cy="960120"/>
          </a:xfrm>
          <a:prstGeom prst="roundRect">
            <a:avLst>
              <a:gd name="adj" fmla="val 7619"/>
            </a:avLst>
          </a:prstGeom>
          <a:solidFill>
            <a:schemeClr val="bg2"/>
          </a:solidFill>
          <a:ln w="12700">
            <a:solidFill>
              <a:schemeClr val="bg2"/>
            </a:solidFill>
            <a:prstDash val="solid"/>
          </a:ln>
        </p:spPr>
      </p:sp>
      <p:sp>
        <p:nvSpPr>
          <p:cNvPr id="15" name="Shape 13"/>
          <p:cNvSpPr/>
          <p:nvPr/>
        </p:nvSpPr>
        <p:spPr>
          <a:xfrm>
            <a:off x="640080" y="3776472"/>
            <a:ext cx="457200" cy="457200"/>
          </a:xfrm>
          <a:prstGeom prst="ellipse">
            <a:avLst/>
          </a:prstGeom>
          <a:solidFill>
            <a:schemeClr val="accent1"/>
          </a:solidFill>
          <a:ln w="12700">
            <a:solidFill>
              <a:schemeClr val="accent1"/>
            </a:solidFill>
            <a:prstDash val="solid"/>
          </a:ln>
        </p:spPr>
      </p:sp>
      <p:sp>
        <p:nvSpPr>
          <p:cNvPr id="16" name="Text 14"/>
          <p:cNvSpPr txBox="1"/>
          <p:nvPr/>
        </p:nvSpPr>
        <p:spPr>
          <a:xfrm>
            <a:off x="640080" y="3776472"/>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7" name="Text 15"/>
          <p:cNvSpPr txBox="1"/>
          <p:nvPr/>
        </p:nvSpPr>
        <p:spPr>
          <a:xfrm>
            <a:off x="1280160" y="3630168"/>
            <a:ext cx="3794760" cy="347472"/>
          </a:xfrm>
          <a:prstGeom prst="rect">
            <a:avLst/>
          </a:prstGeom>
          <a:noFill/>
          <a:ln/>
        </p:spPr>
        <p:txBody>
          <a:bodyPr wrap="square" lIns="0" tIns="0" rIns="0" bIns="0" rtlCol="0" anchor="t"/>
          <a:lstStyle/>
          <a:p>
            <a:pPr indent="0" marL="0">
              <a:buNone/>
            </a:pPr>
            <a:r>
              <a:rPr lang="en-US" sz="1700" b="1" dirty="0">
                <a:solidFill>
                  <a:schemeClr val="tx2"/>
                </a:solidFill>
              </a:rPr>
              <a:t>Falso negativo</a:t>
            </a:r>
            <a:endParaRPr lang="en-US" sz="1700" dirty="0"/>
          </a:p>
        </p:txBody>
      </p:sp>
      <p:sp>
        <p:nvSpPr>
          <p:cNvPr id="18" name="Text 16"/>
          <p:cNvSpPr txBox="1"/>
          <p:nvPr/>
        </p:nvSpPr>
        <p:spPr>
          <a:xfrm>
            <a:off x="1280160" y="3995928"/>
            <a:ext cx="3794760" cy="411480"/>
          </a:xfrm>
          <a:prstGeom prst="rect">
            <a:avLst/>
          </a:prstGeom>
          <a:noFill/>
          <a:ln/>
        </p:spPr>
        <p:txBody>
          <a:bodyPr wrap="square" lIns="0" tIns="0" rIns="0" bIns="0" rtlCol="0" anchor="t"/>
          <a:lstStyle/>
          <a:p>
            <a:pPr indent="0" marL="0">
              <a:buNone/>
            </a:pPr>
            <a:r>
              <a:rPr lang="en-US" sz="1400" dirty="0">
                <a:solidFill>
                  <a:schemeClr val="tx1"/>
                </a:solidFill>
              </a:rPr>
              <a:t>Ataque sin alarma: el más peligroso</a:t>
            </a:r>
            <a:endParaRPr lang="en-US" sz="1400" dirty="0"/>
          </a:p>
        </p:txBody>
      </p:sp>
      <p:sp>
        <p:nvSpPr>
          <p:cNvPr id="19" name="Shape 17"/>
          <p:cNvSpPr/>
          <p:nvPr/>
        </p:nvSpPr>
        <p:spPr>
          <a:xfrm>
            <a:off x="5486400" y="1325880"/>
            <a:ext cx="3200400" cy="3154680"/>
          </a:xfrm>
          <a:prstGeom prst="roundRect">
            <a:avLst>
              <a:gd name="adj" fmla="val 2319"/>
            </a:avLst>
          </a:prstGeom>
          <a:solidFill>
            <a:schemeClr val="tx2"/>
          </a:solidFill>
          <a:ln w="12700">
            <a:solidFill>
              <a:schemeClr val="tx2"/>
            </a:solidFill>
            <a:prstDash val="solid"/>
          </a:ln>
        </p:spPr>
      </p:sp>
      <p:sp>
        <p:nvSpPr>
          <p:cNvPr id="20" name="Shape 18"/>
          <p:cNvSpPr/>
          <p:nvPr/>
        </p:nvSpPr>
        <p:spPr>
          <a:xfrm>
            <a:off x="5715000" y="1536192"/>
            <a:ext cx="502920" cy="502920"/>
          </a:xfrm>
          <a:prstGeom prst="ellipse">
            <a:avLst/>
          </a:prstGeom>
          <a:solidFill>
            <a:schemeClr val="accent4"/>
          </a:solidFill>
          <a:ln w="12700">
            <a:solidFill>
              <a:schemeClr val="accent4"/>
            </a:solidFill>
            <a:prstDash val="solid"/>
          </a:ln>
        </p:spPr>
      </p:sp>
      <p:pic>
        <p:nvPicPr>
          <p:cNvPr id="21" name="Image 0" descr="preencoded.png">    </p:cNvPr>
          <p:cNvPicPr>
            <a:picLocks noChangeAspect="1"/>
          </p:cNvPicPr>
          <p:nvPr/>
        </p:nvPicPr>
        <p:blipFill>
          <a:blip r:embed="rId1"/>
          <a:stretch>
            <a:fillRect/>
          </a:stretch>
        </p:blipFill>
        <p:spPr>
          <a:xfrm>
            <a:off x="5840730" y="1661922"/>
            <a:ext cx="251460" cy="251460"/>
          </a:xfrm>
          <a:prstGeom prst="rect">
            <a:avLst/>
          </a:prstGeom>
        </p:spPr>
      </p:pic>
      <p:sp>
        <p:nvSpPr>
          <p:cNvPr id="22" name="Text 19"/>
          <p:cNvSpPr txBox="1"/>
          <p:nvPr/>
        </p:nvSpPr>
        <p:spPr>
          <a:xfrm>
            <a:off x="6355080" y="1536192"/>
            <a:ext cx="2194560" cy="502920"/>
          </a:xfrm>
          <a:prstGeom prst="rect">
            <a:avLst/>
          </a:prstGeom>
          <a:noFill/>
          <a:ln/>
        </p:spPr>
        <p:txBody>
          <a:bodyPr wrap="square" lIns="0" tIns="0" rIns="0" bIns="0" rtlCol="0" anchor="ctr"/>
          <a:lstStyle/>
          <a:p>
            <a:pPr indent="0" marL="0">
              <a:buNone/>
            </a:pPr>
            <a:r>
              <a:rPr lang="en-US" sz="1700" b="1" dirty="0">
                <a:solidFill>
                  <a:schemeClr val="bg1"/>
                </a:solidFill>
              </a:rPr>
              <a:t>Qué hacer</a:t>
            </a:r>
            <a:endParaRPr lang="en-US" sz="1700" dirty="0"/>
          </a:p>
        </p:txBody>
      </p:sp>
      <p:pic>
        <p:nvPicPr>
          <p:cNvPr id="23" name="Image 1" descr="preencoded.png">    </p:cNvPr>
          <p:cNvPicPr>
            <a:picLocks noChangeAspect="1"/>
          </p:cNvPicPr>
          <p:nvPr/>
        </p:nvPicPr>
        <p:blipFill>
          <a:blip r:embed="rId2"/>
          <a:stretch>
            <a:fillRect/>
          </a:stretch>
        </p:blipFill>
        <p:spPr>
          <a:xfrm>
            <a:off x="5733288" y="2313432"/>
            <a:ext cx="274320" cy="274320"/>
          </a:xfrm>
          <a:prstGeom prst="rect">
            <a:avLst/>
          </a:prstGeom>
        </p:spPr>
      </p:pic>
      <p:sp>
        <p:nvSpPr>
          <p:cNvPr id="24" name="Text 20"/>
          <p:cNvSpPr txBox="1"/>
          <p:nvPr/>
        </p:nvSpPr>
        <p:spPr>
          <a:xfrm>
            <a:off x="6144768" y="2286000"/>
            <a:ext cx="2395728" cy="658368"/>
          </a:xfrm>
          <a:prstGeom prst="rect">
            <a:avLst/>
          </a:prstGeom>
          <a:noFill/>
          <a:ln/>
        </p:spPr>
        <p:txBody>
          <a:bodyPr wrap="square" lIns="0" tIns="0" rIns="0" bIns="0" rtlCol="0" anchor="t"/>
          <a:lstStyle/>
          <a:p>
            <a:pPr indent="0" marL="0">
              <a:buNone/>
            </a:pPr>
            <a:r>
              <a:rPr lang="en-US" sz="1400" dirty="0">
                <a:solidFill>
                  <a:schemeClr val="bg1"/>
                </a:solidFill>
              </a:rPr>
              <a:t>Confirmar antes de actuar</a:t>
            </a:r>
            <a:endParaRPr lang="en-US" sz="1400" dirty="0"/>
          </a:p>
        </p:txBody>
      </p:sp>
      <p:pic>
        <p:nvPicPr>
          <p:cNvPr id="25" name="Image 2" descr="preencoded.png">    </p:cNvPr>
          <p:cNvPicPr>
            <a:picLocks noChangeAspect="1"/>
          </p:cNvPicPr>
          <p:nvPr/>
        </p:nvPicPr>
        <p:blipFill>
          <a:blip r:embed="rId3"/>
          <a:stretch>
            <a:fillRect/>
          </a:stretch>
        </p:blipFill>
        <p:spPr>
          <a:xfrm>
            <a:off x="5733288" y="3026664"/>
            <a:ext cx="274320" cy="274320"/>
          </a:xfrm>
          <a:prstGeom prst="rect">
            <a:avLst/>
          </a:prstGeom>
        </p:spPr>
      </p:pic>
      <p:sp>
        <p:nvSpPr>
          <p:cNvPr id="26" name="Text 21"/>
          <p:cNvSpPr txBox="1"/>
          <p:nvPr/>
        </p:nvSpPr>
        <p:spPr>
          <a:xfrm>
            <a:off x="6144768" y="2999232"/>
            <a:ext cx="2395728" cy="658368"/>
          </a:xfrm>
          <a:prstGeom prst="rect">
            <a:avLst/>
          </a:prstGeom>
          <a:noFill/>
          <a:ln/>
        </p:spPr>
        <p:txBody>
          <a:bodyPr wrap="square" lIns="0" tIns="0" rIns="0" bIns="0" rtlCol="0" anchor="t"/>
          <a:lstStyle/>
          <a:p>
            <a:pPr indent="0" marL="0">
              <a:buNone/>
            </a:pPr>
            <a:r>
              <a:rPr lang="en-US" sz="1400" dirty="0">
                <a:solidFill>
                  <a:schemeClr val="bg1"/>
                </a:solidFill>
              </a:rPr>
              <a:t>Revisar registros con hora NTP</a:t>
            </a:r>
            <a:endParaRPr lang="en-US" sz="1400" dirty="0"/>
          </a:p>
        </p:txBody>
      </p:sp>
      <p:pic>
        <p:nvPicPr>
          <p:cNvPr id="27" name="Image 3" descr="preencoded.png">    </p:cNvPr>
          <p:cNvPicPr>
            <a:picLocks noChangeAspect="1"/>
          </p:cNvPicPr>
          <p:nvPr/>
        </p:nvPicPr>
        <p:blipFill>
          <a:blip r:embed="rId4"/>
          <a:stretch>
            <a:fillRect/>
          </a:stretch>
        </p:blipFill>
        <p:spPr>
          <a:xfrm>
            <a:off x="5733288" y="3739896"/>
            <a:ext cx="274320" cy="274320"/>
          </a:xfrm>
          <a:prstGeom prst="rect">
            <a:avLst/>
          </a:prstGeom>
        </p:spPr>
      </p:pic>
      <p:sp>
        <p:nvSpPr>
          <p:cNvPr id="28" name="Text 22"/>
          <p:cNvSpPr txBox="1"/>
          <p:nvPr/>
        </p:nvSpPr>
        <p:spPr>
          <a:xfrm>
            <a:off x="6144768" y="3712464"/>
            <a:ext cx="2395728" cy="658368"/>
          </a:xfrm>
          <a:prstGeom prst="rect">
            <a:avLst/>
          </a:prstGeom>
          <a:noFill/>
          <a:ln/>
        </p:spPr>
        <p:txBody>
          <a:bodyPr wrap="square" lIns="0" tIns="0" rIns="0" bIns="0" rtlCol="0" anchor="t"/>
          <a:lstStyle/>
          <a:p>
            <a:pPr indent="0" marL="0">
              <a:buNone/>
            </a:pPr>
            <a:r>
              <a:rPr lang="en-US" sz="1400" dirty="0">
                <a:solidFill>
                  <a:schemeClr val="bg1"/>
                </a:solidFill>
              </a:rPr>
              <a:t>Bloquear la cuenta y activar MFA</a:t>
            </a:r>
            <a:endParaRPr lang="en-US" sz="1400" dirty="0"/>
          </a:p>
        </p:txBody>
      </p:sp>
      <p:sp>
        <p:nvSpPr>
          <p:cNvPr id="25" name="Slide Number Placeholder 0"/>
          <p:cNvSpPr>
            <a:spLocks noGrp="1"/>
          </p:cNvSpPr>
          <p:nvPr>
            <p:ph type="sldNum" sz="quarter" idx="4294967295"/>
          </p:nvPr>
        </p:nvSpPr>
        <p:spPr>
          <a:xfrm>
            <a:off x="8138160" y="4791456"/>
            <a:ext cx="548640" cy="237744"/>
          </a:xfrm>
          <a:prstGeom prst="rect">
            <a:avLst/>
          </a:prstGeom>
          <a:extLst>
            <a:ext uri="{C572A759-6A51-4108-AA02-DFA0A04FC94B}">
              <ma14:wrappingTextBoxFlag xmlns:ma14="http://schemas.microsoft.com/office/mac/drawingml/2011/main" val="0"/>
            </a:ext>
          </a:extLst>
        </p:spPr>
        <p:txBody>
          <a:bodyPr anchor="ctr"/>
          <a:lstStyle>
            <a:lvl1pPr>
              <a:defRPr sz="9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457200" y="182880"/>
            <a:ext cx="8229600" cy="237744"/>
          </a:xfrm>
          <a:prstGeom prst="rect">
            <a:avLst/>
          </a:prstGeom>
          <a:noFill/>
          <a:ln/>
        </p:spPr>
        <p:txBody>
          <a:bodyPr wrap="square" lIns="0" tIns="0" rIns="0" bIns="0" rtlCol="0" anchor="t"/>
          <a:lstStyle/>
          <a:p>
            <a:pPr indent="0" marL="0">
              <a:buNone/>
            </a:pPr>
            <a:r>
              <a:rPr lang="en-US" sz="1100" b="1" spc="150" kern="0" dirty="0">
                <a:solidFill>
                  <a:schemeClr val="accent1"/>
                </a:solidFill>
              </a:rPr>
              <a:t>MINI ACTIVIDAD 2</a:t>
            </a:r>
            <a:endParaRPr lang="en-US" sz="1100" dirty="0"/>
          </a:p>
        </p:txBody>
      </p:sp>
      <p:sp>
        <p:nvSpPr>
          <p:cNvPr id="3" name="Text 0"/>
          <p:cNvSpPr/>
          <p:nvPr>
            <p:ph idx="100" type="title" hasCustomPrompt="1"/>
          </p:nvPr>
        </p:nvSpPr>
        <p:spPr>
          <a:xfrm>
            <a:off x="457200" y="420624"/>
            <a:ext cx="8229600" cy="640080"/>
          </a:xfrm>
          <a:prstGeom prst="rect">
            <a:avLst/>
          </a:prstGeom>
          <a:noFill/>
          <a:ln/>
        </p:spPr>
        <p:txBody>
          <a:bodyPr wrap="square" lIns="0" tIns="0" rIns="0" bIns="0" rtlCol="0" anchor="t"/>
          <a:lstStyle/>
          <a:p>
            <a:pPr algn="l" indent="0" marL="0">
              <a:buNone/>
            </a:pPr>
            <a:r>
              <a:rPr lang="en-US" sz="2600" b="1" dirty="0">
                <a:solidFill>
                  <a:schemeClr val="tx2"/>
                </a:solidFill>
              </a:rPr>
              <a:t>¿Ético o no ético?</a:t>
            </a:r>
            <a:endParaRPr lang="en-US" sz="2600" dirty="0"/>
          </a:p>
        </p:txBody>
      </p:sp>
      <p:sp>
        <p:nvSpPr>
          <p:cNvPr id="4" name="Shape 2"/>
          <p:cNvSpPr/>
          <p:nvPr/>
        </p:nvSpPr>
        <p:spPr>
          <a:xfrm>
            <a:off x="457200" y="1188720"/>
            <a:ext cx="982980" cy="384048"/>
          </a:xfrm>
          <a:prstGeom prst="roundRect">
            <a:avLst>
              <a:gd name="adj" fmla="val 47619"/>
            </a:avLst>
          </a:prstGeom>
          <a:solidFill>
            <a:schemeClr val="accent2">
              <a:alpha val="30000"/>
            </a:schemeClr>
          </a:solidFill>
          <a:ln w="12700">
            <a:solidFill>
              <a:schemeClr val="accent2"/>
            </a:solidFill>
            <a:prstDash val="solid"/>
          </a:ln>
        </p:spPr>
      </p:sp>
      <p:pic>
        <p:nvPicPr>
          <p:cNvPr id="5" name="Image 0" descr="preencoded.png">    </p:cNvPr>
          <p:cNvPicPr>
            <a:picLocks noChangeAspect="1"/>
          </p:cNvPicPr>
          <p:nvPr/>
        </p:nvPicPr>
        <p:blipFill>
          <a:blip r:embed="rId1"/>
          <a:stretch>
            <a:fillRect/>
          </a:stretch>
        </p:blipFill>
        <p:spPr>
          <a:xfrm>
            <a:off x="585216" y="1271016"/>
            <a:ext cx="219456" cy="219456"/>
          </a:xfrm>
          <a:prstGeom prst="rect">
            <a:avLst/>
          </a:prstGeom>
        </p:spPr>
      </p:pic>
      <p:sp>
        <p:nvSpPr>
          <p:cNvPr id="6" name="Text 3"/>
          <p:cNvSpPr txBox="1"/>
          <p:nvPr/>
        </p:nvSpPr>
        <p:spPr>
          <a:xfrm>
            <a:off x="868680" y="1188720"/>
            <a:ext cx="525780" cy="384048"/>
          </a:xfrm>
          <a:prstGeom prst="rect">
            <a:avLst/>
          </a:prstGeom>
          <a:noFill/>
          <a:ln/>
        </p:spPr>
        <p:txBody>
          <a:bodyPr wrap="square" lIns="0" tIns="0" rIns="0" bIns="0" rtlCol="0" anchor="ctr"/>
          <a:lstStyle/>
          <a:p>
            <a:pPr indent="0" marL="0">
              <a:buNone/>
            </a:pPr>
            <a:r>
              <a:rPr lang="en-US" sz="1300" b="1" dirty="0">
                <a:solidFill>
                  <a:schemeClr val="tx2"/>
                </a:solidFill>
              </a:rPr>
              <a:t>4 min</a:t>
            </a:r>
            <a:endParaRPr lang="en-US" sz="1300" dirty="0"/>
          </a:p>
        </p:txBody>
      </p:sp>
      <p:sp>
        <p:nvSpPr>
          <p:cNvPr id="7" name="Shape 4"/>
          <p:cNvSpPr/>
          <p:nvPr/>
        </p:nvSpPr>
        <p:spPr>
          <a:xfrm>
            <a:off x="1577340" y="1188720"/>
            <a:ext cx="1417320" cy="384048"/>
          </a:xfrm>
          <a:prstGeom prst="roundRect">
            <a:avLst>
              <a:gd name="adj" fmla="val 47619"/>
            </a:avLst>
          </a:prstGeom>
          <a:solidFill>
            <a:schemeClr val="accent2">
              <a:alpha val="30000"/>
            </a:schemeClr>
          </a:solidFill>
          <a:ln w="12700">
            <a:solidFill>
              <a:schemeClr val="accent2"/>
            </a:solidFill>
            <a:prstDash val="solid"/>
          </a:ln>
        </p:spPr>
      </p:sp>
      <p:pic>
        <p:nvPicPr>
          <p:cNvPr id="8" name="Image 1" descr="preencoded.png">    </p:cNvPr>
          <p:cNvPicPr>
            <a:picLocks noChangeAspect="1"/>
          </p:cNvPicPr>
          <p:nvPr/>
        </p:nvPicPr>
        <p:blipFill>
          <a:blip r:embed="rId2"/>
          <a:stretch>
            <a:fillRect/>
          </a:stretch>
        </p:blipFill>
        <p:spPr>
          <a:xfrm>
            <a:off x="1705356" y="1271016"/>
            <a:ext cx="219456" cy="219456"/>
          </a:xfrm>
          <a:prstGeom prst="rect">
            <a:avLst/>
          </a:prstGeom>
        </p:spPr>
      </p:pic>
      <p:sp>
        <p:nvSpPr>
          <p:cNvPr id="9" name="Text 5"/>
          <p:cNvSpPr txBox="1"/>
          <p:nvPr/>
        </p:nvSpPr>
        <p:spPr>
          <a:xfrm>
            <a:off x="1988820" y="1188720"/>
            <a:ext cx="960120" cy="384048"/>
          </a:xfrm>
          <a:prstGeom prst="rect">
            <a:avLst/>
          </a:prstGeom>
          <a:noFill/>
          <a:ln/>
        </p:spPr>
        <p:txBody>
          <a:bodyPr wrap="square" lIns="0" tIns="0" rIns="0" bIns="0" rtlCol="0" anchor="ctr"/>
          <a:lstStyle/>
          <a:p>
            <a:pPr indent="0" marL="0">
              <a:buNone/>
            </a:pPr>
            <a:r>
              <a:rPr lang="en-US" sz="1300" b="1" dirty="0">
                <a:solidFill>
                  <a:schemeClr val="tx2"/>
                </a:solidFill>
              </a:rPr>
              <a:t>En parejas</a:t>
            </a:r>
            <a:endParaRPr lang="en-US" sz="1300" dirty="0"/>
          </a:p>
        </p:txBody>
      </p:sp>
      <p:sp>
        <p:nvSpPr>
          <p:cNvPr id="10" name="Shape 6"/>
          <p:cNvSpPr/>
          <p:nvPr/>
        </p:nvSpPr>
        <p:spPr>
          <a:xfrm>
            <a:off x="457200" y="1783080"/>
            <a:ext cx="438912" cy="438912"/>
          </a:xfrm>
          <a:prstGeom prst="ellipse">
            <a:avLst/>
          </a:prstGeom>
          <a:solidFill>
            <a:schemeClr val="accent2"/>
          </a:solidFill>
          <a:ln w="12700">
            <a:solidFill>
              <a:schemeClr val="accent2"/>
            </a:solidFill>
            <a:prstDash val="solid"/>
          </a:ln>
        </p:spPr>
      </p:sp>
      <p:sp>
        <p:nvSpPr>
          <p:cNvPr id="11" name="Text 7"/>
          <p:cNvSpPr txBox="1"/>
          <p:nvPr/>
        </p:nvSpPr>
        <p:spPr>
          <a:xfrm>
            <a:off x="457200" y="1783080"/>
            <a:ext cx="438912" cy="438912"/>
          </a:xfrm>
          <a:prstGeom prst="rect">
            <a:avLst/>
          </a:prstGeom>
          <a:noFill/>
          <a:ln/>
        </p:spPr>
        <p:txBody>
          <a:bodyPr wrap="square" lIns="0" tIns="0" rIns="0" bIns="0" rtlCol="0" anchor="ctr"/>
          <a:lstStyle/>
          <a:p>
            <a:pPr algn="ctr" indent="0" marL="0">
              <a:buNone/>
            </a:pPr>
            <a:r>
              <a:rPr lang="en-US" sz="1500" b="1" dirty="0">
                <a:solidFill>
                  <a:schemeClr val="tx2"/>
                </a:solidFill>
              </a:rPr>
              <a:t>1</a:t>
            </a:r>
            <a:endParaRPr lang="en-US" sz="1500" dirty="0"/>
          </a:p>
        </p:txBody>
      </p:sp>
      <p:sp>
        <p:nvSpPr>
          <p:cNvPr id="12" name="Text 8"/>
          <p:cNvSpPr txBox="1"/>
          <p:nvPr/>
        </p:nvSpPr>
        <p:spPr>
          <a:xfrm>
            <a:off x="1051560" y="1764792"/>
            <a:ext cx="4114800" cy="694944"/>
          </a:xfrm>
          <a:prstGeom prst="rect">
            <a:avLst/>
          </a:prstGeom>
          <a:noFill/>
          <a:ln/>
        </p:spPr>
        <p:txBody>
          <a:bodyPr wrap="square" lIns="0" tIns="0" rIns="0" bIns="0" rtlCol="0" anchor="t"/>
          <a:lstStyle/>
          <a:p>
            <a:pPr indent="0" marL="0">
              <a:buNone/>
            </a:pPr>
            <a:r>
              <a:rPr lang="en-US" sz="1500" dirty="0">
                <a:solidFill>
                  <a:schemeClr val="tx1"/>
                </a:solidFill>
              </a:rPr>
              <a:t>Lean cada situación.</a:t>
            </a:r>
            <a:endParaRPr lang="en-US" sz="1500" dirty="0"/>
          </a:p>
        </p:txBody>
      </p:sp>
      <p:sp>
        <p:nvSpPr>
          <p:cNvPr id="13" name="Shape 9"/>
          <p:cNvSpPr/>
          <p:nvPr/>
        </p:nvSpPr>
        <p:spPr>
          <a:xfrm>
            <a:off x="457200" y="2514600"/>
            <a:ext cx="438912" cy="438912"/>
          </a:xfrm>
          <a:prstGeom prst="ellipse">
            <a:avLst/>
          </a:prstGeom>
          <a:solidFill>
            <a:schemeClr val="accent2"/>
          </a:solidFill>
          <a:ln w="12700">
            <a:solidFill>
              <a:schemeClr val="accent2"/>
            </a:solidFill>
            <a:prstDash val="solid"/>
          </a:ln>
        </p:spPr>
      </p:sp>
      <p:sp>
        <p:nvSpPr>
          <p:cNvPr id="14" name="Text 10"/>
          <p:cNvSpPr txBox="1"/>
          <p:nvPr/>
        </p:nvSpPr>
        <p:spPr>
          <a:xfrm>
            <a:off x="457200" y="2514600"/>
            <a:ext cx="438912" cy="438912"/>
          </a:xfrm>
          <a:prstGeom prst="rect">
            <a:avLst/>
          </a:prstGeom>
          <a:noFill/>
          <a:ln/>
        </p:spPr>
        <p:txBody>
          <a:bodyPr wrap="square" lIns="0" tIns="0" rIns="0" bIns="0" rtlCol="0" anchor="ctr"/>
          <a:lstStyle/>
          <a:p>
            <a:pPr algn="ctr" indent="0" marL="0">
              <a:buNone/>
            </a:pPr>
            <a:r>
              <a:rPr lang="en-US" sz="1500" b="1" dirty="0">
                <a:solidFill>
                  <a:schemeClr val="tx2"/>
                </a:solidFill>
              </a:rPr>
              <a:t>2</a:t>
            </a:r>
            <a:endParaRPr lang="en-US" sz="1500" dirty="0"/>
          </a:p>
        </p:txBody>
      </p:sp>
      <p:sp>
        <p:nvSpPr>
          <p:cNvPr id="15" name="Text 11"/>
          <p:cNvSpPr txBox="1"/>
          <p:nvPr/>
        </p:nvSpPr>
        <p:spPr>
          <a:xfrm>
            <a:off x="1051560" y="2496312"/>
            <a:ext cx="4114800" cy="694944"/>
          </a:xfrm>
          <a:prstGeom prst="rect">
            <a:avLst/>
          </a:prstGeom>
          <a:noFill/>
          <a:ln/>
        </p:spPr>
        <p:txBody>
          <a:bodyPr wrap="square" lIns="0" tIns="0" rIns="0" bIns="0" rtlCol="0" anchor="t"/>
          <a:lstStyle/>
          <a:p>
            <a:pPr indent="0" marL="0">
              <a:buNone/>
            </a:pPr>
            <a:r>
              <a:rPr lang="en-US" sz="1500" dirty="0">
                <a:solidFill>
                  <a:schemeClr val="tx1"/>
                </a:solidFill>
              </a:rPr>
              <a:t>Decidan si es ética o no ética.</a:t>
            </a:r>
            <a:endParaRPr lang="en-US" sz="1500" dirty="0"/>
          </a:p>
        </p:txBody>
      </p:sp>
      <p:sp>
        <p:nvSpPr>
          <p:cNvPr id="16" name="Shape 12"/>
          <p:cNvSpPr/>
          <p:nvPr/>
        </p:nvSpPr>
        <p:spPr>
          <a:xfrm>
            <a:off x="457200" y="3246120"/>
            <a:ext cx="438912" cy="438912"/>
          </a:xfrm>
          <a:prstGeom prst="ellipse">
            <a:avLst/>
          </a:prstGeom>
          <a:solidFill>
            <a:schemeClr val="accent2"/>
          </a:solidFill>
          <a:ln w="12700">
            <a:solidFill>
              <a:schemeClr val="accent2"/>
            </a:solidFill>
            <a:prstDash val="solid"/>
          </a:ln>
        </p:spPr>
      </p:sp>
      <p:sp>
        <p:nvSpPr>
          <p:cNvPr id="17" name="Text 13"/>
          <p:cNvSpPr txBox="1"/>
          <p:nvPr/>
        </p:nvSpPr>
        <p:spPr>
          <a:xfrm>
            <a:off x="457200" y="3246120"/>
            <a:ext cx="438912" cy="438912"/>
          </a:xfrm>
          <a:prstGeom prst="rect">
            <a:avLst/>
          </a:prstGeom>
          <a:noFill/>
          <a:ln/>
        </p:spPr>
        <p:txBody>
          <a:bodyPr wrap="square" lIns="0" tIns="0" rIns="0" bIns="0" rtlCol="0" anchor="ctr"/>
          <a:lstStyle/>
          <a:p>
            <a:pPr algn="ctr" indent="0" marL="0">
              <a:buNone/>
            </a:pPr>
            <a:r>
              <a:rPr lang="en-US" sz="1500" b="1" dirty="0">
                <a:solidFill>
                  <a:schemeClr val="tx2"/>
                </a:solidFill>
              </a:rPr>
              <a:t>3</a:t>
            </a:r>
            <a:endParaRPr lang="en-US" sz="1500" dirty="0"/>
          </a:p>
        </p:txBody>
      </p:sp>
      <p:sp>
        <p:nvSpPr>
          <p:cNvPr id="18" name="Text 14"/>
          <p:cNvSpPr txBox="1"/>
          <p:nvPr/>
        </p:nvSpPr>
        <p:spPr>
          <a:xfrm>
            <a:off x="1051560" y="3227832"/>
            <a:ext cx="4114800" cy="694944"/>
          </a:xfrm>
          <a:prstGeom prst="rect">
            <a:avLst/>
          </a:prstGeom>
          <a:noFill/>
          <a:ln/>
        </p:spPr>
        <p:txBody>
          <a:bodyPr wrap="square" lIns="0" tIns="0" rIns="0" bIns="0" rtlCol="0" anchor="t"/>
          <a:lstStyle/>
          <a:p>
            <a:pPr indent="0" marL="0">
              <a:buNone/>
            </a:pPr>
            <a:r>
              <a:rPr lang="en-US" sz="1500" dirty="0">
                <a:solidFill>
                  <a:schemeClr val="tx1"/>
                </a:solidFill>
              </a:rPr>
              <a:t>Justifiquen con una regla de la ética profesional.</a:t>
            </a:r>
            <a:endParaRPr lang="en-US" sz="1500" dirty="0"/>
          </a:p>
        </p:txBody>
      </p:sp>
      <p:sp>
        <p:nvSpPr>
          <p:cNvPr id="19" name="Shape 15"/>
          <p:cNvSpPr/>
          <p:nvPr/>
        </p:nvSpPr>
        <p:spPr>
          <a:xfrm>
            <a:off x="457200" y="4069080"/>
            <a:ext cx="4709160" cy="566928"/>
          </a:xfrm>
          <a:prstGeom prst="roundRect">
            <a:avLst>
              <a:gd name="adj" fmla="val 12903"/>
            </a:avLst>
          </a:prstGeom>
          <a:solidFill>
            <a:schemeClr val="bg2"/>
          </a:solidFill>
          <a:ln w="12700">
            <a:solidFill>
              <a:schemeClr val="bg2"/>
            </a:solidFill>
            <a:prstDash val="solid"/>
          </a:ln>
        </p:spPr>
      </p:sp>
      <p:sp>
        <p:nvSpPr>
          <p:cNvPr id="20" name="Text 16"/>
          <p:cNvSpPr txBox="1"/>
          <p:nvPr/>
        </p:nvSpPr>
        <p:spPr>
          <a:xfrm>
            <a:off x="640080" y="4069080"/>
            <a:ext cx="4389120" cy="566928"/>
          </a:xfrm>
          <a:prstGeom prst="rect">
            <a:avLst/>
          </a:prstGeom>
          <a:noFill/>
          <a:ln/>
        </p:spPr>
        <p:txBody>
          <a:bodyPr wrap="square" lIns="0" tIns="0" rIns="0" bIns="0" rtlCol="0" anchor="ctr"/>
          <a:lstStyle/>
          <a:p>
            <a:pPr indent="0" marL="0">
              <a:buNone/>
            </a:pPr>
            <a:r>
              <a:rPr lang="en-US" sz="1300" b="1" dirty="0">
                <a:solidFill>
                  <a:schemeClr val="accent1"/>
                </a:solidFill>
              </a:rPr>
              <a:t>Producto: </a:t>
            </a:r>
            <a:pPr indent="0" marL="0">
              <a:buNone/>
            </a:pPr>
            <a:r>
              <a:rPr lang="en-US" sz="1300" dirty="0">
                <a:solidFill>
                  <a:schemeClr val="tx1"/>
                </a:solidFill>
              </a:rPr>
              <a:t>Cuatro situaciones clasificadas y justificadas.</a:t>
            </a:r>
            <a:endParaRPr lang="en-US" sz="1300" dirty="0"/>
          </a:p>
        </p:txBody>
      </p:sp>
      <p:sp>
        <p:nvSpPr>
          <p:cNvPr id="21" name="Shape 17"/>
          <p:cNvSpPr/>
          <p:nvPr/>
        </p:nvSpPr>
        <p:spPr>
          <a:xfrm>
            <a:off x="5486400" y="1188720"/>
            <a:ext cx="3200400" cy="3447288"/>
          </a:xfrm>
          <a:prstGeom prst="roundRect">
            <a:avLst>
              <a:gd name="adj" fmla="val 2286"/>
            </a:avLst>
          </a:prstGeom>
          <a:solidFill>
            <a:schemeClr val="tx2"/>
          </a:solidFill>
          <a:ln w="12700">
            <a:solidFill>
              <a:schemeClr val="tx2"/>
            </a:solidFill>
            <a:prstDash val="solid"/>
          </a:ln>
        </p:spPr>
      </p:sp>
      <p:sp>
        <p:nvSpPr>
          <p:cNvPr id="22" name="Text 18"/>
          <p:cNvSpPr txBox="1"/>
          <p:nvPr/>
        </p:nvSpPr>
        <p:spPr>
          <a:xfrm>
            <a:off x="5715000" y="1371600"/>
            <a:ext cx="2743200" cy="320040"/>
          </a:xfrm>
          <a:prstGeom prst="rect">
            <a:avLst/>
          </a:prstGeom>
          <a:noFill/>
          <a:ln/>
        </p:spPr>
        <p:txBody>
          <a:bodyPr wrap="square" lIns="0" tIns="0" rIns="0" bIns="0" rtlCol="0" anchor="t"/>
          <a:lstStyle/>
          <a:p>
            <a:pPr indent="0" marL="0">
              <a:buNone/>
            </a:pPr>
            <a:r>
              <a:rPr lang="en-US" sz="1400" b="1" dirty="0">
                <a:solidFill>
                  <a:schemeClr val="accent2"/>
                </a:solidFill>
              </a:rPr>
              <a:t>Material</a:t>
            </a:r>
            <a:endParaRPr lang="en-US" sz="1400" dirty="0"/>
          </a:p>
        </p:txBody>
      </p:sp>
      <p:sp>
        <p:nvSpPr>
          <p:cNvPr id="23" name="Text 19"/>
          <p:cNvSpPr txBox="1"/>
          <p:nvPr/>
        </p:nvSpPr>
        <p:spPr>
          <a:xfrm>
            <a:off x="5715000" y="1828800"/>
            <a:ext cx="2834640" cy="2624328"/>
          </a:xfrm>
          <a:prstGeom prst="rect">
            <a:avLst/>
          </a:prstGeom>
          <a:noFill/>
          <a:ln/>
        </p:spPr>
        <p:txBody>
          <a:bodyPr wrap="square" lIns="0" tIns="0" rIns="0" bIns="0" rtlCol="0" anchor="t"/>
          <a:lstStyle/>
          <a:p>
            <a:pPr indent="0" marL="0">
              <a:spcAft>
                <a:spcPts val="600"/>
              </a:spcAft>
              <a:buNone/>
            </a:pPr>
            <a:r>
              <a:rPr lang="en-US" sz="1000" dirty="0">
                <a:solidFill>
                  <a:schemeClr val="bg1"/>
                </a:solidFill>
                <a:latin typeface="Courier New" pitchFamily="34" charset="0"/>
                <a:ea typeface="Courier New" pitchFamily="34" charset="-122"/>
                <a:cs typeface="Courier New" pitchFamily="34" charset="-120"/>
              </a:rPr>
              <a:t>1. Escanear con Nmap la red del colegio sin permiso</a:t>
            </a:r>
            <a:endParaRPr lang="en-US" sz="1000" dirty="0"/>
          </a:p>
          <a:p>
            <a:pPr indent="0" marL="0">
              <a:spcAft>
                <a:spcPts val="600"/>
              </a:spcAft>
              <a:buNone/>
            </a:pPr>
            <a:r>
              <a:rPr lang="en-US" sz="1000" dirty="0">
                <a:solidFill>
                  <a:schemeClr val="bg1"/>
                </a:solidFill>
                <a:latin typeface="Courier New" pitchFamily="34" charset="0"/>
                <a:ea typeface="Courier New" pitchFamily="34" charset="-122"/>
                <a:cs typeface="Courier New" pitchFamily="34" charset="-120"/>
              </a:rPr>
              <a:t>2. Pentest contratado con permiso firmado</a:t>
            </a:r>
            <a:endParaRPr lang="en-US" sz="1000" dirty="0"/>
          </a:p>
          <a:p>
            <a:pPr indent="0" marL="0">
              <a:spcAft>
                <a:spcPts val="600"/>
              </a:spcAft>
              <a:buNone/>
            </a:pPr>
            <a:r>
              <a:rPr lang="en-US" sz="1000" dirty="0">
                <a:solidFill>
                  <a:schemeClr val="bg1"/>
                </a:solidFill>
                <a:latin typeface="Courier New" pitchFamily="34" charset="0"/>
                <a:ea typeface="Courier New" pitchFamily="34" charset="-122"/>
                <a:cs typeface="Courier New" pitchFamily="34" charset="-120"/>
              </a:rPr>
              <a:t>3. Publicar en redes una falla que encontraste</a:t>
            </a:r>
            <a:endParaRPr lang="en-US" sz="1000" dirty="0"/>
          </a:p>
          <a:p>
            <a:pPr indent="0" marL="0">
              <a:spcAft>
                <a:spcPts val="600"/>
              </a:spcAft>
              <a:buNone/>
            </a:pPr>
            <a:r>
              <a:rPr lang="en-US" sz="1000" dirty="0">
                <a:solidFill>
                  <a:schemeClr val="bg1"/>
                </a:solidFill>
                <a:latin typeface="Courier New" pitchFamily="34" charset="0"/>
                <a:ea typeface="Courier New" pitchFamily="34" charset="-122"/>
                <a:cs typeface="Courier New" pitchFamily="34" charset="-120"/>
              </a:rPr>
              <a:t>4. Reportar la falla a la empresa y esperar</a:t>
            </a:r>
            <a:endParaRPr lang="en-US" sz="1000" dirty="0"/>
          </a:p>
        </p:txBody>
      </p:sp>
      <p:sp>
        <p:nvSpPr>
          <p:cNvPr id="25" name="Slide Number Placeholder 0"/>
          <p:cNvSpPr>
            <a:spLocks noGrp="1"/>
          </p:cNvSpPr>
          <p:nvPr>
            <p:ph type="sldNum" sz="quarter" idx="4294967295"/>
          </p:nvPr>
        </p:nvSpPr>
        <p:spPr>
          <a:xfrm>
            <a:off x="8138160" y="4791456"/>
            <a:ext cx="548640" cy="237744"/>
          </a:xfrm>
          <a:prstGeom prst="rect">
            <a:avLst/>
          </a:prstGeom>
          <a:extLst>
            <a:ext uri="{C572A759-6A51-4108-AA02-DFA0A04FC94B}">
              <ma14:wrappingTextBoxFlag xmlns:ma14="http://schemas.microsoft.com/office/mac/drawingml/2011/main" val="0"/>
            </a:ext>
          </a:extLst>
        </p:spPr>
        <p:txBody>
          <a:bodyPr anchor="ctr"/>
          <a:lstStyle>
            <a:lvl1pPr>
              <a:defRPr sz="9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457200" y="182880"/>
            <a:ext cx="8229600" cy="237744"/>
          </a:xfrm>
          <a:prstGeom prst="rect">
            <a:avLst/>
          </a:prstGeom>
          <a:noFill/>
          <a:ln/>
        </p:spPr>
        <p:txBody>
          <a:bodyPr wrap="square" lIns="0" tIns="0" rIns="0" bIns="0" rtlCol="0" anchor="t"/>
          <a:lstStyle/>
          <a:p>
            <a:pPr indent="0" marL="0">
              <a:buNone/>
            </a:pPr>
            <a:r>
              <a:rPr lang="en-US" sz="1100" b="1" spc="150" kern="0" dirty="0">
                <a:solidFill>
                  <a:schemeClr val="accent1"/>
                </a:solidFill>
              </a:rPr>
              <a:t>TICKET DE SALIDA</a:t>
            </a:r>
            <a:endParaRPr lang="en-US" sz="1100" dirty="0"/>
          </a:p>
        </p:txBody>
      </p:sp>
      <p:sp>
        <p:nvSpPr>
          <p:cNvPr id="3" name="Text 0"/>
          <p:cNvSpPr/>
          <p:nvPr>
            <p:ph idx="100" type="title" hasCustomPrompt="1"/>
          </p:nvPr>
        </p:nvSpPr>
        <p:spPr>
          <a:xfrm>
            <a:off x="457200" y="420624"/>
            <a:ext cx="8229600" cy="640080"/>
          </a:xfrm>
          <a:prstGeom prst="rect">
            <a:avLst/>
          </a:prstGeom>
          <a:noFill/>
          <a:ln/>
        </p:spPr>
        <p:txBody>
          <a:bodyPr wrap="square" lIns="0" tIns="0" rIns="0" bIns="0" rtlCol="0" anchor="t"/>
          <a:lstStyle/>
          <a:p>
            <a:pPr algn="l" indent="0" marL="0">
              <a:buNone/>
            </a:pPr>
            <a:r>
              <a:rPr lang="en-US" sz="2600" b="1" dirty="0">
                <a:solidFill>
                  <a:schemeClr val="tx2"/>
                </a:solidFill>
              </a:rPr>
              <a:t>Antes de irse, respondan en una hoja</a:t>
            </a:r>
            <a:endParaRPr lang="en-US" sz="2600" dirty="0"/>
          </a:p>
        </p:txBody>
      </p:sp>
      <p:sp>
        <p:nvSpPr>
          <p:cNvPr id="4" name="Shape 2"/>
          <p:cNvSpPr/>
          <p:nvPr/>
        </p:nvSpPr>
        <p:spPr>
          <a:xfrm>
            <a:off x="457200" y="1371600"/>
            <a:ext cx="2606040" cy="3017520"/>
          </a:xfrm>
          <a:prstGeom prst="roundRect">
            <a:avLst>
              <a:gd name="adj" fmla="val 2807"/>
            </a:avLst>
          </a:prstGeom>
          <a:solidFill>
            <a:schemeClr val="bg2"/>
          </a:solidFill>
          <a:ln w="12700">
            <a:solidFill>
              <a:schemeClr val="bg2"/>
            </a:solidFill>
            <a:prstDash val="solid"/>
          </a:ln>
        </p:spPr>
      </p:sp>
      <p:sp>
        <p:nvSpPr>
          <p:cNvPr id="5" name="Shape 3"/>
          <p:cNvSpPr/>
          <p:nvPr/>
        </p:nvSpPr>
        <p:spPr>
          <a:xfrm>
            <a:off x="685800" y="3520440"/>
            <a:ext cx="2148840" cy="0"/>
          </a:xfrm>
          <a:prstGeom prst="line">
            <a:avLst/>
          </a:prstGeom>
          <a:noFill/>
          <a:ln w="9525">
            <a:solidFill>
              <a:schemeClr val="accent5"/>
            </a:solidFill>
            <a:prstDash val="dash"/>
          </a:ln>
        </p:spPr>
      </p:sp>
      <p:sp>
        <p:nvSpPr>
          <p:cNvPr id="6" name="Shape 4"/>
          <p:cNvSpPr/>
          <p:nvPr/>
        </p:nvSpPr>
        <p:spPr>
          <a:xfrm>
            <a:off x="685800" y="3813048"/>
            <a:ext cx="2148840" cy="0"/>
          </a:xfrm>
          <a:prstGeom prst="line">
            <a:avLst/>
          </a:prstGeom>
          <a:noFill/>
          <a:ln w="9525">
            <a:solidFill>
              <a:schemeClr val="accent5"/>
            </a:solidFill>
            <a:prstDash val="dash"/>
          </a:ln>
        </p:spPr>
      </p:sp>
      <p:sp>
        <p:nvSpPr>
          <p:cNvPr id="7" name="Shape 5"/>
          <p:cNvSpPr/>
          <p:nvPr/>
        </p:nvSpPr>
        <p:spPr>
          <a:xfrm>
            <a:off x="685800" y="4105656"/>
            <a:ext cx="2148840" cy="0"/>
          </a:xfrm>
          <a:prstGeom prst="line">
            <a:avLst/>
          </a:prstGeom>
          <a:noFill/>
          <a:ln w="9525">
            <a:solidFill>
              <a:schemeClr val="accent5"/>
            </a:solidFill>
            <a:prstDash val="dash"/>
          </a:ln>
        </p:spPr>
      </p:sp>
      <p:sp>
        <p:nvSpPr>
          <p:cNvPr id="8" name="Shape 6"/>
          <p:cNvSpPr/>
          <p:nvPr/>
        </p:nvSpPr>
        <p:spPr>
          <a:xfrm>
            <a:off x="685800" y="1645920"/>
            <a:ext cx="685800" cy="685800"/>
          </a:xfrm>
          <a:prstGeom prst="ellipse">
            <a:avLst/>
          </a:prstGeom>
          <a:solidFill>
            <a:schemeClr val="accent1"/>
          </a:solidFill>
          <a:ln w="12700">
            <a:solidFill>
              <a:schemeClr val="accent1"/>
            </a:solidFill>
            <a:prstDash val="solid"/>
          </a:ln>
        </p:spPr>
      </p:sp>
      <p:pic>
        <p:nvPicPr>
          <p:cNvPr id="9" name="Image 0" descr="preencoded.png">    </p:cNvPr>
          <p:cNvPicPr>
            <a:picLocks noChangeAspect="1"/>
          </p:cNvPicPr>
          <p:nvPr/>
        </p:nvPicPr>
        <p:blipFill>
          <a:blip r:embed="rId1"/>
          <a:stretch>
            <a:fillRect/>
          </a:stretch>
        </p:blipFill>
        <p:spPr>
          <a:xfrm>
            <a:off x="857250" y="1817370"/>
            <a:ext cx="342900" cy="342900"/>
          </a:xfrm>
          <a:prstGeom prst="rect">
            <a:avLst/>
          </a:prstGeom>
        </p:spPr>
      </p:pic>
      <p:sp>
        <p:nvSpPr>
          <p:cNvPr id="10" name="Text 7"/>
          <p:cNvSpPr txBox="1"/>
          <p:nvPr/>
        </p:nvSpPr>
        <p:spPr>
          <a:xfrm>
            <a:off x="685800" y="2514600"/>
            <a:ext cx="2148840" cy="868680"/>
          </a:xfrm>
          <a:prstGeom prst="rect">
            <a:avLst/>
          </a:prstGeom>
          <a:noFill/>
          <a:ln/>
        </p:spPr>
        <p:txBody>
          <a:bodyPr wrap="square" lIns="0" tIns="0" rIns="0" bIns="0" rtlCol="0" anchor="t"/>
          <a:lstStyle/>
          <a:p>
            <a:pPr indent="0" marL="0">
              <a:buNone/>
            </a:pPr>
            <a:r>
              <a:rPr lang="en-US" sz="1700" b="1" dirty="0">
                <a:solidFill>
                  <a:schemeClr val="tx2"/>
                </a:solidFill>
              </a:rPr>
              <a:t>Qué llave se usa para cifrar y cuál para firmar</a:t>
            </a:r>
            <a:endParaRPr lang="en-US" sz="1700" dirty="0"/>
          </a:p>
        </p:txBody>
      </p:sp>
      <p:sp>
        <p:nvSpPr>
          <p:cNvPr id="11" name="Shape 8"/>
          <p:cNvSpPr/>
          <p:nvPr/>
        </p:nvSpPr>
        <p:spPr>
          <a:xfrm>
            <a:off x="3268980" y="1371600"/>
            <a:ext cx="2606040" cy="3017520"/>
          </a:xfrm>
          <a:prstGeom prst="roundRect">
            <a:avLst>
              <a:gd name="adj" fmla="val 2807"/>
            </a:avLst>
          </a:prstGeom>
          <a:solidFill>
            <a:schemeClr val="bg2"/>
          </a:solidFill>
          <a:ln w="12700">
            <a:solidFill>
              <a:schemeClr val="bg2"/>
            </a:solidFill>
            <a:prstDash val="solid"/>
          </a:ln>
        </p:spPr>
      </p:sp>
      <p:sp>
        <p:nvSpPr>
          <p:cNvPr id="12" name="Shape 9"/>
          <p:cNvSpPr/>
          <p:nvPr/>
        </p:nvSpPr>
        <p:spPr>
          <a:xfrm>
            <a:off x="3497580" y="3520440"/>
            <a:ext cx="2148840" cy="0"/>
          </a:xfrm>
          <a:prstGeom prst="line">
            <a:avLst/>
          </a:prstGeom>
          <a:noFill/>
          <a:ln w="9525">
            <a:solidFill>
              <a:schemeClr val="accent5"/>
            </a:solidFill>
            <a:prstDash val="dash"/>
          </a:ln>
        </p:spPr>
      </p:sp>
      <p:sp>
        <p:nvSpPr>
          <p:cNvPr id="13" name="Shape 10"/>
          <p:cNvSpPr/>
          <p:nvPr/>
        </p:nvSpPr>
        <p:spPr>
          <a:xfrm>
            <a:off x="3497580" y="3813048"/>
            <a:ext cx="2148840" cy="0"/>
          </a:xfrm>
          <a:prstGeom prst="line">
            <a:avLst/>
          </a:prstGeom>
          <a:noFill/>
          <a:ln w="9525">
            <a:solidFill>
              <a:schemeClr val="accent5"/>
            </a:solidFill>
            <a:prstDash val="dash"/>
          </a:ln>
        </p:spPr>
      </p:sp>
      <p:sp>
        <p:nvSpPr>
          <p:cNvPr id="14" name="Shape 11"/>
          <p:cNvSpPr/>
          <p:nvPr/>
        </p:nvSpPr>
        <p:spPr>
          <a:xfrm>
            <a:off x="3497580" y="4105656"/>
            <a:ext cx="2148840" cy="0"/>
          </a:xfrm>
          <a:prstGeom prst="line">
            <a:avLst/>
          </a:prstGeom>
          <a:noFill/>
          <a:ln w="9525">
            <a:solidFill>
              <a:schemeClr val="accent5"/>
            </a:solidFill>
            <a:prstDash val="dash"/>
          </a:ln>
        </p:spPr>
      </p:sp>
      <p:sp>
        <p:nvSpPr>
          <p:cNvPr id="15" name="Shape 12"/>
          <p:cNvSpPr/>
          <p:nvPr/>
        </p:nvSpPr>
        <p:spPr>
          <a:xfrm>
            <a:off x="3497580" y="1645920"/>
            <a:ext cx="685800" cy="685800"/>
          </a:xfrm>
          <a:prstGeom prst="ellipse">
            <a:avLst/>
          </a:prstGeom>
          <a:solidFill>
            <a:schemeClr val="accent4"/>
          </a:solidFill>
          <a:ln w="12700">
            <a:solidFill>
              <a:schemeClr val="accent4"/>
            </a:solidFill>
            <a:prstDash val="solid"/>
          </a:ln>
        </p:spPr>
      </p:sp>
      <p:pic>
        <p:nvPicPr>
          <p:cNvPr id="16" name="Image 1" descr="preencoded.png">    </p:cNvPr>
          <p:cNvPicPr>
            <a:picLocks noChangeAspect="1"/>
          </p:cNvPicPr>
          <p:nvPr/>
        </p:nvPicPr>
        <p:blipFill>
          <a:blip r:embed="rId2"/>
          <a:stretch>
            <a:fillRect/>
          </a:stretch>
        </p:blipFill>
        <p:spPr>
          <a:xfrm>
            <a:off x="3669030" y="1817370"/>
            <a:ext cx="342900" cy="342900"/>
          </a:xfrm>
          <a:prstGeom prst="rect">
            <a:avLst/>
          </a:prstGeom>
        </p:spPr>
      </p:pic>
      <p:sp>
        <p:nvSpPr>
          <p:cNvPr id="17" name="Text 13"/>
          <p:cNvSpPr txBox="1"/>
          <p:nvPr/>
        </p:nvSpPr>
        <p:spPr>
          <a:xfrm>
            <a:off x="3497580" y="2514600"/>
            <a:ext cx="2148840" cy="868680"/>
          </a:xfrm>
          <a:prstGeom prst="rect">
            <a:avLst/>
          </a:prstGeom>
          <a:noFill/>
          <a:ln/>
        </p:spPr>
        <p:txBody>
          <a:bodyPr wrap="square" lIns="0" tIns="0" rIns="0" bIns="0" rtlCol="0" anchor="t"/>
          <a:lstStyle/>
          <a:p>
            <a:pPr indent="0" marL="0">
              <a:buNone/>
            </a:pPr>
            <a:r>
              <a:rPr lang="en-US" sz="1700" b="1" dirty="0">
                <a:solidFill>
                  <a:schemeClr val="tx2"/>
                </a:solidFill>
              </a:rPr>
              <a:t>Para qué sirve un hash</a:t>
            </a:r>
            <a:endParaRPr lang="en-US" sz="1700" dirty="0"/>
          </a:p>
        </p:txBody>
      </p:sp>
      <p:sp>
        <p:nvSpPr>
          <p:cNvPr id="18" name="Shape 14"/>
          <p:cNvSpPr/>
          <p:nvPr/>
        </p:nvSpPr>
        <p:spPr>
          <a:xfrm>
            <a:off x="6080760" y="1371600"/>
            <a:ext cx="2606040" cy="3017520"/>
          </a:xfrm>
          <a:prstGeom prst="roundRect">
            <a:avLst>
              <a:gd name="adj" fmla="val 2807"/>
            </a:avLst>
          </a:prstGeom>
          <a:solidFill>
            <a:schemeClr val="bg2"/>
          </a:solidFill>
          <a:ln w="12700">
            <a:solidFill>
              <a:schemeClr val="bg2"/>
            </a:solidFill>
            <a:prstDash val="solid"/>
          </a:ln>
        </p:spPr>
      </p:sp>
      <p:sp>
        <p:nvSpPr>
          <p:cNvPr id="19" name="Shape 15"/>
          <p:cNvSpPr/>
          <p:nvPr/>
        </p:nvSpPr>
        <p:spPr>
          <a:xfrm>
            <a:off x="6309360" y="3520440"/>
            <a:ext cx="2148840" cy="0"/>
          </a:xfrm>
          <a:prstGeom prst="line">
            <a:avLst/>
          </a:prstGeom>
          <a:noFill/>
          <a:ln w="9525">
            <a:solidFill>
              <a:schemeClr val="accent5"/>
            </a:solidFill>
            <a:prstDash val="dash"/>
          </a:ln>
        </p:spPr>
      </p:sp>
      <p:sp>
        <p:nvSpPr>
          <p:cNvPr id="20" name="Shape 16"/>
          <p:cNvSpPr/>
          <p:nvPr/>
        </p:nvSpPr>
        <p:spPr>
          <a:xfrm>
            <a:off x="6309360" y="3813048"/>
            <a:ext cx="2148840" cy="0"/>
          </a:xfrm>
          <a:prstGeom prst="line">
            <a:avLst/>
          </a:prstGeom>
          <a:noFill/>
          <a:ln w="9525">
            <a:solidFill>
              <a:schemeClr val="accent5"/>
            </a:solidFill>
            <a:prstDash val="dash"/>
          </a:ln>
        </p:spPr>
      </p:sp>
      <p:sp>
        <p:nvSpPr>
          <p:cNvPr id="21" name="Shape 17"/>
          <p:cNvSpPr/>
          <p:nvPr/>
        </p:nvSpPr>
        <p:spPr>
          <a:xfrm>
            <a:off x="6309360" y="4105656"/>
            <a:ext cx="2148840" cy="0"/>
          </a:xfrm>
          <a:prstGeom prst="line">
            <a:avLst/>
          </a:prstGeom>
          <a:noFill/>
          <a:ln w="9525">
            <a:solidFill>
              <a:schemeClr val="accent5"/>
            </a:solidFill>
            <a:prstDash val="dash"/>
          </a:ln>
        </p:spPr>
      </p:sp>
      <p:sp>
        <p:nvSpPr>
          <p:cNvPr id="22" name="Shape 18"/>
          <p:cNvSpPr/>
          <p:nvPr/>
        </p:nvSpPr>
        <p:spPr>
          <a:xfrm>
            <a:off x="6309360" y="1645920"/>
            <a:ext cx="685800" cy="685800"/>
          </a:xfrm>
          <a:prstGeom prst="ellipse">
            <a:avLst/>
          </a:prstGeom>
          <a:solidFill>
            <a:schemeClr val="accent2"/>
          </a:solidFill>
          <a:ln w="12700">
            <a:solidFill>
              <a:schemeClr val="accent2"/>
            </a:solidFill>
            <a:prstDash val="solid"/>
          </a:ln>
        </p:spPr>
      </p:sp>
      <p:pic>
        <p:nvPicPr>
          <p:cNvPr id="23" name="Image 2" descr="preencoded.png">    </p:cNvPr>
          <p:cNvPicPr>
            <a:picLocks noChangeAspect="1"/>
          </p:cNvPicPr>
          <p:nvPr/>
        </p:nvPicPr>
        <p:blipFill>
          <a:blip r:embed="rId3"/>
          <a:stretch>
            <a:fillRect/>
          </a:stretch>
        </p:blipFill>
        <p:spPr>
          <a:xfrm>
            <a:off x="6480810" y="1817370"/>
            <a:ext cx="342900" cy="342900"/>
          </a:xfrm>
          <a:prstGeom prst="rect">
            <a:avLst/>
          </a:prstGeom>
        </p:spPr>
      </p:pic>
      <p:sp>
        <p:nvSpPr>
          <p:cNvPr id="24" name="Text 19"/>
          <p:cNvSpPr txBox="1"/>
          <p:nvPr/>
        </p:nvSpPr>
        <p:spPr>
          <a:xfrm>
            <a:off x="6309360" y="2514600"/>
            <a:ext cx="2148840" cy="868680"/>
          </a:xfrm>
          <a:prstGeom prst="rect">
            <a:avLst/>
          </a:prstGeom>
          <a:noFill/>
          <a:ln/>
        </p:spPr>
        <p:txBody>
          <a:bodyPr wrap="square" lIns="0" tIns="0" rIns="0" bIns="0" rtlCol="0" anchor="t"/>
          <a:lstStyle/>
          <a:p>
            <a:pPr indent="0" marL="0">
              <a:buNone/>
            </a:pPr>
            <a:r>
              <a:rPr lang="en-US" sz="1700" b="1" dirty="0">
                <a:solidFill>
                  <a:schemeClr val="tx2"/>
                </a:solidFill>
              </a:rPr>
              <a:t>Una pregunta que todavía tengo</a:t>
            </a:r>
            <a:endParaRPr lang="en-US" sz="1700" dirty="0"/>
          </a:p>
        </p:txBody>
      </p:sp>
      <p:sp>
        <p:nvSpPr>
          <p:cNvPr id="25" name="Slide Number Placeholder 0"/>
          <p:cNvSpPr>
            <a:spLocks noGrp="1"/>
          </p:cNvSpPr>
          <p:nvPr>
            <p:ph type="sldNum" sz="quarter" idx="4294967295"/>
          </p:nvPr>
        </p:nvSpPr>
        <p:spPr>
          <a:xfrm>
            <a:off x="8138160" y="4791456"/>
            <a:ext cx="548640" cy="237744"/>
          </a:xfrm>
          <a:prstGeom prst="rect">
            <a:avLst/>
          </a:prstGeom>
          <a:extLst>
            <a:ext uri="{C572A759-6A51-4108-AA02-DFA0A04FC94B}">
              <ma14:wrappingTextBoxFlag xmlns:ma14="http://schemas.microsoft.com/office/mac/drawingml/2011/main" val="0"/>
            </a:ext>
          </a:extLst>
        </p:spPr>
        <p:txBody>
          <a:bodyPr anchor="ctr"/>
          <a:lstStyle>
            <a:lvl1pPr>
              <a:defRPr sz="9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8046720" cy="640080"/>
          </a:xfrm>
          <a:prstGeom prst="rect">
            <a:avLst/>
          </a:prstGeom>
          <a:noFill/>
          <a:ln/>
        </p:spPr>
        <p:txBody>
          <a:bodyPr wrap="square" lIns="0" tIns="0" rIns="0" bIns="0" rtlCol="0" anchor="t"/>
          <a:lstStyle/>
          <a:p>
            <a:pPr algn="l" indent="0" marL="0">
              <a:buNone/>
            </a:pPr>
            <a:r>
              <a:rPr lang="en-US" sz="3000" b="1" dirty="0">
                <a:solidFill>
                  <a:schemeClr val="bg1"/>
                </a:solidFill>
              </a:rPr>
              <a:t>Lo que nos llevamos</a:t>
            </a:r>
            <a:endParaRPr lang="en-US" sz="3000" dirty="0"/>
          </a:p>
        </p:txBody>
      </p:sp>
      <p:pic>
        <p:nvPicPr>
          <p:cNvPr id="3" name="Image 0" descr="preencoded.png">    </p:cNvPr>
          <p:cNvPicPr>
            <a:picLocks noChangeAspect="1"/>
          </p:cNvPicPr>
          <p:nvPr/>
        </p:nvPicPr>
        <p:blipFill>
          <a:blip r:embed="rId1"/>
          <a:stretch>
            <a:fillRect/>
          </a:stretch>
        </p:blipFill>
        <p:spPr>
          <a:xfrm>
            <a:off x="548640" y="1289304"/>
            <a:ext cx="329184" cy="329184"/>
          </a:xfrm>
          <a:prstGeom prst="rect">
            <a:avLst/>
          </a:prstGeom>
        </p:spPr>
      </p:pic>
      <p:sp>
        <p:nvSpPr>
          <p:cNvPr id="4" name="Text 1"/>
          <p:cNvSpPr txBox="1"/>
          <p:nvPr/>
        </p:nvSpPr>
        <p:spPr>
          <a:xfrm>
            <a:off x="1005840" y="1234440"/>
            <a:ext cx="3520440" cy="457200"/>
          </a:xfrm>
          <a:prstGeom prst="rect">
            <a:avLst/>
          </a:prstGeom>
          <a:noFill/>
          <a:ln/>
        </p:spPr>
        <p:txBody>
          <a:bodyPr wrap="square" lIns="0" tIns="0" rIns="0" bIns="0" rtlCol="0" anchor="ctr"/>
          <a:lstStyle/>
          <a:p>
            <a:pPr indent="0" marL="0">
              <a:buNone/>
            </a:pPr>
            <a:r>
              <a:rPr lang="en-US" sz="1700" dirty="0">
                <a:solidFill>
                  <a:schemeClr val="bg1"/>
                </a:solidFill>
              </a:rPr>
              <a:t>Las notas a la vista de todos</a:t>
            </a:r>
            <a:endParaRPr lang="en-US" sz="1700" dirty="0"/>
          </a:p>
        </p:txBody>
      </p:sp>
      <p:pic>
        <p:nvPicPr>
          <p:cNvPr id="5" name="Image 1" descr="preencoded.png">    </p:cNvPr>
          <p:cNvPicPr>
            <a:picLocks noChangeAspect="1"/>
          </p:cNvPicPr>
          <p:nvPr/>
        </p:nvPicPr>
        <p:blipFill>
          <a:blip r:embed="rId2"/>
          <a:stretch>
            <a:fillRect/>
          </a:stretch>
        </p:blipFill>
        <p:spPr>
          <a:xfrm>
            <a:off x="548640" y="1856232"/>
            <a:ext cx="329184" cy="329184"/>
          </a:xfrm>
          <a:prstGeom prst="rect">
            <a:avLst/>
          </a:prstGeom>
        </p:spPr>
      </p:pic>
      <p:sp>
        <p:nvSpPr>
          <p:cNvPr id="6" name="Text 2"/>
          <p:cNvSpPr txBox="1"/>
          <p:nvPr/>
        </p:nvSpPr>
        <p:spPr>
          <a:xfrm>
            <a:off x="1005840" y="1801368"/>
            <a:ext cx="3520440" cy="457200"/>
          </a:xfrm>
          <a:prstGeom prst="rect">
            <a:avLst/>
          </a:prstGeom>
          <a:noFill/>
          <a:ln/>
        </p:spPr>
        <p:txBody>
          <a:bodyPr wrap="square" lIns="0" tIns="0" rIns="0" bIns="0" rtlCol="0" anchor="ctr"/>
          <a:lstStyle/>
          <a:p>
            <a:pPr indent="0" marL="0">
              <a:buNone/>
            </a:pPr>
            <a:r>
              <a:rPr lang="en-US" sz="1700" dirty="0">
                <a:solidFill>
                  <a:schemeClr val="bg1"/>
                </a:solidFill>
              </a:rPr>
              <a:t>El mensaje para Luis</a:t>
            </a:r>
            <a:endParaRPr lang="en-US" sz="1700" dirty="0"/>
          </a:p>
        </p:txBody>
      </p:sp>
      <p:pic>
        <p:nvPicPr>
          <p:cNvPr id="7" name="Image 2" descr="preencoded.png">    </p:cNvPr>
          <p:cNvPicPr>
            <a:picLocks noChangeAspect="1"/>
          </p:cNvPicPr>
          <p:nvPr/>
        </p:nvPicPr>
        <p:blipFill>
          <a:blip r:embed="rId3"/>
          <a:stretch>
            <a:fillRect/>
          </a:stretch>
        </p:blipFill>
        <p:spPr>
          <a:xfrm>
            <a:off x="548640" y="2423160"/>
            <a:ext cx="329184" cy="329184"/>
          </a:xfrm>
          <a:prstGeom prst="rect">
            <a:avLst/>
          </a:prstGeom>
        </p:spPr>
      </p:pic>
      <p:sp>
        <p:nvSpPr>
          <p:cNvPr id="8" name="Text 3"/>
          <p:cNvSpPr txBox="1"/>
          <p:nvPr/>
        </p:nvSpPr>
        <p:spPr>
          <a:xfrm>
            <a:off x="1005840" y="2368296"/>
            <a:ext cx="3520440" cy="457200"/>
          </a:xfrm>
          <a:prstGeom prst="rect">
            <a:avLst/>
          </a:prstGeom>
          <a:noFill/>
          <a:ln/>
        </p:spPr>
        <p:txBody>
          <a:bodyPr wrap="square" lIns="0" tIns="0" rIns="0" bIns="0" rtlCol="0" anchor="ctr"/>
          <a:lstStyle/>
          <a:p>
            <a:pPr indent="0" marL="0">
              <a:buNone/>
            </a:pPr>
            <a:r>
              <a:rPr lang="en-US" sz="1700" dirty="0">
                <a:solidFill>
                  <a:schemeClr val="bg1"/>
                </a:solidFill>
              </a:rPr>
              <a:t>¿Es el mismo archivo?</a:t>
            </a:r>
            <a:endParaRPr lang="en-US" sz="1700" dirty="0"/>
          </a:p>
        </p:txBody>
      </p:sp>
      <p:pic>
        <p:nvPicPr>
          <p:cNvPr id="9" name="Image 3" descr="preencoded.png">    </p:cNvPr>
          <p:cNvPicPr>
            <a:picLocks noChangeAspect="1"/>
          </p:cNvPicPr>
          <p:nvPr/>
        </p:nvPicPr>
        <p:blipFill>
          <a:blip r:embed="rId4"/>
          <a:stretch>
            <a:fillRect/>
          </a:stretch>
        </p:blipFill>
        <p:spPr>
          <a:xfrm>
            <a:off x="548640" y="2990088"/>
            <a:ext cx="329184" cy="329184"/>
          </a:xfrm>
          <a:prstGeom prst="rect">
            <a:avLst/>
          </a:prstGeom>
        </p:spPr>
      </p:pic>
      <p:sp>
        <p:nvSpPr>
          <p:cNvPr id="10" name="Text 4"/>
          <p:cNvSpPr txBox="1"/>
          <p:nvPr/>
        </p:nvSpPr>
        <p:spPr>
          <a:xfrm>
            <a:off x="1005840" y="2935224"/>
            <a:ext cx="3520440" cy="457200"/>
          </a:xfrm>
          <a:prstGeom prst="rect">
            <a:avLst/>
          </a:prstGeom>
          <a:noFill/>
          <a:ln/>
        </p:spPr>
        <p:txBody>
          <a:bodyPr wrap="square" lIns="0" tIns="0" rIns="0" bIns="0" rtlCol="0" anchor="ctr"/>
          <a:lstStyle/>
          <a:p>
            <a:pPr indent="0" marL="0">
              <a:buNone/>
            </a:pPr>
            <a:r>
              <a:rPr lang="en-US" sz="1700" dirty="0">
                <a:solidFill>
                  <a:schemeClr val="bg1"/>
                </a:solidFill>
              </a:rPr>
              <a:t>La alarma de las 3 de la madrugada</a:t>
            </a:r>
            <a:endParaRPr lang="en-US" sz="1700" dirty="0"/>
          </a:p>
        </p:txBody>
      </p:sp>
      <p:sp>
        <p:nvSpPr>
          <p:cNvPr id="11" name="Shape 5"/>
          <p:cNvSpPr/>
          <p:nvPr/>
        </p:nvSpPr>
        <p:spPr>
          <a:xfrm>
            <a:off x="548640" y="3794760"/>
            <a:ext cx="8046720" cy="713232"/>
          </a:xfrm>
          <a:prstGeom prst="roundRect">
            <a:avLst>
              <a:gd name="adj" fmla="val 10256"/>
            </a:avLst>
          </a:prstGeom>
          <a:solidFill>
            <a:schemeClr val="accent2"/>
          </a:solidFill>
          <a:ln w="12700">
            <a:solidFill>
              <a:schemeClr val="accent2"/>
            </a:solidFill>
            <a:prstDash val="solid"/>
          </a:ln>
        </p:spPr>
      </p:sp>
      <p:sp>
        <p:nvSpPr>
          <p:cNvPr id="12" name="Text 6"/>
          <p:cNvSpPr txBox="1"/>
          <p:nvPr/>
        </p:nvSpPr>
        <p:spPr>
          <a:xfrm>
            <a:off x="777240" y="3794760"/>
            <a:ext cx="7680960" cy="713232"/>
          </a:xfrm>
          <a:prstGeom prst="rect">
            <a:avLst/>
          </a:prstGeom>
          <a:noFill/>
          <a:ln/>
        </p:spPr>
        <p:txBody>
          <a:bodyPr wrap="square" lIns="0" tIns="0" rIns="0" bIns="0" rtlCol="0" anchor="ctr"/>
          <a:lstStyle/>
          <a:p>
            <a:pPr indent="0" marL="0">
              <a:buNone/>
            </a:pPr>
            <a:r>
              <a:rPr lang="en-US" sz="1500" b="1" dirty="0">
                <a:solidFill>
                  <a:schemeClr val="tx2"/>
                </a:solidFill>
              </a:rPr>
              <a:t>Siguiente paso: </a:t>
            </a:r>
            <a:pPr indent="0" marL="0">
              <a:buNone/>
            </a:pPr>
            <a:r>
              <a:rPr lang="en-US" sz="1500" dirty="0">
                <a:solidFill>
                  <a:schemeClr val="tx2"/>
                </a:solidFill>
              </a:rPr>
              <a:t>estudiá la teoría en la plataforma y resolvé el cotidiano interactivo de este resultado de aprendizaje.</a:t>
            </a:r>
            <a:endParaRPr lang="en-US" sz="1500" dirty="0"/>
          </a:p>
        </p:txBody>
      </p:sp>
      <p:sp>
        <p:nvSpPr>
          <p:cNvPr id="25" name="Slide Number Placeholder 0"/>
          <p:cNvSpPr>
            <a:spLocks noGrp="1"/>
          </p:cNvSpPr>
          <p:nvPr>
            <p:ph type="sldNum" sz="quarter" idx="4294967295"/>
          </p:nvPr>
        </p:nvSpPr>
        <p:spPr>
          <a:xfrm>
            <a:off x="8138160" y="4791456"/>
            <a:ext cx="548640" cy="237744"/>
          </a:xfrm>
          <a:prstGeom prst="rect">
            <a:avLst/>
          </a:prstGeom>
          <a:extLst>
            <a:ext uri="{C572A759-6A51-4108-AA02-DFA0A04FC94B}">
              <ma14:wrappingTextBoxFlag xmlns:ma14="http://schemas.microsoft.com/office/mac/drawingml/2011/main" val="0"/>
            </a:ext>
          </a:extLst>
        </p:spPr>
        <p:txBody>
          <a:bodyPr anchor="ctr"/>
          <a:lstStyle>
            <a:lvl1pPr>
              <a:defRPr sz="900">
                <a:solidFill>
                  <a:schemeClr val="bg2"/>
                </a:solidFil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Ciberseguridad CTP">
  <a:themeElements>
    <a:clrScheme name="Ciberseguridad CTP">
      <a:dk1>
        <a:srgbClr val="1E293B"/>
      </a:dk1>
      <a:lt1>
        <a:srgbClr val="FFFFFF"/>
      </a:lt1>
      <a:dk2>
        <a:srgbClr val="0B1D2E"/>
      </a:dk2>
      <a:lt2>
        <a:srgbClr val="EEF5F6"/>
      </a:lt2>
      <a:accent1>
        <a:srgbClr val="0E7C86"/>
      </a:accent1>
      <a:accent2>
        <a:srgbClr val="F5A623"/>
      </a:accent2>
      <a:accent3>
        <a:srgbClr val="D64545"/>
      </a:accent3>
      <a:accent4>
        <a:srgbClr val="2E9E6A"/>
      </a:accent4>
      <a:accent5>
        <a:srgbClr val="64748B"/>
      </a:accent5>
      <a:accent6>
        <a:srgbClr val="7C5CD6"/>
      </a:accent6>
      <a:hlink>
        <a:srgbClr val="0E7C86"/>
      </a:hlink>
      <a:folHlink>
        <a:srgbClr val="7C5CD6"/>
      </a:folHlink>
    </a:clrScheme>
    <a:fontScheme name="Ciberseguridad CTP">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CTP Mercedes Norte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RA4 · Nube, criptografía, monitoreo y gobernanza</dc:title>
  <dc:subject>PptxGenJS Presentation</dc:subject>
  <dc:creator>MsC. Ericka Hernández Mena</dc:creator>
  <cp:lastModifiedBy>MsC. Ericka Hernández Mena</cp:lastModifiedBy>
  <cp:revision>1</cp:revision>
  <dcterms:created xsi:type="dcterms:W3CDTF">2026-10-16T15:55:01Z</dcterms:created>
  <dcterms:modified xsi:type="dcterms:W3CDTF">2026-10-16T15:55:01Z</dcterms:modified>
</cp:coreProperties>
</file>