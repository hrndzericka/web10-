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 el resultado de aprendizaje: Explicar la seguridad en la nube, la criptografía, el monitoreo y la gobernanza en la ciberseguridad. Pregunte qué saben del tema y anote ideas en la pizarra antes de empezar.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 la ruta de la clase. Cada número corresponde a un tema del material de estudio en el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virtualización permite correr varias máquinas virtuales (VM) en una sola computadora física gracias a un hipervisor. Sobre esa base se construye la computación en la nube: usar servidores, almacenamiento y aplicaciones por internet, pagando solo lo que se usa. Recorra la tabla con la clase: IaaS – Infraestructura: VM, red, almacenamiento. – Amazon EC2, Azure VMs; PaaS – Plataforma para subir tu código. – Google App Engine, Heroku; SaaS – Aplicación lista para usar. – Gmail, Microsoft 365 Modelos de despliegue: pública (compartida con muchos clientes), privada (de una sola organización), híbrida (combina ambas) y comunitaria (compartida por organizaciones con intereses comunes).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nube rige el modelo de responsabilidad compartida: el proveedor protege la infraestructura física y el cliente protege lo que pone encima (datos, cuentas, configuraciones). Si un estudiante deja un bucket de almacenamiento configurado como público, la culpa no es del proveedor: la configuración es responsabilidad del cliente. Recorra la tabla con la clase: Infraestructura – Redes virtuales segmentadas, grupos de seguridad (firewalls de la nube), cuentas de administración con MFA.; Aplicaciones – Desarrollo seguro, pruebas de vulnerabilidades, firewall de aplicaciones web (WAF), API protegidas.; Datos – Cifrado en reposo y en tránsito, control de acceso, respaldos y clasificación de la información.; Máquinas virtuales – Mantener actualizado el sistema operativo de cada VM, usar imágenes confiables, aislar las VM entre sí y vigilar el hipervisor.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criptografía protege la información transformándola. El texto original se llama texto plano y el resultado, texto cifrado. Para cifrar y descifrar se usa una llave. Recorra la tabla con la clase: Una sola llave para cifrar y descifrar. – Un par de llaves: pública (se comparte) y privada (secreta).; Muy rápido, ideal para grandes volúmenes. – Más lento; resuelve el problema de compartir la llave.; Ejemplos: AES (y los antiguos DES y 3DES). – Ejemplos: RSA, curvas elípticas (ECC), Diffie-Hellman.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Esteganografía: esconder un mensaje dentro de otro archivo, como una imagen o un audio.; Ofuscación: hacer que el código o los datos sean difíciles de entender sin cifrarlos.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hash es una huella digital de un archivo: una función convierte cualquier dato en un valor de tamaño fijo. Es de una sola vía (no se puede revertir) y si cambia un solo carácter, el hash cambia por completo. Algoritmos: SHA-256 (recomendado), MD5 y SHA-1 (ya no son seguros). Al descargar Ubuntu, la página publica el SHA-256 del archivo. Si el hash del archivo descargado coincide, sabemos que llegó íntegro.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Integridad: el hash comprueba que los datos no cambiaron.; HMAC: un hash que además usa una llave secreta; comprueba integridad y que viene de quien tiene la llave.; Firma digital: se cifra el hash del documento con la llave privada del autor. Cualquiera lo verifica con su llave pública. Garantiza autenticidad, integridad y no repudio (el autor no puede negar que lo firmó). Para enviar un secreto a Luis: cifrá con la llave pública de Luis (solo él descifra con su privada). Para firmar: usá tu llave privada (todos verifican con tu pública).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¿Cómo sabemos que una llave pública realmente pertenece a quien dice? Para eso existe la infraestructura de llave pública (PKI). Una autoridad de certificación (CA) verifica la identidad y emite un certificado digital (estándar X.509) que une la llave pública con su dueño.; Las CA se organizan en jerarquía: una CA raíz confía en CA intermedias, que firman los certificados de los sitios. Los navegadores traen la lista de CA raíz confiables.; Un certificado vencido o revocado deja de ser confiable (se consulta con CRL u OCSP).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 (TLS), VPN, firma digital de documentos (en Costa Rica, la firma digital certificada con tarjeta del BCCR), correo cifrado, cifrado de discos (BitLocker) y mensajería con cifrado de extremo a extremo. Su impacto: protege la privacidad, pero también puede ser usada por atacantes para esconder malware dentro del tráfico cifrado, lo que dificulta el monitoreo.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Recorra la tabla con la clase: Syslog – Envía los registros a un servidor central; si un atacante lo altera, borra sus huellas.; NTP – Sin la hora correcta, no se pueden ordenar los eventos de un ataque.; DNS – Se usa para túneles DNS y para que el malware contacte a su servidor.; HTTP/HTTPS – El tráfico cifrado puede esconder ataques.; Correo electrónico – Principal vía de phishing y malware.; ICMP – Reconocimiento de la red y túneles ICMP.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Datos de alerta: mensajes que genera un IDS/IPS cuando detecta algo sospechoso.; Datos de sesión: resumen de una conversación: quién, con quién, cuándo y cuánto (como NetFlow).; Datos de transacción: los mensajes intercambiados en una sesión (por ejemplo, las peticiones HTTP).; Captura de paquetes completa: todo el contenido del tráfico (Wireshark, tcpdump).; Datos estadísticos: patrones del tráfico normal para detectar lo anormal.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Registros de terminales: los que genera cada equipo. En Windows, el Visor de eventos ; en Linux, /var/log ; también los de los servidores web (como el registro de acceso de Apache) y del antivirus. Registros de redes: los de firewalls, routers, proxies y servidores DNS, además de capturas con tcpdump y resúmenes NetFlow.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se centralizan en un SIEM (gestión de información y eventos de seguridad), que los correlaciona y genera alertas. Un SOAR automatiza parte de la respuesta. Recorra la tabla con la clase: Se generó alerta – Verdadero positivo ✔ – Falso positivo (alarma innecesaria); No hubo alerta – Falso negativo ✘ (el más peligroso) – Verdadero negativo ✔ Las fuentes de alertas son los IDS/IPS, firewalls, antimalware, SIEM y los propios usuarios. El analista debe confirmar cada alerta antes de actuar.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Gobernanza: la dirección de la organización define la estrategia de seguridad, asigna responsables y rinde cuentas. Se apoya en marcos de trabajo para administrar la seguridad de TI como ISO/IEC 27001, el Marco de Ciberseguridad del NIST y COBIT. Ética de la ciberseguridad: actuar siempre con autorización por escrito, respetar la privacidad, no usar el conocimiento para dañar y reportar responsablemente las vulnerabilidades encontradas.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Recorra la tabla con la clase: Escaneo de red y puertos – Nmap; Análisis de vulnerabilidades – OpenVAS, Nessus; Análisis de tráfico – Wireshark; Descifrado de contraseñas – John the Ripper, Hashcat; Explotación (pruebas de penetración) – Metasploit Simulan un ataque real con permiso. Fases: planificación y alcance, reconocimiento, escaneo, explotación, mantenimiento del acceso e informe. Pueden ser de caja negra (sin información previa), caja blanca (con toda la información) o caja gris (con información parcial).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Recalque qué llave se usa en cada paso. Pregunte qué garantiza el no repudio y quién emite el certificado (una autoridad de certificación).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 1) SaaS.  2) La llave pública de Luis.  3) Autenticidad, integridad y no repudio.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 4) Verifica identidades y emite certificados digitales que unen una llave pública con su dueño.  5) Porque hubo un ataque y nadie se enteró.  6) En caja negra el evaluador no tiene información previa; en caja blanca la tiene toda.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pida a tres estudiantes que expliquen con sus palabras un tema distinto cada uno. Luego indique que resuelvan el cotidiano interactivo en el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914400"/>
            <a:ext cx="2377440" cy="2377440"/>
          </a:xfrm>
          <a:prstGeom prst="ellipse">
            <a:avLst/>
          </a:prstGeom>
          <a:solidFill>
            <a:srgbClr val="0E7C86">
              <a:alpha val="80000"/>
            </a:srgbClr>
          </a:solidFill>
          <a:ln w="12700">
            <a:solidFill>
              <a:srgbClr val="0E7C86">
                <a:alpha val="8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50876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400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DESARROLLO WEB 10°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1887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D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de aprendizaje 4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0020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Nube, criptografía, monitoreo y gobernanza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0632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 la seguridad en la nube, la criptografía, el monitoreo y la gobernanza en la ciberseguridad.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3434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CTP Mercedes Norte · MsC. Ericka Hernández Mena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493776"/>
            <a:ext cx="274320" cy="274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4114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vamos a ver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362456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362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143000" y="128930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Virtualización y computación en la nube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2039112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2167128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4360" y="2167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209397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Dominios de seguridad en la nube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2843784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94360" y="2971800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94360" y="2971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143000" y="289864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Criptografía: confidencialidad y ocultamiento de datos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3648456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3776472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94360" y="3776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4300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Integridad, autenticidad y hash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663440" y="1234440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800600" y="1362456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800600" y="1362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349240" y="128930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PKI: autoridades y sistema de confianza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663440" y="2039112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800600" y="2167128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800600" y="2167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349240" y="209397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Tecnologías, protocolos y tipos de datos de seguridad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4663440" y="2843784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800600" y="2971800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800600" y="2971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349240" y="289864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terminales y de redes; evaluación de alertas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663440" y="3648456"/>
            <a:ext cx="3977640" cy="658368"/>
          </a:xfrm>
          <a:prstGeom prst="roundRect">
            <a:avLst>
              <a:gd name="adj" fmla="val 1111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800600" y="3776472"/>
            <a:ext cx="402336" cy="40233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3776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34924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Gobernanza, ética y pruebas de seguridad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Virtualización y computación en la nube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virtualización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permite correr varias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máquinas virtuales (VM)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una sola computadora física gracias a un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hipervisor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Sobre esa base se construye la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computación en la nube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usar servidores, almacenamiento y aplicaciones por internet, pagando solo lo que se usa.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694176"/>
            <a:ext cx="8229600" cy="969264"/>
          </a:xfrm>
          <a:prstGeom prst="roundRect">
            <a:avLst>
              <a:gd name="adj" fmla="val 5660"/>
            </a:avLst>
          </a:prstGeom>
          <a:solidFill>
            <a:srgbClr val="FFF6E5"/>
          </a:solidFill>
          <a:ln w="12700">
            <a:solidFill>
              <a:srgbClr val="FFF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694176"/>
            <a:ext cx="78638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despliegue: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pública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(compartida con muchos clientes),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privada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(de una sola organización),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híbrida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(combina ambas) y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comunitaria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(compartida por organizaciones con intereses comunes).</a:t>
            </a:r>
            <a:endParaRPr lang="en-US" sz="13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8229600" cy="914400"/>
        </p:xfrm>
        <a:graphic>
          <a:graphicData uri="http://schemas.openxmlformats.org/drawingml/2006/table">
            <a:tbl>
              <a:tblPr/>
              <a:tblGrid>
                <a:gridCol w="2231609"/>
                <a:gridCol w="3368014"/>
                <a:gridCol w="262997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de servicio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entrega el proveedor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IaaS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Infraestructura: VM, red, almacenamiento.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EC2, Azure VMs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PaaS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Plataforma para subir tu código.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App Engine, Heroku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Aplicación lista para usar.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Gmail, Microsoft 365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Dominios de seguridad en la nube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nube rige el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responsabilidad compartida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el proveedor protege la infraestructura física y el cliente protege lo que pone encima (datos, cuentas, configuraciones).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941064"/>
            <a:ext cx="8229600" cy="722376"/>
          </a:xfrm>
          <a:prstGeom prst="roundRect">
            <a:avLst>
              <a:gd name="adj" fmla="val 7595"/>
            </a:avLst>
          </a:prstGeom>
          <a:solidFill>
            <a:srgbClr val="FFF6E5"/>
          </a:solidFill>
          <a:ln w="12700">
            <a:solidFill>
              <a:srgbClr val="FFF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941064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estudiante deja un bucket de almacenamiento configurado como público, la culpa no es del proveedor: la configuración es responsabilidad del cliente.</a:t>
            </a:r>
            <a:endParaRPr lang="en-US" sz="13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47672"/>
          <a:ext cx="8229600" cy="914400"/>
        </p:xfrm>
        <a:graphic>
          <a:graphicData uri="http://schemas.openxmlformats.org/drawingml/2006/table">
            <a:tbl>
              <a:tblPr/>
              <a:tblGrid>
                <a:gridCol w="2250843"/>
                <a:gridCol w="59787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Dominio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 se protege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Infraestructura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Redes virtuales segmentadas, grupos de seguridad (firewalls de la nube), cuentas de administración con MFA.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Aplicaciones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Desarrollo seguro, pruebas de vulnerabilidades, firewall de aplicaciones web (WAF), API protegidas.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Cifrado en reposo y en tránsito, control de acceso, respaldos y clasificación de la información.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Máquinas virtuales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Mantener actualizado el sistema operativo de cada VM, usar imágenes confiables, aislar las VM entre sí y vigilar el hipervisor.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Criptografía: confidencialidad y ocultamiento de datos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criptografía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protege la información transformándola. El texto original se llama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plano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el resultado,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cifrado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Para cifrar y descifrar se usa una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llave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47672"/>
          <a:ext cx="8229600" cy="914400"/>
        </p:xfrm>
        <a:graphic>
          <a:graphicData uri="http://schemas.openxmlformats.org/drawingml/2006/table">
            <a:tbl>
              <a:tblPr/>
              <a:tblGrid>
                <a:gridCol w="3748858"/>
                <a:gridCol w="448074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Cifrado simétrico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Cifrado asimétrico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sola llave para cifrar y descifrar.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par de llaves: pública (se comparte) y privada (secreta).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Muy rápido, ideal para grandes volúmenes.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Más lento; resuelve el problema de compartir la llave.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Ejemplos: AES (y los antiguos DES y 3DES).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Ejemplos: RSA, curvas elípticas (ECC), Diffie-Hellman.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3 · CRIPTOGRAFÍA: CONFIDENCIALIDAD Y OCULTAMIENTO DE DATOS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Ocultamiento de datos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4000500" cy="1389888"/>
          </a:xfrm>
          <a:prstGeom prst="roundRect">
            <a:avLst>
              <a:gd name="adj" fmla="val 5263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353312"/>
            <a:ext cx="3223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Esteganografía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892808"/>
            <a:ext cx="36713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Esconder un mensaje dentro de otro archivo, como una imagen o un audio.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86300" y="1234440"/>
            <a:ext cx="4000500" cy="1389888"/>
          </a:xfrm>
          <a:prstGeom prst="roundRect">
            <a:avLst>
              <a:gd name="adj" fmla="val 5263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508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508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26380" y="1353312"/>
            <a:ext cx="3223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Ofuscación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50892" y="1892808"/>
            <a:ext cx="36713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 que el código o los datos sean difíciles de entender sin cifrarlos.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Integridad, autenticidad y hash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48920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</a:t>
            </a:r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una huella digital de un archivo: una función convierte cualquier dato en un valor de tamaño fijo. Es de </a:t>
            </a:r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vía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(no se puede revertir) y si cambia un solo carácter, el hash cambia por completo. Algoritmos: </a:t>
            </a:r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(recomendado), MD5 y SHA-1 (ya no son seguros).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623560" y="1234440"/>
            <a:ext cx="3063240" cy="2391156"/>
          </a:xfrm>
          <a:prstGeom prst="roundRect">
            <a:avLst>
              <a:gd name="adj" fmla="val 3824"/>
            </a:avLst>
          </a:prstGeom>
          <a:solidFill>
            <a:srgbClr val="FFF6E5"/>
          </a:solidFill>
          <a:ln w="12700">
            <a:solidFill>
              <a:srgbClr val="FFF6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52160" y="1463040"/>
            <a:ext cx="502920" cy="50292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75604" y="158648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92240" y="150876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2148840"/>
            <a:ext cx="2606040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descargar Ubuntu, la página publica el SHA-256 del archivo. Si el hash del archivo descargado coincide, sabemos que llegó íntegro.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Integridad, autenticidad y hash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3941064"/>
            <a:ext cx="8229600" cy="722376"/>
          </a:xfrm>
          <a:prstGeom prst="roundRect">
            <a:avLst>
              <a:gd name="adj" fmla="val 7595"/>
            </a:avLst>
          </a:prstGeom>
          <a:solidFill>
            <a:srgbClr val="FFF6E5"/>
          </a:solidFill>
          <a:ln w="12700">
            <a:solidFill>
              <a:srgbClr val="FFF6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3941064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Importante: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enviar un secreto a Luis: cifrá con la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llave pública de Luis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(solo él descifra con su privada). Para firmar: usá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llave privada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(todos verifican con tu pública).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2590800" cy="2569464"/>
          </a:xfrm>
          <a:prstGeom prst="roundRect">
            <a:avLst>
              <a:gd name="adj" fmla="val 2847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13533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1892808"/>
            <a:ext cx="226161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hash comprueba que los datos no cambiaron.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76600" y="1234440"/>
            <a:ext cx="2590800" cy="2569464"/>
          </a:xfrm>
          <a:prstGeom prst="roundRect">
            <a:avLst>
              <a:gd name="adj" fmla="val 2847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411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411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916680" y="13533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441192" y="1892808"/>
            <a:ext cx="226161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hash que además usa una llave secreta; comprueba integridad y que viene de quien tiene la llave.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096000" y="1234440"/>
            <a:ext cx="2590800" cy="2569464"/>
          </a:xfrm>
          <a:prstGeom prst="roundRect">
            <a:avLst>
              <a:gd name="adj" fmla="val 2847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05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05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736080" y="13533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digital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60592" y="1892808"/>
            <a:ext cx="226161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cifra el hash del documento con la llave privada del autor. Cualquiera lo verifica con su llave pública. Garantiza autenticidad, integridad y no repudio (el autor no puede negar que lo firmó).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PKI: autoridades y sistema de confianza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sabemos que una llave pública realmente pertenece a quien dice? Para eso existe la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infraestructura de llave pública (PKI)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947672"/>
            <a:ext cx="8229600" cy="813816"/>
          </a:xfrm>
          <a:prstGeom prst="roundRect">
            <a:avLst>
              <a:gd name="adj" fmla="val 6742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226564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1947672"/>
            <a:ext cx="749808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autoridad de certificación (CA) verifica la identidad y emite un certificado digital (estándar X.509) que une la llave pública con su dueño.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98648"/>
            <a:ext cx="8229600" cy="813816"/>
          </a:xfrm>
          <a:prstGeom prst="roundRect">
            <a:avLst>
              <a:gd name="adj" fmla="val 6742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3177540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2898648"/>
            <a:ext cx="749808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 se organizan en jerarquía: una CA raíz confía en CA intermedias, que firman los certificados de los sitios. Los navegadores traen la lista de CA raíz confiables.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849624"/>
            <a:ext cx="8229600" cy="813816"/>
          </a:xfrm>
          <a:prstGeom prst="roundRect">
            <a:avLst>
              <a:gd name="adj" fmla="val 6742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4128516"/>
            <a:ext cx="256032" cy="256032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51560" y="3849624"/>
            <a:ext cx="749808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certificado vencido o revocado deja de ser confiable (se consulta con CRL u OCSP).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5 · PKI: AUTORIDADES Y SISTEMA DE CONFIANZA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e impacto de la criptografía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812280" y="1554480"/>
            <a:ext cx="1645920" cy="1645920"/>
          </a:xfrm>
          <a:prstGeom prst="ellipse">
            <a:avLst/>
          </a:prstGeom>
          <a:solidFill>
            <a:srgbClr val="D8EEF0"/>
          </a:solidFill>
          <a:ln w="12700">
            <a:solidFill>
              <a:srgbClr val="D8EEF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965960"/>
            <a:ext cx="822960" cy="8229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34440"/>
            <a:ext cx="60350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(TLS), VPN, firma digital de documentos (en Costa Rica, la firma digital certificada con tarjeta del BCCR), correo cifrado, cifrado de discos (BitLocker) y mensajería con cifrado de extremo a extremo. Su impacto: protege la privacidad, pero también puede ser usada por atacantes para esconder malware dentro del tráfico cifrado, lo que dificulta el monitoreo.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6 · TECNOLOGÍAS, PROTOCOLOS Y TIPOS DE DATOS DE SEGURIDAD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Protocolos que hay que vigilar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572969"/>
                <a:gridCol w="565663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qué importa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Syslog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Envía los registros a un servidor central; si un atacante lo altera, borra sus huellas.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la hora correcta, no se pueden ordenar los eventos de un ataque.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usa para túneles DNS y para que el malware contacte a su servidor.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HTTP/HTTPS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tráfico cifrado puede esconder ataques.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Correo electrónico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vía de phishing y malware.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ICMP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Reconocimiento de la red y túneles ICMP.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6 · TECNOLOGÍAS, PROTOCOLOS Y TIPOS DE DATOS DE SEGURIDAD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datos de seguridad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590800" cy="1600200"/>
          </a:xfrm>
          <a:prstGeom prst="roundRect">
            <a:avLst>
              <a:gd name="adj" fmla="val 457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3533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alerta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892808"/>
            <a:ext cx="2261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que genera un IDS/IPS cuando detecta algo sospechoso.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76600" y="1234440"/>
            <a:ext cx="2590800" cy="1600200"/>
          </a:xfrm>
          <a:prstGeom prst="roundRect">
            <a:avLst>
              <a:gd name="adj" fmla="val 457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411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411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916680" y="13533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sesión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441192" y="1892808"/>
            <a:ext cx="2261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 una conversación: quién, con quién, cuándo y cuánto (como NetFlow).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096000" y="1234440"/>
            <a:ext cx="2590800" cy="1600200"/>
          </a:xfrm>
          <a:prstGeom prst="roundRect">
            <a:avLst>
              <a:gd name="adj" fmla="val 457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60592" y="13990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60592" y="1399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736080" y="13533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 transacción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260592" y="1892808"/>
            <a:ext cx="2261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mensajes intercambiados en una sesión (por ejemplo, las peticiones HTTP).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3063240"/>
            <a:ext cx="2590800" cy="1600200"/>
          </a:xfrm>
          <a:prstGeom prst="roundRect">
            <a:avLst>
              <a:gd name="adj" fmla="val 457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" y="32278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31821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paquetes completa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21792" y="3721608"/>
            <a:ext cx="2261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contenido del tráfico (Wireshark, tcpdump).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276600" y="3063240"/>
            <a:ext cx="2590800" cy="1600200"/>
          </a:xfrm>
          <a:prstGeom prst="roundRect">
            <a:avLst>
              <a:gd name="adj" fmla="val 4571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41192" y="3227832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41192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3916680" y="3182112"/>
            <a:ext cx="1813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estadísticos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3441192" y="3721608"/>
            <a:ext cx="2261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Patrones del tráfico normal para detectar lo anormal.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terminales y de redes; evaluación de alertas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812280" y="1554480"/>
            <a:ext cx="1645920" cy="1645920"/>
          </a:xfrm>
          <a:prstGeom prst="ellipse">
            <a:avLst/>
          </a:prstGeom>
          <a:solidFill>
            <a:srgbClr val="D8EEF0"/>
          </a:solidFill>
          <a:ln w="12700">
            <a:solidFill>
              <a:srgbClr val="D8EEF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965960"/>
            <a:ext cx="822960" cy="8229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34440"/>
            <a:ext cx="60350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terminales: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los que genera cada equipo. En Windows, el </a:t>
            </a:r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Visor de eventos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en Linux, 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/var/log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también los de los servidores web (como el registro de acceso de Apache) y del antivirus.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redes: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los de firewalls, routers, proxies y servidores DNS, además de capturas con </a:t>
            </a:r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tcpdump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resúmenes </a:t>
            </a:r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NetFlow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7 · REGISTROS DE TERMINALES Y DE REDES; EVALUACIÓN DE ALERTAS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alertas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se centralizan en un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(gestión de información y eventos de seguridad), que los correlaciona y genera alertas. Un </a:t>
            </a:r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automatiza parte de la respuesta.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941064"/>
            <a:ext cx="8229600" cy="722376"/>
          </a:xfrm>
          <a:prstGeom prst="roundRect">
            <a:avLst>
              <a:gd name="adj" fmla="val 7595"/>
            </a:avLst>
          </a:prstGeom>
          <a:solidFill>
            <a:srgbClr val="FFF6E5"/>
          </a:solidFill>
          <a:ln w="12700">
            <a:solidFill>
              <a:srgbClr val="FFF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941064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fuentes de alertas son los IDS/IPS, firewalls, antimalware, SIEM y los propios usuarios. El analista debe confirmar cada alerta antes de actuar.</a:t>
            </a:r>
            <a:endParaRPr lang="en-US" sz="13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47672"/>
          <a:ext cx="8229600" cy="914400"/>
        </p:xfrm>
        <a:graphic>
          <a:graphicData uri="http://schemas.openxmlformats.org/drawingml/2006/table">
            <a:tbl>
              <a:tblPr/>
              <a:tblGrid>
                <a:gridCol w="2079211"/>
                <a:gridCol w="3075195"/>
                <a:gridCol w="30751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Hubo ataque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hubo ataque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generó alerta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Verdadero positivo 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Falso positivo (alarma innecesaria)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hubo alerta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Falso negativo ✘ (el más peligroso)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Verdadero negativo 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Gobernanza, ética y pruebas de seguridad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6812280" y="1554480"/>
            <a:ext cx="1645920" cy="1645920"/>
          </a:xfrm>
          <a:prstGeom prst="ellipse">
            <a:avLst/>
          </a:prstGeom>
          <a:solidFill>
            <a:srgbClr val="D8EEF0"/>
          </a:solidFill>
          <a:ln w="12700">
            <a:solidFill>
              <a:srgbClr val="D8EEF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965960"/>
            <a:ext cx="822960" cy="8229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234440"/>
            <a:ext cx="60350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Gobernanza: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dirección de la organización define la estrategia de seguridad, asigna responsables y rinde cuentas. Se apoya en </a:t>
            </a:r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marcos de trabajo para administrar la seguridad de TI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como ISO/IEC 27001, el Marco de Ciberseguridad del NIST y COBIT.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 de la ciberseguridad: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actuar siempre con autorización por escrito, respetar la privacidad, no usar el conocimiento para dañar y reportar responsablemente las vulnerabilidades encontradas.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8 · GOBERNANZA, ÉTICA Y PRUEBAS DE SEGURIDAD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seguridad de la red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3447288"/>
            <a:ext cx="8229600" cy="1216152"/>
          </a:xfrm>
          <a:prstGeom prst="roundRect">
            <a:avLst>
              <a:gd name="adj" fmla="val 4511"/>
            </a:avLst>
          </a:prstGeom>
          <a:solidFill>
            <a:srgbClr val="FFF6E5"/>
          </a:solidFill>
          <a:ln w="12700">
            <a:solidFill>
              <a:srgbClr val="FFF6E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3447288"/>
            <a:ext cx="786384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penetración: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Simulan un ataque real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permiso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Fases: planificación y alcance, reconocimiento, escaneo, explotación, mantenimiento del acceso e informe. Pueden ser de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negra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(sin información previa),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blanca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(con toda la información) o </a:t>
            </a:r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gris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(con información parcial).</a:t>
            </a:r>
            <a:endParaRPr lang="en-US" sz="13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4530479"/>
                <a:gridCol w="369912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Herramientas de ejemplo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Escaneo de red y puertos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Nmap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Análisis de vulnerabilidades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OpenVAS, Nessus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Análisis de tráfico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Descifrado de contraseñas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the Ripper, Hashcat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Explotación (pruebas de penetración)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Metasploit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484632"/>
            <a:ext cx="292608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APLICAMOS LO APRENDIDO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práctico: enviar las notas de forma segura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57200" y="12344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5"/>
          </a:solidFill>
          <a:ln w="12700">
            <a:solidFill>
              <a:srgbClr val="FFF6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28016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docente debe enviar a la dirección un archivo con las notas finales. Necesita que nadie más lo lea, que no se altere en el camino y que la dirección sepa que lo envió ella.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57200" y="2514600"/>
            <a:ext cx="1885950" cy="2103120"/>
          </a:xfrm>
          <a:prstGeom prst="roundRect">
            <a:avLst>
              <a:gd name="adj" fmla="val 387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" y="267919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97280" y="2660904"/>
            <a:ext cx="11544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Confidencialidad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3200400"/>
            <a:ext cx="155676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Cifrar el archivo o enviarlo por un canal cifrado (HTTPS, TLS).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571750" y="2514600"/>
            <a:ext cx="1885950" cy="2103120"/>
          </a:xfrm>
          <a:prstGeom prst="roundRect">
            <a:avLst>
              <a:gd name="adj" fmla="val 387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736342" y="267919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736342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211830" y="2660904"/>
            <a:ext cx="11544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736342" y="3200400"/>
            <a:ext cx="155676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y compartir el hash SHA-256 del archivo.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686300" y="2514600"/>
            <a:ext cx="1885950" cy="2103120"/>
          </a:xfrm>
          <a:prstGeom prst="roundRect">
            <a:avLst>
              <a:gd name="adj" fmla="val 387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850892" y="267919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50892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326380" y="2660904"/>
            <a:ext cx="11544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Autenticidad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4850892" y="3200400"/>
            <a:ext cx="155676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Firmar el documento con su llave privada (firma digital).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00850" y="2514600"/>
            <a:ext cx="1885950" cy="2103120"/>
          </a:xfrm>
          <a:prstGeom prst="roundRect">
            <a:avLst>
              <a:gd name="adj" fmla="val 387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965442" y="2679192"/>
            <a:ext cx="384048" cy="38404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965442" y="2679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440930" y="2660904"/>
            <a:ext cx="11544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6965442" y="3200400"/>
            <a:ext cx="155676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dirección comprueba la firma con el certificado de la docente.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502920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RÁPIDO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aprendimos? (1 de 2)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234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23444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modelo de servicio el cliente solo usa la aplicación ya lista?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77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7744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llave se usa para enviarle un mensaje cifrado a Luis?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57200" y="3520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52044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garantiza una firma digital?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66928" cy="56692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502920"/>
            <a:ext cx="256032" cy="2560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29260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RÁPIDO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5303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aprendimos? (2 de 2)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1234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23444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 una autoridad de certificación?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77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7744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el falso negativo es el resultado más peligroso?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57200" y="35204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7F8"/>
          </a:solidFill>
          <a:ln w="12700">
            <a:solidFill>
              <a:srgbClr val="F1F7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520440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diferencia hay entre una prueba de caja negra y una de caja blanca?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aprendimos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35024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1417320"/>
            <a:ext cx="146304" cy="1463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05840" y="1280160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Virtualización y computación en la nube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01952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984248"/>
            <a:ext cx="146304" cy="14630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05840" y="1847088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Dominios de seguridad en la nube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468880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551176"/>
            <a:ext cx="146304" cy="14630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05840" y="2414016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Criptografía: confidencialidad y ocultamiento de datos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548640" y="3035808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3118104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05840" y="2980944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Integridad, autenticidad y hash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4663440" y="1335024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5736" y="1417320"/>
            <a:ext cx="146304" cy="14630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20640" y="1280160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PKI: autoridades y sistema de confianza</a:t>
            </a:r>
            <a:endParaRPr lang="en-US" sz="1300" dirty="0"/>
          </a:p>
        </p:txBody>
      </p:sp>
      <p:sp>
        <p:nvSpPr>
          <p:cNvPr id="18" name="Shape 11"/>
          <p:cNvSpPr/>
          <p:nvPr/>
        </p:nvSpPr>
        <p:spPr>
          <a:xfrm>
            <a:off x="4663440" y="1901952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5736" y="1984248"/>
            <a:ext cx="146304" cy="146304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20640" y="1847088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Tecnologías, protocolos y tipos de datos de seguridad</a:t>
            </a:r>
            <a:endParaRPr lang="en-US" sz="1300" dirty="0"/>
          </a:p>
        </p:txBody>
      </p:sp>
      <p:sp>
        <p:nvSpPr>
          <p:cNvPr id="21" name="Shape 13"/>
          <p:cNvSpPr/>
          <p:nvPr/>
        </p:nvSpPr>
        <p:spPr>
          <a:xfrm>
            <a:off x="4663440" y="2468880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5736" y="2551176"/>
            <a:ext cx="146304" cy="146304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20640" y="2414016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terminales y de redes; evaluación de alertas</a:t>
            </a:r>
            <a:endParaRPr lang="en-US" sz="1300" dirty="0"/>
          </a:p>
        </p:txBody>
      </p:sp>
      <p:sp>
        <p:nvSpPr>
          <p:cNvPr id="24" name="Shape 15"/>
          <p:cNvSpPr/>
          <p:nvPr/>
        </p:nvSpPr>
        <p:spPr>
          <a:xfrm>
            <a:off x="4663440" y="3035808"/>
            <a:ext cx="310896" cy="310896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5736" y="3118104"/>
            <a:ext cx="146304" cy="146304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20640" y="2980944"/>
            <a:ext cx="3520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Gobernanza, ética y pruebas de seguridad</a:t>
            </a:r>
            <a:endParaRPr lang="en-US" sz="1300" dirty="0"/>
          </a:p>
        </p:txBody>
      </p:sp>
      <p:sp>
        <p:nvSpPr>
          <p:cNvPr id="27" name="Shape 17"/>
          <p:cNvSpPr/>
          <p:nvPr/>
        </p:nvSpPr>
        <p:spPr>
          <a:xfrm>
            <a:off x="548640" y="3794760"/>
            <a:ext cx="8046720" cy="685800"/>
          </a:xfrm>
          <a:prstGeom prst="roundRect">
            <a:avLst>
              <a:gd name="adj" fmla="val 10667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777240" y="3794760"/>
            <a:ext cx="7680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</a:t>
            </a:r>
            <a:pPr indent="0" marL="0">
              <a:buNone/>
            </a:pPr>
            <a:r>
              <a:rPr lang="en-US" sz="1500" dirty="0">
                <a:solidFill>
                  <a:srgbClr val="0B1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resolvé el cotidiano interactivo de este resultado de aprendizaje en el portal del curso.</a:t>
            </a:r>
            <a:endParaRPr lang="en-US" sz="1500" dirty="0"/>
          </a:p>
        </p:txBody>
      </p:sp>
      <p:sp>
        <p:nvSpPr>
          <p:cNvPr id="29" name="Text 19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 de ciberseguridad · RA4</a:t>
            </a:r>
            <a:endParaRPr lang="en-US" sz="900" dirty="0"/>
          </a:p>
        </p:txBody>
      </p:sp>
      <p:sp>
        <p:nvSpPr>
          <p:cNvPr id="30" name="Text 20"/>
          <p:cNvSpPr txBox="1"/>
          <p:nvPr/>
        </p:nvSpPr>
        <p:spPr>
          <a:xfrm>
            <a:off x="8229600" y="48006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RA4 · Nube, criptografía, monitoreo y gobernanza</dc:title>
  <dc:subject>PptxGenJS Presentation</dc:subject>
  <dc:creator>MsC. Ericka Hernández Mena</dc:creator>
  <cp:lastModifiedBy>MsC. Ericka Hernández Mena</cp:lastModifiedBy>
  <cp:revision>1</cp:revision>
  <dcterms:created xsi:type="dcterms:W3CDTF">2026-10-01T21:36:11Z</dcterms:created>
  <dcterms:modified xsi:type="dcterms:W3CDTF">2026-10-01T21:36:11Z</dcterms:modified>
</cp:coreProperties>
</file>