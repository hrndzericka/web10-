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b44271a-6972-0e56-16eb-82626fe23444}">
          <p14:sldIdLst>
            <p14:sldId id="256"/>
            <p14:sldId id="257"/>
            <p14:sldId id="258"/>
          </p14:sldIdLst>
        </p14:section>
        <p14:section name="Caso 1: La laptop lenta del laboratorio" id="{e5330b02-c2e3-1a0a-6a4d-686b5dbf77ae}">
          <p14:sldIdLst>
            <p14:sldId id="259"/>
            <p14:sldId id="260"/>
            <p14:sldId id="261"/>
            <p14:sldId id="262"/>
          </p14:sldIdLst>
        </p14:section>
        <p14:section name="Caso 2: La cuenta «caja» que podía todo" id="{53673cf3-406c-c805-a19a-b42dd2f3ff1e}">
          <p14:sldIdLst>
            <p14:sldId id="263"/>
            <p14:sldId id="264"/>
            <p14:sldId id="265"/>
          </p14:sldIdLst>
        </p14:section>
        <p14:section name="Caso 3: El servidor con la puerta abierta" id="{b36ddcd6-8fbd-0283-fa51-203e3e2ef7c7}">
          <p14:sldIdLst>
            <p14:sldId id="266"/>
            <p14:sldId id="267"/>
            <p14:sldId id="268"/>
            <p14:sldId id="269"/>
          </p14:sldIdLst>
        </p14:section>
        <p14:section name="Caso 4: El antivirus que no lo vio venir" id="{2f542a95-c448-8c30-3eea-bb1cfa74eab8}">
          <p14:sldIdLst>
            <p14:sldId id="270"/>
            <p14:sldId id="271"/>
            <p14:sldId id="272"/>
          </p14:sldIdLst>
        </p14:section>
        <p14:section name="Cierre" id="{15091feb-2cf4-148a-a79e-0d3f73529a98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resultado de aprendizaje: Emplear protección en los sistemas operativos y dispositivos finales en la era de la ciberseguridad de la información. Explique la dinámica: hoy no vamos a leer teoría; vamos a analizar 4 casos, y en cada uno descubrimos los conceptos. La teoría completa está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que levanten la mano quienes tienen actualizaciones pendientes en el celular. Use la respuesta para introducir la idea de que cada parche cierra una puerta conocida.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recorrido. Cada caso tiene tres momentos: la situación (ustedes opinan primero), el diagrama de cómo funciona y los conceptos que salen del caso. Entre los casos hay dos mini actividades.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Detalle: el nombre imita al proceso legítimo svchost.exe, pero con un cero. El Monitor de recursos mostraría que se conecta a una IP extranjera. Antes de limpiar: desconectar de la red para cortar el envío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Insista en el orden. Cambiar las contraseñas desde el equipo infectado no sirve, porque el malware puede capturarlas.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laboratorio lo permite, abra el Administrador de tareas en vivo y muestre la pestaña de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 min. En parejas. Respuestas: los inicios fallidos seguidos sobre admin (posible fuerza bruta: bloquear la cuenta y revisar el origen); la cuenta soporte2 creada sin autorización (desactivarla e investigar); el servicio svch0st instalado (malware: aislar el equipo y analizar).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Con una cuenta administradora el programa malicioso hereda todos los permisos: puede cambiar el registro, desactivar el antivirus e iniciarse con Windows. Con una cuenta estándar, el UAC habría pedido una contraseña de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con el modo kernel (acceso total al hardware) y el modo usuario (acceso limitado): la misma idea aplica a las cuentas.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¿qué cuenta usan en la computadora de su casa? Muchos van a descubrir que es administradora.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777 = rwx para dueño, grupo y otros: cualquiera puede escribir. Basta una falla en un formulario para que alguien suba o cambie archivos. Revisando /var/log se puede encontrar cuándo y desde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Recuerde la suma: r = 4, w = 2, x = 1. Pida que calculen en voz alta rw-r----- (640).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una máquina virtual con Linux, muestre ls -l y chmod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 min. En parejas. Respuestas: rw-r----- = 640, seguro. rwxrwxrwx = 777, nunca. rw------- = 600, muy seguro. rwxr-xr-x = 755, adecuado para carpetas o programas, pero no para un archivo de configuración con contraseñas, porque otros lo pueden leer.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La detección por firmas compara con malware conocido; un ataque de día cero no tiene firma. Lo detuvo la detección por comportamiento: cifrar cien archivos por minuto es una acción sospechosa.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que los antimalware modernos combinan las tres. Un HIPS vigila el equipo desde adentro con reglas de comportamiento.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ninguna protección es perfecta; por eso se combinan varias.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Recoja las hojas o pida fotos por Teams. Las preguntas pendientes sirven para abrir la próxima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pidiendo a varios estudiantes que expliquen un caso con sus palabras. Recuerde que la teoría completa y el cotidiano están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Fundamentos de ciberseguridad · RA2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Fundamentos de ciberseguridad · RA2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Fundamentos de ciberseguridad · RA2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FUNDAMENTOS DE CIBERSEGURIDAD · DESARROLLO WEB 10°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Resultado de aprendizaje 2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Protección de sistemas operativos y dispositivos finales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Aprendemos con 4 casos reales para analizar en clase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051560"/>
            <a:ext cx="2286000" cy="2286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916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CTP Mercedes Norte · MsC. Ericka Hernández Mena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PREGUNTAS PARA INICIAR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Para empezar: ¿qué saben ya?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705" y="1710385"/>
            <a:ext cx="255118" cy="2551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¿Cuándo actualizaron por última vez su computadora o celular?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¿Por qué a veces lo posponemos?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6898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85" y="1710385"/>
            <a:ext cx="255118" cy="2551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758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¿En su casa todos usan la misma cuenta de la computadora?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¿Qué riesgo tiene eso?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265" y="1710385"/>
            <a:ext cx="255118" cy="2551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creen que hace realmente un antivirus?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¿Puede detectar un virus que nadie ha visto antes?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 CLASE DE HOY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Los casos que vamos a resolver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99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5041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laptop lenta del laboratorio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121408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2402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3454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21214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920240" y="21214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cuenta «caja» que podía todo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62656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3081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1866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96265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29626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servidor con la puerta abierta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803904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6928" y="39227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02793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380390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920240" y="380390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antivirus que no lo vio venir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309360" y="1280160"/>
            <a:ext cx="2377440" cy="324612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922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En cada caso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203454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59168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Leemos la situación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49224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28575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59168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Vemos cómo funciona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368046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59168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Sacamos los conceptos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1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laptop lenta del laboratorio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 laptop 7 del laboratorio está lentísima, aparecen ventanas de publicidad y el ventilador no para. En el Administrador de tareas hay un proceso «svch0st.exe» usando 90 % del CPU.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revisarían primero y qué harían antes de limpiar el equipo?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1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Procedimiento ante una infección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12520" cy="251460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70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80" y="2194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926080"/>
            <a:ext cx="893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Desconectar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529584"/>
            <a:ext cx="893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Cortar la 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06296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880616" y="1691640"/>
            <a:ext cx="1112520" cy="251460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71116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96" y="21945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990344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990344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990344" y="2926080"/>
            <a:ext cx="893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Actualizar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990344" y="3529584"/>
            <a:ext cx="893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Firmas del antimalware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029712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3304032" y="1691640"/>
            <a:ext cx="1112520" cy="251460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94532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412" y="2194560"/>
            <a:ext cx="365760" cy="3657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413760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41376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3413760" y="2926080"/>
            <a:ext cx="893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Analizar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413760" y="3529584"/>
            <a:ext cx="893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Escaneo completo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453128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4727448" y="1691640"/>
            <a:ext cx="1112520" cy="251460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917948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828" y="2194560"/>
            <a:ext cx="365760" cy="36576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837176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837176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4837176" y="2926080"/>
            <a:ext cx="893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Cuarentena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4837176" y="3529584"/>
            <a:ext cx="893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Aislar lo detectado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876544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6150864" y="1691640"/>
            <a:ext cx="1112520" cy="251460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341364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2194560"/>
            <a:ext cx="365760" cy="36576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260592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260592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6260592" y="2926080"/>
            <a:ext cx="893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Contraseñas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6260592" y="3529584"/>
            <a:ext cx="893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Cambiarlas en otro equipo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7299960" y="2948940"/>
            <a:ext cx="237744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7574280" y="1691640"/>
            <a:ext cx="1112520" cy="251460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7764780" y="2011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7660" y="2194560"/>
            <a:ext cx="365760" cy="365760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7684008" y="180136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7684008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</a:t>
            </a:r>
            <a:endParaRPr lang="en-US" sz="1100" dirty="0"/>
          </a:p>
        </p:txBody>
      </p:sp>
      <p:sp>
        <p:nvSpPr>
          <p:cNvPr id="49" name="Text 41"/>
          <p:cNvSpPr txBox="1"/>
          <p:nvPr/>
        </p:nvSpPr>
        <p:spPr>
          <a:xfrm>
            <a:off x="7684008" y="2926080"/>
            <a:ext cx="893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Documentar</a:t>
            </a:r>
            <a:endParaRPr lang="en-US" sz="1300" dirty="0"/>
          </a:p>
        </p:txBody>
      </p:sp>
      <p:sp>
        <p:nvSpPr>
          <p:cNvPr id="50" name="Text 42"/>
          <p:cNvSpPr txBox="1"/>
          <p:nvPr/>
        </p:nvSpPr>
        <p:spPr>
          <a:xfrm>
            <a:off x="7684008" y="3529584"/>
            <a:ext cx="893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Bitácora del caso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1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La laptop lenta del laboratorio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Administrador de tareas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Procesos y consumo de CPU y memoria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Monitor de recursos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qué IP se conecta cada proceso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Visor de eventos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Registros de seguridad del sistema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Actualizar con Windows Update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 instalar programas dudosos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Revisar los programas de inicio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MINI ACTIVIDAD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Detectives del Visor de eventos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8298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188720"/>
            <a:ext cx="525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77340" y="1188720"/>
            <a:ext cx="141732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710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88820" y="1188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 parejas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176479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Lean el registro de eventos de la derecha.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2496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Encuentren tres eventos sospechosos.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32278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Escriban qué harían con cada uno.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4709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Tres eventos sospechosos con su acción.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1188720"/>
            <a:ext cx="3200400" cy="3447288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Material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0" y="1828800"/>
            <a:ext cx="28346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07:58  4624  Inicio correcto        usuario: caja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08:02  4625  Inicio FALLIDO         usuario: admin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08:02  4625  Inicio FALLIDO         usuario: admin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08:03  4720  Cuenta CREADA          usuario: soporte2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08:05  7045  Servicio INSTALADO     svch0st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2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cuenta «caja» que podía todo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la ferretería todos usan la cuenta «caja», que es administradora y no tiene contraseña. Un empleado descargó un «activador gratis» de Office y el programa instaló un troyano con control total.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¿Por qué el troyano pudo hacer tanto daño? ¿Qué cambiarían?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2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Administrador contra cuenta estándar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862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8862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Cuenta administradora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57984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031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programa instala lo que quiera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07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8529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Puede apagar el antivirus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576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602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error afecta todo el sistema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800600" y="1325880"/>
            <a:ext cx="38862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800600" y="1325880"/>
            <a:ext cx="38862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Cuenta estándar con UAC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15798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1031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Pide permiso antes de cambios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9077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0" y="28529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malware queda limitado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65760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0" y="3602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Admin solo cuando hace falta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2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La cuenta «caja» que podía todo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Privilegio mínimo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los permisos necesarios para trabajar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UAC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Pide confirmación antes de cambios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BitLocker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Cifra el disco completo de Windows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Cuentas personales y estándar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Contraseña en cada cuenta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BitLocker en las laptops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3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servidor con la puerta abierta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El sitio del colegio corre en un servidor Ubuntu. Un practicante, para que «todo funcione», le dio permisos 777 a la carpeta del sitio. Una semana después, la portada mostraba un mensaje de un desconocido.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significa 777 y por qué fue tan grave?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3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Permisos: 777 contra 750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862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88620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chmod 777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57984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031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Dueño: rwx = 7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077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8529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Grupo: rwx = 7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6576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602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Otros: rwx = 7 (cualquiera escribe)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800600" y="1325880"/>
            <a:ext cx="38862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800600" y="1325880"/>
            <a:ext cx="388620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029200" y="132588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chmod 750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15798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1031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Dueño: rwx = 7</a:t>
            </a:r>
            <a:endParaRPr lang="en-US" sz="15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29077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86400" y="285292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Grupo: r-x = 5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657600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486400" y="360273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Otros: --- = 0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3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servidor con la puerta abierta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rwx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Leer (4), escribir (2), ejecutar (1)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chmod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Comando para cambiar permisos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/var/log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Carpeta de registros en Linux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Permisos mínimos: 750 o 640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Revisar /var/log/auth.log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sudo apt update y upgrade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MINI ACTIVIDAD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Calculadora de permisos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8298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188720"/>
            <a:ext cx="525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77340" y="1188720"/>
            <a:ext cx="141732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710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88820" y="1188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 parejas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176479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Conviertan cada permiso a número.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2496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Decidan si es seguro para un archivo de configuración.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32278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Gana la pareja con más aciertos.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4709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Cuatro permisos convertidos y evaluados.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1188720"/>
            <a:ext cx="3200400" cy="3447288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Material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0" y="1828800"/>
            <a:ext cx="283464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rw-r-----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rwxrwxrwx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rw-------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rwxr-xr-x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4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antivirus que no lo vio venir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 ransomware nuevo, que nadie había visto antes, llega a la oficina del colegio. El antivirus por firmas no lo detecta. Pero cuando empieza a cifrar cien archivos por minuto, otra protección lo detiene.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¿Por qué falló la primera protección y cuál lo detuvo?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4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Tres formas de detectar malware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31546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8191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647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Por firmas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Compara con malware conocido. Falla con un día cero.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560320" cy="31546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58191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647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Heurística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926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Busca código sospechoso. Puede dar falsos positivos.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560320" cy="31546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581912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647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Por comportamiento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92608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Vigila lo que hace el programa. Esta lo detuvo.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4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antivirus que no lo vio venir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cero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Ataque nuevo, sin firma ni parche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HIPS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Protege el equipo desde adentro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Sandbox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Ejecuta lo dudoso en un entorno aislado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se evita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Antimalware con varias técnicas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Lista blanca de programas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Respaldos para recuperarse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TICKET DE SALIDA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Antes de irse, respondan en una hoja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8580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8580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8580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 permiso de Linux que sé calcular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6898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758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49758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49758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3497580" y="16459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81737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9758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herramienta de Windows que voy a usar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630936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30936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6309360" y="1645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81737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pregunta que todavía tengo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que nos llevamos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234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 laptop lenta del laboratorio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6232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801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La cuenta «caja» que podía todo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3682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servidor con la puerta abierta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90088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05840" y="29352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antivirus que no lo vio venir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548640" y="3794760"/>
            <a:ext cx="8046720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77240" y="3794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Siguiente paso: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estudiá la teoría en la plataforma y resolvé el cotidiano interactivo de este resultado de aprendizaje.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berseguridad CTP">
  <a:themeElements>
    <a:clrScheme name="Ciberseguridad CTP">
      <a:dk1>
        <a:srgbClr val="1E293B"/>
      </a:dk1>
      <a:lt1>
        <a:srgbClr val="FFFFFF"/>
      </a:lt1>
      <a:dk2>
        <a:srgbClr val="0B1D2E"/>
      </a:dk2>
      <a:lt2>
        <a:srgbClr val="EEF5F6"/>
      </a:lt2>
      <a:accent1>
        <a:srgbClr val="0E7C86"/>
      </a:accent1>
      <a:accent2>
        <a:srgbClr val="F5A623"/>
      </a:accent2>
      <a:accent3>
        <a:srgbClr val="D64545"/>
      </a:accent3>
      <a:accent4>
        <a:srgbClr val="2E9E6A"/>
      </a:accent4>
      <a:accent5>
        <a:srgbClr val="64748B"/>
      </a:accent5>
      <a:accent6>
        <a:srgbClr val="7C5CD6"/>
      </a:accent6>
      <a:hlink>
        <a:srgbClr val="0E7C86"/>
      </a:hlink>
      <a:folHlink>
        <a:srgbClr val="7C5CD6"/>
      </a:folHlink>
    </a:clrScheme>
    <a:fontScheme name="Ciberseguridad CT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RA2 · Protección de sistemas operativos y dispositivos finales</dc:title>
  <dc:subject>PptxGenJS Presentation</dc:subject>
  <dc:creator>MsC. Ericka Hernández Mena</dc:creator>
  <cp:lastModifiedBy>MsC. Ericka Hernández Mena</cp:lastModifiedBy>
  <cp:revision>1</cp:revision>
  <dcterms:created xsi:type="dcterms:W3CDTF">2026-10-16T15:55:01Z</dcterms:created>
  <dcterms:modified xsi:type="dcterms:W3CDTF">2026-10-16T15:55:01Z</dcterms:modified>
</cp:coreProperties>
</file>