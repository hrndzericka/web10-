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 el resultado de aprendizaje: Emplear protección en los sistemas operativos y dispositivos finales en la era de la ciberseguridad de la información. Pregunte qué saben del tema y anote ideas en la pizarra antes de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 la ruta de la clase. Cada número corresponde a un tema del material de estudio en el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 empezó en 1985 como una interfaz gráfica sobre MS-DOS. Las versiones modernas (desde Windows NT, XP, 7, 10 y 11) se basan en el núcleo NT, mucho más estable y seguro. Recorra la tabla con la clase: HAL (capa de abstracción de hardware) – Habla directamente con el hardware para que el resto del sistema no dependa de un equipo específico.; Kernel (núcleo) – Administra la memoria, los procesos y los controladores.; Modo kernel – Zona con acceso total al hardware. Un error aquí puede botar todo el sistema.; Modo usuario – Donde corren las aplicaciones, con acceso limitado: si una falla, no afecta al resto.; Registro de Windows – Gran base de datos con la configuración del sistema y de los programas. El malware suele modificarlo para iniciarse solo. Un proceso es un programa en ejecución; un servicio es un proceso que corre en segundo plano (por ejemplo, Windows Update) aunque nadie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Recorra la tabla con la clase: Administrador de tareas – Ver procesos, consumo de CPU y memoria, y programas que arrancan con el sistema.; Monitor de recursos – Ver qué proceso usa la red y a qué direcciones se conecta.; Visor de eventos – Revisar los registros (logs) de seguridad: inicios de sesión fallidos, cambios de cuentas.; Servicios (services.msc) – Detener servicios innecesarios para reducir la superficie de ataque.; PowerShell y CMD – Administrar el sistema con comandos.; netstat – Ver las conexiones de red abiertas y los puertos en escucha.  Si el Visor de eventos muestra 300 inicios de sesión fallidos en dos minutos sobre la misma cuenta, probablemente alguien está intentando un ataque de fuerza bruta.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Cuentas de usuario: usar una cuenta estándar para el día a día y la de administrador solo cuando haga falta.; Control de cuentas de usuario (UAC): pide confirmación antes de que un programa haga cambios importantes.; Contraseñas y políticas: longitud mínima, bloqueo tras varios intentos fallidos, Windows Hello.; Firewall de Windows Defender: bloquea conexiones no autorizadas que entran o salen del equipo.; Microsoft Defender Antivirus: protección antimalware incluida.; BitLocker: cifra el disco completo; si roban la laptop, no pueden leer los datos.  Regla de oro: privilegio mínimo. Cada usuario y cada programa debe tener solo los permisos que necesita para su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 Update: instala los parches que corrigen vulnerabilidades.; Permisos NTFS: definen quién puede leer, modificar o ejecutar cada archivo y carpeta.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es un sistema operativo de código abierto creado por Linus Torvalds en 1991. Se distribuye en distribuciones (Ubuntu, Debian, Fedora, Kali Linux) y domina en servidores, la nube y dispositivos como routers. El shell es el intérprete de comandos (el más común es bash). Se usa desde la terminal. Recorra la tabla con la clase: pwd – Muestra la carpeta actual.; ls -l – Lista los archivos con sus permisos.; cd /etc – Cambia de carpeta.; mkdir, cp, mv, rm – Crear carpetas, copiar, mover o renombrar y borrar.; cat archivo – Muestra el contenido de un archivo.; sudo – Ejecuta un comando con privilegios de administrador (root).; man comando – Muestra el manual de un comando.; ps, top, kill – Ver procesos, ver el consumo en vivo y detener un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servidor ofrece un servicio (página web, correo, archivos) y un cliente lo usa. Cada servicio escucha en un puerto: SSH 22, HTTP 80, HTTPS 443, DNS 53. Los archivos de configuración de los servicios están en /etc (por ejemplo, /etc/ssh/sshd_config).; Los registros del sistema están en /var/log (por ejemplo, /var/log/auth.log guarda los inicios de sesión).; Para actualizar en Ubuntu o Debian: sudo apt update y sudo apt upgrade.; Para instalar software desde fuentes confiables: sudo apt install nombre. Muchas distribuciones traen un entorno gráfico (GNOME, KDE, XFCE) con menús, gestor de archivos y configuración. Aun así, la administración de servidores se hace casi siempre desde la terminal, porque muchos servidores no tienen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Linux todo cuelga de la raíz /: /home (carpetas de los usuarios), /etc (configuración), /var (registros y datos variables), /bin (programas básicos) y /root (carpeta del administrador). El sistema de archivos más usado es ext4. -rwxr-x--- significa: el dueño puede leer, escribir y ejecutar (7); el grupo puede leer y ejecutar (5); los demás no pueden hacer nada (0). En números: 750. Se asigna con chmod 750 script.sh.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archivo tiene permisos para tres grupos: dueño, grupo y otros. Cada uno puede tener r (leer = 4), w (escribir = 2) y x (ejecutar = 1). chmod cambia los permisos.; chown cambia el dueño.; Un permiso 777 (todos pueden todo) es un riesgo grave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programa antimalware detecta y elimina software malicioso con tres técnicas: Recorra la tabla con la clase: Por firmas – Compara los archivos con una base de datos de malware conocido. – No detecta malware nuevo (de día cero).; Heurística – Busca características sospechosas en el código. – Puede dar falsos positivos.; Por comportamiento – Observa lo que hace el programa: cifrar muchos archivos de golpe, por ejemplo. – Detecta cuando el programa ya está corriendo.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Desconectar el equipo de la red.; Actualizar las firmas del antimalware.; Ejecutar un análisis completo (en Windows, también el análisis sin conexión de Defender).; Poner en cuarentena o eliminar las amenazas.; Cambiar contraseñas desde otro equipo limpio.; Documentar lo ocurrido en la bitácora. Linux tiene menos malware, pero no es inmune: existen herramientas como ClamAV (antivirus) y rkhunter o chkrootkit (buscan rootkits).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HIPS (sistema de prevención de intrusiones basado en host) se instala en el propio equipo y vigila lo que pasa dentro de él: cambios en archivos del sistema, en el registro, procesos extraños y conexiones sospechosas. Un HIDS solo detecta y alerta. Ejemplos: OSSEC y Wazuh. Recorra la tabla con la clase: Vigila el tráfico de toda la red. – Vigila un solo equipo por dentro.; No ve el contenido del tráfico cifrado. – Ve la información ya descifrada en el equipo.; Un solo dispositivo protege a muchos. – Hay que instalarlo en cada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Instalar solo desde fuentes oficiales (tiendas, repositorios, sitio del fabricante).; Lista blanca: solo se permiten los programas aprobados. Lista negra: se bloquean los programas prohibidos.; Sandbox: ejecutar un programa dudoso en un entorno aislado.; Aplicar los parches de las aplicaciones, no solo los del sistema operativo.; Desinstalar el software que no se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Muestre cómo el Administrador de tareas y el Monitor de recursos ayudan a detectar el proceso. Pregunte qué técnica de detección (firmas, heurística o comportamiento) habría detectado este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Respuestas: 1) En modo kernel hay acceso total al hardware; en modo usuario las aplicaciones corren con acceso limitado.  2) El Visor de eventos.  3) Dueño: leer y escribir (6); grupo: solo leer (4); otros: nada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Respuestas: 4) En la carpeta /var/log.  5) Porque compara con malware conocido y el de día cero todavía no tiene firma.  6) Vigila un equipo por dentro y bloquea actividades sospechosas en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pida a tres estudiantes que expliquen con sus palabras un tema distinto cada uno. Luego indique que resuelvan el cotidiano interactivo en el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2E"/>
        </a:solidFill>
      </p:bgPr>
    </p:bg>
    <p:spTree>
      <p:nvGrpSpPr>
        <p:cNvPr id="1" name=""/>
        <p:cNvGrpSpPr/>
        <p:nvPr/>
      </p:nvGrpSpPr>
      <p:grpSpPr>
        <a:xfrm>
          <a:off x="0" y="0"/>
          <a:ext cx="0" cy="0"/>
          <a:chOff x="0" y="0"/>
          <a:chExt cx="0" cy="0"/>
        </a:xfrm>
      </p:grpSpPr>
      <p:sp>
        <p:nvSpPr>
          <p:cNvPr id="2" name="Shape 0"/>
          <p:cNvSpPr/>
          <p:nvPr/>
        </p:nvSpPr>
        <p:spPr>
          <a:xfrm>
            <a:off x="6492240" y="914400"/>
            <a:ext cx="2377440" cy="2377440"/>
          </a:xfrm>
          <a:prstGeom prst="ellipse">
            <a:avLst/>
          </a:prstGeom>
          <a:solidFill>
            <a:srgbClr val="0E7C86">
              <a:alpha val="80000"/>
            </a:srgbClr>
          </a:solidFill>
          <a:ln w="12700">
            <a:solidFill>
              <a:srgbClr val="0E7C86">
                <a:alpha val="80000"/>
              </a:srgbClr>
            </a:solidFill>
            <a:prstDash val="solid"/>
          </a:ln>
        </p:spPr>
      </p:sp>
      <p:pic>
        <p:nvPicPr>
          <p:cNvPr id="3" name="Image 0" descr="preencoded.png">    </p:cNvPr>
          <p:cNvPicPr>
            <a:picLocks noChangeAspect="1"/>
          </p:cNvPicPr>
          <p:nvPr/>
        </p:nvPicPr>
        <p:blipFill>
          <a:blip r:embed="rId1"/>
          <a:stretch>
            <a:fillRect/>
          </a:stretch>
        </p:blipFill>
        <p:spPr>
          <a:xfrm>
            <a:off x="7086600" y="1508760"/>
            <a:ext cx="1188720" cy="1188720"/>
          </a:xfrm>
          <a:prstGeom prst="rect">
            <a:avLst/>
          </a:prstGeom>
        </p:spPr>
      </p:pic>
      <p:sp>
        <p:nvSpPr>
          <p:cNvPr id="4" name="Text 1"/>
          <p:cNvSpPr txBox="1"/>
          <p:nvPr/>
        </p:nvSpPr>
        <p:spPr>
          <a:xfrm>
            <a:off x="548640" y="640080"/>
            <a:ext cx="5760720" cy="27432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alibri" pitchFamily="34" charset="0"/>
                <a:ea typeface="Calibri" pitchFamily="34" charset="-122"/>
                <a:cs typeface="Calibri" pitchFamily="34" charset="-120"/>
              </a:rPr>
              <a:t>FUNDAMENTOS DE CIBERSEGURIDAD · DESARROLLO WEB 10°</a:t>
            </a:r>
            <a:endParaRPr lang="en-US" sz="1200" dirty="0"/>
          </a:p>
        </p:txBody>
      </p:sp>
      <p:sp>
        <p:nvSpPr>
          <p:cNvPr id="5" name="Text 2"/>
          <p:cNvSpPr txBox="1"/>
          <p:nvPr/>
        </p:nvSpPr>
        <p:spPr>
          <a:xfrm>
            <a:off x="548640" y="1188720"/>
            <a:ext cx="5760720" cy="365760"/>
          </a:xfrm>
          <a:prstGeom prst="rect">
            <a:avLst/>
          </a:prstGeom>
          <a:noFill/>
          <a:ln/>
        </p:spPr>
        <p:txBody>
          <a:bodyPr wrap="square" lIns="0" tIns="0" rIns="0" bIns="0" rtlCol="0" anchor="ctr"/>
          <a:lstStyle/>
          <a:p>
            <a:pPr indent="0" marL="0">
              <a:buNone/>
            </a:pPr>
            <a:r>
              <a:rPr lang="en-US" sz="1800" dirty="0">
                <a:solidFill>
                  <a:srgbClr val="9FD6DB"/>
                </a:solidFill>
                <a:latin typeface="Calibri" pitchFamily="34" charset="0"/>
                <a:ea typeface="Calibri" pitchFamily="34" charset="-122"/>
                <a:cs typeface="Calibri" pitchFamily="34" charset="-120"/>
              </a:rPr>
              <a:t>Resultado de aprendizaje 2</a:t>
            </a:r>
            <a:endParaRPr lang="en-US" sz="1800" dirty="0"/>
          </a:p>
        </p:txBody>
      </p:sp>
      <p:sp>
        <p:nvSpPr>
          <p:cNvPr id="6" name="Text 3"/>
          <p:cNvSpPr txBox="1"/>
          <p:nvPr/>
        </p:nvSpPr>
        <p:spPr>
          <a:xfrm>
            <a:off x="548640" y="1600200"/>
            <a:ext cx="5760720" cy="137160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Protección de sistemas operativos y dispositivos finales</a:t>
            </a:r>
            <a:endParaRPr lang="en-US" sz="3600" dirty="0"/>
          </a:p>
        </p:txBody>
      </p:sp>
      <p:sp>
        <p:nvSpPr>
          <p:cNvPr id="7" name="Text 4"/>
          <p:cNvSpPr txBox="1"/>
          <p:nvPr/>
        </p:nvSpPr>
        <p:spPr>
          <a:xfrm>
            <a:off x="548640" y="3063240"/>
            <a:ext cx="5760720" cy="82296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Emplear protección en los sistemas operativos y dispositivos finales en la era de la ciberseguridad de la información.</a:t>
            </a:r>
            <a:endParaRPr lang="en-US" sz="1400" dirty="0"/>
          </a:p>
        </p:txBody>
      </p:sp>
      <p:sp>
        <p:nvSpPr>
          <p:cNvPr id="8" name="Text 5"/>
          <p:cNvSpPr txBox="1"/>
          <p:nvPr/>
        </p:nvSpPr>
        <p:spPr>
          <a:xfrm>
            <a:off x="548640" y="4343400"/>
            <a:ext cx="5760720" cy="274320"/>
          </a:xfrm>
          <a:prstGeom prst="rect">
            <a:avLst/>
          </a:prstGeom>
          <a:noFill/>
          <a:ln/>
        </p:spPr>
        <p:txBody>
          <a:bodyPr wrap="square" lIns="0" tIns="0" rIns="0" bIns="0" rtlCol="0" anchor="ctr"/>
          <a:lstStyle/>
          <a:p>
            <a:pPr indent="0" marL="0">
              <a:buNone/>
            </a:pPr>
            <a:r>
              <a:rPr lang="en-US" sz="1100" dirty="0">
                <a:solidFill>
                  <a:srgbClr val="9FB3C8"/>
                </a:solidFill>
                <a:latin typeface="Calibri" pitchFamily="34" charset="0"/>
                <a:ea typeface="Calibri" pitchFamily="34" charset="-122"/>
                <a:cs typeface="Calibri" pitchFamily="34" charset="-120"/>
              </a:rPr>
              <a:t>CTP Mercedes Norte · MsC. Ericka Hernández Mena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F5A623"/>
          </a:solidFill>
          <a:ln w="12700">
            <a:solidFill>
              <a:srgbClr val="F5A623"/>
            </a:solidFill>
            <a:prstDash val="solid"/>
          </a:ln>
        </p:spPr>
      </p:sp>
      <p:pic>
        <p:nvPicPr>
          <p:cNvPr id="3" name="Image 0" descr="preencoded.png">    </p:cNvPr>
          <p:cNvPicPr>
            <a:picLocks noChangeAspect="1"/>
          </p:cNvPicPr>
          <p:nvPr/>
        </p:nvPicPr>
        <p:blipFill>
          <a:blip r:embed="rId1"/>
          <a:stretch>
            <a:fillRect/>
          </a:stretch>
        </p:blipFill>
        <p:spPr>
          <a:xfrm>
            <a:off x="603504" y="493776"/>
            <a:ext cx="274320" cy="274320"/>
          </a:xfrm>
          <a:prstGeom prst="rect">
            <a:avLst/>
          </a:prstGeom>
        </p:spPr>
      </p:pic>
      <p:sp>
        <p:nvSpPr>
          <p:cNvPr id="4" name="Text 1"/>
          <p:cNvSpPr txBox="1"/>
          <p:nvPr/>
        </p:nvSpPr>
        <p:spPr>
          <a:xfrm>
            <a:off x="1188720" y="411480"/>
            <a:ext cx="7315200" cy="502920"/>
          </a:xfrm>
          <a:prstGeom prst="rect">
            <a:avLst/>
          </a:prstGeom>
          <a:noFill/>
          <a:ln/>
        </p:spPr>
        <p:txBody>
          <a:bodyPr wrap="square" lIns="0" tIns="0" rIns="0" bIns="0" rtlCol="0" anchor="ctr"/>
          <a:lstStyle/>
          <a:p>
            <a:pPr indent="0" marL="0">
              <a:buNone/>
            </a:pPr>
            <a:r>
              <a:rPr lang="en-US" sz="2800" b="1" dirty="0">
                <a:solidFill>
                  <a:srgbClr val="0B1D2E"/>
                </a:solidFill>
                <a:latin typeface="Calibri" pitchFamily="34" charset="0"/>
                <a:ea typeface="Calibri" pitchFamily="34" charset="-122"/>
                <a:cs typeface="Calibri" pitchFamily="34" charset="-120"/>
              </a:rPr>
              <a:t>Lo que vamos a ver</a:t>
            </a:r>
            <a:endParaRPr lang="en-US" sz="2800" dirty="0"/>
          </a:p>
        </p:txBody>
      </p:sp>
      <p:sp>
        <p:nvSpPr>
          <p:cNvPr id="5" name="Shape 2"/>
          <p:cNvSpPr/>
          <p:nvPr/>
        </p:nvSpPr>
        <p:spPr>
          <a:xfrm>
            <a:off x="457200" y="1234440"/>
            <a:ext cx="3977640" cy="658368"/>
          </a:xfrm>
          <a:prstGeom prst="roundRect">
            <a:avLst>
              <a:gd name="adj" fmla="val 11111"/>
            </a:avLst>
          </a:prstGeom>
          <a:solidFill>
            <a:srgbClr val="F1F7F8"/>
          </a:solidFill>
          <a:ln w="12700">
            <a:solidFill>
              <a:srgbClr val="F1F7F8"/>
            </a:solidFill>
            <a:prstDash val="solid"/>
          </a:ln>
        </p:spPr>
      </p:sp>
      <p:sp>
        <p:nvSpPr>
          <p:cNvPr id="6" name="Shape 3"/>
          <p:cNvSpPr/>
          <p:nvPr/>
        </p:nvSpPr>
        <p:spPr>
          <a:xfrm>
            <a:off x="594360" y="1362456"/>
            <a:ext cx="402336" cy="402336"/>
          </a:xfrm>
          <a:prstGeom prst="ellipse">
            <a:avLst/>
          </a:prstGeom>
          <a:solidFill>
            <a:srgbClr val="0E7C86"/>
          </a:solidFill>
          <a:ln w="12700">
            <a:solidFill>
              <a:srgbClr val="0E7C86"/>
            </a:solidFill>
            <a:prstDash val="solid"/>
          </a:ln>
        </p:spPr>
      </p:sp>
      <p:sp>
        <p:nvSpPr>
          <p:cNvPr id="7" name="Text 4"/>
          <p:cNvSpPr txBox="1"/>
          <p:nvPr/>
        </p:nvSpPr>
        <p:spPr>
          <a:xfrm>
            <a:off x="594360" y="13624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1143000" y="1289304"/>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Windows: historia y arquitectura</a:t>
            </a:r>
            <a:endParaRPr lang="en-US" sz="1300" dirty="0"/>
          </a:p>
        </p:txBody>
      </p:sp>
      <p:sp>
        <p:nvSpPr>
          <p:cNvPr id="9" name="Shape 6"/>
          <p:cNvSpPr/>
          <p:nvPr/>
        </p:nvSpPr>
        <p:spPr>
          <a:xfrm>
            <a:off x="457200" y="2039112"/>
            <a:ext cx="3977640" cy="658368"/>
          </a:xfrm>
          <a:prstGeom prst="roundRect">
            <a:avLst>
              <a:gd name="adj" fmla="val 11111"/>
            </a:avLst>
          </a:prstGeom>
          <a:solidFill>
            <a:srgbClr val="F1F7F8"/>
          </a:solidFill>
          <a:ln w="12700">
            <a:solidFill>
              <a:srgbClr val="F1F7F8"/>
            </a:solidFill>
            <a:prstDash val="solid"/>
          </a:ln>
        </p:spPr>
      </p:sp>
      <p:sp>
        <p:nvSpPr>
          <p:cNvPr id="10" name="Shape 7"/>
          <p:cNvSpPr/>
          <p:nvPr/>
        </p:nvSpPr>
        <p:spPr>
          <a:xfrm>
            <a:off x="594360" y="2167128"/>
            <a:ext cx="402336" cy="402336"/>
          </a:xfrm>
          <a:prstGeom prst="ellipse">
            <a:avLst/>
          </a:prstGeom>
          <a:solidFill>
            <a:srgbClr val="0E7C86"/>
          </a:solidFill>
          <a:ln w="12700">
            <a:solidFill>
              <a:srgbClr val="0E7C86"/>
            </a:solidFill>
            <a:prstDash val="solid"/>
          </a:ln>
        </p:spPr>
      </p:sp>
      <p:sp>
        <p:nvSpPr>
          <p:cNvPr id="11" name="Text 8"/>
          <p:cNvSpPr txBox="1"/>
          <p:nvPr/>
        </p:nvSpPr>
        <p:spPr>
          <a:xfrm>
            <a:off x="594360" y="216712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txBox="1"/>
          <p:nvPr/>
        </p:nvSpPr>
        <p:spPr>
          <a:xfrm>
            <a:off x="1143000" y="2093976"/>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Configuración y monitoreo de Windows</a:t>
            </a:r>
            <a:endParaRPr lang="en-US" sz="1300" dirty="0"/>
          </a:p>
        </p:txBody>
      </p:sp>
      <p:sp>
        <p:nvSpPr>
          <p:cNvPr id="13" name="Shape 10"/>
          <p:cNvSpPr/>
          <p:nvPr/>
        </p:nvSpPr>
        <p:spPr>
          <a:xfrm>
            <a:off x="457200" y="2843784"/>
            <a:ext cx="3977640" cy="658368"/>
          </a:xfrm>
          <a:prstGeom prst="roundRect">
            <a:avLst>
              <a:gd name="adj" fmla="val 11111"/>
            </a:avLst>
          </a:prstGeom>
          <a:solidFill>
            <a:srgbClr val="F1F7F8"/>
          </a:solidFill>
          <a:ln w="12700">
            <a:solidFill>
              <a:srgbClr val="F1F7F8"/>
            </a:solidFill>
            <a:prstDash val="solid"/>
          </a:ln>
        </p:spPr>
      </p:sp>
      <p:sp>
        <p:nvSpPr>
          <p:cNvPr id="14" name="Shape 11"/>
          <p:cNvSpPr/>
          <p:nvPr/>
        </p:nvSpPr>
        <p:spPr>
          <a:xfrm>
            <a:off x="594360" y="2971800"/>
            <a:ext cx="402336" cy="402336"/>
          </a:xfrm>
          <a:prstGeom prst="ellipse">
            <a:avLst/>
          </a:prstGeom>
          <a:solidFill>
            <a:srgbClr val="0E7C86"/>
          </a:solidFill>
          <a:ln w="12700">
            <a:solidFill>
              <a:srgbClr val="0E7C86"/>
            </a:solidFill>
            <a:prstDash val="solid"/>
          </a:ln>
        </p:spPr>
      </p:sp>
      <p:sp>
        <p:nvSpPr>
          <p:cNvPr id="15" name="Text 12"/>
          <p:cNvSpPr txBox="1"/>
          <p:nvPr/>
        </p:nvSpPr>
        <p:spPr>
          <a:xfrm>
            <a:off x="594360" y="29718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txBox="1"/>
          <p:nvPr/>
        </p:nvSpPr>
        <p:spPr>
          <a:xfrm>
            <a:off x="1143000" y="2898648"/>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Seguridad de Windows</a:t>
            </a:r>
            <a:endParaRPr lang="en-US" sz="1300" dirty="0"/>
          </a:p>
        </p:txBody>
      </p:sp>
      <p:sp>
        <p:nvSpPr>
          <p:cNvPr id="17" name="Shape 14"/>
          <p:cNvSpPr/>
          <p:nvPr/>
        </p:nvSpPr>
        <p:spPr>
          <a:xfrm>
            <a:off x="457200" y="3648456"/>
            <a:ext cx="3977640" cy="658368"/>
          </a:xfrm>
          <a:prstGeom prst="roundRect">
            <a:avLst>
              <a:gd name="adj" fmla="val 11111"/>
            </a:avLst>
          </a:prstGeom>
          <a:solidFill>
            <a:srgbClr val="F1F7F8"/>
          </a:solidFill>
          <a:ln w="12700">
            <a:solidFill>
              <a:srgbClr val="F1F7F8"/>
            </a:solidFill>
            <a:prstDash val="solid"/>
          </a:ln>
        </p:spPr>
      </p:sp>
      <p:sp>
        <p:nvSpPr>
          <p:cNvPr id="18" name="Shape 15"/>
          <p:cNvSpPr/>
          <p:nvPr/>
        </p:nvSpPr>
        <p:spPr>
          <a:xfrm>
            <a:off x="594360" y="3776472"/>
            <a:ext cx="402336" cy="402336"/>
          </a:xfrm>
          <a:prstGeom prst="ellipse">
            <a:avLst/>
          </a:prstGeom>
          <a:solidFill>
            <a:srgbClr val="0E7C86"/>
          </a:solidFill>
          <a:ln w="12700">
            <a:solidFill>
              <a:srgbClr val="0E7C86"/>
            </a:solidFill>
            <a:prstDash val="solid"/>
          </a:ln>
        </p:spPr>
      </p:sp>
      <p:sp>
        <p:nvSpPr>
          <p:cNvPr id="19" name="Text 16"/>
          <p:cNvSpPr txBox="1"/>
          <p:nvPr/>
        </p:nvSpPr>
        <p:spPr>
          <a:xfrm>
            <a:off x="594360" y="377647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txBox="1"/>
          <p:nvPr/>
        </p:nvSpPr>
        <p:spPr>
          <a:xfrm>
            <a:off x="1143000" y="3703320"/>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Linux: conceptos básicos y el shell</a:t>
            </a:r>
            <a:endParaRPr lang="en-US" sz="1300" dirty="0"/>
          </a:p>
        </p:txBody>
      </p:sp>
      <p:sp>
        <p:nvSpPr>
          <p:cNvPr id="21" name="Shape 18"/>
          <p:cNvSpPr/>
          <p:nvPr/>
        </p:nvSpPr>
        <p:spPr>
          <a:xfrm>
            <a:off x="4663440" y="1234440"/>
            <a:ext cx="3977640" cy="658368"/>
          </a:xfrm>
          <a:prstGeom prst="roundRect">
            <a:avLst>
              <a:gd name="adj" fmla="val 11111"/>
            </a:avLst>
          </a:prstGeom>
          <a:solidFill>
            <a:srgbClr val="F1F7F8"/>
          </a:solidFill>
          <a:ln w="12700">
            <a:solidFill>
              <a:srgbClr val="F1F7F8"/>
            </a:solidFill>
            <a:prstDash val="solid"/>
          </a:ln>
        </p:spPr>
      </p:sp>
      <p:sp>
        <p:nvSpPr>
          <p:cNvPr id="22" name="Shape 19"/>
          <p:cNvSpPr/>
          <p:nvPr/>
        </p:nvSpPr>
        <p:spPr>
          <a:xfrm>
            <a:off x="4800600" y="1362456"/>
            <a:ext cx="402336" cy="402336"/>
          </a:xfrm>
          <a:prstGeom prst="ellipse">
            <a:avLst/>
          </a:prstGeom>
          <a:solidFill>
            <a:srgbClr val="0E7C86"/>
          </a:solidFill>
          <a:ln w="12700">
            <a:solidFill>
              <a:srgbClr val="0E7C86"/>
            </a:solidFill>
            <a:prstDash val="solid"/>
          </a:ln>
        </p:spPr>
      </p:sp>
      <p:sp>
        <p:nvSpPr>
          <p:cNvPr id="23" name="Text 20"/>
          <p:cNvSpPr txBox="1"/>
          <p:nvPr/>
        </p:nvSpPr>
        <p:spPr>
          <a:xfrm>
            <a:off x="4800600" y="13624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txBox="1"/>
          <p:nvPr/>
        </p:nvSpPr>
        <p:spPr>
          <a:xfrm>
            <a:off x="5349240" y="1289304"/>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Servidores, clientes y administración en Linux</a:t>
            </a:r>
            <a:endParaRPr lang="en-US" sz="1300" dirty="0"/>
          </a:p>
        </p:txBody>
      </p:sp>
      <p:sp>
        <p:nvSpPr>
          <p:cNvPr id="25" name="Shape 22"/>
          <p:cNvSpPr/>
          <p:nvPr/>
        </p:nvSpPr>
        <p:spPr>
          <a:xfrm>
            <a:off x="4663440" y="2039112"/>
            <a:ext cx="3977640" cy="658368"/>
          </a:xfrm>
          <a:prstGeom prst="roundRect">
            <a:avLst>
              <a:gd name="adj" fmla="val 11111"/>
            </a:avLst>
          </a:prstGeom>
          <a:solidFill>
            <a:srgbClr val="F1F7F8"/>
          </a:solidFill>
          <a:ln w="12700">
            <a:solidFill>
              <a:srgbClr val="F1F7F8"/>
            </a:solidFill>
            <a:prstDash val="solid"/>
          </a:ln>
        </p:spPr>
      </p:sp>
      <p:sp>
        <p:nvSpPr>
          <p:cNvPr id="26" name="Shape 23"/>
          <p:cNvSpPr/>
          <p:nvPr/>
        </p:nvSpPr>
        <p:spPr>
          <a:xfrm>
            <a:off x="4800600" y="2167128"/>
            <a:ext cx="402336" cy="402336"/>
          </a:xfrm>
          <a:prstGeom prst="ellipse">
            <a:avLst/>
          </a:prstGeom>
          <a:solidFill>
            <a:srgbClr val="0E7C86"/>
          </a:solidFill>
          <a:ln w="12700">
            <a:solidFill>
              <a:srgbClr val="0E7C86"/>
            </a:solidFill>
            <a:prstDash val="solid"/>
          </a:ln>
        </p:spPr>
      </p:sp>
      <p:sp>
        <p:nvSpPr>
          <p:cNvPr id="27" name="Text 24"/>
          <p:cNvSpPr txBox="1"/>
          <p:nvPr/>
        </p:nvSpPr>
        <p:spPr>
          <a:xfrm>
            <a:off x="4800600" y="216712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8" name="Text 25"/>
          <p:cNvSpPr txBox="1"/>
          <p:nvPr/>
        </p:nvSpPr>
        <p:spPr>
          <a:xfrm>
            <a:off x="5349240" y="2093976"/>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El sistema de archivos y los permisos en Linux</a:t>
            </a:r>
            <a:endParaRPr lang="en-US" sz="1300" dirty="0"/>
          </a:p>
        </p:txBody>
      </p:sp>
      <p:sp>
        <p:nvSpPr>
          <p:cNvPr id="29" name="Shape 26"/>
          <p:cNvSpPr/>
          <p:nvPr/>
        </p:nvSpPr>
        <p:spPr>
          <a:xfrm>
            <a:off x="4663440" y="2843784"/>
            <a:ext cx="3977640" cy="658368"/>
          </a:xfrm>
          <a:prstGeom prst="roundRect">
            <a:avLst>
              <a:gd name="adj" fmla="val 11111"/>
            </a:avLst>
          </a:prstGeom>
          <a:solidFill>
            <a:srgbClr val="F1F7F8"/>
          </a:solidFill>
          <a:ln w="12700">
            <a:solidFill>
              <a:srgbClr val="F1F7F8"/>
            </a:solidFill>
            <a:prstDash val="solid"/>
          </a:ln>
        </p:spPr>
      </p:sp>
      <p:sp>
        <p:nvSpPr>
          <p:cNvPr id="30" name="Shape 27"/>
          <p:cNvSpPr/>
          <p:nvPr/>
        </p:nvSpPr>
        <p:spPr>
          <a:xfrm>
            <a:off x="4800600" y="2971800"/>
            <a:ext cx="402336" cy="402336"/>
          </a:xfrm>
          <a:prstGeom prst="ellipse">
            <a:avLst/>
          </a:prstGeom>
          <a:solidFill>
            <a:srgbClr val="0E7C86"/>
          </a:solidFill>
          <a:ln w="12700">
            <a:solidFill>
              <a:srgbClr val="0E7C86"/>
            </a:solidFill>
            <a:prstDash val="solid"/>
          </a:ln>
        </p:spPr>
      </p:sp>
      <p:sp>
        <p:nvSpPr>
          <p:cNvPr id="31" name="Text 28"/>
          <p:cNvSpPr txBox="1"/>
          <p:nvPr/>
        </p:nvSpPr>
        <p:spPr>
          <a:xfrm>
            <a:off x="4800600" y="29718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2" name="Text 29"/>
          <p:cNvSpPr txBox="1"/>
          <p:nvPr/>
        </p:nvSpPr>
        <p:spPr>
          <a:xfrm>
            <a:off x="5349240" y="2898648"/>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Protección antimalware</a:t>
            </a:r>
            <a:endParaRPr lang="en-US" sz="1300" dirty="0"/>
          </a:p>
        </p:txBody>
      </p:sp>
      <p:sp>
        <p:nvSpPr>
          <p:cNvPr id="33" name="Shape 30"/>
          <p:cNvSpPr/>
          <p:nvPr/>
        </p:nvSpPr>
        <p:spPr>
          <a:xfrm>
            <a:off x="4663440" y="3648456"/>
            <a:ext cx="3977640" cy="658368"/>
          </a:xfrm>
          <a:prstGeom prst="roundRect">
            <a:avLst>
              <a:gd name="adj" fmla="val 11111"/>
            </a:avLst>
          </a:prstGeom>
          <a:solidFill>
            <a:srgbClr val="F1F7F8"/>
          </a:solidFill>
          <a:ln w="12700">
            <a:solidFill>
              <a:srgbClr val="F1F7F8"/>
            </a:solidFill>
            <a:prstDash val="solid"/>
          </a:ln>
        </p:spPr>
      </p:sp>
      <p:sp>
        <p:nvSpPr>
          <p:cNvPr id="34" name="Shape 31"/>
          <p:cNvSpPr/>
          <p:nvPr/>
        </p:nvSpPr>
        <p:spPr>
          <a:xfrm>
            <a:off x="4800600" y="3776472"/>
            <a:ext cx="402336" cy="402336"/>
          </a:xfrm>
          <a:prstGeom prst="ellipse">
            <a:avLst/>
          </a:prstGeom>
          <a:solidFill>
            <a:srgbClr val="0E7C86"/>
          </a:solidFill>
          <a:ln w="12700">
            <a:solidFill>
              <a:srgbClr val="0E7C86"/>
            </a:solidFill>
            <a:prstDash val="solid"/>
          </a:ln>
        </p:spPr>
      </p:sp>
      <p:sp>
        <p:nvSpPr>
          <p:cNvPr id="35" name="Text 32"/>
          <p:cNvSpPr txBox="1"/>
          <p:nvPr/>
        </p:nvSpPr>
        <p:spPr>
          <a:xfrm>
            <a:off x="4800600" y="377647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6" name="Text 33"/>
          <p:cNvSpPr txBox="1"/>
          <p:nvPr/>
        </p:nvSpPr>
        <p:spPr>
          <a:xfrm>
            <a:off x="5349240" y="3703320"/>
            <a:ext cx="3200400" cy="548640"/>
          </a:xfrm>
          <a:prstGeom prst="rect">
            <a:avLst/>
          </a:prstGeom>
          <a:noFill/>
          <a:ln/>
        </p:spPr>
        <p:txBody>
          <a:bodyPr wrap="square" lIns="0" tIns="0" rIns="0" bIns="0" rtlCol="0" anchor="ctr">
            <a:normAutofit/>
          </a:bodyPr>
          <a:lstStyle/>
          <a:p>
            <a:pPr indent="0" marL="0">
              <a:buNone/>
            </a:pPr>
            <a:r>
              <a:rPr lang="en-US" sz="1300" dirty="0">
                <a:solidFill>
                  <a:srgbClr val="1E293B"/>
                </a:solidFill>
                <a:latin typeface="Calibri" pitchFamily="34" charset="0"/>
                <a:ea typeface="Calibri" pitchFamily="34" charset="-122"/>
                <a:cs typeface="Calibri" pitchFamily="34" charset="-120"/>
              </a:rPr>
              <a:t>Prevención de intrusiones en el host y seguridad de las aplicaciones</a:t>
            </a:r>
            <a:endParaRPr lang="en-US" sz="1300" dirty="0"/>
          </a:p>
        </p:txBody>
      </p:sp>
      <p:sp>
        <p:nvSpPr>
          <p:cNvPr id="37" name="Text 3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38" name="Text 3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1 · WINDOWS: HISTORIA Y ARQUITECTURA</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Cómo está organizado</a:t>
            </a:r>
            <a:endParaRPr lang="en-US" sz="2800" dirty="0"/>
          </a:p>
        </p:txBody>
      </p:sp>
      <p:sp>
        <p:nvSpPr>
          <p:cNvPr id="6" name="Text 4"/>
          <p:cNvSpPr txBox="1"/>
          <p:nvPr/>
        </p:nvSpPr>
        <p:spPr>
          <a:xfrm>
            <a:off x="457200" y="1234440"/>
            <a:ext cx="8229600" cy="603504"/>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Windows empezó en 1985 como una interfaz gráfica sobre MS-DOS. Las versiones modernas (desde Windows NT, XP, 7, 10 y 11) se basan en el núcleo </a:t>
            </a:r>
            <a:pPr indent="0" marL="0">
              <a:buNone/>
            </a:pPr>
            <a:r>
              <a:rPr lang="en-US" sz="1400" b="1" dirty="0">
                <a:solidFill>
                  <a:srgbClr val="1E293B"/>
                </a:solidFill>
                <a:latin typeface="Calibri" pitchFamily="34" charset="0"/>
                <a:ea typeface="Calibri" pitchFamily="34" charset="-122"/>
                <a:cs typeface="Calibri" pitchFamily="34" charset="-120"/>
              </a:rPr>
              <a:t>NT</a:t>
            </a:r>
            <a:pPr indent="0" marL="0">
              <a:buNone/>
            </a:pPr>
            <a:r>
              <a:rPr lang="en-US" sz="1400" dirty="0">
                <a:solidFill>
                  <a:srgbClr val="1E293B"/>
                </a:solidFill>
                <a:latin typeface="Calibri" pitchFamily="34" charset="0"/>
                <a:ea typeface="Calibri" pitchFamily="34" charset="-122"/>
                <a:cs typeface="Calibri" pitchFamily="34" charset="-120"/>
              </a:rPr>
              <a:t>, mucho más estable y seguro.</a:t>
            </a:r>
            <a:endParaRPr lang="en-US" sz="1400" dirty="0"/>
          </a:p>
        </p:txBody>
      </p:sp>
      <p:sp>
        <p:nvSpPr>
          <p:cNvPr id="7" name="Shape 5"/>
          <p:cNvSpPr/>
          <p:nvPr/>
        </p:nvSpPr>
        <p:spPr>
          <a:xfrm>
            <a:off x="457200" y="3941064"/>
            <a:ext cx="8229600" cy="722376"/>
          </a:xfrm>
          <a:prstGeom prst="roundRect">
            <a:avLst>
              <a:gd name="adj" fmla="val 7595"/>
            </a:avLst>
          </a:prstGeom>
          <a:solidFill>
            <a:srgbClr val="FFF6E5"/>
          </a:solidFill>
          <a:ln w="12700">
            <a:solidFill>
              <a:srgbClr val="FFF6E5"/>
            </a:solidFill>
            <a:prstDash val="solid"/>
          </a:ln>
        </p:spPr>
      </p:sp>
      <p:sp>
        <p:nvSpPr>
          <p:cNvPr id="8" name="Text 6"/>
          <p:cNvSpPr txBox="1"/>
          <p:nvPr/>
        </p:nvSpPr>
        <p:spPr>
          <a:xfrm>
            <a:off x="640080" y="3941064"/>
            <a:ext cx="7863840" cy="722376"/>
          </a:xfrm>
          <a:prstGeom prst="rect">
            <a:avLst/>
          </a:prstGeom>
          <a:noFill/>
          <a:ln/>
        </p:spPr>
        <p:txBody>
          <a:bodyPr wrap="square" lIns="0" tIns="0" rIns="0" bIns="0" rtlCol="0" anchor="ctr">
            <a:normAutofit/>
          </a:bodyPr>
          <a:lstStyle/>
          <a:p>
            <a:pPr indent="0" marL="0">
              <a:buNone/>
            </a:pPr>
            <a:r>
              <a:rPr lang="en-US" sz="1350" dirty="0">
                <a:solidFill>
                  <a:srgbClr val="1E293B"/>
                </a:solidFill>
                <a:latin typeface="Calibri" pitchFamily="34" charset="0"/>
                <a:ea typeface="Calibri" pitchFamily="34" charset="-122"/>
                <a:cs typeface="Calibri" pitchFamily="34" charset="-120"/>
              </a:rPr>
              <a:t>Un </a:t>
            </a:r>
            <a:pPr indent="0" marL="0">
              <a:buNone/>
            </a:pPr>
            <a:r>
              <a:rPr lang="en-US" sz="1350" b="1" dirty="0">
                <a:solidFill>
                  <a:srgbClr val="1E293B"/>
                </a:solidFill>
                <a:latin typeface="Calibri" pitchFamily="34" charset="0"/>
                <a:ea typeface="Calibri" pitchFamily="34" charset="-122"/>
                <a:cs typeface="Calibri" pitchFamily="34" charset="-120"/>
              </a:rPr>
              <a:t>proceso</a:t>
            </a:r>
            <a:pPr indent="0" marL="0">
              <a:buNone/>
            </a:pPr>
            <a:r>
              <a:rPr lang="en-US" sz="1350" dirty="0">
                <a:solidFill>
                  <a:srgbClr val="1E293B"/>
                </a:solidFill>
                <a:latin typeface="Calibri" pitchFamily="34" charset="0"/>
                <a:ea typeface="Calibri" pitchFamily="34" charset="-122"/>
                <a:cs typeface="Calibri" pitchFamily="34" charset="-120"/>
              </a:rPr>
              <a:t> es un programa en ejecución; un </a:t>
            </a:r>
            <a:pPr indent="0" marL="0">
              <a:buNone/>
            </a:pPr>
            <a:r>
              <a:rPr lang="en-US" sz="1350" b="1" dirty="0">
                <a:solidFill>
                  <a:srgbClr val="1E293B"/>
                </a:solidFill>
                <a:latin typeface="Calibri" pitchFamily="34" charset="0"/>
                <a:ea typeface="Calibri" pitchFamily="34" charset="-122"/>
                <a:cs typeface="Calibri" pitchFamily="34" charset="-120"/>
              </a:rPr>
              <a:t>servicio</a:t>
            </a:r>
            <a:pPr indent="0" marL="0">
              <a:buNone/>
            </a:pPr>
            <a:r>
              <a:rPr lang="en-US" sz="1350" dirty="0">
                <a:solidFill>
                  <a:srgbClr val="1E293B"/>
                </a:solidFill>
                <a:latin typeface="Calibri" pitchFamily="34" charset="0"/>
                <a:ea typeface="Calibri" pitchFamily="34" charset="-122"/>
                <a:cs typeface="Calibri" pitchFamily="34" charset="-120"/>
              </a:rPr>
              <a:t> es un proceso que corre en segundo plano (por ejemplo, Windows Update) aunque nadie haya iniciado sesión.</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947672"/>
          <a:ext cx="8229600" cy="914400"/>
        </p:xfrm>
        <a:graphic>
          <a:graphicData uri="http://schemas.openxmlformats.org/drawingml/2006/table">
            <a:tbl>
              <a:tblPr/>
              <a:tblGrid>
                <a:gridCol w="2930363"/>
                <a:gridCol w="5299237"/>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Componente</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Función</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HAL (capa de abstracción de hardware)</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Habla directamente con el hardware para que el resto del sistema no dependa de un equipo específico.</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Kernel (núcleo)</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Administra la memoria, los procesos y los controladores.</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Modo kernel</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Zona con acceso total al hardware. Un error aquí puede botar todo el sistema.</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Modo usuario</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Donde corren las aplicaciones, con acceso limitado: si una falla, no afecta al resto.</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Registro de Windows</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50" dirty="0">
                          <a:solidFill>
                            <a:srgbClr val="1E293B"/>
                          </a:solidFill>
                          <a:latin typeface="Calibri" pitchFamily="34" charset="0"/>
                          <a:ea typeface="Calibri" pitchFamily="34" charset="-122"/>
                          <a:cs typeface="Calibri" pitchFamily="34" charset="-120"/>
                        </a:rPr>
                        <a:t>Gran base de datos con la configuración del sistema y de los programas. El malware suele modificarlo para iniciarse solo.</a:t>
                      </a:r>
                      <a:endParaRPr lang="en-US" sz="10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bl>
          </a:graphicData>
        </a:graphic>
      </p:graphicFrame>
      <p:sp>
        <p:nvSpPr>
          <p:cNvPr id="10" name="Text 7"/>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11" name="Text 8"/>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2</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500" b="1" dirty="0">
                <a:solidFill>
                  <a:srgbClr val="0B1D2E"/>
                </a:solidFill>
                <a:latin typeface="Calibri" pitchFamily="34" charset="0"/>
                <a:ea typeface="Calibri" pitchFamily="34" charset="-122"/>
                <a:cs typeface="Calibri" pitchFamily="34" charset="-120"/>
              </a:rPr>
              <a:t>Configuración y monitoreo de Windows</a:t>
            </a:r>
            <a:endParaRPr lang="en-US" sz="2500" dirty="0"/>
          </a:p>
        </p:txBody>
      </p:sp>
      <p:sp>
        <p:nvSpPr>
          <p:cNvPr id="6" name="Shape 4"/>
          <p:cNvSpPr/>
          <p:nvPr/>
        </p:nvSpPr>
        <p:spPr>
          <a:xfrm>
            <a:off x="457200" y="3941064"/>
            <a:ext cx="8229600" cy="722376"/>
          </a:xfrm>
          <a:prstGeom prst="roundRect">
            <a:avLst>
              <a:gd name="adj" fmla="val 7595"/>
            </a:avLst>
          </a:prstGeom>
          <a:solidFill>
            <a:srgbClr val="FFF6E5"/>
          </a:solidFill>
          <a:ln w="12700">
            <a:solidFill>
              <a:srgbClr val="FFF6E5"/>
            </a:solidFill>
            <a:prstDash val="solid"/>
          </a:ln>
        </p:spPr>
      </p:sp>
      <p:sp>
        <p:nvSpPr>
          <p:cNvPr id="7" name="Text 5"/>
          <p:cNvSpPr txBox="1"/>
          <p:nvPr/>
        </p:nvSpPr>
        <p:spPr>
          <a:xfrm>
            <a:off x="640080" y="3941064"/>
            <a:ext cx="7863840" cy="722376"/>
          </a:xfrm>
          <a:prstGeom prst="rect">
            <a:avLst/>
          </a:prstGeom>
          <a:noFill/>
          <a:ln/>
        </p:spPr>
        <p:txBody>
          <a:bodyPr wrap="square" lIns="0" tIns="0" rIns="0" bIns="0" rtlCol="0" anchor="ctr">
            <a:normAutofit/>
          </a:bodyPr>
          <a:lstStyle/>
          <a:p>
            <a:pPr indent="0" marL="0">
              <a:buNone/>
            </a:pPr>
            <a:r>
              <a:rPr lang="en-US" sz="1350" b="1" dirty="0">
                <a:solidFill>
                  <a:srgbClr val="1E293B"/>
                </a:solidFill>
                <a:latin typeface="Calibri" pitchFamily="34" charset="0"/>
                <a:ea typeface="Calibri" pitchFamily="34" charset="-122"/>
                <a:cs typeface="Calibri" pitchFamily="34" charset="-120"/>
              </a:rPr>
              <a:t>Ejemplo: </a:t>
            </a:r>
            <a:pPr indent="0" marL="0">
              <a:buNone/>
            </a:pPr>
            <a:r>
              <a:rPr lang="en-US" sz="1350" dirty="0">
                <a:solidFill>
                  <a:srgbClr val="1E293B"/>
                </a:solidFill>
                <a:latin typeface="Calibri" pitchFamily="34" charset="0"/>
                <a:ea typeface="Calibri" pitchFamily="34" charset="-122"/>
                <a:cs typeface="Calibri" pitchFamily="34" charset="-120"/>
              </a:rPr>
              <a:t>Si el Visor de eventos muestra 300 inicios de sesión fallidos en dos minutos sobre la misma cuenta, probablemente alguien está intentando un ataque de fuerza bruta.</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802528"/>
                <a:gridCol w="5427072"/>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Herramienta</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Para qué sirve en seguridad</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350" b="1" dirty="0">
                          <a:solidFill>
                            <a:srgbClr val="1E293B"/>
                          </a:solidFill>
                          <a:latin typeface="Calibri" pitchFamily="34" charset="0"/>
                          <a:ea typeface="Calibri" pitchFamily="34" charset="-122"/>
                          <a:cs typeface="Calibri" pitchFamily="34" charset="-120"/>
                        </a:rPr>
                        <a:t>Administrador de tareas</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350" dirty="0">
                          <a:solidFill>
                            <a:srgbClr val="1E293B"/>
                          </a:solidFill>
                          <a:latin typeface="Calibri" pitchFamily="34" charset="0"/>
                          <a:ea typeface="Calibri" pitchFamily="34" charset="-122"/>
                          <a:cs typeface="Calibri" pitchFamily="34" charset="-120"/>
                        </a:rPr>
                        <a:t>Ver procesos, consumo de CPU y memoria, y programas que arrancan con el sistema.</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350" b="1" dirty="0">
                          <a:solidFill>
                            <a:srgbClr val="1E293B"/>
                          </a:solidFill>
                          <a:latin typeface="Calibri" pitchFamily="34" charset="0"/>
                          <a:ea typeface="Calibri" pitchFamily="34" charset="-122"/>
                          <a:cs typeface="Calibri" pitchFamily="34" charset="-120"/>
                        </a:rPr>
                        <a:t>Monitor de recursos</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1E293B"/>
                          </a:solidFill>
                          <a:latin typeface="Calibri" pitchFamily="34" charset="0"/>
                          <a:ea typeface="Calibri" pitchFamily="34" charset="-122"/>
                          <a:cs typeface="Calibri" pitchFamily="34" charset="-120"/>
                        </a:rPr>
                        <a:t>Ver qué proceso usa la red y a qué direcciones se conecta.</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E293B"/>
                          </a:solidFill>
                          <a:latin typeface="Calibri" pitchFamily="34" charset="0"/>
                          <a:ea typeface="Calibri" pitchFamily="34" charset="-122"/>
                          <a:cs typeface="Calibri" pitchFamily="34" charset="-120"/>
                        </a:rPr>
                        <a:t>Visor de eventos</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350" dirty="0">
                          <a:solidFill>
                            <a:srgbClr val="1E293B"/>
                          </a:solidFill>
                          <a:latin typeface="Calibri" pitchFamily="34" charset="0"/>
                          <a:ea typeface="Calibri" pitchFamily="34" charset="-122"/>
                          <a:cs typeface="Calibri" pitchFamily="34" charset="-120"/>
                        </a:rPr>
                        <a:t>Revisar los registros (logs) de seguridad: inicios de sesión fallidos, cambios de cuentas.</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350" b="1" dirty="0">
                          <a:solidFill>
                            <a:srgbClr val="1E293B"/>
                          </a:solidFill>
                          <a:latin typeface="Calibri" pitchFamily="34" charset="0"/>
                          <a:ea typeface="Calibri" pitchFamily="34" charset="-122"/>
                          <a:cs typeface="Calibri" pitchFamily="34" charset="-120"/>
                        </a:rPr>
                        <a:t>Servicios (services.msc)</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1E293B"/>
                          </a:solidFill>
                          <a:latin typeface="Calibri" pitchFamily="34" charset="0"/>
                          <a:ea typeface="Calibri" pitchFamily="34" charset="-122"/>
                          <a:cs typeface="Calibri" pitchFamily="34" charset="-120"/>
                        </a:rPr>
                        <a:t>Detener servicios innecesarios para reducir la superficie de ataque.</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E293B"/>
                          </a:solidFill>
                          <a:latin typeface="Calibri" pitchFamily="34" charset="0"/>
                          <a:ea typeface="Calibri" pitchFamily="34" charset="-122"/>
                          <a:cs typeface="Calibri" pitchFamily="34" charset="-120"/>
                        </a:rPr>
                        <a:t>PowerShell y CMD</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350" dirty="0">
                          <a:solidFill>
                            <a:srgbClr val="1E293B"/>
                          </a:solidFill>
                          <a:latin typeface="Calibri" pitchFamily="34" charset="0"/>
                          <a:ea typeface="Calibri" pitchFamily="34" charset="-122"/>
                          <a:cs typeface="Calibri" pitchFamily="34" charset="-120"/>
                        </a:rPr>
                        <a:t>Administrar el sistema con comandos.</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350" b="1" dirty="0">
                          <a:solidFill>
                            <a:srgbClr val="1E293B"/>
                          </a:solidFill>
                          <a:latin typeface="Calibri" pitchFamily="34" charset="0"/>
                          <a:ea typeface="Calibri" pitchFamily="34" charset="-122"/>
                          <a:cs typeface="Calibri" pitchFamily="34" charset="-120"/>
                        </a:rPr>
                        <a:t>netstat</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1E293B"/>
                          </a:solidFill>
                          <a:latin typeface="Calibri" pitchFamily="34" charset="0"/>
                          <a:ea typeface="Calibri" pitchFamily="34" charset="-122"/>
                          <a:cs typeface="Calibri" pitchFamily="34" charset="-120"/>
                        </a:rPr>
                        <a:t>Ver las conexiones de red abiertas y los puertos en escucha.</a:t>
                      </a:r>
                      <a:endParaRPr lang="en-US" sz="135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10" name="Text 7"/>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3</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Seguridad de Windows</a:t>
            </a:r>
            <a:endParaRPr lang="en-US" sz="2800" dirty="0"/>
          </a:p>
        </p:txBody>
      </p:sp>
      <p:sp>
        <p:nvSpPr>
          <p:cNvPr id="6" name="Shape 4"/>
          <p:cNvSpPr/>
          <p:nvPr/>
        </p:nvSpPr>
        <p:spPr>
          <a:xfrm>
            <a:off x="457200" y="3941064"/>
            <a:ext cx="8229600" cy="722376"/>
          </a:xfrm>
          <a:prstGeom prst="roundRect">
            <a:avLst>
              <a:gd name="adj" fmla="val 7595"/>
            </a:avLst>
          </a:prstGeom>
          <a:solidFill>
            <a:srgbClr val="FFF6E5"/>
          </a:solidFill>
          <a:ln w="12700">
            <a:solidFill>
              <a:srgbClr val="FFF6E5"/>
            </a:solidFill>
            <a:prstDash val="solid"/>
          </a:ln>
        </p:spPr>
      </p:sp>
      <p:sp>
        <p:nvSpPr>
          <p:cNvPr id="7" name="Text 5"/>
          <p:cNvSpPr txBox="1"/>
          <p:nvPr/>
        </p:nvSpPr>
        <p:spPr>
          <a:xfrm>
            <a:off x="640080" y="3941064"/>
            <a:ext cx="7863840" cy="722376"/>
          </a:xfrm>
          <a:prstGeom prst="rect">
            <a:avLst/>
          </a:prstGeom>
          <a:noFill/>
          <a:ln/>
        </p:spPr>
        <p:txBody>
          <a:bodyPr wrap="square" lIns="0" tIns="0" rIns="0" bIns="0" rtlCol="0" anchor="ctr">
            <a:normAutofit/>
          </a:bodyPr>
          <a:lstStyle/>
          <a:p>
            <a:pPr indent="0" marL="0">
              <a:buNone/>
            </a:pPr>
            <a:r>
              <a:rPr lang="en-US" sz="1350" b="1" dirty="0">
                <a:solidFill>
                  <a:srgbClr val="1E293B"/>
                </a:solidFill>
                <a:latin typeface="Calibri" pitchFamily="34" charset="0"/>
                <a:ea typeface="Calibri" pitchFamily="34" charset="-122"/>
                <a:cs typeface="Calibri" pitchFamily="34" charset="-120"/>
              </a:rPr>
              <a:t>Importante: </a:t>
            </a:r>
            <a:pPr indent="0" marL="0">
              <a:buNone/>
            </a:pPr>
            <a:r>
              <a:rPr lang="en-US" sz="1350" dirty="0">
                <a:solidFill>
                  <a:srgbClr val="1E293B"/>
                </a:solidFill>
                <a:latin typeface="Calibri" pitchFamily="34" charset="0"/>
                <a:ea typeface="Calibri" pitchFamily="34" charset="-122"/>
                <a:cs typeface="Calibri" pitchFamily="34" charset="-120"/>
              </a:rPr>
              <a:t>Regla de oro: </a:t>
            </a:r>
            <a:pPr indent="0" marL="0">
              <a:buNone/>
            </a:pPr>
            <a:r>
              <a:rPr lang="en-US" sz="1350" b="1" dirty="0">
                <a:solidFill>
                  <a:srgbClr val="1E293B"/>
                </a:solidFill>
                <a:latin typeface="Calibri" pitchFamily="34" charset="0"/>
                <a:ea typeface="Calibri" pitchFamily="34" charset="-122"/>
                <a:cs typeface="Calibri" pitchFamily="34" charset="-120"/>
              </a:rPr>
              <a:t>privilegio mínimo</a:t>
            </a:r>
            <a:pPr indent="0" marL="0">
              <a:buNone/>
            </a:pPr>
            <a:r>
              <a:rPr lang="en-US" sz="1350" dirty="0">
                <a:solidFill>
                  <a:srgbClr val="1E293B"/>
                </a:solidFill>
                <a:latin typeface="Calibri" pitchFamily="34" charset="0"/>
                <a:ea typeface="Calibri" pitchFamily="34" charset="-122"/>
                <a:cs typeface="Calibri" pitchFamily="34" charset="-120"/>
              </a:rPr>
              <a:t>. Cada usuario y cada programa debe tener solo los permisos que necesita para su trabajo.</a:t>
            </a:r>
            <a:endParaRPr lang="en-US" sz="1350" dirty="0"/>
          </a:p>
        </p:txBody>
      </p:sp>
      <p:sp>
        <p:nvSpPr>
          <p:cNvPr id="8" name="Shape 6"/>
          <p:cNvSpPr/>
          <p:nvPr/>
        </p:nvSpPr>
        <p:spPr>
          <a:xfrm>
            <a:off x="457200" y="1234440"/>
            <a:ext cx="2590800" cy="1170432"/>
          </a:xfrm>
          <a:prstGeom prst="roundRect">
            <a:avLst>
              <a:gd name="adj" fmla="val 6250"/>
            </a:avLst>
          </a:prstGeom>
          <a:solidFill>
            <a:srgbClr val="F1F7F8"/>
          </a:solidFill>
          <a:ln w="12700">
            <a:solidFill>
              <a:srgbClr val="F1F7F8"/>
            </a:solidFill>
            <a:prstDash val="solid"/>
          </a:ln>
        </p:spPr>
      </p:sp>
      <p:sp>
        <p:nvSpPr>
          <p:cNvPr id="9" name="Shape 7"/>
          <p:cNvSpPr/>
          <p:nvPr/>
        </p:nvSpPr>
        <p:spPr>
          <a:xfrm>
            <a:off x="621792" y="1399032"/>
            <a:ext cx="365760" cy="365760"/>
          </a:xfrm>
          <a:prstGeom prst="ellipse">
            <a:avLst/>
          </a:prstGeom>
          <a:solidFill>
            <a:srgbClr val="0E7C86"/>
          </a:solidFill>
          <a:ln w="12700">
            <a:solidFill>
              <a:srgbClr val="0E7C86"/>
            </a:solidFill>
            <a:prstDash val="solid"/>
          </a:ln>
        </p:spPr>
      </p:sp>
      <p:sp>
        <p:nvSpPr>
          <p:cNvPr id="10" name="Text 8"/>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0972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Cuentas de usuario</a:t>
            </a:r>
            <a:endParaRPr lang="en-US" sz="1400" dirty="0"/>
          </a:p>
        </p:txBody>
      </p:sp>
      <p:sp>
        <p:nvSpPr>
          <p:cNvPr id="12" name="Text 10"/>
          <p:cNvSpPr txBox="1"/>
          <p:nvPr/>
        </p:nvSpPr>
        <p:spPr>
          <a:xfrm>
            <a:off x="621792" y="1892808"/>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Usar una cuenta estándar para el día a día y la de administrador solo cuando haga falta.</a:t>
            </a:r>
            <a:endParaRPr lang="en-US" sz="1400" dirty="0"/>
          </a:p>
        </p:txBody>
      </p:sp>
      <p:sp>
        <p:nvSpPr>
          <p:cNvPr id="13" name="Shape 11"/>
          <p:cNvSpPr/>
          <p:nvPr/>
        </p:nvSpPr>
        <p:spPr>
          <a:xfrm>
            <a:off x="3276600" y="1234440"/>
            <a:ext cx="2590800" cy="1170432"/>
          </a:xfrm>
          <a:prstGeom prst="roundRect">
            <a:avLst>
              <a:gd name="adj" fmla="val 6250"/>
            </a:avLst>
          </a:prstGeom>
          <a:solidFill>
            <a:srgbClr val="F1F7F8"/>
          </a:solidFill>
          <a:ln w="12700">
            <a:solidFill>
              <a:srgbClr val="F1F7F8"/>
            </a:solidFill>
            <a:prstDash val="solid"/>
          </a:ln>
        </p:spPr>
      </p:sp>
      <p:sp>
        <p:nvSpPr>
          <p:cNvPr id="14" name="Shape 12"/>
          <p:cNvSpPr/>
          <p:nvPr/>
        </p:nvSpPr>
        <p:spPr>
          <a:xfrm>
            <a:off x="3441192" y="1399032"/>
            <a:ext cx="365760" cy="365760"/>
          </a:xfrm>
          <a:prstGeom prst="ellipse">
            <a:avLst/>
          </a:prstGeom>
          <a:solidFill>
            <a:srgbClr val="0E7C86"/>
          </a:solidFill>
          <a:ln w="12700">
            <a:solidFill>
              <a:srgbClr val="0E7C86"/>
            </a:solidFill>
            <a:prstDash val="solid"/>
          </a:ln>
        </p:spPr>
      </p:sp>
      <p:sp>
        <p:nvSpPr>
          <p:cNvPr id="15" name="Text 13"/>
          <p:cNvSpPr txBox="1"/>
          <p:nvPr/>
        </p:nvSpPr>
        <p:spPr>
          <a:xfrm>
            <a:off x="34411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39166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Control de cuentas de usuario (UAC)</a:t>
            </a:r>
            <a:endParaRPr lang="en-US" sz="1400" dirty="0"/>
          </a:p>
        </p:txBody>
      </p:sp>
      <p:sp>
        <p:nvSpPr>
          <p:cNvPr id="17" name="Text 15"/>
          <p:cNvSpPr txBox="1"/>
          <p:nvPr/>
        </p:nvSpPr>
        <p:spPr>
          <a:xfrm>
            <a:off x="3441192" y="1892808"/>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Pide confirmación antes de que un programa haga cambios importantes.</a:t>
            </a:r>
            <a:endParaRPr lang="en-US" sz="1400" dirty="0"/>
          </a:p>
        </p:txBody>
      </p:sp>
      <p:sp>
        <p:nvSpPr>
          <p:cNvPr id="18" name="Shape 16"/>
          <p:cNvSpPr/>
          <p:nvPr/>
        </p:nvSpPr>
        <p:spPr>
          <a:xfrm>
            <a:off x="6096000" y="1234440"/>
            <a:ext cx="2590800" cy="1170432"/>
          </a:xfrm>
          <a:prstGeom prst="roundRect">
            <a:avLst>
              <a:gd name="adj" fmla="val 6250"/>
            </a:avLst>
          </a:prstGeom>
          <a:solidFill>
            <a:srgbClr val="F1F7F8"/>
          </a:solidFill>
          <a:ln w="12700">
            <a:solidFill>
              <a:srgbClr val="F1F7F8"/>
            </a:solidFill>
            <a:prstDash val="solid"/>
          </a:ln>
        </p:spPr>
      </p:sp>
      <p:sp>
        <p:nvSpPr>
          <p:cNvPr id="19" name="Shape 17"/>
          <p:cNvSpPr/>
          <p:nvPr/>
        </p:nvSpPr>
        <p:spPr>
          <a:xfrm>
            <a:off x="6260592" y="1399032"/>
            <a:ext cx="365760" cy="365760"/>
          </a:xfrm>
          <a:prstGeom prst="ellipse">
            <a:avLst/>
          </a:prstGeom>
          <a:solidFill>
            <a:srgbClr val="0E7C86"/>
          </a:solidFill>
          <a:ln w="12700">
            <a:solidFill>
              <a:srgbClr val="0E7C86"/>
            </a:solidFill>
            <a:prstDash val="solid"/>
          </a:ln>
        </p:spPr>
      </p:sp>
      <p:sp>
        <p:nvSpPr>
          <p:cNvPr id="20" name="Text 18"/>
          <p:cNvSpPr txBox="1"/>
          <p:nvPr/>
        </p:nvSpPr>
        <p:spPr>
          <a:xfrm>
            <a:off x="62605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txBox="1"/>
          <p:nvPr/>
        </p:nvSpPr>
        <p:spPr>
          <a:xfrm>
            <a:off x="6736080" y="1353312"/>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Contraseñas y políticas</a:t>
            </a:r>
            <a:endParaRPr lang="en-US" sz="1400" dirty="0"/>
          </a:p>
        </p:txBody>
      </p:sp>
      <p:sp>
        <p:nvSpPr>
          <p:cNvPr id="22" name="Text 20"/>
          <p:cNvSpPr txBox="1"/>
          <p:nvPr/>
        </p:nvSpPr>
        <p:spPr>
          <a:xfrm>
            <a:off x="6260592" y="1892808"/>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Longitud mínima, bloqueo tras varios intentos fallidos, Windows Hello.</a:t>
            </a:r>
            <a:endParaRPr lang="en-US" sz="1400" dirty="0"/>
          </a:p>
        </p:txBody>
      </p:sp>
      <p:sp>
        <p:nvSpPr>
          <p:cNvPr id="23" name="Shape 21"/>
          <p:cNvSpPr/>
          <p:nvPr/>
        </p:nvSpPr>
        <p:spPr>
          <a:xfrm>
            <a:off x="457200" y="2633472"/>
            <a:ext cx="2590800" cy="1170432"/>
          </a:xfrm>
          <a:prstGeom prst="roundRect">
            <a:avLst>
              <a:gd name="adj" fmla="val 6250"/>
            </a:avLst>
          </a:prstGeom>
          <a:solidFill>
            <a:srgbClr val="F1F7F8"/>
          </a:solidFill>
          <a:ln w="12700">
            <a:solidFill>
              <a:srgbClr val="F1F7F8"/>
            </a:solidFill>
            <a:prstDash val="solid"/>
          </a:ln>
        </p:spPr>
      </p:sp>
      <p:sp>
        <p:nvSpPr>
          <p:cNvPr id="24" name="Shape 22"/>
          <p:cNvSpPr/>
          <p:nvPr/>
        </p:nvSpPr>
        <p:spPr>
          <a:xfrm>
            <a:off x="621792" y="2798064"/>
            <a:ext cx="365760" cy="365760"/>
          </a:xfrm>
          <a:prstGeom prst="ellipse">
            <a:avLst/>
          </a:prstGeom>
          <a:solidFill>
            <a:srgbClr val="0E7C86"/>
          </a:solidFill>
          <a:ln w="12700">
            <a:solidFill>
              <a:srgbClr val="0E7C86"/>
            </a:solidFill>
            <a:prstDash val="solid"/>
          </a:ln>
        </p:spPr>
      </p:sp>
      <p:sp>
        <p:nvSpPr>
          <p:cNvPr id="25" name="Text 23"/>
          <p:cNvSpPr txBox="1"/>
          <p:nvPr/>
        </p:nvSpPr>
        <p:spPr>
          <a:xfrm>
            <a:off x="621792" y="27980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1097280" y="2752344"/>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Firewall de Windows Defender</a:t>
            </a:r>
            <a:endParaRPr lang="en-US" sz="1400" dirty="0"/>
          </a:p>
        </p:txBody>
      </p:sp>
      <p:sp>
        <p:nvSpPr>
          <p:cNvPr id="27" name="Text 25"/>
          <p:cNvSpPr txBox="1"/>
          <p:nvPr/>
        </p:nvSpPr>
        <p:spPr>
          <a:xfrm>
            <a:off x="621792" y="3291840"/>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Bloquea conexiones no autorizadas que entran o salen del equipo.</a:t>
            </a:r>
            <a:endParaRPr lang="en-US" sz="1400" dirty="0"/>
          </a:p>
        </p:txBody>
      </p:sp>
      <p:sp>
        <p:nvSpPr>
          <p:cNvPr id="28" name="Shape 26"/>
          <p:cNvSpPr/>
          <p:nvPr/>
        </p:nvSpPr>
        <p:spPr>
          <a:xfrm>
            <a:off x="3276600" y="2633472"/>
            <a:ext cx="2590800" cy="1170432"/>
          </a:xfrm>
          <a:prstGeom prst="roundRect">
            <a:avLst>
              <a:gd name="adj" fmla="val 6250"/>
            </a:avLst>
          </a:prstGeom>
          <a:solidFill>
            <a:srgbClr val="F1F7F8"/>
          </a:solidFill>
          <a:ln w="12700">
            <a:solidFill>
              <a:srgbClr val="F1F7F8"/>
            </a:solidFill>
            <a:prstDash val="solid"/>
          </a:ln>
        </p:spPr>
      </p:sp>
      <p:sp>
        <p:nvSpPr>
          <p:cNvPr id="29" name="Shape 27"/>
          <p:cNvSpPr/>
          <p:nvPr/>
        </p:nvSpPr>
        <p:spPr>
          <a:xfrm>
            <a:off x="3441192" y="2798064"/>
            <a:ext cx="365760" cy="365760"/>
          </a:xfrm>
          <a:prstGeom prst="ellipse">
            <a:avLst/>
          </a:prstGeom>
          <a:solidFill>
            <a:srgbClr val="0E7C86"/>
          </a:solidFill>
          <a:ln w="12700">
            <a:solidFill>
              <a:srgbClr val="0E7C86"/>
            </a:solidFill>
            <a:prstDash val="solid"/>
          </a:ln>
        </p:spPr>
      </p:sp>
      <p:sp>
        <p:nvSpPr>
          <p:cNvPr id="30" name="Text 28"/>
          <p:cNvSpPr txBox="1"/>
          <p:nvPr/>
        </p:nvSpPr>
        <p:spPr>
          <a:xfrm>
            <a:off x="3441192" y="27980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3916680" y="2752344"/>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Microsoft Defender Antivirus</a:t>
            </a:r>
            <a:endParaRPr lang="en-US" sz="1400" dirty="0"/>
          </a:p>
        </p:txBody>
      </p:sp>
      <p:sp>
        <p:nvSpPr>
          <p:cNvPr id="32" name="Text 30"/>
          <p:cNvSpPr txBox="1"/>
          <p:nvPr/>
        </p:nvSpPr>
        <p:spPr>
          <a:xfrm>
            <a:off x="3441192" y="3291840"/>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Protección antimalware incluida.</a:t>
            </a:r>
            <a:endParaRPr lang="en-US" sz="1400" dirty="0"/>
          </a:p>
        </p:txBody>
      </p:sp>
      <p:sp>
        <p:nvSpPr>
          <p:cNvPr id="33" name="Shape 31"/>
          <p:cNvSpPr/>
          <p:nvPr/>
        </p:nvSpPr>
        <p:spPr>
          <a:xfrm>
            <a:off x="6096000" y="2633472"/>
            <a:ext cx="2590800" cy="1170432"/>
          </a:xfrm>
          <a:prstGeom prst="roundRect">
            <a:avLst>
              <a:gd name="adj" fmla="val 6250"/>
            </a:avLst>
          </a:prstGeom>
          <a:solidFill>
            <a:srgbClr val="F1F7F8"/>
          </a:solidFill>
          <a:ln w="12700">
            <a:solidFill>
              <a:srgbClr val="F1F7F8"/>
            </a:solidFill>
            <a:prstDash val="solid"/>
          </a:ln>
        </p:spPr>
      </p:sp>
      <p:sp>
        <p:nvSpPr>
          <p:cNvPr id="34" name="Shape 32"/>
          <p:cNvSpPr/>
          <p:nvPr/>
        </p:nvSpPr>
        <p:spPr>
          <a:xfrm>
            <a:off x="6260592" y="2798064"/>
            <a:ext cx="365760" cy="365760"/>
          </a:xfrm>
          <a:prstGeom prst="ellipse">
            <a:avLst/>
          </a:prstGeom>
          <a:solidFill>
            <a:srgbClr val="0E7C86"/>
          </a:solidFill>
          <a:ln w="12700">
            <a:solidFill>
              <a:srgbClr val="0E7C86"/>
            </a:solidFill>
            <a:prstDash val="solid"/>
          </a:ln>
        </p:spPr>
      </p:sp>
      <p:sp>
        <p:nvSpPr>
          <p:cNvPr id="35" name="Text 33"/>
          <p:cNvSpPr txBox="1"/>
          <p:nvPr/>
        </p:nvSpPr>
        <p:spPr>
          <a:xfrm>
            <a:off x="6260592" y="27980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6" name="Text 34"/>
          <p:cNvSpPr txBox="1"/>
          <p:nvPr/>
        </p:nvSpPr>
        <p:spPr>
          <a:xfrm>
            <a:off x="6736080" y="2752344"/>
            <a:ext cx="18135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BitLocker</a:t>
            </a:r>
            <a:endParaRPr lang="en-US" sz="1400" dirty="0"/>
          </a:p>
        </p:txBody>
      </p:sp>
      <p:sp>
        <p:nvSpPr>
          <p:cNvPr id="37" name="Text 35"/>
          <p:cNvSpPr txBox="1"/>
          <p:nvPr/>
        </p:nvSpPr>
        <p:spPr>
          <a:xfrm>
            <a:off x="6260592" y="3291840"/>
            <a:ext cx="2261616" cy="3931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Cifra el disco completo; si roban la laptop, no pueden leer los datos.</a:t>
            </a:r>
            <a:endParaRPr lang="en-US" sz="1400" dirty="0"/>
          </a:p>
        </p:txBody>
      </p:sp>
      <p:sp>
        <p:nvSpPr>
          <p:cNvPr id="38" name="Text 36"/>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39" name="Text 37"/>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3</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Seguridad de Windows</a:t>
            </a:r>
            <a:endParaRPr lang="en-US" sz="2800" dirty="0"/>
          </a:p>
        </p:txBody>
      </p:sp>
      <p:sp>
        <p:nvSpPr>
          <p:cNvPr id="6" name="Shape 4"/>
          <p:cNvSpPr/>
          <p:nvPr/>
        </p:nvSpPr>
        <p:spPr>
          <a:xfrm>
            <a:off x="457200" y="1234440"/>
            <a:ext cx="4000500" cy="1389888"/>
          </a:xfrm>
          <a:prstGeom prst="roundRect">
            <a:avLst>
              <a:gd name="adj" fmla="val 5263"/>
            </a:avLst>
          </a:prstGeom>
          <a:solidFill>
            <a:srgbClr val="F1F7F8"/>
          </a:solidFill>
          <a:ln w="12700">
            <a:solidFill>
              <a:srgbClr val="F1F7F8"/>
            </a:solidFill>
            <a:prstDash val="solid"/>
          </a:ln>
        </p:spPr>
      </p:sp>
      <p:sp>
        <p:nvSpPr>
          <p:cNvPr id="7" name="Shape 5"/>
          <p:cNvSpPr/>
          <p:nvPr/>
        </p:nvSpPr>
        <p:spPr>
          <a:xfrm>
            <a:off x="621792" y="1399032"/>
            <a:ext cx="365760" cy="365760"/>
          </a:xfrm>
          <a:prstGeom prst="ellipse">
            <a:avLst/>
          </a:prstGeom>
          <a:solidFill>
            <a:srgbClr val="0E7C86"/>
          </a:solidFill>
          <a:ln w="12700">
            <a:solidFill>
              <a:srgbClr val="0E7C86"/>
            </a:solidFill>
            <a:prstDash val="solid"/>
          </a:ln>
        </p:spPr>
      </p:sp>
      <p:sp>
        <p:nvSpPr>
          <p:cNvPr id="8" name="Text 6"/>
          <p:cNvSpPr txBox="1"/>
          <p:nvPr/>
        </p:nvSpPr>
        <p:spPr>
          <a:xfrm>
            <a:off x="6217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97280" y="135331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Windows Update</a:t>
            </a:r>
            <a:endParaRPr lang="en-US" sz="1400" dirty="0"/>
          </a:p>
        </p:txBody>
      </p:sp>
      <p:sp>
        <p:nvSpPr>
          <p:cNvPr id="10" name="Text 8"/>
          <p:cNvSpPr txBox="1"/>
          <p:nvPr/>
        </p:nvSpPr>
        <p:spPr>
          <a:xfrm>
            <a:off x="621792" y="1892808"/>
            <a:ext cx="3671316" cy="612648"/>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Instala los parches que corrigen vulnerabilidades.</a:t>
            </a:r>
            <a:endParaRPr lang="en-US" sz="1500" dirty="0"/>
          </a:p>
        </p:txBody>
      </p:sp>
      <p:sp>
        <p:nvSpPr>
          <p:cNvPr id="11" name="Shape 9"/>
          <p:cNvSpPr/>
          <p:nvPr/>
        </p:nvSpPr>
        <p:spPr>
          <a:xfrm>
            <a:off x="4686300" y="1234440"/>
            <a:ext cx="4000500" cy="1389888"/>
          </a:xfrm>
          <a:prstGeom prst="roundRect">
            <a:avLst>
              <a:gd name="adj" fmla="val 5263"/>
            </a:avLst>
          </a:prstGeom>
          <a:solidFill>
            <a:srgbClr val="F1F7F8"/>
          </a:solidFill>
          <a:ln w="12700">
            <a:solidFill>
              <a:srgbClr val="F1F7F8"/>
            </a:solidFill>
            <a:prstDash val="solid"/>
          </a:ln>
        </p:spPr>
      </p:sp>
      <p:sp>
        <p:nvSpPr>
          <p:cNvPr id="12" name="Shape 10"/>
          <p:cNvSpPr/>
          <p:nvPr/>
        </p:nvSpPr>
        <p:spPr>
          <a:xfrm>
            <a:off x="4850892" y="1399032"/>
            <a:ext cx="365760" cy="365760"/>
          </a:xfrm>
          <a:prstGeom prst="ellipse">
            <a:avLst/>
          </a:prstGeom>
          <a:solidFill>
            <a:srgbClr val="0E7C86"/>
          </a:solidFill>
          <a:ln w="12700">
            <a:solidFill>
              <a:srgbClr val="0E7C86"/>
            </a:solidFill>
            <a:prstDash val="solid"/>
          </a:ln>
        </p:spPr>
      </p:sp>
      <p:sp>
        <p:nvSpPr>
          <p:cNvPr id="13" name="Text 11"/>
          <p:cNvSpPr txBox="1"/>
          <p:nvPr/>
        </p:nvSpPr>
        <p:spPr>
          <a:xfrm>
            <a:off x="4850892" y="13990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5326380" y="1353312"/>
            <a:ext cx="3223260" cy="457200"/>
          </a:xfrm>
          <a:prstGeom prst="rect">
            <a:avLst/>
          </a:prstGeom>
          <a:noFill/>
          <a:ln/>
        </p:spPr>
        <p:txBody>
          <a:bodyPr wrap="square" lIns="0" tIns="0" rIns="0" bIns="0" rtlCol="0" anchor="ctr">
            <a:normAutofit/>
          </a:bodyPr>
          <a:lstStyle/>
          <a:p>
            <a:pPr indent="0" marL="0">
              <a:buNone/>
            </a:pPr>
            <a:r>
              <a:rPr lang="en-US" sz="1400" b="1" dirty="0">
                <a:solidFill>
                  <a:srgbClr val="0B1D2E"/>
                </a:solidFill>
                <a:latin typeface="Calibri" pitchFamily="34" charset="0"/>
                <a:ea typeface="Calibri" pitchFamily="34" charset="-122"/>
                <a:cs typeface="Calibri" pitchFamily="34" charset="-120"/>
              </a:rPr>
              <a:t>Permisos NTFS</a:t>
            </a:r>
            <a:endParaRPr lang="en-US" sz="1400" dirty="0"/>
          </a:p>
        </p:txBody>
      </p:sp>
      <p:sp>
        <p:nvSpPr>
          <p:cNvPr id="15" name="Text 13"/>
          <p:cNvSpPr txBox="1"/>
          <p:nvPr/>
        </p:nvSpPr>
        <p:spPr>
          <a:xfrm>
            <a:off x="4850892" y="1892808"/>
            <a:ext cx="3671316" cy="612648"/>
          </a:xfrm>
          <a:prstGeom prst="rect">
            <a:avLst/>
          </a:prstGeom>
          <a:noFill/>
          <a:ln/>
        </p:spPr>
        <p:txBody>
          <a:bodyPr wrap="square" lIns="0" tIns="0" rIns="0" bIns="0" rtlCol="0" anchor="t">
            <a:normAutofit/>
          </a:bodyPr>
          <a:lstStyle/>
          <a:p>
            <a:pPr indent="0" marL="0">
              <a:buNone/>
            </a:pPr>
            <a:r>
              <a:rPr lang="en-US" sz="1500" dirty="0">
                <a:solidFill>
                  <a:srgbClr val="1E293B"/>
                </a:solidFill>
                <a:latin typeface="Calibri" pitchFamily="34" charset="0"/>
                <a:ea typeface="Calibri" pitchFamily="34" charset="-122"/>
                <a:cs typeface="Calibri" pitchFamily="34" charset="-120"/>
              </a:rPr>
              <a:t>Definen quién puede leer, modificar o ejecutar cada archivo y carpeta.</a:t>
            </a:r>
            <a:endParaRPr lang="en-US" sz="1500" dirty="0"/>
          </a:p>
        </p:txBody>
      </p:sp>
      <p:sp>
        <p:nvSpPr>
          <p:cNvPr id="16" name="Text 1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17" name="Text 1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4</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500" b="1" dirty="0">
                <a:solidFill>
                  <a:srgbClr val="0B1D2E"/>
                </a:solidFill>
                <a:latin typeface="Calibri" pitchFamily="34" charset="0"/>
                <a:ea typeface="Calibri" pitchFamily="34" charset="-122"/>
                <a:cs typeface="Calibri" pitchFamily="34" charset="-120"/>
              </a:rPr>
              <a:t>Linux: conceptos básicos y el shell</a:t>
            </a:r>
            <a:endParaRPr lang="en-US" sz="2500" dirty="0"/>
          </a:p>
        </p:txBody>
      </p:sp>
      <p:sp>
        <p:nvSpPr>
          <p:cNvPr id="6" name="Text 4"/>
          <p:cNvSpPr txBox="1"/>
          <p:nvPr/>
        </p:nvSpPr>
        <p:spPr>
          <a:xfrm>
            <a:off x="457200" y="1234440"/>
            <a:ext cx="8229600" cy="1097280"/>
          </a:xfrm>
          <a:prstGeom prst="rect">
            <a:avLst/>
          </a:prstGeom>
          <a:noFill/>
          <a:ln/>
        </p:spPr>
        <p:txBody>
          <a:bodyPr wrap="square" lIns="0" tIns="0" rIns="0" bIns="0" rtlCol="0" anchor="t">
            <a:normAutofit/>
          </a:bodyPr>
          <a:lstStyle/>
          <a:p>
            <a:pPr indent="0" marL="0">
              <a:buNone/>
            </a:pPr>
            <a:r>
              <a:rPr lang="en-US" sz="1400" b="1" dirty="0">
                <a:solidFill>
                  <a:srgbClr val="1E293B"/>
                </a:solidFill>
                <a:latin typeface="Calibri" pitchFamily="34" charset="0"/>
                <a:ea typeface="Calibri" pitchFamily="34" charset="-122"/>
                <a:cs typeface="Calibri" pitchFamily="34" charset="-120"/>
              </a:rPr>
              <a:t>Linux</a:t>
            </a:r>
            <a:pPr indent="0" marL="0">
              <a:buNone/>
            </a:pPr>
            <a:r>
              <a:rPr lang="en-US" sz="1400" dirty="0">
                <a:solidFill>
                  <a:srgbClr val="1E293B"/>
                </a:solidFill>
                <a:latin typeface="Calibri" pitchFamily="34" charset="0"/>
                <a:ea typeface="Calibri" pitchFamily="34" charset="-122"/>
                <a:cs typeface="Calibri" pitchFamily="34" charset="-120"/>
              </a:rPr>
              <a:t> es un sistema operativo de </a:t>
            </a:r>
            <a:pPr indent="0" marL="0">
              <a:buNone/>
            </a:pPr>
            <a:r>
              <a:rPr lang="en-US" sz="1400" b="1" dirty="0">
                <a:solidFill>
                  <a:srgbClr val="1E293B"/>
                </a:solidFill>
                <a:latin typeface="Calibri" pitchFamily="34" charset="0"/>
                <a:ea typeface="Calibri" pitchFamily="34" charset="-122"/>
                <a:cs typeface="Calibri" pitchFamily="34" charset="-120"/>
              </a:rPr>
              <a:t>código abierto</a:t>
            </a:r>
            <a:pPr indent="0" marL="0">
              <a:buNone/>
            </a:pPr>
            <a:r>
              <a:rPr lang="en-US" sz="1400" dirty="0">
                <a:solidFill>
                  <a:srgbClr val="1E293B"/>
                </a:solidFill>
                <a:latin typeface="Calibri" pitchFamily="34" charset="0"/>
                <a:ea typeface="Calibri" pitchFamily="34" charset="-122"/>
                <a:cs typeface="Calibri" pitchFamily="34" charset="-120"/>
              </a:rPr>
              <a:t> creado por Linus Torvalds en 1991. Se distribuye en </a:t>
            </a:r>
            <a:pPr indent="0" marL="0">
              <a:buNone/>
            </a:pPr>
            <a:r>
              <a:rPr lang="en-US" sz="1400" b="1" dirty="0">
                <a:solidFill>
                  <a:srgbClr val="1E293B"/>
                </a:solidFill>
                <a:latin typeface="Calibri" pitchFamily="34" charset="0"/>
                <a:ea typeface="Calibri" pitchFamily="34" charset="-122"/>
                <a:cs typeface="Calibri" pitchFamily="34" charset="-120"/>
              </a:rPr>
              <a:t>distribuciones</a:t>
            </a:r>
            <a:pPr indent="0" marL="0">
              <a:buNone/>
            </a:pPr>
            <a:r>
              <a:rPr lang="en-US" sz="1400" dirty="0">
                <a:solidFill>
                  <a:srgbClr val="1E293B"/>
                </a:solidFill>
                <a:latin typeface="Calibri" pitchFamily="34" charset="0"/>
                <a:ea typeface="Calibri" pitchFamily="34" charset="-122"/>
                <a:cs typeface="Calibri" pitchFamily="34" charset="-120"/>
              </a:rPr>
              <a:t> (Ubuntu, Debian, Fedora, Kali Linux) y domina en servidores, la nube y dispositivos como routers.</a:t>
            </a:r>
            <a:endParaRPr lang="en-US" sz="1400" dirty="0"/>
          </a:p>
          <a:p>
            <a:pPr indent="0" marL="0">
              <a:buNone/>
            </a:pPr>
            <a:r>
              <a:rPr lang="en-US" sz="1400" dirty="0">
                <a:solidFill>
                  <a:srgbClr val="1E293B"/>
                </a:solidFill>
                <a:latin typeface="Calibri" pitchFamily="34" charset="0"/>
                <a:ea typeface="Calibri" pitchFamily="34" charset="-122"/>
                <a:cs typeface="Calibri" pitchFamily="34" charset="-120"/>
              </a:rPr>
              <a:t>El </a:t>
            </a:r>
            <a:pPr indent="0" marL="0">
              <a:buNone/>
            </a:pPr>
            <a:r>
              <a:rPr lang="en-US" sz="1400" b="1" dirty="0">
                <a:solidFill>
                  <a:srgbClr val="1E293B"/>
                </a:solidFill>
                <a:latin typeface="Calibri" pitchFamily="34" charset="0"/>
                <a:ea typeface="Calibri" pitchFamily="34" charset="-122"/>
                <a:cs typeface="Calibri" pitchFamily="34" charset="-120"/>
              </a:rPr>
              <a:t>shell</a:t>
            </a:r>
            <a:pPr indent="0" marL="0">
              <a:buNone/>
            </a:pPr>
            <a:r>
              <a:rPr lang="en-US" sz="1400" dirty="0">
                <a:solidFill>
                  <a:srgbClr val="1E293B"/>
                </a:solidFill>
                <a:latin typeface="Calibri" pitchFamily="34" charset="0"/>
                <a:ea typeface="Calibri" pitchFamily="34" charset="-122"/>
                <a:cs typeface="Calibri" pitchFamily="34" charset="-120"/>
              </a:rPr>
              <a:t> es el intérprete de comandos (el más común es </a:t>
            </a:r>
            <a:pPr indent="0" marL="0">
              <a:buNone/>
            </a:pPr>
            <a:r>
              <a:rPr lang="en-US" sz="1400" b="1" dirty="0">
                <a:solidFill>
                  <a:srgbClr val="1E293B"/>
                </a:solidFill>
                <a:latin typeface="Calibri" pitchFamily="34" charset="0"/>
                <a:ea typeface="Calibri" pitchFamily="34" charset="-122"/>
                <a:cs typeface="Calibri" pitchFamily="34" charset="-120"/>
              </a:rPr>
              <a:t>bash</a:t>
            </a:r>
            <a:pPr indent="0" marL="0">
              <a:buNone/>
            </a:pPr>
            <a:r>
              <a:rPr lang="en-US" sz="1400" dirty="0">
                <a:solidFill>
                  <a:srgbClr val="1E293B"/>
                </a:solidFill>
                <a:latin typeface="Calibri" pitchFamily="34" charset="0"/>
                <a:ea typeface="Calibri" pitchFamily="34" charset="-122"/>
                <a:cs typeface="Calibri" pitchFamily="34" charset="-120"/>
              </a:rPr>
              <a:t>). Se usa desde la terminal.</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441448"/>
          <a:ext cx="8229600" cy="914400"/>
        </p:xfrm>
        <a:graphic>
          <a:graphicData uri="http://schemas.openxmlformats.org/drawingml/2006/table">
            <a:tbl>
              <a:tblPr/>
              <a:tblGrid>
                <a:gridCol w="2874516"/>
                <a:gridCol w="5355084"/>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Comando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Qué hace</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pwd</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Muestra la carpeta actual.</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ls -l</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Lista los archivos con sus permisos.</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cd /etc</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Cambia de carpeta.</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mkdir, cp, mv, rm</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Crear carpetas, copiar, mover o renombrar y borrar.</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cat archivo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Muestra el contenido de un archivo.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sudo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Ejecuta un comando con privilegios de administrador (root).</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man comando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Muestra el manual de un comando.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ps, top, kill</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Ver procesos, ver el consumo en vivo y detener un proceso.</a:t>
                      </a:r>
                      <a:endParaRPr lang="en-US" sz="10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9" name="Text 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5</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500" b="1" dirty="0">
                <a:solidFill>
                  <a:srgbClr val="0B1D2E"/>
                </a:solidFill>
                <a:latin typeface="Calibri" pitchFamily="34" charset="0"/>
                <a:ea typeface="Calibri" pitchFamily="34" charset="-122"/>
                <a:cs typeface="Calibri" pitchFamily="34" charset="-120"/>
              </a:rPr>
              <a:t>Servidores, clientes y administración en Linux</a:t>
            </a:r>
            <a:endParaRPr lang="en-US" sz="2500" dirty="0"/>
          </a:p>
        </p:txBody>
      </p:sp>
      <p:sp>
        <p:nvSpPr>
          <p:cNvPr id="6" name="Text 4"/>
          <p:cNvSpPr txBox="1"/>
          <p:nvPr/>
        </p:nvSpPr>
        <p:spPr>
          <a:xfrm>
            <a:off x="457200" y="1234440"/>
            <a:ext cx="8229600" cy="603504"/>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Un </a:t>
            </a:r>
            <a:pPr indent="0" marL="0">
              <a:buNone/>
            </a:pPr>
            <a:r>
              <a:rPr lang="en-US" sz="1400" b="1" dirty="0">
                <a:solidFill>
                  <a:srgbClr val="1E293B"/>
                </a:solidFill>
                <a:latin typeface="Calibri" pitchFamily="34" charset="0"/>
                <a:ea typeface="Calibri" pitchFamily="34" charset="-122"/>
                <a:cs typeface="Calibri" pitchFamily="34" charset="-120"/>
              </a:rPr>
              <a:t>servidor</a:t>
            </a:r>
            <a:pPr indent="0" marL="0">
              <a:buNone/>
            </a:pPr>
            <a:r>
              <a:rPr lang="en-US" sz="1400" dirty="0">
                <a:solidFill>
                  <a:srgbClr val="1E293B"/>
                </a:solidFill>
                <a:latin typeface="Calibri" pitchFamily="34" charset="0"/>
                <a:ea typeface="Calibri" pitchFamily="34" charset="-122"/>
                <a:cs typeface="Calibri" pitchFamily="34" charset="-120"/>
              </a:rPr>
              <a:t> ofrece un servicio (página web, correo, archivos) y un </a:t>
            </a:r>
            <a:pPr indent="0" marL="0">
              <a:buNone/>
            </a:pPr>
            <a:r>
              <a:rPr lang="en-US" sz="1400" b="1" dirty="0">
                <a:solidFill>
                  <a:srgbClr val="1E293B"/>
                </a:solidFill>
                <a:latin typeface="Calibri" pitchFamily="34" charset="0"/>
                <a:ea typeface="Calibri" pitchFamily="34" charset="-122"/>
                <a:cs typeface="Calibri" pitchFamily="34" charset="-120"/>
              </a:rPr>
              <a:t>cliente</a:t>
            </a:r>
            <a:pPr indent="0" marL="0">
              <a:buNone/>
            </a:pPr>
            <a:r>
              <a:rPr lang="en-US" sz="1400" dirty="0">
                <a:solidFill>
                  <a:srgbClr val="1E293B"/>
                </a:solidFill>
                <a:latin typeface="Calibri" pitchFamily="34" charset="0"/>
                <a:ea typeface="Calibri" pitchFamily="34" charset="-122"/>
                <a:cs typeface="Calibri" pitchFamily="34" charset="-120"/>
              </a:rPr>
              <a:t> lo usa. Cada servicio escucha en un </a:t>
            </a:r>
            <a:pPr indent="0" marL="0">
              <a:buNone/>
            </a:pPr>
            <a:r>
              <a:rPr lang="en-US" sz="1400" b="1" dirty="0">
                <a:solidFill>
                  <a:srgbClr val="1E293B"/>
                </a:solidFill>
                <a:latin typeface="Calibri" pitchFamily="34" charset="0"/>
                <a:ea typeface="Calibri" pitchFamily="34" charset="-122"/>
                <a:cs typeface="Calibri" pitchFamily="34" charset="-120"/>
              </a:rPr>
              <a:t>puerto</a:t>
            </a:r>
            <a:pPr indent="0" marL="0">
              <a:buNone/>
            </a:pPr>
            <a:r>
              <a:rPr lang="en-US" sz="1400" dirty="0">
                <a:solidFill>
                  <a:srgbClr val="1E293B"/>
                </a:solidFill>
                <a:latin typeface="Calibri" pitchFamily="34" charset="0"/>
                <a:ea typeface="Calibri" pitchFamily="34" charset="-122"/>
                <a:cs typeface="Calibri" pitchFamily="34" charset="-120"/>
              </a:rPr>
              <a:t>: SSH 22, HTTP 80, HTTPS 443, DNS 53.</a:t>
            </a:r>
            <a:endParaRPr lang="en-US" sz="1400" dirty="0"/>
          </a:p>
        </p:txBody>
      </p:sp>
      <p:sp>
        <p:nvSpPr>
          <p:cNvPr id="7" name="Shape 5"/>
          <p:cNvSpPr/>
          <p:nvPr/>
        </p:nvSpPr>
        <p:spPr>
          <a:xfrm>
            <a:off x="457200" y="3694176"/>
            <a:ext cx="8229600" cy="969264"/>
          </a:xfrm>
          <a:prstGeom prst="roundRect">
            <a:avLst>
              <a:gd name="adj" fmla="val 5660"/>
            </a:avLst>
          </a:prstGeom>
          <a:solidFill>
            <a:srgbClr val="FFF6E5"/>
          </a:solidFill>
          <a:ln w="12700">
            <a:solidFill>
              <a:srgbClr val="FFF6E5"/>
            </a:solidFill>
            <a:prstDash val="solid"/>
          </a:ln>
        </p:spPr>
      </p:sp>
      <p:sp>
        <p:nvSpPr>
          <p:cNvPr id="8" name="Text 6"/>
          <p:cNvSpPr txBox="1"/>
          <p:nvPr/>
        </p:nvSpPr>
        <p:spPr>
          <a:xfrm>
            <a:off x="640080" y="3694176"/>
            <a:ext cx="7863840" cy="969264"/>
          </a:xfrm>
          <a:prstGeom prst="rect">
            <a:avLst/>
          </a:prstGeom>
          <a:noFill/>
          <a:ln/>
        </p:spPr>
        <p:txBody>
          <a:bodyPr wrap="square" lIns="0" tIns="0" rIns="0" bIns="0" rtlCol="0" anchor="ctr">
            <a:normAutofit/>
          </a:bodyPr>
          <a:lstStyle/>
          <a:p>
            <a:pPr indent="0" marL="0">
              <a:buNone/>
            </a:pPr>
            <a:r>
              <a:rPr lang="en-US" sz="1350" b="1" dirty="0">
                <a:solidFill>
                  <a:srgbClr val="1E293B"/>
                </a:solidFill>
                <a:latin typeface="Calibri" pitchFamily="34" charset="0"/>
                <a:ea typeface="Calibri" pitchFamily="34" charset="-122"/>
                <a:cs typeface="Calibri" pitchFamily="34" charset="-120"/>
              </a:rPr>
              <a:t>La interfaz gráfica (GUI): </a:t>
            </a:r>
            <a:pPr indent="0" marL="0">
              <a:buNone/>
            </a:pPr>
            <a:r>
              <a:rPr lang="en-US" sz="1350" dirty="0">
                <a:solidFill>
                  <a:srgbClr val="1E293B"/>
                </a:solidFill>
                <a:latin typeface="Calibri" pitchFamily="34" charset="0"/>
                <a:ea typeface="Calibri" pitchFamily="34" charset="-122"/>
                <a:cs typeface="Calibri" pitchFamily="34" charset="-120"/>
              </a:rPr>
              <a:t>Muchas distribuciones traen un entorno gráfico (GNOME, KDE, XFCE) con menús, gestor de archivos y configuración. Aun así, la administración de servidores se hace casi siempre desde la terminal, porque muchos servidores no tienen GUI.</a:t>
            </a:r>
            <a:endParaRPr lang="en-US" sz="1350" dirty="0"/>
          </a:p>
        </p:txBody>
      </p:sp>
      <p:sp>
        <p:nvSpPr>
          <p:cNvPr id="9" name="Shape 7"/>
          <p:cNvSpPr/>
          <p:nvPr/>
        </p:nvSpPr>
        <p:spPr>
          <a:xfrm>
            <a:off x="457200" y="1947672"/>
            <a:ext cx="8229600" cy="299466"/>
          </a:xfrm>
          <a:prstGeom prst="roundRect">
            <a:avLst>
              <a:gd name="adj" fmla="val 18321"/>
            </a:avLst>
          </a:prstGeom>
          <a:solidFill>
            <a:srgbClr val="F1F7F8"/>
          </a:solidFill>
          <a:ln w="12700">
            <a:solidFill>
              <a:srgbClr val="F1F7F8"/>
            </a:solidFill>
            <a:prstDash val="solid"/>
          </a:ln>
        </p:spPr>
      </p:sp>
      <p:sp>
        <p:nvSpPr>
          <p:cNvPr id="10" name="Shape 8"/>
          <p:cNvSpPr/>
          <p:nvPr/>
        </p:nvSpPr>
        <p:spPr>
          <a:xfrm>
            <a:off x="621792" y="1969389"/>
            <a:ext cx="256032" cy="256032"/>
          </a:xfrm>
          <a:prstGeom prst="ellipse">
            <a:avLst/>
          </a:prstGeom>
          <a:solidFill>
            <a:srgbClr val="F5A623"/>
          </a:solidFill>
          <a:ln w="12700">
            <a:solidFill>
              <a:srgbClr val="F5A623"/>
            </a:solidFill>
            <a:prstDash val="solid"/>
          </a:ln>
        </p:spPr>
      </p:sp>
      <p:sp>
        <p:nvSpPr>
          <p:cNvPr id="11" name="Text 9"/>
          <p:cNvSpPr txBox="1"/>
          <p:nvPr/>
        </p:nvSpPr>
        <p:spPr>
          <a:xfrm>
            <a:off x="1051560" y="1947672"/>
            <a:ext cx="7498080" cy="299466"/>
          </a:xfrm>
          <a:prstGeom prst="rect">
            <a:avLst/>
          </a:prstGeom>
          <a:noFill/>
          <a:ln/>
        </p:spPr>
        <p:txBody>
          <a:bodyPr wrap="square" lIns="0" tIns="0" rIns="0" bIns="0" rtlCol="0" anchor="ctr">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Los archivos de configuración de los servicios están en /etc (por ejemplo, /etc/ssh/sshd_config).</a:t>
            </a:r>
            <a:endParaRPr lang="en-US" sz="1400" dirty="0"/>
          </a:p>
        </p:txBody>
      </p:sp>
      <p:sp>
        <p:nvSpPr>
          <p:cNvPr id="12" name="Shape 10"/>
          <p:cNvSpPr/>
          <p:nvPr/>
        </p:nvSpPr>
        <p:spPr>
          <a:xfrm>
            <a:off x="457200" y="2384298"/>
            <a:ext cx="8229600" cy="299466"/>
          </a:xfrm>
          <a:prstGeom prst="roundRect">
            <a:avLst>
              <a:gd name="adj" fmla="val 18321"/>
            </a:avLst>
          </a:prstGeom>
          <a:solidFill>
            <a:srgbClr val="F1F7F8"/>
          </a:solidFill>
          <a:ln w="12700">
            <a:solidFill>
              <a:srgbClr val="F1F7F8"/>
            </a:solidFill>
            <a:prstDash val="solid"/>
          </a:ln>
        </p:spPr>
      </p:sp>
      <p:sp>
        <p:nvSpPr>
          <p:cNvPr id="13" name="Shape 11"/>
          <p:cNvSpPr/>
          <p:nvPr/>
        </p:nvSpPr>
        <p:spPr>
          <a:xfrm>
            <a:off x="621792" y="2406015"/>
            <a:ext cx="256032" cy="256032"/>
          </a:xfrm>
          <a:prstGeom prst="ellipse">
            <a:avLst/>
          </a:prstGeom>
          <a:solidFill>
            <a:srgbClr val="F5A623"/>
          </a:solidFill>
          <a:ln w="12700">
            <a:solidFill>
              <a:srgbClr val="F5A623"/>
            </a:solidFill>
            <a:prstDash val="solid"/>
          </a:ln>
        </p:spPr>
      </p:sp>
      <p:sp>
        <p:nvSpPr>
          <p:cNvPr id="14" name="Text 12"/>
          <p:cNvSpPr txBox="1"/>
          <p:nvPr/>
        </p:nvSpPr>
        <p:spPr>
          <a:xfrm>
            <a:off x="1051560" y="2384298"/>
            <a:ext cx="7498080" cy="299466"/>
          </a:xfrm>
          <a:prstGeom prst="rect">
            <a:avLst/>
          </a:prstGeom>
          <a:noFill/>
          <a:ln/>
        </p:spPr>
        <p:txBody>
          <a:bodyPr wrap="square" lIns="0" tIns="0" rIns="0" bIns="0" rtlCol="0" anchor="ctr">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Los registros del sistema están en /var/log (por ejemplo, /var/log/auth.log guarda los inicios de sesión).</a:t>
            </a:r>
            <a:endParaRPr lang="en-US" sz="1400" dirty="0"/>
          </a:p>
        </p:txBody>
      </p:sp>
      <p:sp>
        <p:nvSpPr>
          <p:cNvPr id="15" name="Shape 13"/>
          <p:cNvSpPr/>
          <p:nvPr/>
        </p:nvSpPr>
        <p:spPr>
          <a:xfrm>
            <a:off x="457200" y="2820924"/>
            <a:ext cx="8229600" cy="299466"/>
          </a:xfrm>
          <a:prstGeom prst="roundRect">
            <a:avLst>
              <a:gd name="adj" fmla="val 18321"/>
            </a:avLst>
          </a:prstGeom>
          <a:solidFill>
            <a:srgbClr val="F1F7F8"/>
          </a:solidFill>
          <a:ln w="12700">
            <a:solidFill>
              <a:srgbClr val="F1F7F8"/>
            </a:solidFill>
            <a:prstDash val="solid"/>
          </a:ln>
        </p:spPr>
      </p:sp>
      <p:sp>
        <p:nvSpPr>
          <p:cNvPr id="16" name="Shape 14"/>
          <p:cNvSpPr/>
          <p:nvPr/>
        </p:nvSpPr>
        <p:spPr>
          <a:xfrm>
            <a:off x="621792" y="2842641"/>
            <a:ext cx="256032" cy="256032"/>
          </a:xfrm>
          <a:prstGeom prst="ellipse">
            <a:avLst/>
          </a:prstGeom>
          <a:solidFill>
            <a:srgbClr val="F5A623"/>
          </a:solidFill>
          <a:ln w="12700">
            <a:solidFill>
              <a:srgbClr val="F5A623"/>
            </a:solidFill>
            <a:prstDash val="solid"/>
          </a:ln>
        </p:spPr>
      </p:sp>
      <p:sp>
        <p:nvSpPr>
          <p:cNvPr id="17" name="Text 15"/>
          <p:cNvSpPr txBox="1"/>
          <p:nvPr/>
        </p:nvSpPr>
        <p:spPr>
          <a:xfrm>
            <a:off x="1051560" y="2820924"/>
            <a:ext cx="7498080" cy="299466"/>
          </a:xfrm>
          <a:prstGeom prst="rect">
            <a:avLst/>
          </a:prstGeom>
          <a:noFill/>
          <a:ln/>
        </p:spPr>
        <p:txBody>
          <a:bodyPr wrap="square" lIns="0" tIns="0" rIns="0" bIns="0" rtlCol="0" anchor="ctr">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Para actualizar en Ubuntu o Debian: sudo apt update y sudo apt upgrade.</a:t>
            </a:r>
            <a:endParaRPr lang="en-US" sz="1400" dirty="0"/>
          </a:p>
        </p:txBody>
      </p:sp>
      <p:sp>
        <p:nvSpPr>
          <p:cNvPr id="18" name="Shape 16"/>
          <p:cNvSpPr/>
          <p:nvPr/>
        </p:nvSpPr>
        <p:spPr>
          <a:xfrm>
            <a:off x="457200" y="3257550"/>
            <a:ext cx="8229600" cy="299466"/>
          </a:xfrm>
          <a:prstGeom prst="roundRect">
            <a:avLst>
              <a:gd name="adj" fmla="val 18321"/>
            </a:avLst>
          </a:prstGeom>
          <a:solidFill>
            <a:srgbClr val="F1F7F8"/>
          </a:solidFill>
          <a:ln w="12700">
            <a:solidFill>
              <a:srgbClr val="F1F7F8"/>
            </a:solidFill>
            <a:prstDash val="solid"/>
          </a:ln>
        </p:spPr>
      </p:sp>
      <p:sp>
        <p:nvSpPr>
          <p:cNvPr id="19" name="Shape 17"/>
          <p:cNvSpPr/>
          <p:nvPr/>
        </p:nvSpPr>
        <p:spPr>
          <a:xfrm>
            <a:off x="621792" y="3279267"/>
            <a:ext cx="256032" cy="256032"/>
          </a:xfrm>
          <a:prstGeom prst="ellipse">
            <a:avLst/>
          </a:prstGeom>
          <a:solidFill>
            <a:srgbClr val="F5A623"/>
          </a:solidFill>
          <a:ln w="12700">
            <a:solidFill>
              <a:srgbClr val="F5A623"/>
            </a:solidFill>
            <a:prstDash val="solid"/>
          </a:ln>
        </p:spPr>
      </p:sp>
      <p:sp>
        <p:nvSpPr>
          <p:cNvPr id="20" name="Text 18"/>
          <p:cNvSpPr txBox="1"/>
          <p:nvPr/>
        </p:nvSpPr>
        <p:spPr>
          <a:xfrm>
            <a:off x="1051560" y="3257550"/>
            <a:ext cx="7498080" cy="299466"/>
          </a:xfrm>
          <a:prstGeom prst="rect">
            <a:avLst/>
          </a:prstGeom>
          <a:noFill/>
          <a:ln/>
        </p:spPr>
        <p:txBody>
          <a:bodyPr wrap="square" lIns="0" tIns="0" rIns="0" bIns="0" rtlCol="0" anchor="ctr">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Para instalar software desde fuentes confiables: sudo apt install nombre.</a:t>
            </a:r>
            <a:endParaRPr lang="en-US" sz="1400" dirty="0"/>
          </a:p>
        </p:txBody>
      </p:sp>
      <p:sp>
        <p:nvSpPr>
          <p:cNvPr id="21" name="Text 19"/>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22" name="Text 20"/>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6</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500" b="1" dirty="0">
                <a:solidFill>
                  <a:srgbClr val="0B1D2E"/>
                </a:solidFill>
                <a:latin typeface="Calibri" pitchFamily="34" charset="0"/>
                <a:ea typeface="Calibri" pitchFamily="34" charset="-122"/>
                <a:cs typeface="Calibri" pitchFamily="34" charset="-120"/>
              </a:rPr>
              <a:t>El sistema de archivos y los permisos en Linux</a:t>
            </a:r>
            <a:endParaRPr lang="en-US" sz="2500" dirty="0"/>
          </a:p>
        </p:txBody>
      </p:sp>
      <p:sp>
        <p:nvSpPr>
          <p:cNvPr id="6" name="Text 4"/>
          <p:cNvSpPr txBox="1"/>
          <p:nvPr/>
        </p:nvSpPr>
        <p:spPr>
          <a:xfrm>
            <a:off x="457200" y="1234440"/>
            <a:ext cx="4892040" cy="3429000"/>
          </a:xfrm>
          <a:prstGeom prst="rect">
            <a:avLst/>
          </a:prstGeom>
          <a:noFill/>
          <a:ln/>
        </p:spPr>
        <p:txBody>
          <a:bodyPr wrap="square" lIns="0" tIns="0" rIns="0" bIns="0" rtlCol="0" anchor="t">
            <a:normAutofit/>
          </a:bodyPr>
          <a:lstStyle/>
          <a:p>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En Linux todo cuelga de la raíz </a:t>
            </a:r>
            <a:pPr indent="0" marL="0">
              <a:spcAft>
                <a:spcPts val="1000"/>
              </a:spcAft>
              <a:buNone/>
            </a:pPr>
            <a:r>
              <a:rPr lang="en-US" sz="1700" dirty="0">
                <a:solidFill>
                  <a:srgbClr val="1E293B"/>
                </a:solidFill>
                <a:latin typeface="Courier New" pitchFamily="34" charset="0"/>
                <a:ea typeface="Courier New" pitchFamily="34" charset="-122"/>
                <a:cs typeface="Courier New" pitchFamily="34" charset="-120"/>
              </a:rPr>
              <a:t>/</a:t>
            </a:r>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 </a:t>
            </a:r>
            <a:pPr indent="0" marL="0">
              <a:spcAft>
                <a:spcPts val="1000"/>
              </a:spcAft>
              <a:buNone/>
            </a:pPr>
            <a:r>
              <a:rPr lang="en-US" sz="1700" dirty="0">
                <a:solidFill>
                  <a:srgbClr val="1E293B"/>
                </a:solidFill>
                <a:latin typeface="Courier New" pitchFamily="34" charset="0"/>
                <a:ea typeface="Courier New" pitchFamily="34" charset="-122"/>
                <a:cs typeface="Courier New" pitchFamily="34" charset="-120"/>
              </a:rPr>
              <a:t>/home</a:t>
            </a:r>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 (carpetas de los usuarios), </a:t>
            </a:r>
            <a:pPr indent="0" marL="0">
              <a:spcAft>
                <a:spcPts val="1000"/>
              </a:spcAft>
              <a:buNone/>
            </a:pPr>
            <a:r>
              <a:rPr lang="en-US" sz="1700" dirty="0">
                <a:solidFill>
                  <a:srgbClr val="1E293B"/>
                </a:solidFill>
                <a:latin typeface="Courier New" pitchFamily="34" charset="0"/>
                <a:ea typeface="Courier New" pitchFamily="34" charset="-122"/>
                <a:cs typeface="Courier New" pitchFamily="34" charset="-120"/>
              </a:rPr>
              <a:t>/etc</a:t>
            </a:r>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 (configuración), </a:t>
            </a:r>
            <a:pPr indent="0" marL="0">
              <a:spcAft>
                <a:spcPts val="1000"/>
              </a:spcAft>
              <a:buNone/>
            </a:pPr>
            <a:r>
              <a:rPr lang="en-US" sz="1700" dirty="0">
                <a:solidFill>
                  <a:srgbClr val="1E293B"/>
                </a:solidFill>
                <a:latin typeface="Courier New" pitchFamily="34" charset="0"/>
                <a:ea typeface="Courier New" pitchFamily="34" charset="-122"/>
                <a:cs typeface="Courier New" pitchFamily="34" charset="-120"/>
              </a:rPr>
              <a:t>/var</a:t>
            </a:r>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 (registros y datos variables), </a:t>
            </a:r>
            <a:pPr indent="0" marL="0">
              <a:spcAft>
                <a:spcPts val="1000"/>
              </a:spcAft>
              <a:buNone/>
            </a:pPr>
            <a:r>
              <a:rPr lang="en-US" sz="1700" dirty="0">
                <a:solidFill>
                  <a:srgbClr val="1E293B"/>
                </a:solidFill>
                <a:latin typeface="Courier New" pitchFamily="34" charset="0"/>
                <a:ea typeface="Courier New" pitchFamily="34" charset="-122"/>
                <a:cs typeface="Courier New" pitchFamily="34" charset="-120"/>
              </a:rPr>
              <a:t>/bin</a:t>
            </a:r>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 (programas básicos) y </a:t>
            </a:r>
            <a:pPr indent="0" marL="0">
              <a:spcAft>
                <a:spcPts val="1000"/>
              </a:spcAft>
              <a:buNone/>
            </a:pPr>
            <a:r>
              <a:rPr lang="en-US" sz="1700" dirty="0">
                <a:solidFill>
                  <a:srgbClr val="1E293B"/>
                </a:solidFill>
                <a:latin typeface="Courier New" pitchFamily="34" charset="0"/>
                <a:ea typeface="Courier New" pitchFamily="34" charset="-122"/>
                <a:cs typeface="Courier New" pitchFamily="34" charset="-120"/>
              </a:rPr>
              <a:t>/root</a:t>
            </a:r>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 (carpeta del administrador). El sistema de archivos más usado es </a:t>
            </a:r>
            <a:pPr indent="0" marL="0">
              <a:spcAft>
                <a:spcPts val="1000"/>
              </a:spcAft>
              <a:buNone/>
            </a:pPr>
            <a:r>
              <a:rPr lang="en-US" sz="1700" b="1" dirty="0">
                <a:solidFill>
                  <a:srgbClr val="1E293B"/>
                </a:solidFill>
                <a:latin typeface="Calibri" pitchFamily="34" charset="0"/>
                <a:ea typeface="Calibri" pitchFamily="34" charset="-122"/>
                <a:cs typeface="Calibri" pitchFamily="34" charset="-120"/>
              </a:rPr>
              <a:t>ext4</a:t>
            </a:r>
            <a:pPr indent="0" marL="0">
              <a:spcAft>
                <a:spcPts val="1000"/>
              </a:spcAft>
              <a:buNone/>
            </a:pPr>
            <a:r>
              <a:rPr lang="en-US" sz="1700" dirty="0">
                <a:solidFill>
                  <a:srgbClr val="1E293B"/>
                </a:solidFill>
                <a:latin typeface="Calibri" pitchFamily="34" charset="0"/>
                <a:ea typeface="Calibri" pitchFamily="34" charset="-122"/>
                <a:cs typeface="Calibri" pitchFamily="34" charset="-120"/>
              </a:rPr>
              <a:t>.</a:t>
            </a:r>
            <a:endParaRPr lang="en-US" sz="1700" dirty="0"/>
          </a:p>
        </p:txBody>
      </p:sp>
      <p:sp>
        <p:nvSpPr>
          <p:cNvPr id="7" name="Shape 5"/>
          <p:cNvSpPr/>
          <p:nvPr/>
        </p:nvSpPr>
        <p:spPr>
          <a:xfrm>
            <a:off x="5623560" y="1234440"/>
            <a:ext cx="3063240" cy="2533802"/>
          </a:xfrm>
          <a:prstGeom prst="roundRect">
            <a:avLst>
              <a:gd name="adj" fmla="val 3609"/>
            </a:avLst>
          </a:prstGeom>
          <a:solidFill>
            <a:srgbClr val="FFF6E5"/>
          </a:solidFill>
          <a:ln w="12700">
            <a:solidFill>
              <a:srgbClr val="FFF6E5"/>
            </a:solidFill>
            <a:prstDash val="solid"/>
          </a:ln>
        </p:spPr>
      </p:sp>
      <p:sp>
        <p:nvSpPr>
          <p:cNvPr id="8" name="Shape 6"/>
          <p:cNvSpPr/>
          <p:nvPr/>
        </p:nvSpPr>
        <p:spPr>
          <a:xfrm>
            <a:off x="5852160" y="1463040"/>
            <a:ext cx="502920" cy="502920"/>
          </a:xfrm>
          <a:prstGeom prst="ellipse">
            <a:avLst/>
          </a:prstGeom>
          <a:solidFill>
            <a:srgbClr val="F5A623"/>
          </a:solidFill>
          <a:ln w="12700">
            <a:solidFill>
              <a:srgbClr val="F5A623"/>
            </a:solidFill>
            <a:prstDash val="solid"/>
          </a:ln>
        </p:spPr>
      </p:sp>
      <p:pic>
        <p:nvPicPr>
          <p:cNvPr id="9" name="Image 0" descr="preencoded.png">    </p:cNvPr>
          <p:cNvPicPr>
            <a:picLocks noChangeAspect="1"/>
          </p:cNvPicPr>
          <p:nvPr/>
        </p:nvPicPr>
        <p:blipFill>
          <a:blip r:embed="rId1"/>
          <a:stretch>
            <a:fillRect/>
          </a:stretch>
        </p:blipFill>
        <p:spPr>
          <a:xfrm>
            <a:off x="5975604" y="1586484"/>
            <a:ext cx="256032" cy="256032"/>
          </a:xfrm>
          <a:prstGeom prst="rect">
            <a:avLst/>
          </a:prstGeom>
        </p:spPr>
      </p:pic>
      <p:sp>
        <p:nvSpPr>
          <p:cNvPr id="10" name="Text 7"/>
          <p:cNvSpPr txBox="1"/>
          <p:nvPr/>
        </p:nvSpPr>
        <p:spPr>
          <a:xfrm>
            <a:off x="6492240" y="1508760"/>
            <a:ext cx="2057400" cy="411480"/>
          </a:xfrm>
          <a:prstGeom prst="rect">
            <a:avLst/>
          </a:prstGeom>
          <a:noFill/>
          <a:ln/>
        </p:spPr>
        <p:txBody>
          <a:bodyPr wrap="square" lIns="0" tIns="0" rIns="0" bIns="0" rtlCol="0" anchor="ctr"/>
          <a:lstStyle/>
          <a:p>
            <a:pPr indent="0" marL="0">
              <a:buNone/>
            </a:pPr>
            <a:r>
              <a:rPr lang="en-US" sz="1600" b="1" dirty="0">
                <a:solidFill>
                  <a:srgbClr val="9A5B00"/>
                </a:solidFill>
                <a:latin typeface="Calibri" pitchFamily="34" charset="0"/>
                <a:ea typeface="Calibri" pitchFamily="34" charset="-122"/>
                <a:cs typeface="Calibri" pitchFamily="34" charset="-120"/>
              </a:rPr>
              <a:t>Ejemplo</a:t>
            </a:r>
            <a:endParaRPr lang="en-US" sz="1600" dirty="0"/>
          </a:p>
        </p:txBody>
      </p:sp>
      <p:sp>
        <p:nvSpPr>
          <p:cNvPr id="11" name="Text 8"/>
          <p:cNvSpPr txBox="1"/>
          <p:nvPr/>
        </p:nvSpPr>
        <p:spPr>
          <a:xfrm>
            <a:off x="5852160" y="2148840"/>
            <a:ext cx="2606040" cy="1482242"/>
          </a:xfrm>
          <a:prstGeom prst="rect">
            <a:avLst/>
          </a:prstGeom>
          <a:noFill/>
          <a:ln/>
        </p:spPr>
        <p:txBody>
          <a:bodyPr wrap="square" lIns="0" tIns="0" rIns="0" bIns="0" rtlCol="0" anchor="t">
            <a:normAutofit/>
          </a:bodyPr>
          <a:lstStyle/>
          <a:p>
            <a:pPr indent="0" marL="0">
              <a:buNone/>
            </a:pPr>
            <a:r>
              <a:rPr lang="en-US" sz="1300" dirty="0">
                <a:solidFill>
                  <a:srgbClr val="1E293B"/>
                </a:solidFill>
                <a:latin typeface="Courier New" pitchFamily="34" charset="0"/>
                <a:ea typeface="Courier New" pitchFamily="34" charset="-122"/>
                <a:cs typeface="Courier New" pitchFamily="34" charset="-120"/>
              </a:rPr>
              <a:t>-rwxr-x---</a:t>
            </a:r>
            <a:pPr indent="0" marL="0">
              <a:buNone/>
            </a:pPr>
            <a:r>
              <a:rPr lang="en-US" sz="1300" dirty="0">
                <a:solidFill>
                  <a:srgbClr val="1E293B"/>
                </a:solidFill>
                <a:latin typeface="Calibri" pitchFamily="34" charset="0"/>
                <a:ea typeface="Calibri" pitchFamily="34" charset="-122"/>
                <a:cs typeface="Calibri" pitchFamily="34" charset="-120"/>
              </a:rPr>
              <a:t> significa: el dueño puede leer, escribir y ejecutar (7); el grupo puede leer y ejecutar (5); los demás no pueden hacer nada (0). En números: </a:t>
            </a:r>
            <a:pPr indent="0" marL="0">
              <a:buNone/>
            </a:pPr>
            <a:r>
              <a:rPr lang="en-US" sz="1300" b="1" dirty="0">
                <a:solidFill>
                  <a:srgbClr val="1E293B"/>
                </a:solidFill>
                <a:latin typeface="Calibri" pitchFamily="34" charset="0"/>
                <a:ea typeface="Calibri" pitchFamily="34" charset="-122"/>
                <a:cs typeface="Calibri" pitchFamily="34" charset="-120"/>
              </a:rPr>
              <a:t>750</a:t>
            </a:r>
            <a:pPr indent="0" marL="0">
              <a:buNone/>
            </a:pPr>
            <a:r>
              <a:rPr lang="en-US" sz="1300" dirty="0">
                <a:solidFill>
                  <a:srgbClr val="1E293B"/>
                </a:solidFill>
                <a:latin typeface="Calibri" pitchFamily="34" charset="0"/>
                <a:ea typeface="Calibri" pitchFamily="34" charset="-122"/>
                <a:cs typeface="Calibri" pitchFamily="34" charset="-120"/>
              </a:rPr>
              <a:t>. Se asigna con </a:t>
            </a:r>
            <a:pPr indent="0" marL="0">
              <a:buNone/>
            </a:pPr>
            <a:r>
              <a:rPr lang="en-US" sz="1300" dirty="0">
                <a:solidFill>
                  <a:srgbClr val="1E293B"/>
                </a:solidFill>
                <a:latin typeface="Courier New" pitchFamily="34" charset="0"/>
                <a:ea typeface="Courier New" pitchFamily="34" charset="-122"/>
                <a:cs typeface="Courier New" pitchFamily="34" charset="-120"/>
              </a:rPr>
              <a:t>chmod 750 script.sh</a:t>
            </a:r>
            <a:pPr indent="0" marL="0">
              <a:buNone/>
            </a:pPr>
            <a:r>
              <a:rPr lang="en-US" sz="1300" dirty="0">
                <a:solidFill>
                  <a:srgbClr val="1E293B"/>
                </a:solidFill>
                <a:latin typeface="Calibri" pitchFamily="34" charset="0"/>
                <a:ea typeface="Calibri" pitchFamily="34" charset="-122"/>
                <a:cs typeface="Calibri" pitchFamily="34" charset="-120"/>
              </a:rPr>
              <a:t>.</a:t>
            </a:r>
            <a:endParaRPr lang="en-US" sz="1300" dirty="0"/>
          </a:p>
        </p:txBody>
      </p:sp>
      <p:sp>
        <p:nvSpPr>
          <p:cNvPr id="12" name="Text 9"/>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13" name="Text 10"/>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6 · EL SISTEMA DE ARCHIVOS Y LOS PERMISOS EN LINUX</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Permisos</a:t>
            </a:r>
            <a:endParaRPr lang="en-US" sz="2800" dirty="0"/>
          </a:p>
        </p:txBody>
      </p:sp>
      <p:sp>
        <p:nvSpPr>
          <p:cNvPr id="6" name="Text 4"/>
          <p:cNvSpPr txBox="1"/>
          <p:nvPr/>
        </p:nvSpPr>
        <p:spPr>
          <a:xfrm>
            <a:off x="457200" y="1234440"/>
            <a:ext cx="8229600" cy="603504"/>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Cada archivo tiene permisos para tres grupos: </a:t>
            </a:r>
            <a:pPr indent="0" marL="0">
              <a:buNone/>
            </a:pPr>
            <a:r>
              <a:rPr lang="en-US" sz="1400" b="1" dirty="0">
                <a:solidFill>
                  <a:srgbClr val="1E293B"/>
                </a:solidFill>
                <a:latin typeface="Calibri" pitchFamily="34" charset="0"/>
                <a:ea typeface="Calibri" pitchFamily="34" charset="-122"/>
                <a:cs typeface="Calibri" pitchFamily="34" charset="-120"/>
              </a:rPr>
              <a:t>dueño</a:t>
            </a:r>
            <a:pPr indent="0" marL="0">
              <a:buNone/>
            </a:pPr>
            <a:r>
              <a:rPr lang="en-US" sz="1400" dirty="0">
                <a:solidFill>
                  <a:srgbClr val="1E293B"/>
                </a:solidFill>
                <a:latin typeface="Calibri" pitchFamily="34" charset="0"/>
                <a:ea typeface="Calibri" pitchFamily="34" charset="-122"/>
                <a:cs typeface="Calibri" pitchFamily="34" charset="-120"/>
              </a:rPr>
              <a:t>, </a:t>
            </a:r>
            <a:pPr indent="0" marL="0">
              <a:buNone/>
            </a:pPr>
            <a:r>
              <a:rPr lang="en-US" sz="1400" b="1" dirty="0">
                <a:solidFill>
                  <a:srgbClr val="1E293B"/>
                </a:solidFill>
                <a:latin typeface="Calibri" pitchFamily="34" charset="0"/>
                <a:ea typeface="Calibri" pitchFamily="34" charset="-122"/>
                <a:cs typeface="Calibri" pitchFamily="34" charset="-120"/>
              </a:rPr>
              <a:t>grupo</a:t>
            </a:r>
            <a:pPr indent="0" marL="0">
              <a:buNone/>
            </a:pPr>
            <a:r>
              <a:rPr lang="en-US" sz="1400" dirty="0">
                <a:solidFill>
                  <a:srgbClr val="1E293B"/>
                </a:solidFill>
                <a:latin typeface="Calibri" pitchFamily="34" charset="0"/>
                <a:ea typeface="Calibri" pitchFamily="34" charset="-122"/>
                <a:cs typeface="Calibri" pitchFamily="34" charset="-120"/>
              </a:rPr>
              <a:t> y </a:t>
            </a:r>
            <a:pPr indent="0" marL="0">
              <a:buNone/>
            </a:pPr>
            <a:r>
              <a:rPr lang="en-US" sz="1400" b="1" dirty="0">
                <a:solidFill>
                  <a:srgbClr val="1E293B"/>
                </a:solidFill>
                <a:latin typeface="Calibri" pitchFamily="34" charset="0"/>
                <a:ea typeface="Calibri" pitchFamily="34" charset="-122"/>
                <a:cs typeface="Calibri" pitchFamily="34" charset="-120"/>
              </a:rPr>
              <a:t>otros</a:t>
            </a:r>
            <a:pPr indent="0" marL="0">
              <a:buNone/>
            </a:pPr>
            <a:r>
              <a:rPr lang="en-US" sz="1400" dirty="0">
                <a:solidFill>
                  <a:srgbClr val="1E293B"/>
                </a:solidFill>
                <a:latin typeface="Calibri" pitchFamily="34" charset="0"/>
                <a:ea typeface="Calibri" pitchFamily="34" charset="-122"/>
                <a:cs typeface="Calibri" pitchFamily="34" charset="-120"/>
              </a:rPr>
              <a:t>. Cada uno puede tener </a:t>
            </a:r>
            <a:pPr indent="0" marL="0">
              <a:buNone/>
            </a:pPr>
            <a:r>
              <a:rPr lang="en-US" sz="1400" b="1" dirty="0">
                <a:solidFill>
                  <a:srgbClr val="1E293B"/>
                </a:solidFill>
                <a:latin typeface="Calibri" pitchFamily="34" charset="0"/>
                <a:ea typeface="Calibri" pitchFamily="34" charset="-122"/>
                <a:cs typeface="Calibri" pitchFamily="34" charset="-120"/>
              </a:rPr>
              <a:t>r</a:t>
            </a:r>
            <a:pPr indent="0" marL="0">
              <a:buNone/>
            </a:pPr>
            <a:r>
              <a:rPr lang="en-US" sz="1400" dirty="0">
                <a:solidFill>
                  <a:srgbClr val="1E293B"/>
                </a:solidFill>
                <a:latin typeface="Calibri" pitchFamily="34" charset="0"/>
                <a:ea typeface="Calibri" pitchFamily="34" charset="-122"/>
                <a:cs typeface="Calibri" pitchFamily="34" charset="-120"/>
              </a:rPr>
              <a:t> (leer = 4), </a:t>
            </a:r>
            <a:pPr indent="0" marL="0">
              <a:buNone/>
            </a:pPr>
            <a:r>
              <a:rPr lang="en-US" sz="1400" b="1" dirty="0">
                <a:solidFill>
                  <a:srgbClr val="1E293B"/>
                </a:solidFill>
                <a:latin typeface="Calibri" pitchFamily="34" charset="0"/>
                <a:ea typeface="Calibri" pitchFamily="34" charset="-122"/>
                <a:cs typeface="Calibri" pitchFamily="34" charset="-120"/>
              </a:rPr>
              <a:t>w</a:t>
            </a:r>
            <a:pPr indent="0" marL="0">
              <a:buNone/>
            </a:pPr>
            <a:r>
              <a:rPr lang="en-US" sz="1400" dirty="0">
                <a:solidFill>
                  <a:srgbClr val="1E293B"/>
                </a:solidFill>
                <a:latin typeface="Calibri" pitchFamily="34" charset="0"/>
                <a:ea typeface="Calibri" pitchFamily="34" charset="-122"/>
                <a:cs typeface="Calibri" pitchFamily="34" charset="-120"/>
              </a:rPr>
              <a:t> (escribir = 2) y </a:t>
            </a:r>
            <a:pPr indent="0" marL="0">
              <a:buNone/>
            </a:pPr>
            <a:r>
              <a:rPr lang="en-US" sz="1400" b="1" dirty="0">
                <a:solidFill>
                  <a:srgbClr val="1E293B"/>
                </a:solidFill>
                <a:latin typeface="Calibri" pitchFamily="34" charset="0"/>
                <a:ea typeface="Calibri" pitchFamily="34" charset="-122"/>
                <a:cs typeface="Calibri" pitchFamily="34" charset="-120"/>
              </a:rPr>
              <a:t>x</a:t>
            </a:r>
            <a:pPr indent="0" marL="0">
              <a:buNone/>
            </a:pPr>
            <a:r>
              <a:rPr lang="en-US" sz="1400" dirty="0">
                <a:solidFill>
                  <a:srgbClr val="1E293B"/>
                </a:solidFill>
                <a:latin typeface="Calibri" pitchFamily="34" charset="0"/>
                <a:ea typeface="Calibri" pitchFamily="34" charset="-122"/>
                <a:cs typeface="Calibri" pitchFamily="34" charset="-120"/>
              </a:rPr>
              <a:t> (ejecutar = 1).</a:t>
            </a:r>
            <a:endParaRPr lang="en-US" sz="1400" dirty="0"/>
          </a:p>
        </p:txBody>
      </p:sp>
      <p:sp>
        <p:nvSpPr>
          <p:cNvPr id="7" name="Shape 5"/>
          <p:cNvSpPr/>
          <p:nvPr/>
        </p:nvSpPr>
        <p:spPr>
          <a:xfrm>
            <a:off x="457200" y="1947672"/>
            <a:ext cx="8229600" cy="813816"/>
          </a:xfrm>
          <a:prstGeom prst="roundRect">
            <a:avLst>
              <a:gd name="adj" fmla="val 6742"/>
            </a:avLst>
          </a:prstGeom>
          <a:solidFill>
            <a:srgbClr val="F1F7F8"/>
          </a:solidFill>
          <a:ln w="12700">
            <a:solidFill>
              <a:srgbClr val="F1F7F8"/>
            </a:solidFill>
            <a:prstDash val="solid"/>
          </a:ln>
        </p:spPr>
      </p:sp>
      <p:sp>
        <p:nvSpPr>
          <p:cNvPr id="8" name="Shape 6"/>
          <p:cNvSpPr/>
          <p:nvPr/>
        </p:nvSpPr>
        <p:spPr>
          <a:xfrm>
            <a:off x="621792" y="2226564"/>
            <a:ext cx="256032" cy="256032"/>
          </a:xfrm>
          <a:prstGeom prst="ellipse">
            <a:avLst/>
          </a:prstGeom>
          <a:solidFill>
            <a:srgbClr val="F5A623"/>
          </a:solidFill>
          <a:ln w="12700">
            <a:solidFill>
              <a:srgbClr val="F5A623"/>
            </a:solidFill>
            <a:prstDash val="solid"/>
          </a:ln>
        </p:spPr>
      </p:sp>
      <p:sp>
        <p:nvSpPr>
          <p:cNvPr id="9" name="Text 7"/>
          <p:cNvSpPr txBox="1"/>
          <p:nvPr/>
        </p:nvSpPr>
        <p:spPr>
          <a:xfrm>
            <a:off x="1051560" y="1947672"/>
            <a:ext cx="7498080" cy="813816"/>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chmod cambia los permisos.</a:t>
            </a:r>
            <a:endParaRPr lang="en-US" sz="1600" dirty="0"/>
          </a:p>
        </p:txBody>
      </p:sp>
      <p:sp>
        <p:nvSpPr>
          <p:cNvPr id="10" name="Shape 8"/>
          <p:cNvSpPr/>
          <p:nvPr/>
        </p:nvSpPr>
        <p:spPr>
          <a:xfrm>
            <a:off x="457200" y="2898648"/>
            <a:ext cx="8229600" cy="813816"/>
          </a:xfrm>
          <a:prstGeom prst="roundRect">
            <a:avLst>
              <a:gd name="adj" fmla="val 6742"/>
            </a:avLst>
          </a:prstGeom>
          <a:solidFill>
            <a:srgbClr val="F1F7F8"/>
          </a:solidFill>
          <a:ln w="12700">
            <a:solidFill>
              <a:srgbClr val="F1F7F8"/>
            </a:solidFill>
            <a:prstDash val="solid"/>
          </a:ln>
        </p:spPr>
      </p:sp>
      <p:sp>
        <p:nvSpPr>
          <p:cNvPr id="11" name="Shape 9"/>
          <p:cNvSpPr/>
          <p:nvPr/>
        </p:nvSpPr>
        <p:spPr>
          <a:xfrm>
            <a:off x="621792" y="3177540"/>
            <a:ext cx="256032" cy="256032"/>
          </a:xfrm>
          <a:prstGeom prst="ellipse">
            <a:avLst/>
          </a:prstGeom>
          <a:solidFill>
            <a:srgbClr val="F5A623"/>
          </a:solidFill>
          <a:ln w="12700">
            <a:solidFill>
              <a:srgbClr val="F5A623"/>
            </a:solidFill>
            <a:prstDash val="solid"/>
          </a:ln>
        </p:spPr>
      </p:sp>
      <p:sp>
        <p:nvSpPr>
          <p:cNvPr id="12" name="Text 10"/>
          <p:cNvSpPr txBox="1"/>
          <p:nvPr/>
        </p:nvSpPr>
        <p:spPr>
          <a:xfrm>
            <a:off x="1051560" y="2898648"/>
            <a:ext cx="7498080" cy="813816"/>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chown cambia el dueño.</a:t>
            </a:r>
            <a:endParaRPr lang="en-US" sz="1600" dirty="0"/>
          </a:p>
        </p:txBody>
      </p:sp>
      <p:sp>
        <p:nvSpPr>
          <p:cNvPr id="13" name="Shape 11"/>
          <p:cNvSpPr/>
          <p:nvPr/>
        </p:nvSpPr>
        <p:spPr>
          <a:xfrm>
            <a:off x="457200" y="3849624"/>
            <a:ext cx="8229600" cy="813816"/>
          </a:xfrm>
          <a:prstGeom prst="roundRect">
            <a:avLst>
              <a:gd name="adj" fmla="val 6742"/>
            </a:avLst>
          </a:prstGeom>
          <a:solidFill>
            <a:srgbClr val="F1F7F8"/>
          </a:solidFill>
          <a:ln w="12700">
            <a:solidFill>
              <a:srgbClr val="F1F7F8"/>
            </a:solidFill>
            <a:prstDash val="solid"/>
          </a:ln>
        </p:spPr>
      </p:sp>
      <p:sp>
        <p:nvSpPr>
          <p:cNvPr id="14" name="Shape 12"/>
          <p:cNvSpPr/>
          <p:nvPr/>
        </p:nvSpPr>
        <p:spPr>
          <a:xfrm>
            <a:off x="621792" y="4128516"/>
            <a:ext cx="256032" cy="256032"/>
          </a:xfrm>
          <a:prstGeom prst="ellipse">
            <a:avLst/>
          </a:prstGeom>
          <a:solidFill>
            <a:srgbClr val="F5A623"/>
          </a:solidFill>
          <a:ln w="12700">
            <a:solidFill>
              <a:srgbClr val="F5A623"/>
            </a:solidFill>
            <a:prstDash val="solid"/>
          </a:ln>
        </p:spPr>
      </p:sp>
      <p:sp>
        <p:nvSpPr>
          <p:cNvPr id="15" name="Text 13"/>
          <p:cNvSpPr txBox="1"/>
          <p:nvPr/>
        </p:nvSpPr>
        <p:spPr>
          <a:xfrm>
            <a:off x="1051560" y="3849624"/>
            <a:ext cx="7498080" cy="813816"/>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Un permiso 777 (todos pueden todo) es un riesgo grave de seguridad.</a:t>
            </a:r>
            <a:endParaRPr lang="en-US" sz="1600" dirty="0"/>
          </a:p>
        </p:txBody>
      </p:sp>
      <p:sp>
        <p:nvSpPr>
          <p:cNvPr id="16" name="Text 14"/>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17" name="Text 15"/>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7</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Protección antimalware</a:t>
            </a:r>
            <a:endParaRPr lang="en-US" sz="2800" dirty="0"/>
          </a:p>
        </p:txBody>
      </p:sp>
      <p:sp>
        <p:nvSpPr>
          <p:cNvPr id="6" name="Text 4"/>
          <p:cNvSpPr txBox="1"/>
          <p:nvPr/>
        </p:nvSpPr>
        <p:spPr>
          <a:xfrm>
            <a:off x="457200" y="1234440"/>
            <a:ext cx="8229600" cy="356616"/>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Un programa </a:t>
            </a:r>
            <a:pPr indent="0" marL="0">
              <a:buNone/>
            </a:pPr>
            <a:r>
              <a:rPr lang="en-US" sz="1400" b="1" dirty="0">
                <a:solidFill>
                  <a:srgbClr val="1E293B"/>
                </a:solidFill>
                <a:latin typeface="Calibri" pitchFamily="34" charset="0"/>
                <a:ea typeface="Calibri" pitchFamily="34" charset="-122"/>
                <a:cs typeface="Calibri" pitchFamily="34" charset="-120"/>
              </a:rPr>
              <a:t>antimalware</a:t>
            </a:r>
            <a:pPr indent="0" marL="0">
              <a:buNone/>
            </a:pPr>
            <a:r>
              <a:rPr lang="en-US" sz="1400" dirty="0">
                <a:solidFill>
                  <a:srgbClr val="1E293B"/>
                </a:solidFill>
                <a:latin typeface="Calibri" pitchFamily="34" charset="0"/>
                <a:ea typeface="Calibri" pitchFamily="34" charset="-122"/>
                <a:cs typeface="Calibri" pitchFamily="34" charset="-120"/>
              </a:rPr>
              <a:t> detecta y elimina software malicioso con tres técnicas: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700784"/>
          <a:ext cx="8229600" cy="914400"/>
        </p:xfrm>
        <a:graphic>
          <a:graphicData uri="http://schemas.openxmlformats.org/drawingml/2006/table">
            <a:tbl>
              <a:tblPr/>
              <a:tblGrid>
                <a:gridCol w="1764946"/>
                <a:gridCol w="3674029"/>
                <a:gridCol w="2790625"/>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Técnica</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Cómo detecta</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Limitación</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Por firmas</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Compara los archivos con una base de datos de malware conocido.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No detecta malware nuevo (de día cero).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Heurística</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Busca características sospechosas en el código.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Puede dar falsos positivos.</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Por comportamiento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Observa lo que hace el programa: cifrar muchos archivos de golpe, por ejemplo.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Detecta cuando el programa ya está corriendo.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bl>
          </a:graphicData>
        </a:graphic>
      </p:graphicFrame>
      <p:sp>
        <p:nvSpPr>
          <p:cNvPr id="8" name="Text 5"/>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9" name="Text 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7 · PROTECCIÓN ANTIMALWARE</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Procedimiento ante una infección</a:t>
            </a:r>
            <a:endParaRPr lang="en-US" sz="2800" dirty="0"/>
          </a:p>
        </p:txBody>
      </p:sp>
      <p:sp>
        <p:nvSpPr>
          <p:cNvPr id="6" name="Shape 4"/>
          <p:cNvSpPr/>
          <p:nvPr/>
        </p:nvSpPr>
        <p:spPr>
          <a:xfrm>
            <a:off x="457200" y="3941064"/>
            <a:ext cx="8229600" cy="722376"/>
          </a:xfrm>
          <a:prstGeom prst="roundRect">
            <a:avLst>
              <a:gd name="adj" fmla="val 7595"/>
            </a:avLst>
          </a:prstGeom>
          <a:solidFill>
            <a:srgbClr val="FFF6E5"/>
          </a:solidFill>
          <a:ln w="12700">
            <a:solidFill>
              <a:srgbClr val="FFF6E5"/>
            </a:solidFill>
            <a:prstDash val="solid"/>
          </a:ln>
        </p:spPr>
      </p:sp>
      <p:sp>
        <p:nvSpPr>
          <p:cNvPr id="7" name="Text 5"/>
          <p:cNvSpPr txBox="1"/>
          <p:nvPr/>
        </p:nvSpPr>
        <p:spPr>
          <a:xfrm>
            <a:off x="640080" y="3941064"/>
            <a:ext cx="7863840" cy="722376"/>
          </a:xfrm>
          <a:prstGeom prst="rect">
            <a:avLst/>
          </a:prstGeom>
          <a:noFill/>
          <a:ln/>
        </p:spPr>
        <p:txBody>
          <a:bodyPr wrap="square" lIns="0" tIns="0" rIns="0" bIns="0" rtlCol="0" anchor="ctr">
            <a:normAutofit/>
          </a:bodyPr>
          <a:lstStyle/>
          <a:p>
            <a:pPr indent="0" marL="0">
              <a:buNone/>
            </a:pPr>
            <a:r>
              <a:rPr lang="en-US" sz="1350" dirty="0">
                <a:solidFill>
                  <a:srgbClr val="1E293B"/>
                </a:solidFill>
                <a:latin typeface="Calibri" pitchFamily="34" charset="0"/>
                <a:ea typeface="Calibri" pitchFamily="34" charset="-122"/>
                <a:cs typeface="Calibri" pitchFamily="34" charset="-120"/>
              </a:rPr>
              <a:t>Linux tiene menos malware, pero no es inmune: existen herramientas como </a:t>
            </a:r>
            <a:pPr indent="0" marL="0">
              <a:buNone/>
            </a:pPr>
            <a:r>
              <a:rPr lang="en-US" sz="1350" b="1" dirty="0">
                <a:solidFill>
                  <a:srgbClr val="1E293B"/>
                </a:solidFill>
                <a:latin typeface="Calibri" pitchFamily="34" charset="0"/>
                <a:ea typeface="Calibri" pitchFamily="34" charset="-122"/>
                <a:cs typeface="Calibri" pitchFamily="34" charset="-120"/>
              </a:rPr>
              <a:t>ClamAV</a:t>
            </a:r>
            <a:pPr indent="0" marL="0">
              <a:buNone/>
            </a:pPr>
            <a:r>
              <a:rPr lang="en-US" sz="1350" dirty="0">
                <a:solidFill>
                  <a:srgbClr val="1E293B"/>
                </a:solidFill>
                <a:latin typeface="Calibri" pitchFamily="34" charset="0"/>
                <a:ea typeface="Calibri" pitchFamily="34" charset="-122"/>
                <a:cs typeface="Calibri" pitchFamily="34" charset="-120"/>
              </a:rPr>
              <a:t> (antivirus) y </a:t>
            </a:r>
            <a:pPr indent="0" marL="0">
              <a:buNone/>
            </a:pPr>
            <a:r>
              <a:rPr lang="en-US" sz="1350" b="1" dirty="0">
                <a:solidFill>
                  <a:srgbClr val="1E293B"/>
                </a:solidFill>
                <a:latin typeface="Calibri" pitchFamily="34" charset="0"/>
                <a:ea typeface="Calibri" pitchFamily="34" charset="-122"/>
                <a:cs typeface="Calibri" pitchFamily="34" charset="-120"/>
              </a:rPr>
              <a:t>rkhunter</a:t>
            </a:r>
            <a:pPr indent="0" marL="0">
              <a:buNone/>
            </a:pPr>
            <a:r>
              <a:rPr lang="en-US" sz="1350" dirty="0">
                <a:solidFill>
                  <a:srgbClr val="1E293B"/>
                </a:solidFill>
                <a:latin typeface="Calibri" pitchFamily="34" charset="0"/>
                <a:ea typeface="Calibri" pitchFamily="34" charset="-122"/>
                <a:cs typeface="Calibri" pitchFamily="34" charset="-120"/>
              </a:rPr>
              <a:t> o </a:t>
            </a:r>
            <a:pPr indent="0" marL="0">
              <a:buNone/>
            </a:pPr>
            <a:r>
              <a:rPr lang="en-US" sz="1350" b="1" dirty="0">
                <a:solidFill>
                  <a:srgbClr val="1E293B"/>
                </a:solidFill>
                <a:latin typeface="Calibri" pitchFamily="34" charset="0"/>
                <a:ea typeface="Calibri" pitchFamily="34" charset="-122"/>
                <a:cs typeface="Calibri" pitchFamily="34" charset="-120"/>
              </a:rPr>
              <a:t>chkrootkit</a:t>
            </a:r>
            <a:pPr indent="0" marL="0">
              <a:buNone/>
            </a:pPr>
            <a:r>
              <a:rPr lang="en-US" sz="1350" dirty="0">
                <a:solidFill>
                  <a:srgbClr val="1E293B"/>
                </a:solidFill>
                <a:latin typeface="Calibri" pitchFamily="34" charset="0"/>
                <a:ea typeface="Calibri" pitchFamily="34" charset="-122"/>
                <a:cs typeface="Calibri" pitchFamily="34" charset="-120"/>
              </a:rPr>
              <a:t> (buscan rootkits).</a:t>
            </a:r>
            <a:endParaRPr lang="en-US" sz="1350" dirty="0"/>
          </a:p>
        </p:txBody>
      </p:sp>
      <p:sp>
        <p:nvSpPr>
          <p:cNvPr id="8" name="Shape 6"/>
          <p:cNvSpPr/>
          <p:nvPr/>
        </p:nvSpPr>
        <p:spPr>
          <a:xfrm>
            <a:off x="457200" y="1234440"/>
            <a:ext cx="4023360" cy="777240"/>
          </a:xfrm>
          <a:prstGeom prst="roundRect">
            <a:avLst>
              <a:gd name="adj" fmla="val 7059"/>
            </a:avLst>
          </a:prstGeom>
          <a:solidFill>
            <a:srgbClr val="F1F7F8"/>
          </a:solidFill>
          <a:ln w="12700">
            <a:solidFill>
              <a:srgbClr val="F1F7F8"/>
            </a:solidFill>
            <a:prstDash val="solid"/>
          </a:ln>
        </p:spPr>
      </p:sp>
      <p:sp>
        <p:nvSpPr>
          <p:cNvPr id="9" name="Shape 7"/>
          <p:cNvSpPr/>
          <p:nvPr/>
        </p:nvSpPr>
        <p:spPr>
          <a:xfrm>
            <a:off x="594360" y="1431036"/>
            <a:ext cx="384048" cy="384048"/>
          </a:xfrm>
          <a:prstGeom prst="ellipse">
            <a:avLst/>
          </a:prstGeom>
          <a:solidFill>
            <a:srgbClr val="0E7C86"/>
          </a:solidFill>
          <a:ln w="12700">
            <a:solidFill>
              <a:srgbClr val="0E7C86"/>
            </a:solidFill>
            <a:prstDash val="solid"/>
          </a:ln>
        </p:spPr>
      </p:sp>
      <p:sp>
        <p:nvSpPr>
          <p:cNvPr id="10" name="Text 8"/>
          <p:cNvSpPr txBox="1"/>
          <p:nvPr/>
        </p:nvSpPr>
        <p:spPr>
          <a:xfrm>
            <a:off x="594360" y="14310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115568" y="1234440"/>
            <a:ext cx="3246120" cy="777240"/>
          </a:xfrm>
          <a:prstGeom prst="rect">
            <a:avLst/>
          </a:prstGeom>
          <a:noFill/>
          <a:ln/>
        </p:spPr>
        <p:txBody>
          <a:bodyPr wrap="square" lIns="0" tIns="0" rIns="0" bIns="0" rtlCol="0" anchor="ctr">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Desconectar el equipo de la red.</a:t>
            </a:r>
            <a:endParaRPr lang="en-US" sz="1200" dirty="0"/>
          </a:p>
        </p:txBody>
      </p:sp>
      <p:sp>
        <p:nvSpPr>
          <p:cNvPr id="12" name="Shape 10"/>
          <p:cNvSpPr/>
          <p:nvPr/>
        </p:nvSpPr>
        <p:spPr>
          <a:xfrm>
            <a:off x="457200" y="2121408"/>
            <a:ext cx="4023360" cy="777240"/>
          </a:xfrm>
          <a:prstGeom prst="roundRect">
            <a:avLst>
              <a:gd name="adj" fmla="val 7059"/>
            </a:avLst>
          </a:prstGeom>
          <a:solidFill>
            <a:srgbClr val="F1F7F8"/>
          </a:solidFill>
          <a:ln w="12700">
            <a:solidFill>
              <a:srgbClr val="F1F7F8"/>
            </a:solidFill>
            <a:prstDash val="solid"/>
          </a:ln>
        </p:spPr>
      </p:sp>
      <p:sp>
        <p:nvSpPr>
          <p:cNvPr id="13" name="Shape 11"/>
          <p:cNvSpPr/>
          <p:nvPr/>
        </p:nvSpPr>
        <p:spPr>
          <a:xfrm>
            <a:off x="594360" y="2318004"/>
            <a:ext cx="384048" cy="384048"/>
          </a:xfrm>
          <a:prstGeom prst="ellipse">
            <a:avLst/>
          </a:prstGeom>
          <a:solidFill>
            <a:srgbClr val="0E7C86"/>
          </a:solidFill>
          <a:ln w="12700">
            <a:solidFill>
              <a:srgbClr val="0E7C86"/>
            </a:solidFill>
            <a:prstDash val="solid"/>
          </a:ln>
        </p:spPr>
      </p:sp>
      <p:sp>
        <p:nvSpPr>
          <p:cNvPr id="14" name="Text 12"/>
          <p:cNvSpPr txBox="1"/>
          <p:nvPr/>
        </p:nvSpPr>
        <p:spPr>
          <a:xfrm>
            <a:off x="594360" y="23180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115568" y="2121408"/>
            <a:ext cx="3246120" cy="777240"/>
          </a:xfrm>
          <a:prstGeom prst="rect">
            <a:avLst/>
          </a:prstGeom>
          <a:noFill/>
          <a:ln/>
        </p:spPr>
        <p:txBody>
          <a:bodyPr wrap="square" lIns="0" tIns="0" rIns="0" bIns="0" rtlCol="0" anchor="ctr">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Actualizar las firmas del antimalware.</a:t>
            </a:r>
            <a:endParaRPr lang="en-US" sz="1200" dirty="0"/>
          </a:p>
        </p:txBody>
      </p:sp>
      <p:sp>
        <p:nvSpPr>
          <p:cNvPr id="16" name="Shape 14"/>
          <p:cNvSpPr/>
          <p:nvPr/>
        </p:nvSpPr>
        <p:spPr>
          <a:xfrm>
            <a:off x="457200" y="3008376"/>
            <a:ext cx="4023360" cy="777240"/>
          </a:xfrm>
          <a:prstGeom prst="roundRect">
            <a:avLst>
              <a:gd name="adj" fmla="val 7059"/>
            </a:avLst>
          </a:prstGeom>
          <a:solidFill>
            <a:srgbClr val="F1F7F8"/>
          </a:solidFill>
          <a:ln w="12700">
            <a:solidFill>
              <a:srgbClr val="F1F7F8"/>
            </a:solidFill>
            <a:prstDash val="solid"/>
          </a:ln>
        </p:spPr>
      </p:sp>
      <p:sp>
        <p:nvSpPr>
          <p:cNvPr id="17" name="Shape 15"/>
          <p:cNvSpPr/>
          <p:nvPr/>
        </p:nvSpPr>
        <p:spPr>
          <a:xfrm>
            <a:off x="594360" y="3204972"/>
            <a:ext cx="384048" cy="384048"/>
          </a:xfrm>
          <a:prstGeom prst="ellipse">
            <a:avLst/>
          </a:prstGeom>
          <a:solidFill>
            <a:srgbClr val="0E7C86"/>
          </a:solidFill>
          <a:ln w="12700">
            <a:solidFill>
              <a:srgbClr val="0E7C86"/>
            </a:solidFill>
            <a:prstDash val="solid"/>
          </a:ln>
        </p:spPr>
      </p:sp>
      <p:sp>
        <p:nvSpPr>
          <p:cNvPr id="18" name="Text 16"/>
          <p:cNvSpPr txBox="1"/>
          <p:nvPr/>
        </p:nvSpPr>
        <p:spPr>
          <a:xfrm>
            <a:off x="594360" y="32049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15568" y="3008376"/>
            <a:ext cx="3246120" cy="777240"/>
          </a:xfrm>
          <a:prstGeom prst="rect">
            <a:avLst/>
          </a:prstGeom>
          <a:noFill/>
          <a:ln/>
        </p:spPr>
        <p:txBody>
          <a:bodyPr wrap="square" lIns="0" tIns="0" rIns="0" bIns="0" rtlCol="0" anchor="ctr">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Ejecutar un análisis completo (en Windows, también el análisis sin conexión de Defender).</a:t>
            </a:r>
            <a:endParaRPr lang="en-US" sz="1200" dirty="0"/>
          </a:p>
        </p:txBody>
      </p:sp>
      <p:sp>
        <p:nvSpPr>
          <p:cNvPr id="20" name="Shape 18"/>
          <p:cNvSpPr/>
          <p:nvPr/>
        </p:nvSpPr>
        <p:spPr>
          <a:xfrm>
            <a:off x="4663440" y="1234440"/>
            <a:ext cx="4023360" cy="777240"/>
          </a:xfrm>
          <a:prstGeom prst="roundRect">
            <a:avLst>
              <a:gd name="adj" fmla="val 7059"/>
            </a:avLst>
          </a:prstGeom>
          <a:solidFill>
            <a:srgbClr val="F1F7F8"/>
          </a:solidFill>
          <a:ln w="12700">
            <a:solidFill>
              <a:srgbClr val="F1F7F8"/>
            </a:solidFill>
            <a:prstDash val="solid"/>
          </a:ln>
        </p:spPr>
      </p:sp>
      <p:sp>
        <p:nvSpPr>
          <p:cNvPr id="21" name="Shape 19"/>
          <p:cNvSpPr/>
          <p:nvPr/>
        </p:nvSpPr>
        <p:spPr>
          <a:xfrm>
            <a:off x="4800600" y="1431036"/>
            <a:ext cx="384048" cy="384048"/>
          </a:xfrm>
          <a:prstGeom prst="ellipse">
            <a:avLst/>
          </a:prstGeom>
          <a:solidFill>
            <a:srgbClr val="0E7C86"/>
          </a:solidFill>
          <a:ln w="12700">
            <a:solidFill>
              <a:srgbClr val="0E7C86"/>
            </a:solidFill>
            <a:prstDash val="solid"/>
          </a:ln>
        </p:spPr>
      </p:sp>
      <p:sp>
        <p:nvSpPr>
          <p:cNvPr id="22" name="Text 20"/>
          <p:cNvSpPr txBox="1"/>
          <p:nvPr/>
        </p:nvSpPr>
        <p:spPr>
          <a:xfrm>
            <a:off x="4800600" y="14310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1808" y="1234440"/>
            <a:ext cx="3246120" cy="777240"/>
          </a:xfrm>
          <a:prstGeom prst="rect">
            <a:avLst/>
          </a:prstGeom>
          <a:noFill/>
          <a:ln/>
        </p:spPr>
        <p:txBody>
          <a:bodyPr wrap="square" lIns="0" tIns="0" rIns="0" bIns="0" rtlCol="0" anchor="ctr">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Poner en cuarentena o eliminar las amenazas.</a:t>
            </a:r>
            <a:endParaRPr lang="en-US" sz="1200" dirty="0"/>
          </a:p>
        </p:txBody>
      </p:sp>
      <p:sp>
        <p:nvSpPr>
          <p:cNvPr id="24" name="Shape 22"/>
          <p:cNvSpPr/>
          <p:nvPr/>
        </p:nvSpPr>
        <p:spPr>
          <a:xfrm>
            <a:off x="4663440" y="2121408"/>
            <a:ext cx="4023360" cy="777240"/>
          </a:xfrm>
          <a:prstGeom prst="roundRect">
            <a:avLst>
              <a:gd name="adj" fmla="val 7059"/>
            </a:avLst>
          </a:prstGeom>
          <a:solidFill>
            <a:srgbClr val="F1F7F8"/>
          </a:solidFill>
          <a:ln w="12700">
            <a:solidFill>
              <a:srgbClr val="F1F7F8"/>
            </a:solidFill>
            <a:prstDash val="solid"/>
          </a:ln>
        </p:spPr>
      </p:sp>
      <p:sp>
        <p:nvSpPr>
          <p:cNvPr id="25" name="Shape 23"/>
          <p:cNvSpPr/>
          <p:nvPr/>
        </p:nvSpPr>
        <p:spPr>
          <a:xfrm>
            <a:off x="4800600" y="2318004"/>
            <a:ext cx="384048" cy="384048"/>
          </a:xfrm>
          <a:prstGeom prst="ellipse">
            <a:avLst/>
          </a:prstGeom>
          <a:solidFill>
            <a:srgbClr val="0E7C86"/>
          </a:solidFill>
          <a:ln w="12700">
            <a:solidFill>
              <a:srgbClr val="0E7C86"/>
            </a:solidFill>
            <a:prstDash val="solid"/>
          </a:ln>
        </p:spPr>
      </p:sp>
      <p:sp>
        <p:nvSpPr>
          <p:cNvPr id="26" name="Text 24"/>
          <p:cNvSpPr txBox="1"/>
          <p:nvPr/>
        </p:nvSpPr>
        <p:spPr>
          <a:xfrm>
            <a:off x="4800600" y="23180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5321808" y="2121408"/>
            <a:ext cx="3246120" cy="777240"/>
          </a:xfrm>
          <a:prstGeom prst="rect">
            <a:avLst/>
          </a:prstGeom>
          <a:noFill/>
          <a:ln/>
        </p:spPr>
        <p:txBody>
          <a:bodyPr wrap="square" lIns="0" tIns="0" rIns="0" bIns="0" rtlCol="0" anchor="ctr">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Cambiar contraseñas desde otro equipo limpio.</a:t>
            </a:r>
            <a:endParaRPr lang="en-US" sz="1200" dirty="0"/>
          </a:p>
        </p:txBody>
      </p:sp>
      <p:sp>
        <p:nvSpPr>
          <p:cNvPr id="28" name="Shape 26"/>
          <p:cNvSpPr/>
          <p:nvPr/>
        </p:nvSpPr>
        <p:spPr>
          <a:xfrm>
            <a:off x="4663440" y="3008376"/>
            <a:ext cx="4023360" cy="777240"/>
          </a:xfrm>
          <a:prstGeom prst="roundRect">
            <a:avLst>
              <a:gd name="adj" fmla="val 7059"/>
            </a:avLst>
          </a:prstGeom>
          <a:solidFill>
            <a:srgbClr val="F1F7F8"/>
          </a:solidFill>
          <a:ln w="12700">
            <a:solidFill>
              <a:srgbClr val="F1F7F8"/>
            </a:solidFill>
            <a:prstDash val="solid"/>
          </a:ln>
        </p:spPr>
      </p:sp>
      <p:sp>
        <p:nvSpPr>
          <p:cNvPr id="29" name="Shape 27"/>
          <p:cNvSpPr/>
          <p:nvPr/>
        </p:nvSpPr>
        <p:spPr>
          <a:xfrm>
            <a:off x="4800600" y="3204972"/>
            <a:ext cx="384048" cy="384048"/>
          </a:xfrm>
          <a:prstGeom prst="ellipse">
            <a:avLst/>
          </a:prstGeom>
          <a:solidFill>
            <a:srgbClr val="0E7C86"/>
          </a:solidFill>
          <a:ln w="12700">
            <a:solidFill>
              <a:srgbClr val="0E7C86"/>
            </a:solidFill>
            <a:prstDash val="solid"/>
          </a:ln>
        </p:spPr>
      </p:sp>
      <p:sp>
        <p:nvSpPr>
          <p:cNvPr id="30" name="Text 28"/>
          <p:cNvSpPr txBox="1"/>
          <p:nvPr/>
        </p:nvSpPr>
        <p:spPr>
          <a:xfrm>
            <a:off x="4800600" y="32049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1" name="Text 29"/>
          <p:cNvSpPr txBox="1"/>
          <p:nvPr/>
        </p:nvSpPr>
        <p:spPr>
          <a:xfrm>
            <a:off x="5321808" y="3008376"/>
            <a:ext cx="3246120" cy="777240"/>
          </a:xfrm>
          <a:prstGeom prst="rect">
            <a:avLst/>
          </a:prstGeom>
          <a:noFill/>
          <a:ln/>
        </p:spPr>
        <p:txBody>
          <a:bodyPr wrap="square" lIns="0" tIns="0" rIns="0" bIns="0" rtlCol="0" anchor="ctr">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Documentar lo ocurrido en la bitácora.</a:t>
            </a:r>
            <a:endParaRPr lang="en-US" sz="1200" dirty="0"/>
          </a:p>
        </p:txBody>
      </p:sp>
      <p:sp>
        <p:nvSpPr>
          <p:cNvPr id="32" name="Text 30"/>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33" name="Text 31"/>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8</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200" b="1" dirty="0">
                <a:solidFill>
                  <a:srgbClr val="0B1D2E"/>
                </a:solidFill>
                <a:latin typeface="Calibri" pitchFamily="34" charset="0"/>
                <a:ea typeface="Calibri" pitchFamily="34" charset="-122"/>
                <a:cs typeface="Calibri" pitchFamily="34" charset="-120"/>
              </a:rPr>
              <a:t>Prevención de intrusiones en el host y seguridad de las aplicaciones</a:t>
            </a:r>
            <a:endParaRPr lang="en-US" sz="2200" dirty="0"/>
          </a:p>
        </p:txBody>
      </p:sp>
      <p:sp>
        <p:nvSpPr>
          <p:cNvPr id="6" name="Text 4"/>
          <p:cNvSpPr txBox="1"/>
          <p:nvPr/>
        </p:nvSpPr>
        <p:spPr>
          <a:xfrm>
            <a:off x="457200" y="1234440"/>
            <a:ext cx="8229600" cy="850392"/>
          </a:xfrm>
          <a:prstGeom prst="rect">
            <a:avLst/>
          </a:prstGeom>
          <a:noFill/>
          <a:ln/>
        </p:spPr>
        <p:txBody>
          <a:bodyPr wrap="square" lIns="0" tIns="0" rIns="0" bIns="0" rtlCol="0" anchor="t">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Un </a:t>
            </a:r>
            <a:pPr indent="0" marL="0">
              <a:buNone/>
            </a:pPr>
            <a:r>
              <a:rPr lang="en-US" sz="1400" b="1" dirty="0">
                <a:solidFill>
                  <a:srgbClr val="1E293B"/>
                </a:solidFill>
                <a:latin typeface="Calibri" pitchFamily="34" charset="0"/>
                <a:ea typeface="Calibri" pitchFamily="34" charset="-122"/>
                <a:cs typeface="Calibri" pitchFamily="34" charset="-120"/>
              </a:rPr>
              <a:t>HIPS</a:t>
            </a:r>
            <a:pPr indent="0" marL="0">
              <a:buNone/>
            </a:pPr>
            <a:r>
              <a:rPr lang="en-US" sz="1400" dirty="0">
                <a:solidFill>
                  <a:srgbClr val="1E293B"/>
                </a:solidFill>
                <a:latin typeface="Calibri" pitchFamily="34" charset="0"/>
                <a:ea typeface="Calibri" pitchFamily="34" charset="-122"/>
                <a:cs typeface="Calibri" pitchFamily="34" charset="-120"/>
              </a:rPr>
              <a:t> (sistema de prevención de intrusiones basado en host) se instala en el propio equipo y vigila lo que pasa dentro de él: cambios en archivos del sistema, en el registro, procesos extraños y conexiones sospechosas. Un </a:t>
            </a:r>
            <a:pPr indent="0" marL="0">
              <a:buNone/>
            </a:pPr>
            <a:r>
              <a:rPr lang="en-US" sz="1400" b="1" dirty="0">
                <a:solidFill>
                  <a:srgbClr val="1E293B"/>
                </a:solidFill>
                <a:latin typeface="Calibri" pitchFamily="34" charset="0"/>
                <a:ea typeface="Calibri" pitchFamily="34" charset="-122"/>
                <a:cs typeface="Calibri" pitchFamily="34" charset="-120"/>
              </a:rPr>
              <a:t>HIDS</a:t>
            </a:r>
            <a:pPr indent="0" marL="0">
              <a:buNone/>
            </a:pPr>
            <a:r>
              <a:rPr lang="en-US" sz="1400" dirty="0">
                <a:solidFill>
                  <a:srgbClr val="1E293B"/>
                </a:solidFill>
                <a:latin typeface="Calibri" pitchFamily="34" charset="0"/>
                <a:ea typeface="Calibri" pitchFamily="34" charset="-122"/>
                <a:cs typeface="Calibri" pitchFamily="34" charset="-120"/>
              </a:rPr>
              <a:t> solo detecta y alerta. Ejemplos: </a:t>
            </a:r>
            <a:pPr indent="0" marL="0">
              <a:buNone/>
            </a:pPr>
            <a:r>
              <a:rPr lang="en-US" sz="1400" b="1" dirty="0">
                <a:solidFill>
                  <a:srgbClr val="1E293B"/>
                </a:solidFill>
                <a:latin typeface="Calibri" pitchFamily="34" charset="0"/>
                <a:ea typeface="Calibri" pitchFamily="34" charset="-122"/>
                <a:cs typeface="Calibri" pitchFamily="34" charset="-120"/>
              </a:rPr>
              <a:t>OSSEC</a:t>
            </a:r>
            <a:pPr indent="0" marL="0">
              <a:buNone/>
            </a:pPr>
            <a:r>
              <a:rPr lang="en-US" sz="1400" dirty="0">
                <a:solidFill>
                  <a:srgbClr val="1E293B"/>
                </a:solidFill>
                <a:latin typeface="Calibri" pitchFamily="34" charset="0"/>
                <a:ea typeface="Calibri" pitchFamily="34" charset="-122"/>
                <a:cs typeface="Calibri" pitchFamily="34" charset="-120"/>
              </a:rPr>
              <a:t> y </a:t>
            </a:r>
            <a:pPr indent="0" marL="0">
              <a:buNone/>
            </a:pPr>
            <a:r>
              <a:rPr lang="en-US" sz="1400" b="1" dirty="0">
                <a:solidFill>
                  <a:srgbClr val="1E293B"/>
                </a:solidFill>
                <a:latin typeface="Calibri" pitchFamily="34" charset="0"/>
                <a:ea typeface="Calibri" pitchFamily="34" charset="-122"/>
                <a:cs typeface="Calibri" pitchFamily="34" charset="-120"/>
              </a:rPr>
              <a:t>Wazuh</a:t>
            </a:r>
            <a:pPr indent="0" marL="0">
              <a:buNone/>
            </a:pPr>
            <a:r>
              <a:rPr lang="en-US" sz="1400" dirty="0">
                <a:solidFill>
                  <a:srgbClr val="1E293B"/>
                </a:solidFill>
                <a:latin typeface="Calibri" pitchFamily="34" charset="0"/>
                <a:ea typeface="Calibri" pitchFamily="34" charset="-122"/>
                <a:cs typeface="Calibri" pitchFamily="34" charset="-120"/>
              </a:rPr>
              <a:t>.</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2194560"/>
          <a:ext cx="8229600" cy="914400"/>
        </p:xfrm>
        <a:graphic>
          <a:graphicData uri="http://schemas.openxmlformats.org/drawingml/2006/table">
            <a:tbl>
              <a:tblPr/>
              <a:tblGrid>
                <a:gridCol w="3967655"/>
                <a:gridCol w="4261945"/>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Basado en red (NIDS/NIPS)</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Basado en host (HIDS/HIPS)</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E7C86"/>
                    </a:solidFill>
                  </a:tcPr>
                </a:tc>
              </a:tr>
              <a:tr h="0">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Vigila el tráfico de toda la red.</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Vigila un solo equipo por dentro.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r h="0">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No ve el contenido del tráfico cifrado.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Ve la información ya descifrada en el equipo.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Un solo dispositivo protege a muchos.</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c>
                  <a:txBody>
                    <a:bodyPr/>
                    <a:lstStyle/>
                    <a:p>
                      <a:pPr indent="0" marL="0">
                        <a:buNone/>
                      </a:pPr>
                      <a:r>
                        <a:rPr lang="en-US" sz="1600" dirty="0">
                          <a:solidFill>
                            <a:srgbClr val="1E293B"/>
                          </a:solidFill>
                          <a:latin typeface="Calibri" pitchFamily="34" charset="0"/>
                          <a:ea typeface="Calibri" pitchFamily="34" charset="-122"/>
                          <a:cs typeface="Calibri" pitchFamily="34" charset="-120"/>
                        </a:rPr>
                        <a:t>Hay que instalarlo en cada equipo.</a:t>
                      </a:r>
                      <a:endParaRPr lang="en-US" sz="1600" dirty="0">
                        <a:latin typeface="Calibri" charset="0"/>
                        <a:ea typeface="Calibri" charset="0"/>
                        <a:cs typeface="Calibri" charset="0"/>
                      </a:endParaRPr>
                    </a:p>
                  </a:txBody>
                  <a:tcPr marL="76200" marR="76200" marT="50800" marB="508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7F8"/>
                    </a:solidFill>
                  </a:tcPr>
                </a:tc>
              </a:tr>
            </a:tbl>
          </a:graphicData>
        </a:graphic>
      </p:graphicFrame>
      <p:sp>
        <p:nvSpPr>
          <p:cNvPr id="8" name="Text 5"/>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9" name="Text 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0E7C86"/>
          </a:solidFill>
          <a:ln w="12700">
            <a:solidFill>
              <a:srgbClr val="0E7C86"/>
            </a:solidFill>
            <a:prstDash val="solid"/>
          </a:ln>
        </p:spPr>
      </p:sp>
      <p:sp>
        <p:nvSpPr>
          <p:cNvPr id="3" name="Text 1"/>
          <p:cNvSpPr txBox="1"/>
          <p:nvPr/>
        </p:nvSpPr>
        <p:spPr>
          <a:xfrm>
            <a:off x="457200" y="347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TEMA 8 · PREVENCIÓN DE INTRUSIONES EN EL HOST Y SEGURIDAD DE LAS APLICACIONES</a:t>
            </a:r>
            <a:endParaRPr lang="en-US" sz="1100" dirty="0"/>
          </a:p>
        </p:txBody>
      </p:sp>
      <p:sp>
        <p:nvSpPr>
          <p:cNvPr id="5" name="Text 3"/>
          <p:cNvSpPr txBox="1"/>
          <p:nvPr/>
        </p:nvSpPr>
        <p:spPr>
          <a:xfrm>
            <a:off x="1188720" y="530352"/>
            <a:ext cx="7498080" cy="502920"/>
          </a:xfrm>
          <a:prstGeom prst="rect">
            <a:avLst/>
          </a:prstGeom>
          <a:noFill/>
          <a:ln/>
        </p:spPr>
        <p:txBody>
          <a:bodyPr wrap="square" lIns="0" tIns="0" rIns="0" bIns="0" rtlCol="0" anchor="t">
            <a:normAutofit/>
          </a:bodyPr>
          <a:lstStyle/>
          <a:p>
            <a:pPr indent="0" marL="0">
              <a:buNone/>
            </a:pPr>
            <a:r>
              <a:rPr lang="en-US" sz="2800" b="1" dirty="0">
                <a:solidFill>
                  <a:srgbClr val="0B1D2E"/>
                </a:solidFill>
                <a:latin typeface="Calibri" pitchFamily="34" charset="0"/>
                <a:ea typeface="Calibri" pitchFamily="34" charset="-122"/>
                <a:cs typeface="Calibri" pitchFamily="34" charset="-120"/>
              </a:rPr>
              <a:t>Seguridad de las aplicaciones</a:t>
            </a:r>
            <a:endParaRPr lang="en-US" sz="2800" dirty="0"/>
          </a:p>
        </p:txBody>
      </p:sp>
      <p:sp>
        <p:nvSpPr>
          <p:cNvPr id="6" name="Shape 4"/>
          <p:cNvSpPr/>
          <p:nvPr/>
        </p:nvSpPr>
        <p:spPr>
          <a:xfrm>
            <a:off x="457200" y="1234440"/>
            <a:ext cx="8229600" cy="576072"/>
          </a:xfrm>
          <a:prstGeom prst="roundRect">
            <a:avLst>
              <a:gd name="adj" fmla="val 9524"/>
            </a:avLst>
          </a:prstGeom>
          <a:solidFill>
            <a:srgbClr val="F1F7F8"/>
          </a:solidFill>
          <a:ln w="12700">
            <a:solidFill>
              <a:srgbClr val="F1F7F8"/>
            </a:solidFill>
            <a:prstDash val="solid"/>
          </a:ln>
        </p:spPr>
      </p:sp>
      <p:sp>
        <p:nvSpPr>
          <p:cNvPr id="7" name="Shape 5"/>
          <p:cNvSpPr/>
          <p:nvPr/>
        </p:nvSpPr>
        <p:spPr>
          <a:xfrm>
            <a:off x="621792" y="1394460"/>
            <a:ext cx="256032" cy="256032"/>
          </a:xfrm>
          <a:prstGeom prst="ellipse">
            <a:avLst/>
          </a:prstGeom>
          <a:solidFill>
            <a:srgbClr val="F5A623"/>
          </a:solidFill>
          <a:ln w="12700">
            <a:solidFill>
              <a:srgbClr val="F5A623"/>
            </a:solidFill>
            <a:prstDash val="solid"/>
          </a:ln>
        </p:spPr>
      </p:sp>
      <p:sp>
        <p:nvSpPr>
          <p:cNvPr id="8" name="Text 6"/>
          <p:cNvSpPr txBox="1"/>
          <p:nvPr/>
        </p:nvSpPr>
        <p:spPr>
          <a:xfrm>
            <a:off x="1051560" y="1234440"/>
            <a:ext cx="7498080" cy="576072"/>
          </a:xfrm>
          <a:prstGeom prst="rect">
            <a:avLst/>
          </a:prstGeom>
          <a:noFill/>
          <a:ln/>
        </p:spPr>
        <p:txBody>
          <a:bodyPr wrap="square" lIns="0" tIns="0" rIns="0" bIns="0" rtlCol="0" anchor="ctr">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Instalar solo desde fuentes oficiales (tiendas, repositorios, sitio del fabricante).</a:t>
            </a:r>
            <a:endParaRPr lang="en-US" sz="1400" dirty="0"/>
          </a:p>
        </p:txBody>
      </p:sp>
      <p:sp>
        <p:nvSpPr>
          <p:cNvPr id="9" name="Shape 7"/>
          <p:cNvSpPr/>
          <p:nvPr/>
        </p:nvSpPr>
        <p:spPr>
          <a:xfrm>
            <a:off x="457200" y="1947672"/>
            <a:ext cx="8229600" cy="576072"/>
          </a:xfrm>
          <a:prstGeom prst="roundRect">
            <a:avLst>
              <a:gd name="adj" fmla="val 9524"/>
            </a:avLst>
          </a:prstGeom>
          <a:solidFill>
            <a:srgbClr val="F1F7F8"/>
          </a:solidFill>
          <a:ln w="12700">
            <a:solidFill>
              <a:srgbClr val="F1F7F8"/>
            </a:solidFill>
            <a:prstDash val="solid"/>
          </a:ln>
        </p:spPr>
      </p:sp>
      <p:sp>
        <p:nvSpPr>
          <p:cNvPr id="10" name="Shape 8"/>
          <p:cNvSpPr/>
          <p:nvPr/>
        </p:nvSpPr>
        <p:spPr>
          <a:xfrm>
            <a:off x="621792" y="2107692"/>
            <a:ext cx="256032" cy="256032"/>
          </a:xfrm>
          <a:prstGeom prst="ellipse">
            <a:avLst/>
          </a:prstGeom>
          <a:solidFill>
            <a:srgbClr val="F5A623"/>
          </a:solidFill>
          <a:ln w="12700">
            <a:solidFill>
              <a:srgbClr val="F5A623"/>
            </a:solidFill>
            <a:prstDash val="solid"/>
          </a:ln>
        </p:spPr>
      </p:sp>
      <p:sp>
        <p:nvSpPr>
          <p:cNvPr id="11" name="Text 9"/>
          <p:cNvSpPr txBox="1"/>
          <p:nvPr/>
        </p:nvSpPr>
        <p:spPr>
          <a:xfrm>
            <a:off x="1051560" y="1947672"/>
            <a:ext cx="7498080" cy="576072"/>
          </a:xfrm>
          <a:prstGeom prst="rect">
            <a:avLst/>
          </a:prstGeom>
          <a:noFill/>
          <a:ln/>
        </p:spPr>
        <p:txBody>
          <a:bodyPr wrap="square" lIns="0" tIns="0" rIns="0" bIns="0" rtlCol="0" anchor="ctr">
            <a:normAutofit/>
          </a:bodyPr>
          <a:lstStyle/>
          <a:p>
            <a:pPr indent="0" marL="0">
              <a:buNone/>
            </a:pPr>
            <a:r>
              <a:rPr lang="en-US" sz="1400" b="1" dirty="0">
                <a:solidFill>
                  <a:srgbClr val="1E293B"/>
                </a:solidFill>
                <a:latin typeface="Calibri" pitchFamily="34" charset="0"/>
                <a:ea typeface="Calibri" pitchFamily="34" charset="-122"/>
                <a:cs typeface="Calibri" pitchFamily="34" charset="-120"/>
              </a:rPr>
              <a:t>Lista blanca: </a:t>
            </a:r>
            <a:pPr indent="0" marL="0">
              <a:buNone/>
            </a:pPr>
            <a:r>
              <a:rPr lang="en-US" sz="1400" dirty="0">
                <a:solidFill>
                  <a:srgbClr val="1E293B"/>
                </a:solidFill>
                <a:latin typeface="Calibri" pitchFamily="34" charset="0"/>
                <a:ea typeface="Calibri" pitchFamily="34" charset="-122"/>
                <a:cs typeface="Calibri" pitchFamily="34" charset="-120"/>
              </a:rPr>
              <a:t>solo se permiten los programas aprobados. Lista negra: se bloquean los programas prohibidos.</a:t>
            </a:r>
            <a:endParaRPr lang="en-US" sz="1400" dirty="0"/>
          </a:p>
        </p:txBody>
      </p:sp>
      <p:sp>
        <p:nvSpPr>
          <p:cNvPr id="12" name="Shape 10"/>
          <p:cNvSpPr/>
          <p:nvPr/>
        </p:nvSpPr>
        <p:spPr>
          <a:xfrm>
            <a:off x="457200" y="2660904"/>
            <a:ext cx="8229600" cy="576072"/>
          </a:xfrm>
          <a:prstGeom prst="roundRect">
            <a:avLst>
              <a:gd name="adj" fmla="val 9524"/>
            </a:avLst>
          </a:prstGeom>
          <a:solidFill>
            <a:srgbClr val="F1F7F8"/>
          </a:solidFill>
          <a:ln w="12700">
            <a:solidFill>
              <a:srgbClr val="F1F7F8"/>
            </a:solidFill>
            <a:prstDash val="solid"/>
          </a:ln>
        </p:spPr>
      </p:sp>
      <p:sp>
        <p:nvSpPr>
          <p:cNvPr id="13" name="Shape 11"/>
          <p:cNvSpPr/>
          <p:nvPr/>
        </p:nvSpPr>
        <p:spPr>
          <a:xfrm>
            <a:off x="621792" y="2820924"/>
            <a:ext cx="256032" cy="256032"/>
          </a:xfrm>
          <a:prstGeom prst="ellipse">
            <a:avLst/>
          </a:prstGeom>
          <a:solidFill>
            <a:srgbClr val="F5A623"/>
          </a:solidFill>
          <a:ln w="12700">
            <a:solidFill>
              <a:srgbClr val="F5A623"/>
            </a:solidFill>
            <a:prstDash val="solid"/>
          </a:ln>
        </p:spPr>
      </p:sp>
      <p:sp>
        <p:nvSpPr>
          <p:cNvPr id="14" name="Text 12"/>
          <p:cNvSpPr txBox="1"/>
          <p:nvPr/>
        </p:nvSpPr>
        <p:spPr>
          <a:xfrm>
            <a:off x="1051560" y="2660904"/>
            <a:ext cx="7498080" cy="576072"/>
          </a:xfrm>
          <a:prstGeom prst="rect">
            <a:avLst/>
          </a:prstGeom>
          <a:noFill/>
          <a:ln/>
        </p:spPr>
        <p:txBody>
          <a:bodyPr wrap="square" lIns="0" tIns="0" rIns="0" bIns="0" rtlCol="0" anchor="ctr">
            <a:normAutofit/>
          </a:bodyPr>
          <a:lstStyle/>
          <a:p>
            <a:pPr indent="0" marL="0">
              <a:buNone/>
            </a:pPr>
            <a:r>
              <a:rPr lang="en-US" sz="1400" b="1" dirty="0">
                <a:solidFill>
                  <a:srgbClr val="1E293B"/>
                </a:solidFill>
                <a:latin typeface="Calibri" pitchFamily="34" charset="0"/>
                <a:ea typeface="Calibri" pitchFamily="34" charset="-122"/>
                <a:cs typeface="Calibri" pitchFamily="34" charset="-120"/>
              </a:rPr>
              <a:t>Sandbox: </a:t>
            </a:r>
            <a:pPr indent="0" marL="0">
              <a:buNone/>
            </a:pPr>
            <a:r>
              <a:rPr lang="en-US" sz="1400" dirty="0">
                <a:solidFill>
                  <a:srgbClr val="1E293B"/>
                </a:solidFill>
                <a:latin typeface="Calibri" pitchFamily="34" charset="0"/>
                <a:ea typeface="Calibri" pitchFamily="34" charset="-122"/>
                <a:cs typeface="Calibri" pitchFamily="34" charset="-120"/>
              </a:rPr>
              <a:t>ejecutar un programa dudoso en un entorno aislado.</a:t>
            </a:r>
            <a:endParaRPr lang="en-US" sz="1400" dirty="0"/>
          </a:p>
        </p:txBody>
      </p:sp>
      <p:sp>
        <p:nvSpPr>
          <p:cNvPr id="15" name="Shape 13"/>
          <p:cNvSpPr/>
          <p:nvPr/>
        </p:nvSpPr>
        <p:spPr>
          <a:xfrm>
            <a:off x="457200" y="3374136"/>
            <a:ext cx="8229600" cy="576072"/>
          </a:xfrm>
          <a:prstGeom prst="roundRect">
            <a:avLst>
              <a:gd name="adj" fmla="val 9524"/>
            </a:avLst>
          </a:prstGeom>
          <a:solidFill>
            <a:srgbClr val="F1F7F8"/>
          </a:solidFill>
          <a:ln w="12700">
            <a:solidFill>
              <a:srgbClr val="F1F7F8"/>
            </a:solidFill>
            <a:prstDash val="solid"/>
          </a:ln>
        </p:spPr>
      </p:sp>
      <p:sp>
        <p:nvSpPr>
          <p:cNvPr id="16" name="Shape 14"/>
          <p:cNvSpPr/>
          <p:nvPr/>
        </p:nvSpPr>
        <p:spPr>
          <a:xfrm>
            <a:off x="621792" y="3534156"/>
            <a:ext cx="256032" cy="256032"/>
          </a:xfrm>
          <a:prstGeom prst="ellipse">
            <a:avLst/>
          </a:prstGeom>
          <a:solidFill>
            <a:srgbClr val="F5A623"/>
          </a:solidFill>
          <a:ln w="12700">
            <a:solidFill>
              <a:srgbClr val="F5A623"/>
            </a:solidFill>
            <a:prstDash val="solid"/>
          </a:ln>
        </p:spPr>
      </p:sp>
      <p:sp>
        <p:nvSpPr>
          <p:cNvPr id="17" name="Text 15"/>
          <p:cNvSpPr txBox="1"/>
          <p:nvPr/>
        </p:nvSpPr>
        <p:spPr>
          <a:xfrm>
            <a:off x="1051560" y="3374136"/>
            <a:ext cx="7498080" cy="576072"/>
          </a:xfrm>
          <a:prstGeom prst="rect">
            <a:avLst/>
          </a:prstGeom>
          <a:noFill/>
          <a:ln/>
        </p:spPr>
        <p:txBody>
          <a:bodyPr wrap="square" lIns="0" tIns="0" rIns="0" bIns="0" rtlCol="0" anchor="ctr">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Aplicar los parches de las aplicaciones, no solo los del sistema operativo.</a:t>
            </a:r>
            <a:endParaRPr lang="en-US" sz="1400" dirty="0"/>
          </a:p>
        </p:txBody>
      </p:sp>
      <p:sp>
        <p:nvSpPr>
          <p:cNvPr id="18" name="Shape 16"/>
          <p:cNvSpPr/>
          <p:nvPr/>
        </p:nvSpPr>
        <p:spPr>
          <a:xfrm>
            <a:off x="457200" y="4087368"/>
            <a:ext cx="8229600" cy="576072"/>
          </a:xfrm>
          <a:prstGeom prst="roundRect">
            <a:avLst>
              <a:gd name="adj" fmla="val 9524"/>
            </a:avLst>
          </a:prstGeom>
          <a:solidFill>
            <a:srgbClr val="F1F7F8"/>
          </a:solidFill>
          <a:ln w="12700">
            <a:solidFill>
              <a:srgbClr val="F1F7F8"/>
            </a:solidFill>
            <a:prstDash val="solid"/>
          </a:ln>
        </p:spPr>
      </p:sp>
      <p:sp>
        <p:nvSpPr>
          <p:cNvPr id="19" name="Shape 17"/>
          <p:cNvSpPr/>
          <p:nvPr/>
        </p:nvSpPr>
        <p:spPr>
          <a:xfrm>
            <a:off x="621792" y="4247388"/>
            <a:ext cx="256032" cy="256032"/>
          </a:xfrm>
          <a:prstGeom prst="ellipse">
            <a:avLst/>
          </a:prstGeom>
          <a:solidFill>
            <a:srgbClr val="F5A623"/>
          </a:solidFill>
          <a:ln w="12700">
            <a:solidFill>
              <a:srgbClr val="F5A623"/>
            </a:solidFill>
            <a:prstDash val="solid"/>
          </a:ln>
        </p:spPr>
      </p:sp>
      <p:sp>
        <p:nvSpPr>
          <p:cNvPr id="20" name="Text 18"/>
          <p:cNvSpPr txBox="1"/>
          <p:nvPr/>
        </p:nvSpPr>
        <p:spPr>
          <a:xfrm>
            <a:off x="1051560" y="4087368"/>
            <a:ext cx="7498080" cy="576072"/>
          </a:xfrm>
          <a:prstGeom prst="rect">
            <a:avLst/>
          </a:prstGeom>
          <a:noFill/>
          <a:ln/>
        </p:spPr>
        <p:txBody>
          <a:bodyPr wrap="square" lIns="0" tIns="0" rIns="0" bIns="0" rtlCol="0" anchor="ctr">
            <a:normAutofit/>
          </a:bodyPr>
          <a:lstStyle/>
          <a:p>
            <a:pPr indent="0" marL="0">
              <a:buNone/>
            </a:pPr>
            <a:r>
              <a:rPr lang="en-US" sz="1400" dirty="0">
                <a:solidFill>
                  <a:srgbClr val="1E293B"/>
                </a:solidFill>
                <a:latin typeface="Calibri" pitchFamily="34" charset="0"/>
                <a:ea typeface="Calibri" pitchFamily="34" charset="-122"/>
                <a:cs typeface="Calibri" pitchFamily="34" charset="-120"/>
              </a:rPr>
              <a:t>Desinstalar el software que no se usa.</a:t>
            </a:r>
            <a:endParaRPr lang="en-US" sz="1400" dirty="0"/>
          </a:p>
        </p:txBody>
      </p:sp>
      <p:sp>
        <p:nvSpPr>
          <p:cNvPr id="21" name="Text 19"/>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22" name="Text 20"/>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F5A623"/>
          </a:solidFill>
          <a:ln w="12700">
            <a:solidFill>
              <a:srgbClr val="F5A623"/>
            </a:solidFill>
            <a:prstDash val="solid"/>
          </a:ln>
        </p:spPr>
      </p:sp>
      <p:pic>
        <p:nvPicPr>
          <p:cNvPr id="3" name="Image 0" descr="preencoded.png">    </p:cNvPr>
          <p:cNvPicPr>
            <a:picLocks noChangeAspect="1"/>
          </p:cNvPicPr>
          <p:nvPr/>
        </p:nvPicPr>
        <p:blipFill>
          <a:blip r:embed="rId1"/>
          <a:stretch>
            <a:fillRect/>
          </a:stretch>
        </p:blipFill>
        <p:spPr>
          <a:xfrm>
            <a:off x="594360" y="484632"/>
            <a:ext cx="292608" cy="292608"/>
          </a:xfrm>
          <a:prstGeom prst="rect">
            <a:avLst/>
          </a:prstGeom>
        </p:spPr>
      </p:pic>
      <p:sp>
        <p:nvSpPr>
          <p:cNvPr id="4" name="Text 1"/>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9A5B00"/>
                </a:solidFill>
                <a:latin typeface="Calibri" pitchFamily="34" charset="0"/>
                <a:ea typeface="Calibri" pitchFamily="34" charset="-122"/>
                <a:cs typeface="Calibri" pitchFamily="34" charset="-120"/>
              </a:rPr>
              <a:t>APLICAMOS LO APRENDIDO</a:t>
            </a:r>
            <a:endParaRPr lang="en-US" sz="1100" dirty="0"/>
          </a:p>
        </p:txBody>
      </p:sp>
      <p:sp>
        <p:nvSpPr>
          <p:cNvPr id="5" name="Text 2"/>
          <p:cNvSpPr txBox="1"/>
          <p:nvPr/>
        </p:nvSpPr>
        <p:spPr>
          <a:xfrm>
            <a:off x="1188720" y="530352"/>
            <a:ext cx="7498080" cy="502920"/>
          </a:xfrm>
          <a:prstGeom prst="rect">
            <a:avLst/>
          </a:prstGeom>
          <a:noFill/>
          <a:ln/>
        </p:spPr>
        <p:txBody>
          <a:bodyPr wrap="square" lIns="0" tIns="0" rIns="0" bIns="0" rtlCol="0" anchor="ctr">
            <a:normAutofit/>
          </a:bodyPr>
          <a:lstStyle/>
          <a:p>
            <a:pPr indent="0" marL="0">
              <a:buNone/>
            </a:pPr>
            <a:r>
              <a:rPr lang="en-US" sz="2400" b="1" dirty="0">
                <a:solidFill>
                  <a:srgbClr val="0B1D2E"/>
                </a:solidFill>
                <a:latin typeface="Calibri" pitchFamily="34" charset="0"/>
                <a:ea typeface="Calibri" pitchFamily="34" charset="-122"/>
                <a:cs typeface="Calibri" pitchFamily="34" charset="-120"/>
              </a:rPr>
              <a:t>Caso práctico: la laptop lenta del laboratorio</a:t>
            </a:r>
            <a:endParaRPr lang="en-US" sz="2400" dirty="0"/>
          </a:p>
        </p:txBody>
      </p:sp>
      <p:sp>
        <p:nvSpPr>
          <p:cNvPr id="6" name="Shape 3"/>
          <p:cNvSpPr/>
          <p:nvPr/>
        </p:nvSpPr>
        <p:spPr>
          <a:xfrm>
            <a:off x="457200" y="1234440"/>
            <a:ext cx="8229600" cy="1051560"/>
          </a:xfrm>
          <a:prstGeom prst="roundRect">
            <a:avLst>
              <a:gd name="adj" fmla="val 6957"/>
            </a:avLst>
          </a:prstGeom>
          <a:solidFill>
            <a:srgbClr val="FFF6E5"/>
          </a:solidFill>
          <a:ln w="12700">
            <a:solidFill>
              <a:srgbClr val="FFF6E5"/>
            </a:solidFill>
            <a:prstDash val="solid"/>
          </a:ln>
        </p:spPr>
      </p:sp>
      <p:sp>
        <p:nvSpPr>
          <p:cNvPr id="7" name="Text 4"/>
          <p:cNvSpPr txBox="1"/>
          <p:nvPr/>
        </p:nvSpPr>
        <p:spPr>
          <a:xfrm>
            <a:off x="685800" y="1280160"/>
            <a:ext cx="7772400" cy="960120"/>
          </a:xfrm>
          <a:prstGeom prst="rect">
            <a:avLst/>
          </a:prstGeom>
          <a:noFill/>
          <a:ln/>
        </p:spPr>
        <p:txBody>
          <a:bodyPr wrap="square" lIns="0" tIns="0" rIns="0" bIns="0" rtlCol="0" anchor="ctr">
            <a:normAutofit/>
          </a:bodyPr>
          <a:lstStyle/>
          <a:p>
            <a:pPr indent="0" marL="0">
              <a:buNone/>
            </a:pPr>
            <a:r>
              <a:rPr lang="en-US" sz="1350" dirty="0">
                <a:solidFill>
                  <a:srgbClr val="1E293B"/>
                </a:solidFill>
                <a:latin typeface="Calibri" pitchFamily="34" charset="0"/>
                <a:ea typeface="Calibri" pitchFamily="34" charset="-122"/>
                <a:cs typeface="Calibri" pitchFamily="34" charset="-120"/>
              </a:rPr>
              <a:t>Una laptop del laboratorio con Windows está muy lenta, aparecen ventanas de publicidad y el Monitor de recursos muestra un proceso desconocido enviando datos a una IP extranjera.</a:t>
            </a:r>
            <a:endParaRPr lang="en-US" sz="1350" dirty="0"/>
          </a:p>
        </p:txBody>
      </p:sp>
      <p:sp>
        <p:nvSpPr>
          <p:cNvPr id="8" name="Shape 5"/>
          <p:cNvSpPr/>
          <p:nvPr/>
        </p:nvSpPr>
        <p:spPr>
          <a:xfrm>
            <a:off x="457200" y="2514600"/>
            <a:ext cx="1885950" cy="2103120"/>
          </a:xfrm>
          <a:prstGeom prst="roundRect">
            <a:avLst>
              <a:gd name="adj" fmla="val 3879"/>
            </a:avLst>
          </a:prstGeom>
          <a:solidFill>
            <a:srgbClr val="F1F7F8"/>
          </a:solidFill>
          <a:ln w="12700">
            <a:solidFill>
              <a:srgbClr val="F1F7F8"/>
            </a:solidFill>
            <a:prstDash val="solid"/>
          </a:ln>
        </p:spPr>
      </p:sp>
      <p:sp>
        <p:nvSpPr>
          <p:cNvPr id="9" name="Shape 6"/>
          <p:cNvSpPr/>
          <p:nvPr/>
        </p:nvSpPr>
        <p:spPr>
          <a:xfrm>
            <a:off x="621792" y="2679192"/>
            <a:ext cx="384048" cy="384048"/>
          </a:xfrm>
          <a:prstGeom prst="ellipse">
            <a:avLst/>
          </a:prstGeom>
          <a:solidFill>
            <a:srgbClr val="0E7C86"/>
          </a:solidFill>
          <a:ln w="12700">
            <a:solidFill>
              <a:srgbClr val="0E7C86"/>
            </a:solidFill>
            <a:prstDash val="solid"/>
          </a:ln>
        </p:spPr>
      </p:sp>
      <p:sp>
        <p:nvSpPr>
          <p:cNvPr id="10" name="Text 7"/>
          <p:cNvSpPr txBox="1"/>
          <p:nvPr/>
        </p:nvSpPr>
        <p:spPr>
          <a:xfrm>
            <a:off x="621792"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8"/>
          <p:cNvSpPr txBox="1"/>
          <p:nvPr/>
        </p:nvSpPr>
        <p:spPr>
          <a:xfrm>
            <a:off x="1097280" y="2660904"/>
            <a:ext cx="1154430" cy="420624"/>
          </a:xfrm>
          <a:prstGeom prst="rect">
            <a:avLst/>
          </a:prstGeom>
          <a:noFill/>
          <a:ln/>
        </p:spPr>
        <p:txBody>
          <a:bodyPr wrap="square" lIns="0" tIns="0" rIns="0" bIns="0" rtlCol="0" anchor="ctr">
            <a:normAutofit/>
          </a:bodyPr>
          <a:lstStyle/>
          <a:p>
            <a:pPr indent="0" marL="0">
              <a:buNone/>
            </a:pPr>
            <a:r>
              <a:rPr lang="en-US" sz="1300" b="1" dirty="0">
                <a:solidFill>
                  <a:srgbClr val="0B1D2E"/>
                </a:solidFill>
                <a:latin typeface="Calibri" pitchFamily="34" charset="0"/>
                <a:ea typeface="Calibri" pitchFamily="34" charset="-122"/>
                <a:cs typeface="Calibri" pitchFamily="34" charset="-120"/>
              </a:rPr>
              <a:t>Aislar</a:t>
            </a:r>
            <a:endParaRPr lang="en-US" sz="1300" dirty="0"/>
          </a:p>
        </p:txBody>
      </p:sp>
      <p:sp>
        <p:nvSpPr>
          <p:cNvPr id="12" name="Text 9"/>
          <p:cNvSpPr txBox="1"/>
          <p:nvPr/>
        </p:nvSpPr>
        <p:spPr>
          <a:xfrm>
            <a:off x="621792" y="3200400"/>
            <a:ext cx="1556766" cy="1325880"/>
          </a:xfrm>
          <a:prstGeom prst="rect">
            <a:avLst/>
          </a:prstGeom>
          <a:noFill/>
          <a:ln/>
        </p:spPr>
        <p:txBody>
          <a:bodyPr wrap="square" lIns="0" tIns="0" rIns="0" bIns="0" rtlCol="0" anchor="t">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Desconectar el equipo de la red para cortar el envío de datos.</a:t>
            </a:r>
            <a:endParaRPr lang="en-US" sz="1200" dirty="0"/>
          </a:p>
        </p:txBody>
      </p:sp>
      <p:sp>
        <p:nvSpPr>
          <p:cNvPr id="13" name="Shape 10"/>
          <p:cNvSpPr/>
          <p:nvPr/>
        </p:nvSpPr>
        <p:spPr>
          <a:xfrm>
            <a:off x="2571750" y="2514600"/>
            <a:ext cx="1885950" cy="2103120"/>
          </a:xfrm>
          <a:prstGeom prst="roundRect">
            <a:avLst>
              <a:gd name="adj" fmla="val 3879"/>
            </a:avLst>
          </a:prstGeom>
          <a:solidFill>
            <a:srgbClr val="F1F7F8"/>
          </a:solidFill>
          <a:ln w="12700">
            <a:solidFill>
              <a:srgbClr val="F1F7F8"/>
            </a:solidFill>
            <a:prstDash val="solid"/>
          </a:ln>
        </p:spPr>
      </p:sp>
      <p:sp>
        <p:nvSpPr>
          <p:cNvPr id="14" name="Shape 11"/>
          <p:cNvSpPr/>
          <p:nvPr/>
        </p:nvSpPr>
        <p:spPr>
          <a:xfrm>
            <a:off x="2736342" y="2679192"/>
            <a:ext cx="384048" cy="384048"/>
          </a:xfrm>
          <a:prstGeom prst="ellipse">
            <a:avLst/>
          </a:prstGeom>
          <a:solidFill>
            <a:srgbClr val="0E7C86"/>
          </a:solidFill>
          <a:ln w="12700">
            <a:solidFill>
              <a:srgbClr val="0E7C86"/>
            </a:solidFill>
            <a:prstDash val="solid"/>
          </a:ln>
        </p:spPr>
      </p:sp>
      <p:sp>
        <p:nvSpPr>
          <p:cNvPr id="15" name="Text 12"/>
          <p:cNvSpPr txBox="1"/>
          <p:nvPr/>
        </p:nvSpPr>
        <p:spPr>
          <a:xfrm>
            <a:off x="2736342"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3"/>
          <p:cNvSpPr txBox="1"/>
          <p:nvPr/>
        </p:nvSpPr>
        <p:spPr>
          <a:xfrm>
            <a:off x="3211830" y="2660904"/>
            <a:ext cx="1154430" cy="420624"/>
          </a:xfrm>
          <a:prstGeom prst="rect">
            <a:avLst/>
          </a:prstGeom>
          <a:noFill/>
          <a:ln/>
        </p:spPr>
        <p:txBody>
          <a:bodyPr wrap="square" lIns="0" tIns="0" rIns="0" bIns="0" rtlCol="0" anchor="ctr">
            <a:normAutofit/>
          </a:bodyPr>
          <a:lstStyle/>
          <a:p>
            <a:pPr indent="0" marL="0">
              <a:buNone/>
            </a:pPr>
            <a:r>
              <a:rPr lang="en-US" sz="1300" b="1" dirty="0">
                <a:solidFill>
                  <a:srgbClr val="0B1D2E"/>
                </a:solidFill>
                <a:latin typeface="Calibri" pitchFamily="34" charset="0"/>
                <a:ea typeface="Calibri" pitchFamily="34" charset="-122"/>
                <a:cs typeface="Calibri" pitchFamily="34" charset="-120"/>
              </a:rPr>
              <a:t>Analizar</a:t>
            </a:r>
            <a:endParaRPr lang="en-US" sz="1300" dirty="0"/>
          </a:p>
        </p:txBody>
      </p:sp>
      <p:sp>
        <p:nvSpPr>
          <p:cNvPr id="17" name="Text 14"/>
          <p:cNvSpPr txBox="1"/>
          <p:nvPr/>
        </p:nvSpPr>
        <p:spPr>
          <a:xfrm>
            <a:off x="2736342" y="3200400"/>
            <a:ext cx="1556766" cy="1325880"/>
          </a:xfrm>
          <a:prstGeom prst="rect">
            <a:avLst/>
          </a:prstGeom>
          <a:noFill/>
          <a:ln/>
        </p:spPr>
        <p:txBody>
          <a:bodyPr wrap="square" lIns="0" tIns="0" rIns="0" bIns="0" rtlCol="0" anchor="t">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Actualizar Defender y ejecutar un análisis completo y el análisis sin conexión.</a:t>
            </a:r>
            <a:endParaRPr lang="en-US" sz="1200" dirty="0"/>
          </a:p>
        </p:txBody>
      </p:sp>
      <p:sp>
        <p:nvSpPr>
          <p:cNvPr id="18" name="Shape 15"/>
          <p:cNvSpPr/>
          <p:nvPr/>
        </p:nvSpPr>
        <p:spPr>
          <a:xfrm>
            <a:off x="4686300" y="2514600"/>
            <a:ext cx="1885950" cy="2103120"/>
          </a:xfrm>
          <a:prstGeom prst="roundRect">
            <a:avLst>
              <a:gd name="adj" fmla="val 3879"/>
            </a:avLst>
          </a:prstGeom>
          <a:solidFill>
            <a:srgbClr val="F1F7F8"/>
          </a:solidFill>
          <a:ln w="12700">
            <a:solidFill>
              <a:srgbClr val="F1F7F8"/>
            </a:solidFill>
            <a:prstDash val="solid"/>
          </a:ln>
        </p:spPr>
      </p:sp>
      <p:sp>
        <p:nvSpPr>
          <p:cNvPr id="19" name="Shape 16"/>
          <p:cNvSpPr/>
          <p:nvPr/>
        </p:nvSpPr>
        <p:spPr>
          <a:xfrm>
            <a:off x="4850892" y="2679192"/>
            <a:ext cx="384048" cy="384048"/>
          </a:xfrm>
          <a:prstGeom prst="ellipse">
            <a:avLst/>
          </a:prstGeom>
          <a:solidFill>
            <a:srgbClr val="0E7C86"/>
          </a:solidFill>
          <a:ln w="12700">
            <a:solidFill>
              <a:srgbClr val="0E7C86"/>
            </a:solidFill>
            <a:prstDash val="solid"/>
          </a:ln>
        </p:spPr>
      </p:sp>
      <p:sp>
        <p:nvSpPr>
          <p:cNvPr id="20" name="Text 17"/>
          <p:cNvSpPr txBox="1"/>
          <p:nvPr/>
        </p:nvSpPr>
        <p:spPr>
          <a:xfrm>
            <a:off x="4850892"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8"/>
          <p:cNvSpPr txBox="1"/>
          <p:nvPr/>
        </p:nvSpPr>
        <p:spPr>
          <a:xfrm>
            <a:off x="5326380" y="2660904"/>
            <a:ext cx="1154430" cy="420624"/>
          </a:xfrm>
          <a:prstGeom prst="rect">
            <a:avLst/>
          </a:prstGeom>
          <a:noFill/>
          <a:ln/>
        </p:spPr>
        <p:txBody>
          <a:bodyPr wrap="square" lIns="0" tIns="0" rIns="0" bIns="0" rtlCol="0" anchor="ctr">
            <a:normAutofit/>
          </a:bodyPr>
          <a:lstStyle/>
          <a:p>
            <a:pPr indent="0" marL="0">
              <a:buNone/>
            </a:pPr>
            <a:r>
              <a:rPr lang="en-US" sz="1300" b="1" dirty="0">
                <a:solidFill>
                  <a:srgbClr val="0B1D2E"/>
                </a:solidFill>
                <a:latin typeface="Calibri" pitchFamily="34" charset="0"/>
                <a:ea typeface="Calibri" pitchFamily="34" charset="-122"/>
                <a:cs typeface="Calibri" pitchFamily="34" charset="-120"/>
              </a:rPr>
              <a:t>Limpiar</a:t>
            </a:r>
            <a:endParaRPr lang="en-US" sz="1300" dirty="0"/>
          </a:p>
        </p:txBody>
      </p:sp>
      <p:sp>
        <p:nvSpPr>
          <p:cNvPr id="22" name="Text 19"/>
          <p:cNvSpPr txBox="1"/>
          <p:nvPr/>
        </p:nvSpPr>
        <p:spPr>
          <a:xfrm>
            <a:off x="4850892" y="3200400"/>
            <a:ext cx="1556766" cy="1325880"/>
          </a:xfrm>
          <a:prstGeom prst="rect">
            <a:avLst/>
          </a:prstGeom>
          <a:noFill/>
          <a:ln/>
        </p:spPr>
        <p:txBody>
          <a:bodyPr wrap="square" lIns="0" tIns="0" rIns="0" bIns="0" rtlCol="0" anchor="t">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Poner en cuarentena las amenazas y revisar los programas de inicio.</a:t>
            </a:r>
            <a:endParaRPr lang="en-US" sz="1200" dirty="0"/>
          </a:p>
        </p:txBody>
      </p:sp>
      <p:sp>
        <p:nvSpPr>
          <p:cNvPr id="23" name="Shape 20"/>
          <p:cNvSpPr/>
          <p:nvPr/>
        </p:nvSpPr>
        <p:spPr>
          <a:xfrm>
            <a:off x="6800850" y="2514600"/>
            <a:ext cx="1885950" cy="2103120"/>
          </a:xfrm>
          <a:prstGeom prst="roundRect">
            <a:avLst>
              <a:gd name="adj" fmla="val 3879"/>
            </a:avLst>
          </a:prstGeom>
          <a:solidFill>
            <a:srgbClr val="F1F7F8"/>
          </a:solidFill>
          <a:ln w="12700">
            <a:solidFill>
              <a:srgbClr val="F1F7F8"/>
            </a:solidFill>
            <a:prstDash val="solid"/>
          </a:ln>
        </p:spPr>
      </p:sp>
      <p:sp>
        <p:nvSpPr>
          <p:cNvPr id="24" name="Shape 21"/>
          <p:cNvSpPr/>
          <p:nvPr/>
        </p:nvSpPr>
        <p:spPr>
          <a:xfrm>
            <a:off x="6965442" y="2679192"/>
            <a:ext cx="384048" cy="384048"/>
          </a:xfrm>
          <a:prstGeom prst="ellipse">
            <a:avLst/>
          </a:prstGeom>
          <a:solidFill>
            <a:srgbClr val="0E7C86"/>
          </a:solidFill>
          <a:ln w="12700">
            <a:solidFill>
              <a:srgbClr val="0E7C86"/>
            </a:solidFill>
            <a:prstDash val="solid"/>
          </a:ln>
        </p:spPr>
      </p:sp>
      <p:sp>
        <p:nvSpPr>
          <p:cNvPr id="25" name="Text 22"/>
          <p:cNvSpPr txBox="1"/>
          <p:nvPr/>
        </p:nvSpPr>
        <p:spPr>
          <a:xfrm>
            <a:off x="6965442"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3"/>
          <p:cNvSpPr txBox="1"/>
          <p:nvPr/>
        </p:nvSpPr>
        <p:spPr>
          <a:xfrm>
            <a:off x="7440930" y="2660904"/>
            <a:ext cx="1154430" cy="420624"/>
          </a:xfrm>
          <a:prstGeom prst="rect">
            <a:avLst/>
          </a:prstGeom>
          <a:noFill/>
          <a:ln/>
        </p:spPr>
        <p:txBody>
          <a:bodyPr wrap="square" lIns="0" tIns="0" rIns="0" bIns="0" rtlCol="0" anchor="ctr">
            <a:normAutofit/>
          </a:bodyPr>
          <a:lstStyle/>
          <a:p>
            <a:pPr indent="0" marL="0">
              <a:buNone/>
            </a:pPr>
            <a:r>
              <a:rPr lang="en-US" sz="1300" b="1" dirty="0">
                <a:solidFill>
                  <a:srgbClr val="0B1D2E"/>
                </a:solidFill>
                <a:latin typeface="Calibri" pitchFamily="34" charset="0"/>
                <a:ea typeface="Calibri" pitchFamily="34" charset="-122"/>
                <a:cs typeface="Calibri" pitchFamily="34" charset="-120"/>
              </a:rPr>
              <a:t>Documentar</a:t>
            </a:r>
            <a:endParaRPr lang="en-US" sz="1300" dirty="0"/>
          </a:p>
        </p:txBody>
      </p:sp>
      <p:sp>
        <p:nvSpPr>
          <p:cNvPr id="27" name="Text 24"/>
          <p:cNvSpPr txBox="1"/>
          <p:nvPr/>
        </p:nvSpPr>
        <p:spPr>
          <a:xfrm>
            <a:off x="6965442" y="3200400"/>
            <a:ext cx="1556766" cy="1325880"/>
          </a:xfrm>
          <a:prstGeom prst="rect">
            <a:avLst/>
          </a:prstGeom>
          <a:noFill/>
          <a:ln/>
        </p:spPr>
        <p:txBody>
          <a:bodyPr wrap="square" lIns="0" tIns="0" rIns="0" bIns="0" rtlCol="0" anchor="t">
            <a:normAutofit/>
          </a:bodyPr>
          <a:lstStyle/>
          <a:p>
            <a:pPr indent="0" marL="0">
              <a:buNone/>
            </a:pPr>
            <a:r>
              <a:rPr lang="en-US" sz="1200" dirty="0">
                <a:solidFill>
                  <a:srgbClr val="1E293B"/>
                </a:solidFill>
                <a:latin typeface="Calibri" pitchFamily="34" charset="0"/>
                <a:ea typeface="Calibri" pitchFamily="34" charset="-122"/>
                <a:cs typeface="Calibri" pitchFamily="34" charset="-120"/>
              </a:rPr>
              <a:t>Cambiar contraseñas desde otro equipo y registrar todo en la bitácora.</a:t>
            </a:r>
            <a:endParaRPr lang="en-US" sz="1200" dirty="0"/>
          </a:p>
        </p:txBody>
      </p:sp>
      <p:sp>
        <p:nvSpPr>
          <p:cNvPr id="28" name="Text 25"/>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29" name="Text 26"/>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F5A623"/>
          </a:solidFill>
          <a:ln w="12700">
            <a:solidFill>
              <a:srgbClr val="F5A623"/>
            </a:solidFill>
            <a:prstDash val="solid"/>
          </a:ln>
        </p:spPr>
      </p:sp>
      <p:pic>
        <p:nvPicPr>
          <p:cNvPr id="3" name="Image 0" descr="preencoded.png">    </p:cNvPr>
          <p:cNvPicPr>
            <a:picLocks noChangeAspect="1"/>
          </p:cNvPicPr>
          <p:nvPr/>
        </p:nvPicPr>
        <p:blipFill>
          <a:blip r:embed="rId1"/>
          <a:stretch>
            <a:fillRect/>
          </a:stretch>
        </p:blipFill>
        <p:spPr>
          <a:xfrm>
            <a:off x="612648" y="502920"/>
            <a:ext cx="256032" cy="256032"/>
          </a:xfrm>
          <a:prstGeom prst="rect">
            <a:avLst/>
          </a:prstGeom>
        </p:spPr>
      </p:pic>
      <p:sp>
        <p:nvSpPr>
          <p:cNvPr id="4" name="Text 1"/>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9A5B00"/>
                </a:solidFill>
                <a:latin typeface="Calibri" pitchFamily="34" charset="0"/>
                <a:ea typeface="Calibri" pitchFamily="34" charset="-122"/>
                <a:cs typeface="Calibri" pitchFamily="34" charset="-120"/>
              </a:rPr>
              <a:t>REPASO RÁPIDO</a:t>
            </a:r>
            <a:endParaRPr lang="en-US" sz="1100" dirty="0"/>
          </a:p>
        </p:txBody>
      </p:sp>
      <p:sp>
        <p:nvSpPr>
          <p:cNvPr id="5" name="Text 2"/>
          <p:cNvSpPr txBox="1"/>
          <p:nvPr/>
        </p:nvSpPr>
        <p:spPr>
          <a:xfrm>
            <a:off x="1188720" y="530352"/>
            <a:ext cx="7498080" cy="502920"/>
          </a:xfrm>
          <a:prstGeom prst="rect">
            <a:avLst/>
          </a:prstGeom>
          <a:noFill/>
          <a:ln/>
        </p:spPr>
        <p:txBody>
          <a:bodyPr wrap="square" lIns="0" tIns="0" rIns="0" bIns="0" rtlCol="0" anchor="ctr"/>
          <a:lstStyle/>
          <a:p>
            <a:pPr indent="0" marL="0">
              <a:buNone/>
            </a:pPr>
            <a:r>
              <a:rPr lang="en-US" sz="2600" b="1" dirty="0">
                <a:solidFill>
                  <a:srgbClr val="0B1D2E"/>
                </a:solidFill>
                <a:latin typeface="Calibri" pitchFamily="34" charset="0"/>
                <a:ea typeface="Calibri" pitchFamily="34" charset="-122"/>
                <a:cs typeface="Calibri" pitchFamily="34" charset="-120"/>
              </a:rPr>
              <a:t>¿Qué aprendimos? (1 de 2)</a:t>
            </a:r>
            <a:endParaRPr lang="en-US" sz="2600" dirty="0"/>
          </a:p>
        </p:txBody>
      </p:sp>
      <p:sp>
        <p:nvSpPr>
          <p:cNvPr id="6" name="Shape 3"/>
          <p:cNvSpPr/>
          <p:nvPr/>
        </p:nvSpPr>
        <p:spPr>
          <a:xfrm>
            <a:off x="457200" y="1234440"/>
            <a:ext cx="8229600" cy="960120"/>
          </a:xfrm>
          <a:prstGeom prst="roundRect">
            <a:avLst>
              <a:gd name="adj" fmla="val 7619"/>
            </a:avLst>
          </a:prstGeom>
          <a:solidFill>
            <a:srgbClr val="F1F7F8"/>
          </a:solidFill>
          <a:ln w="12700">
            <a:solidFill>
              <a:srgbClr val="F1F7F8"/>
            </a:solidFill>
            <a:prstDash val="solid"/>
          </a:ln>
        </p:spPr>
      </p:sp>
      <p:sp>
        <p:nvSpPr>
          <p:cNvPr id="7" name="Text 4"/>
          <p:cNvSpPr txBox="1"/>
          <p:nvPr/>
        </p:nvSpPr>
        <p:spPr>
          <a:xfrm>
            <a:off x="640080" y="1481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1280160" y="1234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¿Qué diferencia hay entre el modo kernel y el modo usuario?</a:t>
            </a:r>
            <a:endParaRPr lang="en-US" sz="1600" dirty="0"/>
          </a:p>
        </p:txBody>
      </p:sp>
      <p:sp>
        <p:nvSpPr>
          <p:cNvPr id="9" name="Shape 6"/>
          <p:cNvSpPr/>
          <p:nvPr/>
        </p:nvSpPr>
        <p:spPr>
          <a:xfrm>
            <a:off x="457200" y="2377440"/>
            <a:ext cx="8229600" cy="960120"/>
          </a:xfrm>
          <a:prstGeom prst="roundRect">
            <a:avLst>
              <a:gd name="adj" fmla="val 7619"/>
            </a:avLst>
          </a:prstGeom>
          <a:solidFill>
            <a:srgbClr val="F1F7F8"/>
          </a:solidFill>
          <a:ln w="12700">
            <a:solidFill>
              <a:srgbClr val="F1F7F8"/>
            </a:solidFill>
            <a:prstDash val="solid"/>
          </a:ln>
        </p:spPr>
      </p:sp>
      <p:sp>
        <p:nvSpPr>
          <p:cNvPr id="10" name="Text 7"/>
          <p:cNvSpPr txBox="1"/>
          <p:nvPr/>
        </p:nvSpPr>
        <p:spPr>
          <a:xfrm>
            <a:off x="640080" y="2624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2</a:t>
            </a:r>
            <a:endParaRPr lang="en-US" sz="2200" dirty="0"/>
          </a:p>
        </p:txBody>
      </p:sp>
      <p:sp>
        <p:nvSpPr>
          <p:cNvPr id="11" name="Text 8"/>
          <p:cNvSpPr txBox="1"/>
          <p:nvPr/>
        </p:nvSpPr>
        <p:spPr>
          <a:xfrm>
            <a:off x="1280160" y="2377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¿Qué herramienta de Windows usaría para revisar inicios de sesión fallidos?</a:t>
            </a:r>
            <a:endParaRPr lang="en-US" sz="1600" dirty="0"/>
          </a:p>
        </p:txBody>
      </p:sp>
      <p:sp>
        <p:nvSpPr>
          <p:cNvPr id="12" name="Shape 9"/>
          <p:cNvSpPr/>
          <p:nvPr/>
        </p:nvSpPr>
        <p:spPr>
          <a:xfrm>
            <a:off x="457200" y="3520440"/>
            <a:ext cx="8229600" cy="960120"/>
          </a:xfrm>
          <a:prstGeom prst="roundRect">
            <a:avLst>
              <a:gd name="adj" fmla="val 7619"/>
            </a:avLst>
          </a:prstGeom>
          <a:solidFill>
            <a:srgbClr val="F1F7F8"/>
          </a:solidFill>
          <a:ln w="12700">
            <a:solidFill>
              <a:srgbClr val="F1F7F8"/>
            </a:solidFill>
            <a:prstDash val="solid"/>
          </a:ln>
        </p:spPr>
      </p:sp>
      <p:sp>
        <p:nvSpPr>
          <p:cNvPr id="13" name="Text 10"/>
          <p:cNvSpPr txBox="1"/>
          <p:nvPr/>
        </p:nvSpPr>
        <p:spPr>
          <a:xfrm>
            <a:off x="640080" y="3767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3</a:t>
            </a:r>
            <a:endParaRPr lang="en-US" sz="2200" dirty="0"/>
          </a:p>
        </p:txBody>
      </p:sp>
      <p:sp>
        <p:nvSpPr>
          <p:cNvPr id="14" name="Text 11"/>
          <p:cNvSpPr txBox="1"/>
          <p:nvPr/>
        </p:nvSpPr>
        <p:spPr>
          <a:xfrm>
            <a:off x="1280160" y="3520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¿Qué significa el permiso 640 en Linux?</a:t>
            </a:r>
            <a:endParaRPr lang="en-US" sz="1600" dirty="0"/>
          </a:p>
        </p:txBody>
      </p:sp>
      <p:sp>
        <p:nvSpPr>
          <p:cNvPr id="15" name="Text 12"/>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16" name="Text 13"/>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566928"/>
          </a:xfrm>
          <a:prstGeom prst="ellipse">
            <a:avLst/>
          </a:prstGeom>
          <a:solidFill>
            <a:srgbClr val="F5A623"/>
          </a:solidFill>
          <a:ln w="12700">
            <a:solidFill>
              <a:srgbClr val="F5A623"/>
            </a:solidFill>
            <a:prstDash val="solid"/>
          </a:ln>
        </p:spPr>
      </p:sp>
      <p:pic>
        <p:nvPicPr>
          <p:cNvPr id="3" name="Image 0" descr="preencoded.png">    </p:cNvPr>
          <p:cNvPicPr>
            <a:picLocks noChangeAspect="1"/>
          </p:cNvPicPr>
          <p:nvPr/>
        </p:nvPicPr>
        <p:blipFill>
          <a:blip r:embed="rId1"/>
          <a:stretch>
            <a:fillRect/>
          </a:stretch>
        </p:blipFill>
        <p:spPr>
          <a:xfrm>
            <a:off x="612648" y="502920"/>
            <a:ext cx="256032" cy="256032"/>
          </a:xfrm>
          <a:prstGeom prst="rect">
            <a:avLst/>
          </a:prstGeom>
        </p:spPr>
      </p:pic>
      <p:sp>
        <p:nvSpPr>
          <p:cNvPr id="4" name="Text 1"/>
          <p:cNvSpPr txBox="1"/>
          <p:nvPr/>
        </p:nvSpPr>
        <p:spPr>
          <a:xfrm>
            <a:off x="1188720" y="292608"/>
            <a:ext cx="7498080" cy="256032"/>
          </a:xfrm>
          <a:prstGeom prst="rect">
            <a:avLst/>
          </a:prstGeom>
          <a:noFill/>
          <a:ln/>
        </p:spPr>
        <p:txBody>
          <a:bodyPr wrap="square" lIns="0" tIns="0" rIns="0" bIns="0" rtlCol="0" anchor="ctr"/>
          <a:lstStyle/>
          <a:p>
            <a:pPr indent="0" marL="0">
              <a:buNone/>
            </a:pPr>
            <a:r>
              <a:rPr lang="en-US" sz="1100" b="1" dirty="0">
                <a:solidFill>
                  <a:srgbClr val="9A5B00"/>
                </a:solidFill>
                <a:latin typeface="Calibri" pitchFamily="34" charset="0"/>
                <a:ea typeface="Calibri" pitchFamily="34" charset="-122"/>
                <a:cs typeface="Calibri" pitchFamily="34" charset="-120"/>
              </a:rPr>
              <a:t>REPASO RÁPIDO</a:t>
            </a:r>
            <a:endParaRPr lang="en-US" sz="1100" dirty="0"/>
          </a:p>
        </p:txBody>
      </p:sp>
      <p:sp>
        <p:nvSpPr>
          <p:cNvPr id="5" name="Text 2"/>
          <p:cNvSpPr txBox="1"/>
          <p:nvPr/>
        </p:nvSpPr>
        <p:spPr>
          <a:xfrm>
            <a:off x="1188720" y="530352"/>
            <a:ext cx="7498080" cy="502920"/>
          </a:xfrm>
          <a:prstGeom prst="rect">
            <a:avLst/>
          </a:prstGeom>
          <a:noFill/>
          <a:ln/>
        </p:spPr>
        <p:txBody>
          <a:bodyPr wrap="square" lIns="0" tIns="0" rIns="0" bIns="0" rtlCol="0" anchor="ctr"/>
          <a:lstStyle/>
          <a:p>
            <a:pPr indent="0" marL="0">
              <a:buNone/>
            </a:pPr>
            <a:r>
              <a:rPr lang="en-US" sz="2600" b="1" dirty="0">
                <a:solidFill>
                  <a:srgbClr val="0B1D2E"/>
                </a:solidFill>
                <a:latin typeface="Calibri" pitchFamily="34" charset="0"/>
                <a:ea typeface="Calibri" pitchFamily="34" charset="-122"/>
                <a:cs typeface="Calibri" pitchFamily="34" charset="-120"/>
              </a:rPr>
              <a:t>¿Qué aprendimos? (2 de 2)</a:t>
            </a:r>
            <a:endParaRPr lang="en-US" sz="2600" dirty="0"/>
          </a:p>
        </p:txBody>
      </p:sp>
      <p:sp>
        <p:nvSpPr>
          <p:cNvPr id="6" name="Shape 3"/>
          <p:cNvSpPr/>
          <p:nvPr/>
        </p:nvSpPr>
        <p:spPr>
          <a:xfrm>
            <a:off x="457200" y="1234440"/>
            <a:ext cx="8229600" cy="960120"/>
          </a:xfrm>
          <a:prstGeom prst="roundRect">
            <a:avLst>
              <a:gd name="adj" fmla="val 7619"/>
            </a:avLst>
          </a:prstGeom>
          <a:solidFill>
            <a:srgbClr val="F1F7F8"/>
          </a:solidFill>
          <a:ln w="12700">
            <a:solidFill>
              <a:srgbClr val="F1F7F8"/>
            </a:solidFill>
            <a:prstDash val="solid"/>
          </a:ln>
        </p:spPr>
      </p:sp>
      <p:sp>
        <p:nvSpPr>
          <p:cNvPr id="7" name="Text 4"/>
          <p:cNvSpPr txBox="1"/>
          <p:nvPr/>
        </p:nvSpPr>
        <p:spPr>
          <a:xfrm>
            <a:off x="640080" y="1481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4</a:t>
            </a:r>
            <a:endParaRPr lang="en-US" sz="2200" dirty="0"/>
          </a:p>
        </p:txBody>
      </p:sp>
      <p:sp>
        <p:nvSpPr>
          <p:cNvPr id="8" name="Text 5"/>
          <p:cNvSpPr txBox="1"/>
          <p:nvPr/>
        </p:nvSpPr>
        <p:spPr>
          <a:xfrm>
            <a:off x="1280160" y="1234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¿Dónde se guardan los registros del sistema en Linux?</a:t>
            </a:r>
            <a:endParaRPr lang="en-US" sz="1600" dirty="0"/>
          </a:p>
        </p:txBody>
      </p:sp>
      <p:sp>
        <p:nvSpPr>
          <p:cNvPr id="9" name="Shape 6"/>
          <p:cNvSpPr/>
          <p:nvPr/>
        </p:nvSpPr>
        <p:spPr>
          <a:xfrm>
            <a:off x="457200" y="2377440"/>
            <a:ext cx="8229600" cy="960120"/>
          </a:xfrm>
          <a:prstGeom prst="roundRect">
            <a:avLst>
              <a:gd name="adj" fmla="val 7619"/>
            </a:avLst>
          </a:prstGeom>
          <a:solidFill>
            <a:srgbClr val="F1F7F8"/>
          </a:solidFill>
          <a:ln w="12700">
            <a:solidFill>
              <a:srgbClr val="F1F7F8"/>
            </a:solidFill>
            <a:prstDash val="solid"/>
          </a:ln>
        </p:spPr>
      </p:sp>
      <p:sp>
        <p:nvSpPr>
          <p:cNvPr id="10" name="Text 7"/>
          <p:cNvSpPr txBox="1"/>
          <p:nvPr/>
        </p:nvSpPr>
        <p:spPr>
          <a:xfrm>
            <a:off x="640080" y="2624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5</a:t>
            </a:r>
            <a:endParaRPr lang="en-US" sz="2200" dirty="0"/>
          </a:p>
        </p:txBody>
      </p:sp>
      <p:sp>
        <p:nvSpPr>
          <p:cNvPr id="11" name="Text 8"/>
          <p:cNvSpPr txBox="1"/>
          <p:nvPr/>
        </p:nvSpPr>
        <p:spPr>
          <a:xfrm>
            <a:off x="1280160" y="2377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¿Por qué el antimalware por firmas no detecta un ataque de día cero?</a:t>
            </a:r>
            <a:endParaRPr lang="en-US" sz="1600" dirty="0"/>
          </a:p>
        </p:txBody>
      </p:sp>
      <p:sp>
        <p:nvSpPr>
          <p:cNvPr id="12" name="Shape 9"/>
          <p:cNvSpPr/>
          <p:nvPr/>
        </p:nvSpPr>
        <p:spPr>
          <a:xfrm>
            <a:off x="457200" y="3520440"/>
            <a:ext cx="8229600" cy="960120"/>
          </a:xfrm>
          <a:prstGeom prst="roundRect">
            <a:avLst>
              <a:gd name="adj" fmla="val 7619"/>
            </a:avLst>
          </a:prstGeom>
          <a:solidFill>
            <a:srgbClr val="F1F7F8"/>
          </a:solidFill>
          <a:ln w="12700">
            <a:solidFill>
              <a:srgbClr val="F1F7F8"/>
            </a:solidFill>
            <a:prstDash val="solid"/>
          </a:ln>
        </p:spPr>
      </p:sp>
      <p:sp>
        <p:nvSpPr>
          <p:cNvPr id="13" name="Text 10"/>
          <p:cNvSpPr txBox="1"/>
          <p:nvPr/>
        </p:nvSpPr>
        <p:spPr>
          <a:xfrm>
            <a:off x="640080" y="3767328"/>
            <a:ext cx="457200" cy="457200"/>
          </a:xfrm>
          <a:prstGeom prst="rect">
            <a:avLst/>
          </a:prstGeom>
          <a:noFill/>
          <a:ln/>
        </p:spPr>
        <p:txBody>
          <a:bodyPr wrap="square" lIns="0" tIns="0" rIns="0" bIns="0" rtlCol="0" anchor="ctr"/>
          <a:lstStyle/>
          <a:p>
            <a:pPr algn="ctr" indent="0" marL="0">
              <a:buNone/>
            </a:pPr>
            <a:r>
              <a:rPr lang="en-US" sz="2200" b="1" dirty="0">
                <a:solidFill>
                  <a:srgbClr val="F5A623"/>
                </a:solidFill>
                <a:latin typeface="Calibri" pitchFamily="34" charset="0"/>
                <a:ea typeface="Calibri" pitchFamily="34" charset="-122"/>
                <a:cs typeface="Calibri" pitchFamily="34" charset="-120"/>
              </a:rPr>
              <a:t>6</a:t>
            </a:r>
            <a:endParaRPr lang="en-US" sz="2200" dirty="0"/>
          </a:p>
        </p:txBody>
      </p:sp>
      <p:sp>
        <p:nvSpPr>
          <p:cNvPr id="14" name="Text 11"/>
          <p:cNvSpPr txBox="1"/>
          <p:nvPr/>
        </p:nvSpPr>
        <p:spPr>
          <a:xfrm>
            <a:off x="1280160" y="3520440"/>
            <a:ext cx="7223760" cy="960120"/>
          </a:xfrm>
          <a:prstGeom prst="rect">
            <a:avLst/>
          </a:prstGeom>
          <a:noFill/>
          <a:ln/>
        </p:spPr>
        <p:txBody>
          <a:bodyPr wrap="square" lIns="0" tIns="0" rIns="0" bIns="0" rtlCol="0" anchor="ctr">
            <a:normAutofit/>
          </a:bodyPr>
          <a:lstStyle/>
          <a:p>
            <a:pPr indent="0" marL="0">
              <a:buNone/>
            </a:pPr>
            <a:r>
              <a:rPr lang="en-US" sz="1600" dirty="0">
                <a:solidFill>
                  <a:srgbClr val="1E293B"/>
                </a:solidFill>
                <a:latin typeface="Calibri" pitchFamily="34" charset="0"/>
                <a:ea typeface="Calibri" pitchFamily="34" charset="-122"/>
                <a:cs typeface="Calibri" pitchFamily="34" charset="-120"/>
              </a:rPr>
              <a:t>¿Qué hace un HIPS?</a:t>
            </a:r>
            <a:endParaRPr lang="en-US" sz="1600" dirty="0"/>
          </a:p>
        </p:txBody>
      </p:sp>
      <p:sp>
        <p:nvSpPr>
          <p:cNvPr id="15" name="Text 12"/>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Fundamentos de ciberseguridad · RA2</a:t>
            </a:r>
            <a:endParaRPr lang="en-US" sz="900" dirty="0"/>
          </a:p>
        </p:txBody>
      </p:sp>
      <p:sp>
        <p:nvSpPr>
          <p:cNvPr id="16" name="Text 13"/>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D2E"/>
        </a:solidFill>
      </p:bgPr>
    </p:bg>
    <p:spTree>
      <p:nvGrpSpPr>
        <p:cNvPr id="1" name=""/>
        <p:cNvGrpSpPr/>
        <p:nvPr/>
      </p:nvGrpSpPr>
      <p:grpSpPr>
        <a:xfrm>
          <a:off x="0" y="0"/>
          <a:ext cx="0" cy="0"/>
          <a:chOff x="0" y="0"/>
          <a:chExt cx="0" cy="0"/>
        </a:xfrm>
      </p:grpSpPr>
      <p:sp>
        <p:nvSpPr>
          <p:cNvPr id="2" name="Text 0"/>
          <p:cNvSpPr txBox="1"/>
          <p:nvPr/>
        </p:nvSpPr>
        <p:spPr>
          <a:xfrm>
            <a:off x="548640" y="457200"/>
            <a:ext cx="8046720" cy="5486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Lo que aprendimos</a:t>
            </a:r>
            <a:endParaRPr lang="en-US" sz="3200" dirty="0"/>
          </a:p>
        </p:txBody>
      </p:sp>
      <p:sp>
        <p:nvSpPr>
          <p:cNvPr id="3" name="Shape 1"/>
          <p:cNvSpPr/>
          <p:nvPr/>
        </p:nvSpPr>
        <p:spPr>
          <a:xfrm>
            <a:off x="548640" y="1335024"/>
            <a:ext cx="310896" cy="310896"/>
          </a:xfrm>
          <a:prstGeom prst="ellipse">
            <a:avLst/>
          </a:prstGeom>
          <a:solidFill>
            <a:srgbClr val="0E7C86"/>
          </a:solidFill>
          <a:ln w="12700">
            <a:solidFill>
              <a:srgbClr val="0E7C86"/>
            </a:solidFill>
            <a:prstDash val="solid"/>
          </a:ln>
        </p:spPr>
      </p:sp>
      <p:pic>
        <p:nvPicPr>
          <p:cNvPr id="4" name="Image 0" descr="preencoded.png">    </p:cNvPr>
          <p:cNvPicPr>
            <a:picLocks noChangeAspect="1"/>
          </p:cNvPicPr>
          <p:nvPr/>
        </p:nvPicPr>
        <p:blipFill>
          <a:blip r:embed="rId1"/>
          <a:stretch>
            <a:fillRect/>
          </a:stretch>
        </p:blipFill>
        <p:spPr>
          <a:xfrm>
            <a:off x="630936" y="1417320"/>
            <a:ext cx="146304" cy="146304"/>
          </a:xfrm>
          <a:prstGeom prst="rect">
            <a:avLst/>
          </a:prstGeom>
        </p:spPr>
      </p:pic>
      <p:sp>
        <p:nvSpPr>
          <p:cNvPr id="5" name="Text 2"/>
          <p:cNvSpPr txBox="1"/>
          <p:nvPr/>
        </p:nvSpPr>
        <p:spPr>
          <a:xfrm>
            <a:off x="1005840" y="1280160"/>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Windows: historia y arquitectura</a:t>
            </a:r>
            <a:endParaRPr lang="en-US" sz="1300" dirty="0"/>
          </a:p>
        </p:txBody>
      </p:sp>
      <p:sp>
        <p:nvSpPr>
          <p:cNvPr id="6" name="Shape 3"/>
          <p:cNvSpPr/>
          <p:nvPr/>
        </p:nvSpPr>
        <p:spPr>
          <a:xfrm>
            <a:off x="548640" y="1901952"/>
            <a:ext cx="310896" cy="310896"/>
          </a:xfrm>
          <a:prstGeom prst="ellipse">
            <a:avLst/>
          </a:prstGeom>
          <a:solidFill>
            <a:srgbClr val="0E7C86"/>
          </a:solidFill>
          <a:ln w="12700">
            <a:solidFill>
              <a:srgbClr val="0E7C86"/>
            </a:solidFill>
            <a:prstDash val="solid"/>
          </a:ln>
        </p:spPr>
      </p:sp>
      <p:pic>
        <p:nvPicPr>
          <p:cNvPr id="7" name="Image 1" descr="preencoded.png">    </p:cNvPr>
          <p:cNvPicPr>
            <a:picLocks noChangeAspect="1"/>
          </p:cNvPicPr>
          <p:nvPr/>
        </p:nvPicPr>
        <p:blipFill>
          <a:blip r:embed="rId2"/>
          <a:stretch>
            <a:fillRect/>
          </a:stretch>
        </p:blipFill>
        <p:spPr>
          <a:xfrm>
            <a:off x="630936" y="1984248"/>
            <a:ext cx="146304" cy="146304"/>
          </a:xfrm>
          <a:prstGeom prst="rect">
            <a:avLst/>
          </a:prstGeom>
        </p:spPr>
      </p:pic>
      <p:sp>
        <p:nvSpPr>
          <p:cNvPr id="8" name="Text 4"/>
          <p:cNvSpPr txBox="1"/>
          <p:nvPr/>
        </p:nvSpPr>
        <p:spPr>
          <a:xfrm>
            <a:off x="1005840" y="1847088"/>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Configuración y monitoreo de Windows</a:t>
            </a:r>
            <a:endParaRPr lang="en-US" sz="1300" dirty="0"/>
          </a:p>
        </p:txBody>
      </p:sp>
      <p:sp>
        <p:nvSpPr>
          <p:cNvPr id="9" name="Shape 5"/>
          <p:cNvSpPr/>
          <p:nvPr/>
        </p:nvSpPr>
        <p:spPr>
          <a:xfrm>
            <a:off x="548640" y="2468880"/>
            <a:ext cx="310896" cy="310896"/>
          </a:xfrm>
          <a:prstGeom prst="ellipse">
            <a:avLst/>
          </a:prstGeom>
          <a:solidFill>
            <a:srgbClr val="0E7C86"/>
          </a:solidFill>
          <a:ln w="12700">
            <a:solidFill>
              <a:srgbClr val="0E7C86"/>
            </a:solidFill>
            <a:prstDash val="solid"/>
          </a:ln>
        </p:spPr>
      </p:sp>
      <p:pic>
        <p:nvPicPr>
          <p:cNvPr id="10" name="Image 2" descr="preencoded.png">    </p:cNvPr>
          <p:cNvPicPr>
            <a:picLocks noChangeAspect="1"/>
          </p:cNvPicPr>
          <p:nvPr/>
        </p:nvPicPr>
        <p:blipFill>
          <a:blip r:embed="rId3"/>
          <a:stretch>
            <a:fillRect/>
          </a:stretch>
        </p:blipFill>
        <p:spPr>
          <a:xfrm>
            <a:off x="630936" y="2551176"/>
            <a:ext cx="146304" cy="146304"/>
          </a:xfrm>
          <a:prstGeom prst="rect">
            <a:avLst/>
          </a:prstGeom>
        </p:spPr>
      </p:pic>
      <p:sp>
        <p:nvSpPr>
          <p:cNvPr id="11" name="Text 6"/>
          <p:cNvSpPr txBox="1"/>
          <p:nvPr/>
        </p:nvSpPr>
        <p:spPr>
          <a:xfrm>
            <a:off x="1005840" y="2414016"/>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Seguridad de Windows</a:t>
            </a:r>
            <a:endParaRPr lang="en-US" sz="1300" dirty="0"/>
          </a:p>
        </p:txBody>
      </p:sp>
      <p:sp>
        <p:nvSpPr>
          <p:cNvPr id="12" name="Shape 7"/>
          <p:cNvSpPr/>
          <p:nvPr/>
        </p:nvSpPr>
        <p:spPr>
          <a:xfrm>
            <a:off x="548640" y="3035808"/>
            <a:ext cx="310896" cy="310896"/>
          </a:xfrm>
          <a:prstGeom prst="ellipse">
            <a:avLst/>
          </a:prstGeom>
          <a:solidFill>
            <a:srgbClr val="0E7C86"/>
          </a:solidFill>
          <a:ln w="12700">
            <a:solidFill>
              <a:srgbClr val="0E7C86"/>
            </a:solidFill>
            <a:prstDash val="solid"/>
          </a:ln>
        </p:spPr>
      </p:sp>
      <p:pic>
        <p:nvPicPr>
          <p:cNvPr id="13" name="Image 3" descr="preencoded.png">    </p:cNvPr>
          <p:cNvPicPr>
            <a:picLocks noChangeAspect="1"/>
          </p:cNvPicPr>
          <p:nvPr/>
        </p:nvPicPr>
        <p:blipFill>
          <a:blip r:embed="rId4"/>
          <a:stretch>
            <a:fillRect/>
          </a:stretch>
        </p:blipFill>
        <p:spPr>
          <a:xfrm>
            <a:off x="630936" y="3118104"/>
            <a:ext cx="146304" cy="146304"/>
          </a:xfrm>
          <a:prstGeom prst="rect">
            <a:avLst/>
          </a:prstGeom>
        </p:spPr>
      </p:pic>
      <p:sp>
        <p:nvSpPr>
          <p:cNvPr id="14" name="Text 8"/>
          <p:cNvSpPr txBox="1"/>
          <p:nvPr/>
        </p:nvSpPr>
        <p:spPr>
          <a:xfrm>
            <a:off x="1005840" y="2980944"/>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Linux: conceptos básicos y el shell</a:t>
            </a:r>
            <a:endParaRPr lang="en-US" sz="1300" dirty="0"/>
          </a:p>
        </p:txBody>
      </p:sp>
      <p:sp>
        <p:nvSpPr>
          <p:cNvPr id="15" name="Shape 9"/>
          <p:cNvSpPr/>
          <p:nvPr/>
        </p:nvSpPr>
        <p:spPr>
          <a:xfrm>
            <a:off x="4663440" y="1335024"/>
            <a:ext cx="310896" cy="310896"/>
          </a:xfrm>
          <a:prstGeom prst="ellipse">
            <a:avLst/>
          </a:prstGeom>
          <a:solidFill>
            <a:srgbClr val="0E7C86"/>
          </a:solidFill>
          <a:ln w="12700">
            <a:solidFill>
              <a:srgbClr val="0E7C86"/>
            </a:solidFill>
            <a:prstDash val="solid"/>
          </a:ln>
        </p:spPr>
      </p:sp>
      <p:pic>
        <p:nvPicPr>
          <p:cNvPr id="16" name="Image 4" descr="preencoded.png">    </p:cNvPr>
          <p:cNvPicPr>
            <a:picLocks noChangeAspect="1"/>
          </p:cNvPicPr>
          <p:nvPr/>
        </p:nvPicPr>
        <p:blipFill>
          <a:blip r:embed="rId5"/>
          <a:stretch>
            <a:fillRect/>
          </a:stretch>
        </p:blipFill>
        <p:spPr>
          <a:xfrm>
            <a:off x="4745736" y="1417320"/>
            <a:ext cx="146304" cy="146304"/>
          </a:xfrm>
          <a:prstGeom prst="rect">
            <a:avLst/>
          </a:prstGeom>
        </p:spPr>
      </p:pic>
      <p:sp>
        <p:nvSpPr>
          <p:cNvPr id="17" name="Text 10"/>
          <p:cNvSpPr txBox="1"/>
          <p:nvPr/>
        </p:nvSpPr>
        <p:spPr>
          <a:xfrm>
            <a:off x="5120640" y="1280160"/>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Servidores, clientes y administración en Linux</a:t>
            </a:r>
            <a:endParaRPr lang="en-US" sz="1300" dirty="0"/>
          </a:p>
        </p:txBody>
      </p:sp>
      <p:sp>
        <p:nvSpPr>
          <p:cNvPr id="18" name="Shape 11"/>
          <p:cNvSpPr/>
          <p:nvPr/>
        </p:nvSpPr>
        <p:spPr>
          <a:xfrm>
            <a:off x="4663440" y="1901952"/>
            <a:ext cx="310896" cy="310896"/>
          </a:xfrm>
          <a:prstGeom prst="ellipse">
            <a:avLst/>
          </a:prstGeom>
          <a:solidFill>
            <a:srgbClr val="0E7C86"/>
          </a:solidFill>
          <a:ln w="12700">
            <a:solidFill>
              <a:srgbClr val="0E7C86"/>
            </a:solidFill>
            <a:prstDash val="solid"/>
          </a:ln>
        </p:spPr>
      </p:sp>
      <p:pic>
        <p:nvPicPr>
          <p:cNvPr id="19" name="Image 5" descr="preencoded.png">    </p:cNvPr>
          <p:cNvPicPr>
            <a:picLocks noChangeAspect="1"/>
          </p:cNvPicPr>
          <p:nvPr/>
        </p:nvPicPr>
        <p:blipFill>
          <a:blip r:embed="rId6"/>
          <a:stretch>
            <a:fillRect/>
          </a:stretch>
        </p:blipFill>
        <p:spPr>
          <a:xfrm>
            <a:off x="4745736" y="1984248"/>
            <a:ext cx="146304" cy="146304"/>
          </a:xfrm>
          <a:prstGeom prst="rect">
            <a:avLst/>
          </a:prstGeom>
        </p:spPr>
      </p:pic>
      <p:sp>
        <p:nvSpPr>
          <p:cNvPr id="20" name="Text 12"/>
          <p:cNvSpPr txBox="1"/>
          <p:nvPr/>
        </p:nvSpPr>
        <p:spPr>
          <a:xfrm>
            <a:off x="5120640" y="1847088"/>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El sistema de archivos y los permisos en Linux</a:t>
            </a:r>
            <a:endParaRPr lang="en-US" sz="1300" dirty="0"/>
          </a:p>
        </p:txBody>
      </p:sp>
      <p:sp>
        <p:nvSpPr>
          <p:cNvPr id="21" name="Shape 13"/>
          <p:cNvSpPr/>
          <p:nvPr/>
        </p:nvSpPr>
        <p:spPr>
          <a:xfrm>
            <a:off x="4663440" y="2468880"/>
            <a:ext cx="310896" cy="310896"/>
          </a:xfrm>
          <a:prstGeom prst="ellipse">
            <a:avLst/>
          </a:prstGeom>
          <a:solidFill>
            <a:srgbClr val="0E7C86"/>
          </a:solidFill>
          <a:ln w="12700">
            <a:solidFill>
              <a:srgbClr val="0E7C86"/>
            </a:solidFill>
            <a:prstDash val="solid"/>
          </a:ln>
        </p:spPr>
      </p:sp>
      <p:pic>
        <p:nvPicPr>
          <p:cNvPr id="22" name="Image 6" descr="preencoded.png">    </p:cNvPr>
          <p:cNvPicPr>
            <a:picLocks noChangeAspect="1"/>
          </p:cNvPicPr>
          <p:nvPr/>
        </p:nvPicPr>
        <p:blipFill>
          <a:blip r:embed="rId7"/>
          <a:stretch>
            <a:fillRect/>
          </a:stretch>
        </p:blipFill>
        <p:spPr>
          <a:xfrm>
            <a:off x="4745736" y="2551176"/>
            <a:ext cx="146304" cy="146304"/>
          </a:xfrm>
          <a:prstGeom prst="rect">
            <a:avLst/>
          </a:prstGeom>
        </p:spPr>
      </p:pic>
      <p:sp>
        <p:nvSpPr>
          <p:cNvPr id="23" name="Text 14"/>
          <p:cNvSpPr txBox="1"/>
          <p:nvPr/>
        </p:nvSpPr>
        <p:spPr>
          <a:xfrm>
            <a:off x="5120640" y="2414016"/>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Protección antimalware</a:t>
            </a:r>
            <a:endParaRPr lang="en-US" sz="1300" dirty="0"/>
          </a:p>
        </p:txBody>
      </p:sp>
      <p:sp>
        <p:nvSpPr>
          <p:cNvPr id="24" name="Shape 15"/>
          <p:cNvSpPr/>
          <p:nvPr/>
        </p:nvSpPr>
        <p:spPr>
          <a:xfrm>
            <a:off x="4663440" y="3035808"/>
            <a:ext cx="310896" cy="310896"/>
          </a:xfrm>
          <a:prstGeom prst="ellipse">
            <a:avLst/>
          </a:prstGeom>
          <a:solidFill>
            <a:srgbClr val="0E7C86"/>
          </a:solidFill>
          <a:ln w="12700">
            <a:solidFill>
              <a:srgbClr val="0E7C86"/>
            </a:solidFill>
            <a:prstDash val="solid"/>
          </a:ln>
        </p:spPr>
      </p:sp>
      <p:pic>
        <p:nvPicPr>
          <p:cNvPr id="25" name="Image 7" descr="preencoded.png">    </p:cNvPr>
          <p:cNvPicPr>
            <a:picLocks noChangeAspect="1"/>
          </p:cNvPicPr>
          <p:nvPr/>
        </p:nvPicPr>
        <p:blipFill>
          <a:blip r:embed="rId8"/>
          <a:stretch>
            <a:fillRect/>
          </a:stretch>
        </p:blipFill>
        <p:spPr>
          <a:xfrm>
            <a:off x="4745736" y="3118104"/>
            <a:ext cx="146304" cy="146304"/>
          </a:xfrm>
          <a:prstGeom prst="rect">
            <a:avLst/>
          </a:prstGeom>
        </p:spPr>
      </p:pic>
      <p:sp>
        <p:nvSpPr>
          <p:cNvPr id="26" name="Text 16"/>
          <p:cNvSpPr txBox="1"/>
          <p:nvPr/>
        </p:nvSpPr>
        <p:spPr>
          <a:xfrm>
            <a:off x="5120640" y="2980944"/>
            <a:ext cx="3520440" cy="420624"/>
          </a:xfrm>
          <a:prstGeom prst="rect">
            <a:avLst/>
          </a:prstGeom>
          <a:noFill/>
          <a:ln/>
        </p:spPr>
        <p:txBody>
          <a:bodyPr wrap="square" lIns="0" tIns="0" rIns="0" bIns="0" rtlCol="0" anchor="ctr">
            <a:normAutofit/>
          </a:bodyPr>
          <a:lstStyle/>
          <a:p>
            <a:pPr indent="0" marL="0">
              <a:buNone/>
            </a:pPr>
            <a:r>
              <a:rPr lang="en-US" sz="1300" dirty="0">
                <a:solidFill>
                  <a:srgbClr val="E2E8F0"/>
                </a:solidFill>
                <a:latin typeface="Calibri" pitchFamily="34" charset="0"/>
                <a:ea typeface="Calibri" pitchFamily="34" charset="-122"/>
                <a:cs typeface="Calibri" pitchFamily="34" charset="-120"/>
              </a:rPr>
              <a:t>Prevención de intrusiones en el host y seguridad de las aplicaciones</a:t>
            </a:r>
            <a:endParaRPr lang="en-US" sz="1300" dirty="0"/>
          </a:p>
        </p:txBody>
      </p:sp>
      <p:sp>
        <p:nvSpPr>
          <p:cNvPr id="27" name="Shape 17"/>
          <p:cNvSpPr/>
          <p:nvPr/>
        </p:nvSpPr>
        <p:spPr>
          <a:xfrm>
            <a:off x="548640" y="3794760"/>
            <a:ext cx="8046720" cy="685800"/>
          </a:xfrm>
          <a:prstGeom prst="roundRect">
            <a:avLst>
              <a:gd name="adj" fmla="val 10667"/>
            </a:avLst>
          </a:prstGeom>
          <a:solidFill>
            <a:srgbClr val="F5A623"/>
          </a:solidFill>
          <a:ln w="12700">
            <a:solidFill>
              <a:srgbClr val="F5A623"/>
            </a:solidFill>
            <a:prstDash val="solid"/>
          </a:ln>
        </p:spPr>
      </p:sp>
      <p:sp>
        <p:nvSpPr>
          <p:cNvPr id="28" name="Text 18"/>
          <p:cNvSpPr txBox="1"/>
          <p:nvPr/>
        </p:nvSpPr>
        <p:spPr>
          <a:xfrm>
            <a:off x="777240" y="3794760"/>
            <a:ext cx="7680960" cy="685800"/>
          </a:xfrm>
          <a:prstGeom prst="rect">
            <a:avLst/>
          </a:prstGeom>
          <a:noFill/>
          <a:ln/>
        </p:spPr>
        <p:txBody>
          <a:bodyPr wrap="square" lIns="0" tIns="0" rIns="0" bIns="0" rtlCol="0" anchor="ctr"/>
          <a:lstStyle/>
          <a:p>
            <a:pPr indent="0" marL="0">
              <a:buNone/>
            </a:pPr>
            <a:r>
              <a:rPr lang="en-US" sz="1500" b="1" dirty="0">
                <a:solidFill>
                  <a:srgbClr val="0B1D2E"/>
                </a:solidFill>
                <a:latin typeface="Calibri" pitchFamily="34" charset="0"/>
                <a:ea typeface="Calibri" pitchFamily="34" charset="-122"/>
                <a:cs typeface="Calibri" pitchFamily="34" charset="-120"/>
              </a:rPr>
              <a:t>Siguiente paso: </a:t>
            </a:r>
            <a:pPr indent="0" marL="0">
              <a:buNone/>
            </a:pPr>
            <a:r>
              <a:rPr lang="en-US" sz="1500" dirty="0">
                <a:solidFill>
                  <a:srgbClr val="0B1D2E"/>
                </a:solidFill>
                <a:latin typeface="Calibri" pitchFamily="34" charset="0"/>
                <a:ea typeface="Calibri" pitchFamily="34" charset="-122"/>
                <a:cs typeface="Calibri" pitchFamily="34" charset="-120"/>
              </a:rPr>
              <a:t>resolvé el cotidiano interactivo de este resultado de aprendizaje en el portal del curso.</a:t>
            </a:r>
            <a:endParaRPr lang="en-US" sz="1500" dirty="0"/>
          </a:p>
        </p:txBody>
      </p:sp>
      <p:sp>
        <p:nvSpPr>
          <p:cNvPr id="29" name="Text 19"/>
          <p:cNvSpPr txBox="1"/>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rgbClr val="9FB3C8"/>
                </a:solidFill>
                <a:latin typeface="Calibri" pitchFamily="34" charset="0"/>
                <a:ea typeface="Calibri" pitchFamily="34" charset="-122"/>
                <a:cs typeface="Calibri" pitchFamily="34" charset="-120"/>
              </a:rPr>
              <a:t>Fundamentos de ciberseguridad · RA2</a:t>
            </a:r>
            <a:endParaRPr lang="en-US" sz="900" dirty="0"/>
          </a:p>
        </p:txBody>
      </p:sp>
      <p:sp>
        <p:nvSpPr>
          <p:cNvPr id="30" name="Text 20"/>
          <p:cNvSpPr txBox="1"/>
          <p:nvPr/>
        </p:nvSpPr>
        <p:spPr>
          <a:xfrm>
            <a:off x="8229600" y="4800600"/>
            <a:ext cx="457200" cy="228600"/>
          </a:xfrm>
          <a:prstGeom prst="rect">
            <a:avLst/>
          </a:prstGeom>
          <a:noFill/>
          <a:ln/>
        </p:spPr>
        <p:txBody>
          <a:bodyPr wrap="square" lIns="0" tIns="0" rIns="0" bIns="0" rtlCol="0" anchor="ctr"/>
          <a:lstStyle/>
          <a:p>
            <a:pPr algn="r" indent="0" marL="0">
              <a:buNone/>
            </a:pPr>
            <a:r>
              <a:rPr lang="en-US" sz="900" dirty="0">
                <a:solidFill>
                  <a:srgbClr val="9FB3C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RA2 · Protección de sistemas operativos y dispositivos finales</dc:title>
  <dc:subject>PptxGenJS Presentation</dc:subject>
  <dc:creator>MsC. Ericka Hernández Mena</dc:creator>
  <cp:lastModifiedBy>MsC. Ericka Hernández Mena</cp:lastModifiedBy>
  <cp:revision>1</cp:revision>
  <dcterms:created xsi:type="dcterms:W3CDTF">2026-10-01T21:36:11Z</dcterms:created>
  <dcterms:modified xsi:type="dcterms:W3CDTF">2026-10-01T21:36:11Z</dcterms:modified>
</cp:coreProperties>
</file>