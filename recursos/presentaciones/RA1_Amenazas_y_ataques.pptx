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1d97c345-dca9-d835-068a-ed20914ebb2d}">
          <p14:sldIdLst>
            <p14:sldId id="256"/>
            <p14:sldId id="257"/>
            <p14:sldId id="258"/>
          </p14:sldIdLst>
        </p14:section>
        <p14:section name="Caso 1: El paquete que nunca llegó" id="{8fe462bd-989d-4ac6-506a-57e8ead84dcd}">
          <p14:sldIdLst>
            <p14:sldId id="259"/>
            <p14:sldId id="260"/>
            <p14:sldId id="261"/>
            <p14:sldId id="262"/>
          </p14:sldIdLst>
        </p14:section>
        <p14:section name="Caso 2: La soda que dejó de facturar" id="{3ef96094-dfa0-e883-8bf3-9e2864f966d4}">
          <p14:sldIdLst>
            <p14:sldId id="263"/>
            <p14:sldId id="264"/>
            <p14:sldId id="265"/>
          </p14:sldIdLst>
        </p14:section>
        <p14:section name="Caso 3: El Wi-Fi gratis del mall" id="{b8e85d0c-e8ad-84b2-2e6f-ba446b887d5f}">
          <p14:sldIdLst>
            <p14:sldId id="266"/>
            <p14:sldId id="267"/>
            <p14:sldId id="268"/>
          </p14:sldIdLst>
        </p14:section>
        <p14:section name="Caso 4: La tienda que se cayó en Black Friday" id="{679c228a-9d99-a22b-7edb-cda88a714c93}">
          <p14:sldIdLst>
            <p14:sldId id="269"/>
            <p14:sldId id="270"/>
            <p14:sldId id="271"/>
            <p14:sldId id="272"/>
          </p14:sldIdLst>
        </p14:section>
        <p14:section name="Caso 5: El formulario que dejó entrar a cualquiera" id="{405d00f6-0dee-e31f-187d-f0f105d33c80}">
          <p14:sldIdLst>
            <p14:sldId id="273"/>
            <p14:sldId id="274"/>
            <p14:sldId id="275"/>
          </p14:sldIdLst>
        </p14:section>
        <p14:section name="Cierre" id="{9d9433c4-5359-cbd9-1e4d-23f6981b2014}">
          <p14:sldIdLst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 el resultado de aprendizaje: Explicar las amenazas, vulnerabilidades, ataques y problemas presentes en la seguridad de la información en la era digital. Explique la dinámica: hoy no vamos a leer teoría; vamos a analizar 5 casos, y en cada uno descubrimos los conceptos. La teoría completa está en la plataforma.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Lluvia de ideas de 5 minutos. Anote en la pizarra las palabras que salgan (estafa, virus, hackeo, se cayó). Al final de la clase vuelva a esa lista para que el grupo las nombre con el vocabulario técnico correcto.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 el recorrido. Cada caso tiene tres momentos: la situación (ustedes opinan primero), el diagrama de cómo funciona y los conceptos que salen del caso. Entre los casos hay dos mini actividades.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 la situación en voz alta y deje que el grupo responda antes de avanzar. Deje 2 minutos para que respondan en parejas. Señales: urgencia («hoy»), monto pequeño para que no se piense mucho, dominio que no es el oficial, ella no esperaba paquete. Qué hacer: no tocar el enlace, borrar, avisar a la familia, y si pagó, llamar al banco de inmediato.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Recorra el diagrama de izquierda a derecha. Pregunte: ¿en qué paso puede la víctima detener el ataque? Respuesta: en el 2 o el 3, si reconoce las señales y no entra al enlace.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el caso pidiendo un ejemplo de cada técnica: smishing (SMS), phishing (correo), vishing (llamada del «banco»).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4 min. En parejas. Situaciones: 1) Empresa contratada con permiso firmado busca fallas → sombrero blanco. 2) Entra sin permiso a un sitio y luego avisa → sombrero gris. 3) Banda que roba tarjetas → sombrero negro. 4) Muchacho usa un programa descargado para tumbar una página por diversión → script kiddie. 5) Grupo cambia la portada de un sitio del gobierno para protestar → hacktivista. 6) Exempleado borra archivos con su cuenta aún activa → amenaza interna.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 la situación en voz alta y deje que el grupo responda antes de avanzar. Dato del caso: la computadora nunca se actualizaba y no había respaldos. Amenaza: el ransomware y quien lo envió. Vulnerabilidad: equipo sin parches, sin respaldo y una persona que abre adjuntos inesperados. Se perdió la disponibilidad de las facturas.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con el virus (necesita que alguien lo ejecute), el gusano (se propaga solo) y el troyano (se disfraza de programa útil). El ransomware puede llegar como cualquiera de ellos.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Pregunte: si la soda hubiera tenido respaldos, ¿el ataque igual sería un problema? Sí, pero se recuperaría sin pagar.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 la situación en voz alta y deje que el grupo responda antes de avanzar. El atacante pudo ver los sitios visitados y, en páginas sin HTTPS, todo el contenido. También puede redirigir a páginas falsas. Protección: datos móviles para el banco, VPN, revisar el HTTPS y olvidar redes abiertas.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el «gemelo malvado» imita el nombre de una red real. Mencione que WEP y WPA ya se descifran fácil; lo actual es WPA2 con AES o, mejor, WPA3.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Pregunte cuántos tienen guardadas redes abiertas en el celular y pídales revisarlas al final de la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 la situación en voz alta y deje que el grupo responda antes de avanzar. No eran de los atacantes: eran equipos de personas comunes infectados con malware que los convierte en bots. Juntos forman una botnet que obedece órdenes. El ataque se llama DDoS.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una analogía: alguien llama a la soda, pide 100 almuerzos y cuelga; el personal se queda esperando y no atiende a los clientes reales. Así se agota el servidor.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Relacione con el principio de disponibilidad: el ataque no robó datos, pero dejó la tienda sin vender.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5 min. En parejas. Respuesta esperada: el firewall entre internet y la red; el IPS detrás del firewall para detectar y bloquear (DDoS, escaneos); el Wi-Fi de clientes separado de la caja para que un cliente infectado o un atacante no llegue a las facturas.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 la situación en voz alta y deje que el grupo responda antes de avanzar. Enfatice la ética: quien encuentra una falla debe reportarla, no usarla. La condición '1'='1' siempre es verdadera, así que la base de datos devuelve todos los usuarios.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Conecte con su especialidad: el XSS es parecido, pero inyecta JavaScript que se ejecuta en el navegador de otros usuarios. Ambos se evitan validando lo que escribe el usuario.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Pregunte: ¿quién es responsable de este error, el usuario o el programador? El programador.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Recoja las hojas o pida fotos por Teams. Las preguntas pendientes sirven para abrir la próxima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pidiendo a varios estudiantes que expliquen un caso con sus palabras. Recuerde que la teoría completa y el cotidiano están en la plataforma.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08760"/>
            <a:ext cx="5669280" cy="1417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63240"/>
            <a:ext cx="5669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9145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Fundamentos de ciberseguridad · RA1 · Casos para la clase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20624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9145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Fundamentos de ciberseguridad · RA1 · Casos para la clase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9145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Fundamentos de ciberseguridad · RA1 · Casos para la clase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943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</a:rPr>
              <a:t>FUNDAMENTOS DE CIBERSEGURIDAD · DESARROLLO WEB 10°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Resultado de aprendizaje 1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508760"/>
            <a:ext cx="5669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Amenazas, vulnerabilidades y ataques</a:t>
            </a:r>
            <a:endParaRPr lang="en-US" sz="3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0632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Aprendemos con 5 casos reales para analizar en clase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46520" y="1051560"/>
            <a:ext cx="2286000" cy="2286000"/>
          </a:xfrm>
          <a:prstGeom prst="ellipse">
            <a:avLst/>
          </a:prstGeom>
          <a:solidFill>
            <a:schemeClr val="accent1">
              <a:alpha val="8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691640"/>
            <a:ext cx="1005840" cy="10058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43434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CTP Mercedes Norte · MsC. Ericka Hernández Mena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PREGUNTAS PARA INICIAR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206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Para empezar: ¿qué saben ya?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32004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544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705" y="1710385"/>
            <a:ext cx="255118" cy="2551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2860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¿Alguna vez les llegó un mensaje sospechoso?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703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¿Qué decía y cómo supieron que era falso?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68980" y="1325880"/>
            <a:ext cx="2606040" cy="32004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97580" y="15544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485" y="1710385"/>
            <a:ext cx="255118" cy="25511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97580" y="22860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¿Qué es más fácil: atacar una computadora o engañar a una persona?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497580" y="3703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Justifiquen su respuesta con un ejemplo.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080760" y="1325880"/>
            <a:ext cx="2606040" cy="32004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09360" y="15544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265" y="1710385"/>
            <a:ext cx="255118" cy="25511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09360" y="22860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¿Qué creen que pasa realmente cuando una página web «se cae»?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309360" y="3703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¿Es siempre un error o puede ser un ataque?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LA CLASE DE HOY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206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Los casos que vamos a resolver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5778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3441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" y="1449324"/>
            <a:ext cx="210312" cy="2103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12801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Caso 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920240" y="12801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El paquete que nunca llegó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956816"/>
            <a:ext cx="55778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6928" y="2020824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2125980"/>
            <a:ext cx="210312" cy="2103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43000" y="195681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Caso 2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920240" y="195681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La soda que dejó de facturar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457200" y="2633472"/>
            <a:ext cx="55778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66928" y="269748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2802636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43000" y="263347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Caso 3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1920240" y="263347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El Wi-Fi gratis del mall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457200" y="3310128"/>
            <a:ext cx="55778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66928" y="337413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3479292"/>
            <a:ext cx="210312" cy="2103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143000" y="33101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Caso 4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1920240" y="331012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La tienda que se cayó en Black Friday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457200" y="3986784"/>
            <a:ext cx="55778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66928" y="405079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" y="4155948"/>
            <a:ext cx="210312" cy="21031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143000" y="398678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Caso 5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920240" y="398678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El formulario que dejó entrar a cualquiera</a:t>
            </a:r>
            <a:endParaRPr lang="en-US" sz="1500" dirty="0"/>
          </a:p>
        </p:txBody>
      </p:sp>
      <p:sp>
        <p:nvSpPr>
          <p:cNvPr id="29" name="Shape 22"/>
          <p:cNvSpPr/>
          <p:nvPr/>
        </p:nvSpPr>
        <p:spPr>
          <a:xfrm>
            <a:off x="6309360" y="1280160"/>
            <a:ext cx="2377440" cy="324612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6492240" y="1463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En cada caso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492240" y="19202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6540" y="2034540"/>
            <a:ext cx="228600" cy="22860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7059168" y="19202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Leemos la situación</a:t>
            </a:r>
            <a:endParaRPr lang="en-US" sz="1400" dirty="0"/>
          </a:p>
        </p:txBody>
      </p:sp>
      <p:sp>
        <p:nvSpPr>
          <p:cNvPr id="34" name="Shape 26"/>
          <p:cNvSpPr/>
          <p:nvPr/>
        </p:nvSpPr>
        <p:spPr>
          <a:xfrm>
            <a:off x="6492240" y="2743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6540" y="2857500"/>
            <a:ext cx="228600" cy="22860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7059168" y="27432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Vemos cómo funciona</a:t>
            </a:r>
            <a:endParaRPr lang="en-US" sz="1400" dirty="0"/>
          </a:p>
        </p:txBody>
      </p:sp>
      <p:sp>
        <p:nvSpPr>
          <p:cNvPr id="37" name="Shape 28"/>
          <p:cNvSpPr/>
          <p:nvPr/>
        </p:nvSpPr>
        <p:spPr>
          <a:xfrm>
            <a:off x="6492240" y="3566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6540" y="3680460"/>
            <a:ext cx="228600" cy="22860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7059168" y="35661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Sacamos los conceptos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CASO 1 DE 5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El paquete que nunca llegó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760720" cy="2057400"/>
          </a:xfrm>
          <a:prstGeom prst="roundRect">
            <a:avLst>
              <a:gd name="adj" fmla="val 3556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5349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Doña Rosa recibe un SMS: «Correos de Costa Rica: su paquete está retenido. Pague ₡1 500 hoy en correos-cr-pagos.com». Ella no esperaba ningún paquete, pero el mensaje se ve oficial.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0" y="1325880"/>
            <a:ext cx="2011680" cy="2011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828800"/>
            <a:ext cx="1005840" cy="1005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3639312"/>
            <a:ext cx="8229600" cy="932688"/>
          </a:xfrm>
          <a:prstGeom prst="roundRect">
            <a:avLst>
              <a:gd name="adj" fmla="val 784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877056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371246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¿Qué harían ustedes?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280160" y="3986784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¿Qué señales le dicen que es una estafa? ¿Qué debería hacer?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CASO 1 · ASÍ FUNCIONA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206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Así funciona una estafa por SMS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824228" cy="2514600"/>
          </a:xfrm>
          <a:prstGeom prst="roundRect">
            <a:avLst>
              <a:gd name="adj" fmla="val 40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3554" y="20116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6434" y="2194560"/>
            <a:ext cx="365760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801368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6928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2926080"/>
            <a:ext cx="16047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Consigue números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3529584"/>
            <a:ext cx="16047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Bases filtradas o compradas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318004" y="2948940"/>
            <a:ext cx="237744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592324" y="1691640"/>
            <a:ext cx="1824228" cy="2514600"/>
          </a:xfrm>
          <a:prstGeom prst="roundRect">
            <a:avLst>
              <a:gd name="adj" fmla="val 40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38678" y="20116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558" y="2194560"/>
            <a:ext cx="365760" cy="36576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702052" y="1801368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702052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2702052" y="2926080"/>
            <a:ext cx="16047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Envía el SMS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2702052" y="3529584"/>
            <a:ext cx="16047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Urgencia y marca conocida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453128" y="2948940"/>
            <a:ext cx="237744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4727448" y="1691640"/>
            <a:ext cx="1824228" cy="2514600"/>
          </a:xfrm>
          <a:prstGeom prst="roundRect">
            <a:avLst>
              <a:gd name="adj" fmla="val 40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273802" y="20116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682" y="2194560"/>
            <a:ext cx="365760" cy="36576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4837176" y="1801368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4837176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3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4837176" y="2926080"/>
            <a:ext cx="16047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Página falsa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4837176" y="3529584"/>
            <a:ext cx="16047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Idéntica a la real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6588252" y="2948940"/>
            <a:ext cx="237744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6862572" y="1691640"/>
            <a:ext cx="1824228" cy="2514600"/>
          </a:xfrm>
          <a:prstGeom prst="roundRect">
            <a:avLst>
              <a:gd name="adj" fmla="val 4010"/>
            </a:avLst>
          </a:prstGeom>
          <a:solidFill>
            <a:schemeClr val="bg2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408926" y="201168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1806" y="2194560"/>
            <a:ext cx="365760" cy="365760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6972300" y="1801368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6972300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4</a:t>
            </a:r>
            <a:endParaRPr lang="en-US" sz="1100" dirty="0"/>
          </a:p>
        </p:txBody>
      </p:sp>
      <p:sp>
        <p:nvSpPr>
          <p:cNvPr id="33" name="Text 27"/>
          <p:cNvSpPr txBox="1"/>
          <p:nvPr/>
        </p:nvSpPr>
        <p:spPr>
          <a:xfrm>
            <a:off x="6972300" y="2926080"/>
            <a:ext cx="16047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Roba la tarjeta</a:t>
            </a:r>
            <a:endParaRPr lang="en-US" sz="1600" dirty="0"/>
          </a:p>
        </p:txBody>
      </p:sp>
      <p:sp>
        <p:nvSpPr>
          <p:cNvPr id="34" name="Text 28"/>
          <p:cNvSpPr txBox="1"/>
          <p:nvPr/>
        </p:nvSpPr>
        <p:spPr>
          <a:xfrm>
            <a:off x="6972300" y="3529584"/>
            <a:ext cx="16047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La víctima paga y entrega datos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CASO 1 · LO QUE APRENDIMOS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206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El paquete que nunca llegó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754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8191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43560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Ingeniería social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80136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Engañar a la persona en vez de atacar la máquina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4754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6791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53288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Smishing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89864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Estafa por SMS o WhatsApp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4754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77647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6301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Phishing y vishing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99592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 mismo, pero por correo y por llamada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0" y="1325880"/>
            <a:ext cx="3200400" cy="3154680"/>
          </a:xfrm>
          <a:prstGeom prst="roundRect">
            <a:avLst>
              <a:gd name="adj" fmla="val 23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15000" y="1536192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0730" y="1661922"/>
            <a:ext cx="251460" cy="25146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6355080" y="15361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Cómo se evita</a:t>
            </a:r>
            <a:endParaRPr lang="en-US" sz="17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2313432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6144768" y="2286000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Desconfiar de la urgencia</a:t>
            </a:r>
            <a:endParaRPr lang="en-US" sz="14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288" y="3026664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6144768" y="2999232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Escribir la dirección oficial a mano</a:t>
            </a:r>
            <a:endParaRPr lang="en-US" sz="14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288" y="3739896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144768" y="3712464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Reportar y borrar el mensaje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MINI ACTIVIDAD 1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206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¿Quién está detrás?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982980" cy="384048"/>
          </a:xfrm>
          <a:prstGeom prst="roundRect">
            <a:avLst>
              <a:gd name="adj" fmla="val 47619"/>
            </a:avLst>
          </a:prstGeom>
          <a:solidFill>
            <a:schemeClr val="accent2">
              <a:alpha val="3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271016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1188720"/>
            <a:ext cx="525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4 min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577340" y="1188720"/>
            <a:ext cx="1417320" cy="384048"/>
          </a:xfrm>
          <a:prstGeom prst="roundRect">
            <a:avLst>
              <a:gd name="adj" fmla="val 47619"/>
            </a:avLst>
          </a:prstGeom>
          <a:solidFill>
            <a:schemeClr val="accent2">
              <a:alpha val="3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356" y="1271016"/>
            <a:ext cx="219456" cy="219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988820" y="118872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En parejas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1783080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57200" y="1783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051560" y="1764792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 docente lee seis situaciones cortas.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57200" y="2514600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57200" y="2514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051560" y="2496312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Clasifiquen al actor de cada una.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457200" y="3246120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57200" y="3246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1051560" y="3227832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Muestren su respuesta y justifiquen en una frase.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4069080"/>
            <a:ext cx="47091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40080" y="406908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Producto: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Seis actores clasificados con su justificación.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486400" y="1188720"/>
            <a:ext cx="3200400" cy="3447288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71500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Opciones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5715000" y="1874520"/>
            <a:ext cx="132588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760720" y="18745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Sombrero blanco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7132320" y="1874520"/>
            <a:ext cx="132588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7178040" y="18745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Sombrero gris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5715000" y="2587752"/>
            <a:ext cx="132588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5760720" y="258775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Sombrero negro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7132320" y="2587752"/>
            <a:ext cx="132588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7178040" y="258775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Script kiddie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5715000" y="3300984"/>
            <a:ext cx="132588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5760720" y="3300984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Hacktivista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7132320" y="3300984"/>
            <a:ext cx="132588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7178040" y="3300984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Amenaza interna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CASO 2 DE 5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La soda que dejó de facturar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760720" cy="2057400"/>
          </a:xfrm>
          <a:prstGeom prst="roundRect">
            <a:avLst>
              <a:gd name="adj" fmla="val 3556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5349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En la Soda La Esquina, la cajera abrió un adjunto llamado «Factura_pendiente.zip». Al día siguiente ninguna factura abre y la pantalla dice: «Sus archivos están cifrados. Pague $500 en bitcoin».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0" y="1325880"/>
            <a:ext cx="2011680" cy="2011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828800"/>
            <a:ext cx="1005840" cy="1005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3639312"/>
            <a:ext cx="8229600" cy="932688"/>
          </a:xfrm>
          <a:prstGeom prst="roundRect">
            <a:avLst>
              <a:gd name="adj" fmla="val 784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877056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371246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¿Qué harían ustedes?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280160" y="3986784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¿Cuál fue la amenaza, cuál la vulnerabilidad y qué se perdió?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CASO 2 · ASÍ FUNCIONA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206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Cómo entra un ransomware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824228" cy="2514600"/>
          </a:xfrm>
          <a:prstGeom prst="roundRect">
            <a:avLst>
              <a:gd name="adj" fmla="val 40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3554" y="20116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6434" y="2194560"/>
            <a:ext cx="365760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801368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6928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2926080"/>
            <a:ext cx="16047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Correo con adjunto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3529584"/>
            <a:ext cx="16047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«Factura pendiente»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318004" y="2948940"/>
            <a:ext cx="237744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592324" y="1691640"/>
            <a:ext cx="1824228" cy="2514600"/>
          </a:xfrm>
          <a:prstGeom prst="roundRect">
            <a:avLst>
              <a:gd name="adj" fmla="val 40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38678" y="20116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558" y="2194560"/>
            <a:ext cx="365760" cy="36576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702052" y="1801368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702052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2702052" y="2926080"/>
            <a:ext cx="16047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 ejecuta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2702052" y="3529584"/>
            <a:ext cx="16047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Aprovecha la falta de parches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453128" y="2948940"/>
            <a:ext cx="237744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4727448" y="1691640"/>
            <a:ext cx="1824228" cy="2514600"/>
          </a:xfrm>
          <a:prstGeom prst="roundRect">
            <a:avLst>
              <a:gd name="adj" fmla="val 40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273802" y="20116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682" y="2194560"/>
            <a:ext cx="365760" cy="36576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4837176" y="1801368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4837176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3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4837176" y="2926080"/>
            <a:ext cx="16047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Cifra los archivos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4837176" y="3529584"/>
            <a:ext cx="16047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En minutos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6588252" y="2948940"/>
            <a:ext cx="237744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6862572" y="1691640"/>
            <a:ext cx="1824228" cy="2514600"/>
          </a:xfrm>
          <a:prstGeom prst="roundRect">
            <a:avLst>
              <a:gd name="adj" fmla="val 4010"/>
            </a:avLst>
          </a:prstGeom>
          <a:solidFill>
            <a:schemeClr val="bg2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408926" y="201168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1806" y="2194560"/>
            <a:ext cx="365760" cy="365760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6972300" y="1801368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6972300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4</a:t>
            </a:r>
            <a:endParaRPr lang="en-US" sz="1100" dirty="0"/>
          </a:p>
        </p:txBody>
      </p:sp>
      <p:sp>
        <p:nvSpPr>
          <p:cNvPr id="33" name="Text 27"/>
          <p:cNvSpPr txBox="1"/>
          <p:nvPr/>
        </p:nvSpPr>
        <p:spPr>
          <a:xfrm>
            <a:off x="6972300" y="2926080"/>
            <a:ext cx="16047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Pide rescate</a:t>
            </a:r>
            <a:endParaRPr lang="en-US" sz="1600" dirty="0"/>
          </a:p>
        </p:txBody>
      </p:sp>
      <p:sp>
        <p:nvSpPr>
          <p:cNvPr id="34" name="Text 28"/>
          <p:cNvSpPr txBox="1"/>
          <p:nvPr/>
        </p:nvSpPr>
        <p:spPr>
          <a:xfrm>
            <a:off x="6972300" y="3529584"/>
            <a:ext cx="16047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Sin respaldo, no hay salida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CASO 2 · LO QUE APRENDIMOS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206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La soda que dejó de facturar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754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8191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43560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Amenaza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80136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ransomware y quien lo envió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4754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6791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53288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Vulnerabilidad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89864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Equipo sin actualizar y sin respaldos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4754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77647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6301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Riesgo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99592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Probabilidad × impacto: aquí, muy alto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0" y="1325880"/>
            <a:ext cx="3200400" cy="3154680"/>
          </a:xfrm>
          <a:prstGeom prst="roundRect">
            <a:avLst>
              <a:gd name="adj" fmla="val 23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15000" y="1536192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0730" y="1661922"/>
            <a:ext cx="251460" cy="25146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6355080" y="15361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Cómo se evita</a:t>
            </a:r>
            <a:endParaRPr lang="en-US" sz="17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2313432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6144768" y="2286000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Actualizar sistema y antivirus</a:t>
            </a:r>
            <a:endParaRPr lang="en-US" sz="14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288" y="3026664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6144768" y="2999232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Respaldos 3-2-1 fuera del equipo</a:t>
            </a:r>
            <a:endParaRPr lang="en-US" sz="14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288" y="3739896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144768" y="3712464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No abrir adjuntos inesperados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CASO 3 DE 5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El Wi-Fi gratis del mall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760720" cy="2057400"/>
          </a:xfrm>
          <a:prstGeom prst="roundRect">
            <a:avLst>
              <a:gd name="adj" fmla="val 3556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5349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Marco se conecta en el mall a «Mall_WiFi_Gratis», sin contraseña, y entra a su correo y a su banco. Esa red no era del mall: la creó alguien con una laptop en la feria de comidas.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0" y="1325880"/>
            <a:ext cx="2011680" cy="2011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828800"/>
            <a:ext cx="1005840" cy="1005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3639312"/>
            <a:ext cx="8229600" cy="932688"/>
          </a:xfrm>
          <a:prstGeom prst="roundRect">
            <a:avLst>
              <a:gd name="adj" fmla="val 784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877056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371246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¿Qué harían ustedes?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280160" y="3986784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¿Qué pudo ver el atacante? ¿Cómo se habría protegido Marco?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CASO 3 · ASÍ FUNCIONA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206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El atacante se mete en el medio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824228" cy="2514600"/>
          </a:xfrm>
          <a:prstGeom prst="roundRect">
            <a:avLst>
              <a:gd name="adj" fmla="val 4010"/>
            </a:avLst>
          </a:prstGeom>
          <a:solidFill>
            <a:schemeClr val="bg2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3554" y="201168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6434" y="2194560"/>
            <a:ext cx="365760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801368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6928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2926080"/>
            <a:ext cx="16047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Celular de Marco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3529584"/>
            <a:ext cx="16047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Cree que es el Wi-Fi del mall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318004" y="2948940"/>
            <a:ext cx="237744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592324" y="1691640"/>
            <a:ext cx="1824228" cy="2514600"/>
          </a:xfrm>
          <a:prstGeom prst="roundRect">
            <a:avLst>
              <a:gd name="adj" fmla="val 4010"/>
            </a:avLst>
          </a:prstGeom>
          <a:solidFill>
            <a:schemeClr val="bg2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38678" y="201168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558" y="2194560"/>
            <a:ext cx="365760" cy="36576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702052" y="1801368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702052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2702052" y="2926080"/>
            <a:ext cx="16047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Red falsa del atacante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2702052" y="3529584"/>
            <a:ext cx="16047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Lee o cambia el tráfico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453128" y="2948940"/>
            <a:ext cx="237744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4727448" y="1691640"/>
            <a:ext cx="1824228" cy="2514600"/>
          </a:xfrm>
          <a:prstGeom prst="roundRect">
            <a:avLst>
              <a:gd name="adj" fmla="val 40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273802" y="20116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682" y="2194560"/>
            <a:ext cx="365760" cy="36576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4837176" y="1801368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4837176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3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4837176" y="2926080"/>
            <a:ext cx="16047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Internet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4837176" y="3529584"/>
            <a:ext cx="16047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Todo pasa por el atacante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6588252" y="2948940"/>
            <a:ext cx="237744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6862572" y="1691640"/>
            <a:ext cx="1824228" cy="2514600"/>
          </a:xfrm>
          <a:prstGeom prst="roundRect">
            <a:avLst>
              <a:gd name="adj" fmla="val 40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408926" y="20116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1806" y="2194560"/>
            <a:ext cx="365760" cy="365760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6972300" y="1801368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6972300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4</a:t>
            </a:r>
            <a:endParaRPr lang="en-US" sz="1100" dirty="0"/>
          </a:p>
        </p:txBody>
      </p:sp>
      <p:sp>
        <p:nvSpPr>
          <p:cNvPr id="33" name="Text 27"/>
          <p:cNvSpPr txBox="1"/>
          <p:nvPr/>
        </p:nvSpPr>
        <p:spPr>
          <a:xfrm>
            <a:off x="6972300" y="2926080"/>
            <a:ext cx="16047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Banco y correo</a:t>
            </a:r>
            <a:endParaRPr lang="en-US" sz="1600" dirty="0"/>
          </a:p>
        </p:txBody>
      </p:sp>
      <p:sp>
        <p:nvSpPr>
          <p:cNvPr id="34" name="Text 28"/>
          <p:cNvSpPr txBox="1"/>
          <p:nvPr/>
        </p:nvSpPr>
        <p:spPr>
          <a:xfrm>
            <a:off x="6972300" y="3529584"/>
            <a:ext cx="16047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Reciben datos copiados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CASO 3 · LO QUE APRENDIMOS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206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El Wi-Fi gratis del mall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754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8191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43560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Gemelo malvado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80136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Red falsa con nombre parecido al real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4754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6791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53288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Hombre en el medio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89864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Atacante entre la víctima e internet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4754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77647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6301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WPA3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99592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Protección actual de las redes Wi-Fi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0" y="1325880"/>
            <a:ext cx="3200400" cy="3154680"/>
          </a:xfrm>
          <a:prstGeom prst="roundRect">
            <a:avLst>
              <a:gd name="adj" fmla="val 23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15000" y="1536192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0730" y="1661922"/>
            <a:ext cx="251460" cy="25146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6355080" y="15361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Cómo se evita</a:t>
            </a:r>
            <a:endParaRPr lang="en-US" sz="17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2313432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6144768" y="2286000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Usar datos móviles para el banco</a:t>
            </a:r>
            <a:endParaRPr lang="en-US" sz="14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288" y="3026664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6144768" y="2999232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Verificar HTTPS y usar VPN</a:t>
            </a:r>
            <a:endParaRPr lang="en-US" sz="14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288" y="3739896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144768" y="3712464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Olvidar redes abiertas desconocidas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CASO 4 DE 5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La tienda que se cayó en Black Friday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760720" cy="2057400"/>
          </a:xfrm>
          <a:prstGeom prst="roundRect">
            <a:avLst>
              <a:gd name="adj" fmla="val 3556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5349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TicoGamer vende consolas en línea. En pleno Black Friday la página deja de responder: miles de computadoras de otros países le envían solicitudes al mismo tiempo. Los clientes compran en la competencia.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0" y="1325880"/>
            <a:ext cx="2011680" cy="2011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828800"/>
            <a:ext cx="1005840" cy="1005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3639312"/>
            <a:ext cx="8229600" cy="932688"/>
          </a:xfrm>
          <a:prstGeom prst="roundRect">
            <a:avLst>
              <a:gd name="adj" fmla="val 784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877056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371246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¿Qué harían ustedes?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280160" y="3986784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¿Por qué tantas computadoras atacaron a la vez? ¿Eran de los atacantes?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CASO 4 · ASÍ FUNCIONA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206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Saludo normal contra inundación SYN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886200" cy="3154680"/>
          </a:xfrm>
          <a:prstGeom prst="roundRect">
            <a:avLst>
              <a:gd name="adj" fmla="val 23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3886200" cy="566928"/>
          </a:xfrm>
          <a:prstGeom prst="roundRect">
            <a:avLst>
              <a:gd name="adj" fmla="val 1290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32588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Conexión normal</a:t>
            </a:r>
            <a:endParaRPr lang="en-US" sz="1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157984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43000" y="210312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1. Cliente envía SYN</a:t>
            </a:r>
            <a:endParaRPr lang="en-US" sz="15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907792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285292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2. Servidor responde SYN-ACK</a:t>
            </a:r>
            <a:endParaRPr lang="en-US" sz="15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657600"/>
            <a:ext cx="292608" cy="29260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43000" y="3602736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3. Cliente envía ACK: conexión lista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4800600" y="1325880"/>
            <a:ext cx="3886200" cy="3154680"/>
          </a:xfrm>
          <a:prstGeom prst="roundRect">
            <a:avLst>
              <a:gd name="adj" fmla="val 23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4800600" y="1325880"/>
            <a:ext cx="3886200" cy="566928"/>
          </a:xfrm>
          <a:prstGeom prst="roundRect">
            <a:avLst>
              <a:gd name="adj" fmla="val 1290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5029200" y="132588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Inundación SYN</a:t>
            </a:r>
            <a:endParaRPr lang="en-US" sz="17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2157984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486400" y="210312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Llegan miles de SYN falsos</a:t>
            </a:r>
            <a:endParaRPr lang="en-US" sz="15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6632" y="2907792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486400" y="285292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El servidor responde y espera</a:t>
            </a:r>
            <a:endParaRPr lang="en-US" sz="15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6632" y="3657600"/>
            <a:ext cx="292608" cy="292608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5486400" y="3602736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Nunca llega el ACK: se satura</a:t>
            </a:r>
            <a:endParaRPr lang="en-US" sz="1500" dirty="0"/>
          </a:p>
        </p:txBody>
      </p:sp>
      <p:sp>
        <p:nvSpPr>
          <p:cNvPr id="22" name="Shape 14"/>
          <p:cNvSpPr/>
          <p:nvPr/>
        </p:nvSpPr>
        <p:spPr>
          <a:xfrm>
            <a:off x="4297680" y="2651760"/>
            <a:ext cx="548640" cy="54864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3" name="Text 15"/>
          <p:cNvSpPr txBox="1"/>
          <p:nvPr/>
        </p:nvSpPr>
        <p:spPr>
          <a:xfrm>
            <a:off x="429768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CASO 4 · LO QUE APRENDIMOS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206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La tienda que se cayó en Black Friday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754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8191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43560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DDoS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80136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Saturar un servicio desde muchos equipos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4754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6791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53288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Botnet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89864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Red de equipos infectados que obedecen al atacante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4754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77647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6301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Firewall e IPS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99592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Detectan y bloquean el tráfico de ataque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0" y="1325880"/>
            <a:ext cx="3200400" cy="3154680"/>
          </a:xfrm>
          <a:prstGeom prst="roundRect">
            <a:avLst>
              <a:gd name="adj" fmla="val 23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15000" y="1536192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0730" y="1661922"/>
            <a:ext cx="251460" cy="25146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6355080" y="15361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Cómo se evita</a:t>
            </a:r>
            <a:endParaRPr lang="en-US" sz="17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2313432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6144768" y="2286000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Protección SYN en firewall o IPS</a:t>
            </a:r>
            <a:endParaRPr lang="en-US" sz="14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288" y="3026664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6144768" y="2999232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Servicio anti-DDoS del proveedor</a:t>
            </a:r>
            <a:endParaRPr lang="en-US" sz="14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288" y="3739896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144768" y="3712464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Monitorear picos de tráfico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MINI ACTIVIDAD 2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206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La red segura de la soda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982980" cy="384048"/>
          </a:xfrm>
          <a:prstGeom prst="roundRect">
            <a:avLst>
              <a:gd name="adj" fmla="val 47619"/>
            </a:avLst>
          </a:prstGeom>
          <a:solidFill>
            <a:schemeClr val="accent2">
              <a:alpha val="3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271016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1188720"/>
            <a:ext cx="525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5 min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577340" y="1188720"/>
            <a:ext cx="1417320" cy="384048"/>
          </a:xfrm>
          <a:prstGeom prst="roundRect">
            <a:avLst>
              <a:gd name="adj" fmla="val 47619"/>
            </a:avLst>
          </a:prstGeom>
          <a:solidFill>
            <a:schemeClr val="accent2">
              <a:alpha val="3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356" y="1271016"/>
            <a:ext cx="219456" cy="219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988820" y="118872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En parejas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1783080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57200" y="1783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051560" y="1764792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Dibujen la red de la Soda La Esquina: internet, router, caja y Wi-Fi de clientes.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57200" y="2514600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57200" y="2514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051560" y="2496312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Agreguen dónde van el firewall, el IPS y una red separada para clientes.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457200" y="3246120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57200" y="3246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1051560" y="3227832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Expliquen qué ataque de hoy frena cada defensa.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4069080"/>
            <a:ext cx="47091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40080" y="406908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Producto: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Diagrama de red con tres defensas justificadas.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486400" y="1188720"/>
            <a:ext cx="3200400" cy="3447288"/>
          </a:xfrm>
          <a:prstGeom prst="roundRect">
            <a:avLst>
              <a:gd name="adj" fmla="val 22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446520" y="1737360"/>
            <a:ext cx="1280160" cy="12801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2057400"/>
            <a:ext cx="640080" cy="64008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760720" y="32461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Dibújenlo en una hoja y preséntenlo en un minuto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CASO 5 DE 5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El formulario que dejó entrar a cualquiera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760720" cy="2057400"/>
          </a:xfrm>
          <a:prstGeom prst="roundRect">
            <a:avLst>
              <a:gd name="adj" fmla="val 3556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5349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En el sitio de notas de un colegio, alguien escribió ' OR '1'='1 en la contraseña y entró sin conocer la clave. El sitio armaba la consulta pegando directamente lo que escribía el usuario.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0" y="1325880"/>
            <a:ext cx="2011680" cy="2011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828800"/>
            <a:ext cx="1005840" cy="1005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3639312"/>
            <a:ext cx="8229600" cy="932688"/>
          </a:xfrm>
          <a:prstGeom prst="roundRect">
            <a:avLst>
              <a:gd name="adj" fmla="val 784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877056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371246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¿Qué harían ustedes?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280160" y="3986784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¿Por qué funcionó? Como desarrolladores web, ¿cómo lo evitamos?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CASO 5 · ASÍ FUNCIONA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206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Cómo funciona la inyección SQL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824228" cy="2514600"/>
          </a:xfrm>
          <a:prstGeom prst="roundRect">
            <a:avLst>
              <a:gd name="adj" fmla="val 40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3554" y="20116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6434" y="2194560"/>
            <a:ext cx="365760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801368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6928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2926080"/>
            <a:ext cx="16047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Escribe el texto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3529584"/>
            <a:ext cx="16047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' OR '1'='1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318004" y="2948940"/>
            <a:ext cx="237744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592324" y="1691640"/>
            <a:ext cx="1824228" cy="2514600"/>
          </a:xfrm>
          <a:prstGeom prst="roundRect">
            <a:avLst>
              <a:gd name="adj" fmla="val 40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38678" y="20116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558" y="2194560"/>
            <a:ext cx="365760" cy="36576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702052" y="1801368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702052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2702052" y="2926080"/>
            <a:ext cx="16047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El sitio lo pega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2702052" y="3529584"/>
            <a:ext cx="16047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…WHERE clave='' OR '1'='1'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453128" y="2948940"/>
            <a:ext cx="237744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4727448" y="1691640"/>
            <a:ext cx="1824228" cy="2514600"/>
          </a:xfrm>
          <a:prstGeom prst="roundRect">
            <a:avLst>
              <a:gd name="adj" fmla="val 40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273802" y="20116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682" y="2194560"/>
            <a:ext cx="365760" cy="36576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4837176" y="1801368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4837176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3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4837176" y="2926080"/>
            <a:ext cx="16047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La condición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4837176" y="3529584"/>
            <a:ext cx="16047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Siempre es verdadera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6588252" y="2948940"/>
            <a:ext cx="237744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6862572" y="1691640"/>
            <a:ext cx="1824228" cy="2514600"/>
          </a:xfrm>
          <a:prstGeom prst="roundRect">
            <a:avLst>
              <a:gd name="adj" fmla="val 4010"/>
            </a:avLst>
          </a:prstGeom>
          <a:solidFill>
            <a:schemeClr val="bg2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408926" y="201168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1806" y="2194560"/>
            <a:ext cx="365760" cy="365760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6972300" y="1801368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6972300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4</a:t>
            </a:r>
            <a:endParaRPr lang="en-US" sz="1100" dirty="0"/>
          </a:p>
        </p:txBody>
      </p:sp>
      <p:sp>
        <p:nvSpPr>
          <p:cNvPr id="33" name="Text 27"/>
          <p:cNvSpPr txBox="1"/>
          <p:nvPr/>
        </p:nvSpPr>
        <p:spPr>
          <a:xfrm>
            <a:off x="6972300" y="2926080"/>
            <a:ext cx="16047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Entra sin clave</a:t>
            </a:r>
            <a:endParaRPr lang="en-US" sz="1600" dirty="0"/>
          </a:p>
        </p:txBody>
      </p:sp>
      <p:sp>
        <p:nvSpPr>
          <p:cNvPr id="34" name="Text 28"/>
          <p:cNvSpPr txBox="1"/>
          <p:nvPr/>
        </p:nvSpPr>
        <p:spPr>
          <a:xfrm>
            <a:off x="6972300" y="3529584"/>
            <a:ext cx="16047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Ve todas las notas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CASO 5 · LO QUE APRENDIMOS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206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El formulario que dejó entrar a cualquiera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754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8191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43560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Inyección SQL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80136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Código SQL escondido en un formulario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4754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6791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53288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XSS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89864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JavaScript inyectado en una página web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4754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77647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6301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Validar entradas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99592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Nunca confiar en lo que escribe el usuario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0" y="1325880"/>
            <a:ext cx="3200400" cy="3154680"/>
          </a:xfrm>
          <a:prstGeom prst="roundRect">
            <a:avLst>
              <a:gd name="adj" fmla="val 23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15000" y="1536192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0730" y="1661922"/>
            <a:ext cx="251460" cy="25146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6355080" y="15361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Cómo se evita</a:t>
            </a:r>
            <a:endParaRPr lang="en-US" sz="17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2313432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6144768" y="2286000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Usar consultas parametrizadas</a:t>
            </a:r>
            <a:endParaRPr lang="en-US" sz="14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288" y="3026664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6144768" y="2999232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Validar y limpiar cada dato</a:t>
            </a:r>
            <a:endParaRPr lang="en-US" sz="14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288" y="3739896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144768" y="3712464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Probar el sitio antes de publicarlo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TICKET DE SALIDA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206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Antes de irse, respondan en una hoja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301752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3520440"/>
            <a:ext cx="21488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685800" y="3813048"/>
            <a:ext cx="21488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85800" y="4105656"/>
            <a:ext cx="21488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685800" y="16459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817370"/>
            <a:ext cx="342900" cy="3429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85800" y="25146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Un ataque que aprendí hoy y cómo funciona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3268980" y="1371600"/>
            <a:ext cx="2606040" cy="301752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97580" y="3520440"/>
            <a:ext cx="21488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3497580" y="3813048"/>
            <a:ext cx="21488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3497580" y="4105656"/>
            <a:ext cx="21488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3497580" y="1645920"/>
            <a:ext cx="685800" cy="6858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030" y="1817370"/>
            <a:ext cx="342900" cy="3429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497580" y="25146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Una señal de alerta que voy a revisar en mis mensajes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6080760" y="1371600"/>
            <a:ext cx="2606040" cy="301752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309360" y="3520440"/>
            <a:ext cx="21488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dash"/>
          </a:ln>
        </p:spPr>
      </p:sp>
      <p:sp>
        <p:nvSpPr>
          <p:cNvPr id="20" name="Shape 16"/>
          <p:cNvSpPr/>
          <p:nvPr/>
        </p:nvSpPr>
        <p:spPr>
          <a:xfrm>
            <a:off x="6309360" y="3813048"/>
            <a:ext cx="21488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dash"/>
          </a:ln>
        </p:spPr>
      </p:sp>
      <p:sp>
        <p:nvSpPr>
          <p:cNvPr id="21" name="Shape 17"/>
          <p:cNvSpPr/>
          <p:nvPr/>
        </p:nvSpPr>
        <p:spPr>
          <a:xfrm>
            <a:off x="6309360" y="4105656"/>
            <a:ext cx="21488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dash"/>
          </a:ln>
        </p:spPr>
      </p:sp>
      <p:sp>
        <p:nvSpPr>
          <p:cNvPr id="22" name="Shape 18"/>
          <p:cNvSpPr/>
          <p:nvPr/>
        </p:nvSpPr>
        <p:spPr>
          <a:xfrm>
            <a:off x="6309360" y="164592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810" y="1817370"/>
            <a:ext cx="342900" cy="3429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309360" y="25146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Una pregunta que todavía tengo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Lo que nos llevamos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9304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05840" y="12344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El paquete que nunca llegó</a:t>
            </a:r>
            <a:endParaRPr lang="en-US" sz="1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56232"/>
            <a:ext cx="329184" cy="32918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05840" y="180136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La soda que dejó de facturar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23160"/>
            <a:ext cx="329184" cy="329184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005840" y="236829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El Wi-Fi gratis del mall</a:t>
            </a:r>
            <a:endParaRPr lang="en-US" sz="17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289304"/>
            <a:ext cx="329184" cy="329184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120640" y="12344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La tienda que se cayó en Black Friday</a:t>
            </a:r>
            <a:endParaRPr lang="en-US" sz="17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1856232"/>
            <a:ext cx="329184" cy="329184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5120640" y="180136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El formulario que dejó entrar a cualquiera</a:t>
            </a:r>
            <a:endParaRPr lang="en-US" sz="1700" dirty="0"/>
          </a:p>
        </p:txBody>
      </p:sp>
      <p:sp>
        <p:nvSpPr>
          <p:cNvPr id="13" name="Shape 6"/>
          <p:cNvSpPr/>
          <p:nvPr/>
        </p:nvSpPr>
        <p:spPr>
          <a:xfrm>
            <a:off x="548640" y="3794760"/>
            <a:ext cx="8046720" cy="713232"/>
          </a:xfrm>
          <a:prstGeom prst="roundRect">
            <a:avLst>
              <a:gd name="adj" fmla="val 1025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7"/>
          <p:cNvSpPr txBox="1"/>
          <p:nvPr/>
        </p:nvSpPr>
        <p:spPr>
          <a:xfrm>
            <a:off x="777240" y="3794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Siguiente paso: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estudiá la teoría en la plataforma y resolvé el cotidiano interactivo de este resultado de aprendizaje.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berseguridad CTP">
  <a:themeElements>
    <a:clrScheme name="Ciberseguridad CTP">
      <a:dk1>
        <a:srgbClr val="1E293B"/>
      </a:dk1>
      <a:lt1>
        <a:srgbClr val="FFFFFF"/>
      </a:lt1>
      <a:dk2>
        <a:srgbClr val="0B1D2E"/>
      </a:dk2>
      <a:lt2>
        <a:srgbClr val="EEF5F6"/>
      </a:lt2>
      <a:accent1>
        <a:srgbClr val="0E7C86"/>
      </a:accent1>
      <a:accent2>
        <a:srgbClr val="F5A623"/>
      </a:accent2>
      <a:accent3>
        <a:srgbClr val="D64545"/>
      </a:accent3>
      <a:accent4>
        <a:srgbClr val="2E9E6A"/>
      </a:accent4>
      <a:accent5>
        <a:srgbClr val="64748B"/>
      </a:accent5>
      <a:accent6>
        <a:srgbClr val="7C5CD6"/>
      </a:accent6>
      <a:hlink>
        <a:srgbClr val="0E7C86"/>
      </a:hlink>
      <a:folHlink>
        <a:srgbClr val="7C5CD6"/>
      </a:folHlink>
    </a:clrScheme>
    <a:fontScheme name="Ciberseguridad CTP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CTP Mercedes Norte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RA1 · Amenazas, vulnerabilidades y ataques</dc:title>
  <dc:subject>PptxGenJS Presentation</dc:subject>
  <dc:creator>MsC. Ericka Hernández Mena</dc:creator>
  <cp:lastModifiedBy>MsC. Ericka Hernández Mena</cp:lastModifiedBy>
  <cp:revision>1</cp:revision>
  <dcterms:created xsi:type="dcterms:W3CDTF">2026-10-16T15:55:01Z</dcterms:created>
  <dcterms:modified xsi:type="dcterms:W3CDTF">2026-10-16T15:55:01Z</dcterms:modified>
</cp:coreProperties>
</file>