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 el resultado de aprendizaje: Explicar las amenazas, vulnerabilidades, ataques y problemas presentes en la seguridad de la información en la era digital. Pregunte qué saben del tema y anote ideas en la pizarra antes de empezar.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 la ruta de la clase. Cada número corresponde a un tema del material de estudio en el portal.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entender la ciberseguridad hay que distinguir tres ideas que suelen confundirse: Recorra la tabla con la clase: Activo – Todo lo que tiene valor y hay que proteger. – La base de datos de clientes de una tienda en línea.; Vulnerabilidad – Una debilidad que puede ser aprovechada. – Un servidor sin actualizar o una contraseña «123456».; Amenaza – Algo o alguien que puede causar daño aprovechando una vulnerabilidad. – Un ciberdelincuente que busca servidores desactualizados.; Ataque (exploit) – La acción concreta de aprovechar la vulnerabilidad. – Usar un programa que explota la falla del servidor.; Riesgo – La probabilidad de que una amenaza aproveche una vulnerabilidad y el impacto que tendría. – Alta probabilidad × impacto alto = riesgo alto.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Hacker de sombrero blanco: Hacker ético: busca fallas con permiso para que se corrijan.; Sombrero gris: Entra sin permiso, aunque luego avise de la falla. Sigue siendo ilegal.; Sombrero negro: Ataca para robar, extorsionar o dañar.; Script kiddie: Usa herramientas hechas por otros, sin entender cómo funcionan.; Hacktivista: Ataca para protestar por una causa política o social.; Patrocinado por un Estado: Grupos muy organizados que espían o sabotean a otros países. También existe la amenaza interna: un empleado o exempleado que, por descuido o con mala intención, daña a su propia organización.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Malware (software malicioso) es cualquier programa diseñado para dañar, espiar o tomar el control de un equipo. En 2022, varias instituciones públicas de Costa Rica sufrieron ataques de ransomware que dejaron servicios fuera de línea durante semanas. Recorra la tabla con la clase: Virus – Se adjunta a un archivo o programa y necesita que una persona lo ejecute para propagarse.; Gusano – Se replica solo a través de la red, sin intervención humana.; Troyano – Se disfraza de programa útil (un juego, un «crack») y por dentro trae código malicioso.; Ransomware – Cifra los archivos de la víctima y pide un rescate para devolverlos.; Spyware – Espía lo que hace el usuario: teclas, contraseñas, sitios visitados.; Adware – Muestra publicidad no deseada; muchas veces viene con spyware.; Rootkit – Se esconde en lo más profundo del sistema para dar acceso oculto al atacante.; Bot y botnet – Un equipo…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ingeniería social ataca a las personas en lugar de a las máquinas: engaña a alguien para que entregue información o haga algo que no debería. Es efectiva porque aprovecha la confianza, la prisa, el miedo o la curiosidad. Señales de alerta: urgencia («su cuenta se cierra hoy»), remitentes extraños, errores de ortografía, enlaces que no coinciden con el sitio real y solicitudes de contraseñas o códigos.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Recorra la tabla con la clase: Phishing – Correo falso que imita a un banco o empresa para robar datos.; Spear phishing – Phishing dirigido a una persona concreta, con datos reales sobre ella.; Vishing – Engaño por llamada telefónica («le habla el banco…»).; Smishing – Engaño por mensaje de texto o WhatsApp.; Pretexting – El atacante inventa una historia creíble (soy de soporte técnico) para pedir datos.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Recorra la tabla con la clase: Baiting (carnada) – Dejar una llave USB infectada a la vista para que alguien la conecte.; Tailgating – Entrar detrás de una persona autorizada a un lugar restringido.; Shoulder surfing – Mirar por encima del hombro para ver un PIN o una contraseña.; Dumpster diving – Buscar en la basura documentos con información útil.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Denegación de servicio (DoS): saturar un servidor para que deje de responder. Si el ataque viene desde muchos equipos a la vez (una botnet) es un DDoS.; Hombre en el medio (MitM): el atacante se coloca entre dos equipos que se comunican para leer o alterar el tráfico.; Fuerza bruta: probar todas las combinaciones posibles de una contraseña. El ataque de diccionario prueba palabras comunes.  Un formulario de inicio de sesión que acepta ' OR '1'='1 como contraseña es vulnerable a inyección SQL. Como desarrolladores web, siempre hay que validar y parametrizar lo que escribe el usuario.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Punto de acceso falso (evil twin): una red Wi-Fi con el mismo nombre que una legítima para capturar el tráfico.; Bluejacking: enviar mensajes no solicitados por Bluetooth. Bluesnarfing: robar datos por Bluetooth.; Aplicaciones maliciosas: apps falsas o descargadas fuera de las tiendas oficiales.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Inyección SQL: el atacante escribe código SQL en un formulario para leer o borrar la base de datos.; Cross-site scripting (XSS): se inyecta código JavaScript en una página web para que se ejecute en el navegador de otros usuarios.; Desbordamiento de búfer: se envían más datos de los que un programa puede manejar para hacerlo fallar o ejecutar código.; Ejecución remota de código: el atacante logra correr sus propios comandos en el servidor.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Internet funciona con el modelo TCP/IP, que se diseñó cuando la red era pequeña y confiable. Por eso varios de sus protocolos no traen seguridad incorporada. Recorra la tabla con la clase: Versión, longitud del encabezado, tipo de servicio, longitud total – Versión, clase de tráfico, etiqueta de flujo, longitud de la carga útil; TTL (tiempo de vida): se resta 1 en cada router – Límite de saltos: cumple la misma función que el TTL; Protocolo (indica si lo que viene es TCP, UDP o ICMP) – Siguiente encabezado; Suma de comprobación del encabezado – No tiene suma de comprobación (más simple y rápido); Dirección IP de origen y de destino – Dirección IPv6 de origen y de destino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Suplantación de IP (spoofing): falsificar la dirección de origen para hacerse pasar por otro equipo.; Ataques ICMP: abusar de mensajes como ping para reconocer la red o saturarla.; Amplificación y reflexión: enviar pequeñas peticiones con la IP de la víctima falsificada para que muchos servidores le respondan a ella. TCP establece la conexión con el saludo de tres vías: SYN → SYN-ACK → ACK. Ataques: inundación SYN (muchos SYN sin terminar el saludo), reinicio TCP (cortar conexiones con paquetes RST falsos) y secuestro de sesión. UDP no establece conexión ni confirma la entrega; es rápido pero fácil de falsificar. Ataque típico: inundación UDP.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Recorra la tabla con la clase: ARP – Traduce una IP a una dirección MAC dentro de la red local. – Envenenamiento ARP: el atacante dice ser el router para recibir todo el tráfico (MitM).; DNS – Traduce nombres (www.mep.go.cr) a direcciones IP. – Envenenamiento de caché (redirige a sitios falsos) y túneles DNS (esconder datos robados dentro de consultas DNS).; DHCP – Entrega direcciones IP automáticamente. – Suplantación DHCP (un servidor falso entrega una puerta de enlace maliciosa) y agotamiento DHCP (acaparar todas las direcciones).  Mitigación de ataques de red comunes: mantener equipos actualizados, usar contraseñas robustas y MFA, cifrar el tráfico (HTTPS, VPN), segmentar la red, instalar firewalls e IPS, respaldar la información y capacitar a las personas.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Recorra la tabla con la clase: HTTP / HTTPS – Páginas web. – iFrames maliciosos, redirecciones a sitios falsos, robo de cookies. HTTP viaja en texto plano.; Correo electrónico – Mensajería empresarial. – Phishing, adjuntos con malware, suplantación del remitente.; Bases de datos – Guardan la información de la empresa. – Inyección SQL y robo de credenciales.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WLAN (red de área local inalámbrica) usa ondas de radio del estándar IEEE 802.11 (Wi-Fi), en las bandas de 2,4 GHz (más alcance) y 5 GHz (más velocidad). Los equipos se conectan a un punto de acceso (AP) identificado por un nombre de red o SSID. AP no autorizado (rogue AP): alguien conecta su propio router a la red de la empresa sin permiso.; Gemelo malvado (evil twin): un AP falso con el mismo SSID que el real.; Denegación de servicio: interferencias o paquetes de desautenticación que desconectan a todos.; Interceptación y descifrado de contraseñas: capturar el tráfico de una red con seguridad débil.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Recorra la tabla con la clase: Usar WPA3 o, como mínimo, WPA2 con cifrado AES – Sí: es la protección principal.; Usar WPA2/WPA3-Enterprise con 802.1X y un servidor RADIUS – Sí: cada persona entra con su propio usuario.; Cambiar el usuario y la contraseña de fábrica del router – Sí, siempre.; Mantener actualizado el firmware del AP – Sí.; Usar WEP o WPA (versión 1) – No: se descifran en minutos.; Ocultar el SSID o filtrar por MAC – Muy poco: se descubren fácilmente. Es solo un complemento.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Firewall: Filtra el tráfico según reglas: decide qué entra y qué sale.; IDS: Sistema de detección de intrusos: vigila el tráfico y avisa si ve un ataque.; IPS: Sistema de prevención de intrusos: además de detectar, bloquea el ataque.; Router con seguridad: Enruta y además puede aplicar listas de control de acceso, VPN y firewall.; Concentrador VPN: Crea túneles cifrados para conectarse de forma segura a la red desde afuera.; Servidor AAA: Controla quién entra (autenticación), qué puede hacer (autorización) y qué hizo (registro).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Listas de control de acceso (ACL): reglas que permiten o deniegan tráfico.; Syslog: centraliza los registros (logs) de los equipos.; NTP: sincroniza la hora de todos los equipos para que los registros sean confiables.; SNMP: permite monitorear y administrar los dispositivos de red.; NetFlow: resume quién habla con quién en la red y cuánto tráfico envía.; Duplicación de puertos (port mirroring): copia el tráfico de un puerto a otro para analizarlo con un IDS.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Pida a los estudiantes que encuentren las señales de alerta antes de mostrar los pasos: urgencia, dominio falso, solicitud de datos. Relacione con ingeniería social y con la capa de las personas.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Respuestas: 1) La vulnerabilidad es la debilidad (un sistema sin actualizar); la amenaza es quien o lo que puede aprovecharla (un atacante).  2) El virus necesita que alguien ejecute el archivo infectado; el gusano se propaga solo por la red.  3) Ingeniería social por mensaje de texto o WhatsApp.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Respuestas: 4) El atacante envía muchos SYN y nunca completa el saludo de tres vías, así agota los recursos del servidor.  5) Porque el nombre se descubre fácilmente; la protección real es WPA2/WPA3 con una contraseña robusta.  6) El IDS detecta y alerta; el IPS detecta y además bloquea.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pida a tres estudiantes que expliquen con sus palabras un tema distinto cada uno. Luego indique que resuelvan el cotidiano interactivo en el portal.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image" Target="../media/image-23-8.png"/><Relationship Id="rId9" Type="http://schemas.openxmlformats.org/officeDocument/2006/relationships/slideLayout" Target="../slideLayouts/slideLayout1.xml"/><Relationship Id="rId10"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D2E"/>
        </a:solidFill>
      </p:bgPr>
    </p:bg>
    <p:spTree>
      <p:nvGrpSpPr>
        <p:cNvPr id="1" name=""/>
        <p:cNvGrpSpPr/>
        <p:nvPr/>
      </p:nvGrpSpPr>
      <p:grpSpPr>
        <a:xfrm>
          <a:off x="0" y="0"/>
          <a:ext cx="0" cy="0"/>
          <a:chOff x="0" y="0"/>
          <a:chExt cx="0" cy="0"/>
        </a:xfrm>
      </p:grpSpPr>
      <p:sp>
        <p:nvSpPr>
          <p:cNvPr id="2" name="Shape 0"/>
          <p:cNvSpPr/>
          <p:nvPr/>
        </p:nvSpPr>
        <p:spPr>
          <a:xfrm>
            <a:off x="6492240" y="914400"/>
            <a:ext cx="2377440" cy="2377440"/>
          </a:xfrm>
          <a:prstGeom prst="ellipse">
            <a:avLst/>
          </a:prstGeom>
          <a:solidFill>
            <a:srgbClr val="0E7C86">
              <a:alpha val="80000"/>
            </a:srgbClr>
          </a:solidFill>
          <a:ln w="12700">
            <a:solidFill>
              <a:srgbClr val="0E7C86">
                <a:alpha val="80000"/>
              </a:srgbClr>
            </a:solidFill>
            <a:prstDash val="solid"/>
          </a:ln>
        </p:spPr>
      </p:sp>
      <p:pic>
        <p:nvPicPr>
          <p:cNvPr id="3" name="Image 0" descr="preencoded.png">    </p:cNvPr>
          <p:cNvPicPr>
            <a:picLocks noChangeAspect="1"/>
          </p:cNvPicPr>
          <p:nvPr/>
        </p:nvPicPr>
        <p:blipFill>
          <a:blip r:embed="rId1"/>
          <a:stretch>
            <a:fillRect/>
          </a:stretch>
        </p:blipFill>
        <p:spPr>
          <a:xfrm>
            <a:off x="7086600" y="1508760"/>
            <a:ext cx="1188720" cy="1188720"/>
          </a:xfrm>
          <a:prstGeom prst="rect">
            <a:avLst/>
          </a:prstGeom>
        </p:spPr>
      </p:pic>
      <p:sp>
        <p:nvSpPr>
          <p:cNvPr id="4" name="Text 1"/>
          <p:cNvSpPr txBox="1"/>
          <p:nvPr/>
        </p:nvSpPr>
        <p:spPr>
          <a:xfrm>
            <a:off x="548640" y="640080"/>
            <a:ext cx="5760720" cy="274320"/>
          </a:xfrm>
          <a:prstGeom prst="rect">
            <a:avLst/>
          </a:prstGeom>
          <a:noFill/>
          <a:ln/>
        </p:spPr>
        <p:txBody>
          <a:bodyPr wrap="square" lIns="0" tIns="0" rIns="0" bIns="0" rtlCol="0" anchor="ctr"/>
          <a:lstStyle/>
          <a:p>
            <a:pPr indent="0" marL="0">
              <a:buNone/>
            </a:pPr>
            <a:r>
              <a:rPr lang="en-US" sz="1200" b="1" spc="200" kern="0" dirty="0">
                <a:solidFill>
                  <a:srgbClr val="F5A623"/>
                </a:solidFill>
                <a:latin typeface="Calibri" pitchFamily="34" charset="0"/>
                <a:ea typeface="Calibri" pitchFamily="34" charset="-122"/>
                <a:cs typeface="Calibri" pitchFamily="34" charset="-120"/>
              </a:rPr>
              <a:t>FUNDAMENTOS DE CIBERSEGURIDAD · DESARROLLO WEB 10°</a:t>
            </a:r>
            <a:endParaRPr lang="en-US" sz="1200" dirty="0"/>
          </a:p>
        </p:txBody>
      </p:sp>
      <p:sp>
        <p:nvSpPr>
          <p:cNvPr id="5" name="Text 2"/>
          <p:cNvSpPr txBox="1"/>
          <p:nvPr/>
        </p:nvSpPr>
        <p:spPr>
          <a:xfrm>
            <a:off x="548640" y="1188720"/>
            <a:ext cx="5760720" cy="365760"/>
          </a:xfrm>
          <a:prstGeom prst="rect">
            <a:avLst/>
          </a:prstGeom>
          <a:noFill/>
          <a:ln/>
        </p:spPr>
        <p:txBody>
          <a:bodyPr wrap="square" lIns="0" tIns="0" rIns="0" bIns="0" rtlCol="0" anchor="ctr"/>
          <a:lstStyle/>
          <a:p>
            <a:pPr indent="0" marL="0">
              <a:buNone/>
            </a:pPr>
            <a:r>
              <a:rPr lang="en-US" sz="1800" dirty="0">
                <a:solidFill>
                  <a:srgbClr val="9FD6DB"/>
                </a:solidFill>
                <a:latin typeface="Calibri" pitchFamily="34" charset="0"/>
                <a:ea typeface="Calibri" pitchFamily="34" charset="-122"/>
                <a:cs typeface="Calibri" pitchFamily="34" charset="-120"/>
              </a:rPr>
              <a:t>Resultado de aprendizaje 1</a:t>
            </a:r>
            <a:endParaRPr lang="en-US" sz="1800" dirty="0"/>
          </a:p>
        </p:txBody>
      </p:sp>
      <p:sp>
        <p:nvSpPr>
          <p:cNvPr id="6" name="Text 3"/>
          <p:cNvSpPr txBox="1"/>
          <p:nvPr/>
        </p:nvSpPr>
        <p:spPr>
          <a:xfrm>
            <a:off x="548640" y="1600200"/>
            <a:ext cx="5760720" cy="1371600"/>
          </a:xfrm>
          <a:prstGeom prst="rect">
            <a:avLst/>
          </a:prstGeom>
          <a:noFill/>
          <a:ln/>
        </p:spPr>
        <p:txBody>
          <a:bodyPr wrap="square" lIns="0" tIns="0" rIns="0" bIns="0" rtlCol="0" anchor="t">
            <a:normAutofit/>
          </a:bodyPr>
          <a:lstStyle/>
          <a:p>
            <a:pPr indent="0" marL="0">
              <a:buNone/>
            </a:pPr>
            <a:r>
              <a:rPr lang="en-US" sz="3600" b="1" dirty="0">
                <a:solidFill>
                  <a:srgbClr val="FFFFFF"/>
                </a:solidFill>
                <a:latin typeface="Calibri" pitchFamily="34" charset="0"/>
                <a:ea typeface="Calibri" pitchFamily="34" charset="-122"/>
                <a:cs typeface="Calibri" pitchFamily="34" charset="-120"/>
              </a:rPr>
              <a:t>Amenazas, vulnerabilidades y ataques</a:t>
            </a:r>
            <a:endParaRPr lang="en-US" sz="3600" dirty="0"/>
          </a:p>
        </p:txBody>
      </p:sp>
      <p:sp>
        <p:nvSpPr>
          <p:cNvPr id="7" name="Text 4"/>
          <p:cNvSpPr txBox="1"/>
          <p:nvPr/>
        </p:nvSpPr>
        <p:spPr>
          <a:xfrm>
            <a:off x="548640" y="3063240"/>
            <a:ext cx="5760720" cy="822960"/>
          </a:xfrm>
          <a:prstGeom prst="rect">
            <a:avLst/>
          </a:prstGeom>
          <a:noFill/>
          <a:ln/>
        </p:spPr>
        <p:txBody>
          <a:bodyPr wrap="square" lIns="0" tIns="0" rIns="0" bIns="0" rtlCol="0" anchor="t"/>
          <a:lstStyle/>
          <a:p>
            <a:pPr indent="0" marL="0">
              <a:buNone/>
            </a:pPr>
            <a:r>
              <a:rPr lang="en-US" sz="1400" dirty="0">
                <a:solidFill>
                  <a:srgbClr val="CBD5E1"/>
                </a:solidFill>
                <a:latin typeface="Calibri" pitchFamily="34" charset="0"/>
                <a:ea typeface="Calibri" pitchFamily="34" charset="-122"/>
                <a:cs typeface="Calibri" pitchFamily="34" charset="-120"/>
              </a:rPr>
              <a:t>Explicar las amenazas, vulnerabilidades, ataques y problemas presentes en la seguridad de la información en la era digital.</a:t>
            </a:r>
            <a:endParaRPr lang="en-US" sz="1400" dirty="0"/>
          </a:p>
        </p:txBody>
      </p:sp>
      <p:sp>
        <p:nvSpPr>
          <p:cNvPr id="8" name="Text 5"/>
          <p:cNvSpPr txBox="1"/>
          <p:nvPr/>
        </p:nvSpPr>
        <p:spPr>
          <a:xfrm>
            <a:off x="548640" y="4343400"/>
            <a:ext cx="5760720" cy="274320"/>
          </a:xfrm>
          <a:prstGeom prst="rect">
            <a:avLst/>
          </a:prstGeom>
          <a:noFill/>
          <a:ln/>
        </p:spPr>
        <p:txBody>
          <a:bodyPr wrap="square" lIns="0" tIns="0" rIns="0" bIns="0" rtlCol="0" anchor="ctr"/>
          <a:lstStyle/>
          <a:p>
            <a:pPr indent="0" marL="0">
              <a:buNone/>
            </a:pPr>
            <a:r>
              <a:rPr lang="en-US" sz="1100" dirty="0">
                <a:solidFill>
                  <a:srgbClr val="9FB3C8"/>
                </a:solidFill>
                <a:latin typeface="Calibri" pitchFamily="34" charset="0"/>
                <a:ea typeface="Calibri" pitchFamily="34" charset="-122"/>
                <a:cs typeface="Calibri" pitchFamily="34" charset="-120"/>
              </a:rPr>
              <a:t>CTP Mercedes Norte · MsC. Ericka Hernández Mena</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47472"/>
            <a:ext cx="566928" cy="566928"/>
          </a:xfrm>
          <a:prstGeom prst="ellipse">
            <a:avLst/>
          </a:prstGeom>
          <a:solidFill>
            <a:srgbClr val="F5A623"/>
          </a:solidFill>
          <a:ln w="12700">
            <a:solidFill>
              <a:srgbClr val="F5A623"/>
            </a:solidFill>
            <a:prstDash val="solid"/>
          </a:ln>
        </p:spPr>
      </p:sp>
      <p:pic>
        <p:nvPicPr>
          <p:cNvPr id="3" name="Image 0" descr="preencoded.png">    </p:cNvPr>
          <p:cNvPicPr>
            <a:picLocks noChangeAspect="1"/>
          </p:cNvPicPr>
          <p:nvPr/>
        </p:nvPicPr>
        <p:blipFill>
          <a:blip r:embed="rId1"/>
          <a:stretch>
            <a:fillRect/>
          </a:stretch>
        </p:blipFill>
        <p:spPr>
          <a:xfrm>
            <a:off x="603504" y="493776"/>
            <a:ext cx="274320" cy="274320"/>
          </a:xfrm>
          <a:prstGeom prst="rect">
            <a:avLst/>
          </a:prstGeom>
        </p:spPr>
      </p:pic>
      <p:sp>
        <p:nvSpPr>
          <p:cNvPr id="4" name="Text 1"/>
          <p:cNvSpPr txBox="1"/>
          <p:nvPr/>
        </p:nvSpPr>
        <p:spPr>
          <a:xfrm>
            <a:off x="1188720" y="411480"/>
            <a:ext cx="7315200" cy="502920"/>
          </a:xfrm>
          <a:prstGeom prst="rect">
            <a:avLst/>
          </a:prstGeom>
          <a:noFill/>
          <a:ln/>
        </p:spPr>
        <p:txBody>
          <a:bodyPr wrap="square" lIns="0" tIns="0" rIns="0" bIns="0" rtlCol="0" anchor="ctr"/>
          <a:lstStyle/>
          <a:p>
            <a:pPr indent="0" marL="0">
              <a:buNone/>
            </a:pPr>
            <a:r>
              <a:rPr lang="en-US" sz="2800" b="1" dirty="0">
                <a:solidFill>
                  <a:srgbClr val="0B1D2E"/>
                </a:solidFill>
                <a:latin typeface="Calibri" pitchFamily="34" charset="0"/>
                <a:ea typeface="Calibri" pitchFamily="34" charset="-122"/>
                <a:cs typeface="Calibri" pitchFamily="34" charset="-120"/>
              </a:rPr>
              <a:t>Lo que vamos a ver</a:t>
            </a:r>
            <a:endParaRPr lang="en-US" sz="2800" dirty="0"/>
          </a:p>
        </p:txBody>
      </p:sp>
      <p:sp>
        <p:nvSpPr>
          <p:cNvPr id="5" name="Shape 2"/>
          <p:cNvSpPr/>
          <p:nvPr/>
        </p:nvSpPr>
        <p:spPr>
          <a:xfrm>
            <a:off x="457200" y="1234440"/>
            <a:ext cx="3977640" cy="658368"/>
          </a:xfrm>
          <a:prstGeom prst="roundRect">
            <a:avLst>
              <a:gd name="adj" fmla="val 11111"/>
            </a:avLst>
          </a:prstGeom>
          <a:solidFill>
            <a:srgbClr val="F1F7F8"/>
          </a:solidFill>
          <a:ln w="12700">
            <a:solidFill>
              <a:srgbClr val="F1F7F8"/>
            </a:solidFill>
            <a:prstDash val="solid"/>
          </a:ln>
        </p:spPr>
      </p:sp>
      <p:sp>
        <p:nvSpPr>
          <p:cNvPr id="6" name="Shape 3"/>
          <p:cNvSpPr/>
          <p:nvPr/>
        </p:nvSpPr>
        <p:spPr>
          <a:xfrm>
            <a:off x="594360" y="1362456"/>
            <a:ext cx="402336" cy="402336"/>
          </a:xfrm>
          <a:prstGeom prst="ellipse">
            <a:avLst/>
          </a:prstGeom>
          <a:solidFill>
            <a:srgbClr val="0E7C86"/>
          </a:solidFill>
          <a:ln w="12700">
            <a:solidFill>
              <a:srgbClr val="0E7C86"/>
            </a:solidFill>
            <a:prstDash val="solid"/>
          </a:ln>
        </p:spPr>
      </p:sp>
      <p:sp>
        <p:nvSpPr>
          <p:cNvPr id="7" name="Text 4"/>
          <p:cNvSpPr txBox="1"/>
          <p:nvPr/>
        </p:nvSpPr>
        <p:spPr>
          <a:xfrm>
            <a:off x="594360" y="1362456"/>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5"/>
          <p:cNvSpPr txBox="1"/>
          <p:nvPr/>
        </p:nvSpPr>
        <p:spPr>
          <a:xfrm>
            <a:off x="1143000" y="1289304"/>
            <a:ext cx="3200400" cy="548640"/>
          </a:xfrm>
          <a:prstGeom prst="rect">
            <a:avLst/>
          </a:prstGeom>
          <a:noFill/>
          <a:ln/>
        </p:spPr>
        <p:txBody>
          <a:bodyPr wrap="square" lIns="0" tIns="0" rIns="0" bIns="0" rtlCol="0" anchor="ctr">
            <a:normAutofit/>
          </a:bodyPr>
          <a:lstStyle/>
          <a:p>
            <a:pPr indent="0" marL="0">
              <a:buNone/>
            </a:pPr>
            <a:r>
              <a:rPr lang="en-US" sz="1300" dirty="0">
                <a:solidFill>
                  <a:srgbClr val="1E293B"/>
                </a:solidFill>
                <a:latin typeface="Calibri" pitchFamily="34" charset="0"/>
                <a:ea typeface="Calibri" pitchFamily="34" charset="-122"/>
                <a:cs typeface="Calibri" pitchFamily="34" charset="-120"/>
              </a:rPr>
              <a:t>Amenazas, vulnerabilidades y riesgo</a:t>
            </a:r>
            <a:endParaRPr lang="en-US" sz="1300" dirty="0"/>
          </a:p>
        </p:txBody>
      </p:sp>
      <p:sp>
        <p:nvSpPr>
          <p:cNvPr id="9" name="Shape 6"/>
          <p:cNvSpPr/>
          <p:nvPr/>
        </p:nvSpPr>
        <p:spPr>
          <a:xfrm>
            <a:off x="457200" y="2039112"/>
            <a:ext cx="3977640" cy="658368"/>
          </a:xfrm>
          <a:prstGeom prst="roundRect">
            <a:avLst>
              <a:gd name="adj" fmla="val 11111"/>
            </a:avLst>
          </a:prstGeom>
          <a:solidFill>
            <a:srgbClr val="F1F7F8"/>
          </a:solidFill>
          <a:ln w="12700">
            <a:solidFill>
              <a:srgbClr val="F1F7F8"/>
            </a:solidFill>
            <a:prstDash val="solid"/>
          </a:ln>
        </p:spPr>
      </p:sp>
      <p:sp>
        <p:nvSpPr>
          <p:cNvPr id="10" name="Shape 7"/>
          <p:cNvSpPr/>
          <p:nvPr/>
        </p:nvSpPr>
        <p:spPr>
          <a:xfrm>
            <a:off x="594360" y="2167128"/>
            <a:ext cx="402336" cy="402336"/>
          </a:xfrm>
          <a:prstGeom prst="ellipse">
            <a:avLst/>
          </a:prstGeom>
          <a:solidFill>
            <a:srgbClr val="0E7C86"/>
          </a:solidFill>
          <a:ln w="12700">
            <a:solidFill>
              <a:srgbClr val="0E7C86"/>
            </a:solidFill>
            <a:prstDash val="solid"/>
          </a:ln>
        </p:spPr>
      </p:sp>
      <p:sp>
        <p:nvSpPr>
          <p:cNvPr id="11" name="Text 8"/>
          <p:cNvSpPr txBox="1"/>
          <p:nvPr/>
        </p:nvSpPr>
        <p:spPr>
          <a:xfrm>
            <a:off x="594360" y="2167128"/>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9"/>
          <p:cNvSpPr txBox="1"/>
          <p:nvPr/>
        </p:nvSpPr>
        <p:spPr>
          <a:xfrm>
            <a:off x="1143000" y="2093976"/>
            <a:ext cx="3200400" cy="548640"/>
          </a:xfrm>
          <a:prstGeom prst="rect">
            <a:avLst/>
          </a:prstGeom>
          <a:noFill/>
          <a:ln/>
        </p:spPr>
        <p:txBody>
          <a:bodyPr wrap="square" lIns="0" tIns="0" rIns="0" bIns="0" rtlCol="0" anchor="ctr">
            <a:normAutofit/>
          </a:bodyPr>
          <a:lstStyle/>
          <a:p>
            <a:pPr indent="0" marL="0">
              <a:buNone/>
            </a:pPr>
            <a:r>
              <a:rPr lang="en-US" sz="1300" dirty="0">
                <a:solidFill>
                  <a:srgbClr val="1E293B"/>
                </a:solidFill>
                <a:latin typeface="Calibri" pitchFamily="34" charset="0"/>
                <a:ea typeface="Calibri" pitchFamily="34" charset="-122"/>
                <a:cs typeface="Calibri" pitchFamily="34" charset="-120"/>
              </a:rPr>
              <a:t>Amenazas comunes: el malware</a:t>
            </a:r>
            <a:endParaRPr lang="en-US" sz="1300" dirty="0"/>
          </a:p>
        </p:txBody>
      </p:sp>
      <p:sp>
        <p:nvSpPr>
          <p:cNvPr id="13" name="Shape 10"/>
          <p:cNvSpPr/>
          <p:nvPr/>
        </p:nvSpPr>
        <p:spPr>
          <a:xfrm>
            <a:off x="457200" y="2843784"/>
            <a:ext cx="3977640" cy="658368"/>
          </a:xfrm>
          <a:prstGeom prst="roundRect">
            <a:avLst>
              <a:gd name="adj" fmla="val 11111"/>
            </a:avLst>
          </a:prstGeom>
          <a:solidFill>
            <a:srgbClr val="F1F7F8"/>
          </a:solidFill>
          <a:ln w="12700">
            <a:solidFill>
              <a:srgbClr val="F1F7F8"/>
            </a:solidFill>
            <a:prstDash val="solid"/>
          </a:ln>
        </p:spPr>
      </p:sp>
      <p:sp>
        <p:nvSpPr>
          <p:cNvPr id="14" name="Shape 11"/>
          <p:cNvSpPr/>
          <p:nvPr/>
        </p:nvSpPr>
        <p:spPr>
          <a:xfrm>
            <a:off x="594360" y="2971800"/>
            <a:ext cx="402336" cy="402336"/>
          </a:xfrm>
          <a:prstGeom prst="ellipse">
            <a:avLst/>
          </a:prstGeom>
          <a:solidFill>
            <a:srgbClr val="0E7C86"/>
          </a:solidFill>
          <a:ln w="12700">
            <a:solidFill>
              <a:srgbClr val="0E7C86"/>
            </a:solidFill>
            <a:prstDash val="solid"/>
          </a:ln>
        </p:spPr>
      </p:sp>
      <p:sp>
        <p:nvSpPr>
          <p:cNvPr id="15" name="Text 12"/>
          <p:cNvSpPr txBox="1"/>
          <p:nvPr/>
        </p:nvSpPr>
        <p:spPr>
          <a:xfrm>
            <a:off x="594360" y="297180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6" name="Text 13"/>
          <p:cNvSpPr txBox="1"/>
          <p:nvPr/>
        </p:nvSpPr>
        <p:spPr>
          <a:xfrm>
            <a:off x="1143000" y="2898648"/>
            <a:ext cx="3200400" cy="548640"/>
          </a:xfrm>
          <a:prstGeom prst="rect">
            <a:avLst/>
          </a:prstGeom>
          <a:noFill/>
          <a:ln/>
        </p:spPr>
        <p:txBody>
          <a:bodyPr wrap="square" lIns="0" tIns="0" rIns="0" bIns="0" rtlCol="0" anchor="ctr">
            <a:normAutofit/>
          </a:bodyPr>
          <a:lstStyle/>
          <a:p>
            <a:pPr indent="0" marL="0">
              <a:buNone/>
            </a:pPr>
            <a:r>
              <a:rPr lang="en-US" sz="1300" dirty="0">
                <a:solidFill>
                  <a:srgbClr val="1E293B"/>
                </a:solidFill>
                <a:latin typeface="Calibri" pitchFamily="34" charset="0"/>
                <a:ea typeface="Calibri" pitchFamily="34" charset="-122"/>
                <a:cs typeface="Calibri" pitchFamily="34" charset="-120"/>
              </a:rPr>
              <a:t>Engaño e ingeniería social</a:t>
            </a:r>
            <a:endParaRPr lang="en-US" sz="1300" dirty="0"/>
          </a:p>
        </p:txBody>
      </p:sp>
      <p:sp>
        <p:nvSpPr>
          <p:cNvPr id="17" name="Shape 14"/>
          <p:cNvSpPr/>
          <p:nvPr/>
        </p:nvSpPr>
        <p:spPr>
          <a:xfrm>
            <a:off x="457200" y="3648456"/>
            <a:ext cx="3977640" cy="658368"/>
          </a:xfrm>
          <a:prstGeom prst="roundRect">
            <a:avLst>
              <a:gd name="adj" fmla="val 11111"/>
            </a:avLst>
          </a:prstGeom>
          <a:solidFill>
            <a:srgbClr val="F1F7F8"/>
          </a:solidFill>
          <a:ln w="12700">
            <a:solidFill>
              <a:srgbClr val="F1F7F8"/>
            </a:solidFill>
            <a:prstDash val="solid"/>
          </a:ln>
        </p:spPr>
      </p:sp>
      <p:sp>
        <p:nvSpPr>
          <p:cNvPr id="18" name="Shape 15"/>
          <p:cNvSpPr/>
          <p:nvPr/>
        </p:nvSpPr>
        <p:spPr>
          <a:xfrm>
            <a:off x="594360" y="3776472"/>
            <a:ext cx="402336" cy="402336"/>
          </a:xfrm>
          <a:prstGeom prst="ellipse">
            <a:avLst/>
          </a:prstGeom>
          <a:solidFill>
            <a:srgbClr val="0E7C86"/>
          </a:solidFill>
          <a:ln w="12700">
            <a:solidFill>
              <a:srgbClr val="0E7C86"/>
            </a:solidFill>
            <a:prstDash val="solid"/>
          </a:ln>
        </p:spPr>
      </p:sp>
      <p:sp>
        <p:nvSpPr>
          <p:cNvPr id="19" name="Text 16"/>
          <p:cNvSpPr txBox="1"/>
          <p:nvPr/>
        </p:nvSpPr>
        <p:spPr>
          <a:xfrm>
            <a:off x="594360" y="3776472"/>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txBox="1"/>
          <p:nvPr/>
        </p:nvSpPr>
        <p:spPr>
          <a:xfrm>
            <a:off x="1143000" y="3703320"/>
            <a:ext cx="3200400" cy="548640"/>
          </a:xfrm>
          <a:prstGeom prst="rect">
            <a:avLst/>
          </a:prstGeom>
          <a:noFill/>
          <a:ln/>
        </p:spPr>
        <p:txBody>
          <a:bodyPr wrap="square" lIns="0" tIns="0" rIns="0" bIns="0" rtlCol="0" anchor="ctr">
            <a:normAutofit/>
          </a:bodyPr>
          <a:lstStyle/>
          <a:p>
            <a:pPr indent="0" marL="0">
              <a:buNone/>
            </a:pPr>
            <a:r>
              <a:rPr lang="en-US" sz="1300" dirty="0">
                <a:solidFill>
                  <a:srgbClr val="1E293B"/>
                </a:solidFill>
                <a:latin typeface="Calibri" pitchFamily="34" charset="0"/>
                <a:ea typeface="Calibri" pitchFamily="34" charset="-122"/>
                <a:cs typeface="Calibri" pitchFamily="34" charset="-120"/>
              </a:rPr>
              <a:t>Ciberataques, dispositivos móviles y aplicaciones</a:t>
            </a:r>
            <a:endParaRPr lang="en-US" sz="1300" dirty="0"/>
          </a:p>
        </p:txBody>
      </p:sp>
      <p:sp>
        <p:nvSpPr>
          <p:cNvPr id="21" name="Shape 18"/>
          <p:cNvSpPr/>
          <p:nvPr/>
        </p:nvSpPr>
        <p:spPr>
          <a:xfrm>
            <a:off x="4663440" y="1234440"/>
            <a:ext cx="3977640" cy="658368"/>
          </a:xfrm>
          <a:prstGeom prst="roundRect">
            <a:avLst>
              <a:gd name="adj" fmla="val 11111"/>
            </a:avLst>
          </a:prstGeom>
          <a:solidFill>
            <a:srgbClr val="F1F7F8"/>
          </a:solidFill>
          <a:ln w="12700">
            <a:solidFill>
              <a:srgbClr val="F1F7F8"/>
            </a:solidFill>
            <a:prstDash val="solid"/>
          </a:ln>
        </p:spPr>
      </p:sp>
      <p:sp>
        <p:nvSpPr>
          <p:cNvPr id="22" name="Shape 19"/>
          <p:cNvSpPr/>
          <p:nvPr/>
        </p:nvSpPr>
        <p:spPr>
          <a:xfrm>
            <a:off x="4800600" y="1362456"/>
            <a:ext cx="402336" cy="402336"/>
          </a:xfrm>
          <a:prstGeom prst="ellipse">
            <a:avLst/>
          </a:prstGeom>
          <a:solidFill>
            <a:srgbClr val="0E7C86"/>
          </a:solidFill>
          <a:ln w="12700">
            <a:solidFill>
              <a:srgbClr val="0E7C86"/>
            </a:solidFill>
            <a:prstDash val="solid"/>
          </a:ln>
        </p:spPr>
      </p:sp>
      <p:sp>
        <p:nvSpPr>
          <p:cNvPr id="23" name="Text 20"/>
          <p:cNvSpPr txBox="1"/>
          <p:nvPr/>
        </p:nvSpPr>
        <p:spPr>
          <a:xfrm>
            <a:off x="4800600" y="1362456"/>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4" name="Text 21"/>
          <p:cNvSpPr txBox="1"/>
          <p:nvPr/>
        </p:nvSpPr>
        <p:spPr>
          <a:xfrm>
            <a:off x="5349240" y="1289304"/>
            <a:ext cx="3200400" cy="548640"/>
          </a:xfrm>
          <a:prstGeom prst="rect">
            <a:avLst/>
          </a:prstGeom>
          <a:noFill/>
          <a:ln/>
        </p:spPr>
        <p:txBody>
          <a:bodyPr wrap="square" lIns="0" tIns="0" rIns="0" bIns="0" rtlCol="0" anchor="ctr">
            <a:normAutofit/>
          </a:bodyPr>
          <a:lstStyle/>
          <a:p>
            <a:pPr indent="0" marL="0">
              <a:buNone/>
            </a:pPr>
            <a:r>
              <a:rPr lang="en-US" sz="1300" dirty="0">
                <a:solidFill>
                  <a:srgbClr val="1E293B"/>
                </a:solidFill>
                <a:latin typeface="Calibri" pitchFamily="34" charset="0"/>
                <a:ea typeface="Calibri" pitchFamily="34" charset="-122"/>
                <a:cs typeface="Calibri" pitchFamily="34" charset="-120"/>
              </a:rPr>
              <a:t>Ataque a los fundamentos: TCP/IP, IPv4 e IPv6</a:t>
            </a:r>
            <a:endParaRPr lang="en-US" sz="1300" dirty="0"/>
          </a:p>
        </p:txBody>
      </p:sp>
      <p:sp>
        <p:nvSpPr>
          <p:cNvPr id="25" name="Shape 22"/>
          <p:cNvSpPr/>
          <p:nvPr/>
        </p:nvSpPr>
        <p:spPr>
          <a:xfrm>
            <a:off x="4663440" y="2039112"/>
            <a:ext cx="3977640" cy="658368"/>
          </a:xfrm>
          <a:prstGeom prst="roundRect">
            <a:avLst>
              <a:gd name="adj" fmla="val 11111"/>
            </a:avLst>
          </a:prstGeom>
          <a:solidFill>
            <a:srgbClr val="F1F7F8"/>
          </a:solidFill>
          <a:ln w="12700">
            <a:solidFill>
              <a:srgbClr val="F1F7F8"/>
            </a:solidFill>
            <a:prstDash val="solid"/>
          </a:ln>
        </p:spPr>
      </p:sp>
      <p:sp>
        <p:nvSpPr>
          <p:cNvPr id="26" name="Shape 23"/>
          <p:cNvSpPr/>
          <p:nvPr/>
        </p:nvSpPr>
        <p:spPr>
          <a:xfrm>
            <a:off x="4800600" y="2167128"/>
            <a:ext cx="402336" cy="402336"/>
          </a:xfrm>
          <a:prstGeom prst="ellipse">
            <a:avLst/>
          </a:prstGeom>
          <a:solidFill>
            <a:srgbClr val="0E7C86"/>
          </a:solidFill>
          <a:ln w="12700">
            <a:solidFill>
              <a:srgbClr val="0E7C86"/>
            </a:solidFill>
            <a:prstDash val="solid"/>
          </a:ln>
        </p:spPr>
      </p:sp>
      <p:sp>
        <p:nvSpPr>
          <p:cNvPr id="27" name="Text 24"/>
          <p:cNvSpPr txBox="1"/>
          <p:nvPr/>
        </p:nvSpPr>
        <p:spPr>
          <a:xfrm>
            <a:off x="4800600" y="2167128"/>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8" name="Text 25"/>
          <p:cNvSpPr txBox="1"/>
          <p:nvPr/>
        </p:nvSpPr>
        <p:spPr>
          <a:xfrm>
            <a:off x="5349240" y="2093976"/>
            <a:ext cx="3200400" cy="548640"/>
          </a:xfrm>
          <a:prstGeom prst="rect">
            <a:avLst/>
          </a:prstGeom>
          <a:noFill/>
          <a:ln/>
        </p:spPr>
        <p:txBody>
          <a:bodyPr wrap="square" lIns="0" tIns="0" rIns="0" bIns="0" rtlCol="0" anchor="ctr">
            <a:normAutofit/>
          </a:bodyPr>
          <a:lstStyle/>
          <a:p>
            <a:pPr indent="0" marL="0">
              <a:buNone/>
            </a:pPr>
            <a:r>
              <a:rPr lang="en-US" sz="1300" dirty="0">
                <a:solidFill>
                  <a:srgbClr val="1E293B"/>
                </a:solidFill>
                <a:latin typeface="Calibri" pitchFamily="34" charset="0"/>
                <a:ea typeface="Calibri" pitchFamily="34" charset="-122"/>
                <a:cs typeface="Calibri" pitchFamily="34" charset="-120"/>
              </a:rPr>
              <a:t>Atacando lo que hacemos: servicios IP y empresariales</a:t>
            </a:r>
            <a:endParaRPr lang="en-US" sz="1300" dirty="0"/>
          </a:p>
        </p:txBody>
      </p:sp>
      <p:sp>
        <p:nvSpPr>
          <p:cNvPr id="29" name="Shape 26"/>
          <p:cNvSpPr/>
          <p:nvPr/>
        </p:nvSpPr>
        <p:spPr>
          <a:xfrm>
            <a:off x="4663440" y="2843784"/>
            <a:ext cx="3977640" cy="658368"/>
          </a:xfrm>
          <a:prstGeom prst="roundRect">
            <a:avLst>
              <a:gd name="adj" fmla="val 11111"/>
            </a:avLst>
          </a:prstGeom>
          <a:solidFill>
            <a:srgbClr val="F1F7F8"/>
          </a:solidFill>
          <a:ln w="12700">
            <a:solidFill>
              <a:srgbClr val="F1F7F8"/>
            </a:solidFill>
            <a:prstDash val="solid"/>
          </a:ln>
        </p:spPr>
      </p:sp>
      <p:sp>
        <p:nvSpPr>
          <p:cNvPr id="30" name="Shape 27"/>
          <p:cNvSpPr/>
          <p:nvPr/>
        </p:nvSpPr>
        <p:spPr>
          <a:xfrm>
            <a:off x="4800600" y="2971800"/>
            <a:ext cx="402336" cy="402336"/>
          </a:xfrm>
          <a:prstGeom prst="ellipse">
            <a:avLst/>
          </a:prstGeom>
          <a:solidFill>
            <a:srgbClr val="0E7C86"/>
          </a:solidFill>
          <a:ln w="12700">
            <a:solidFill>
              <a:srgbClr val="0E7C86"/>
            </a:solidFill>
            <a:prstDash val="solid"/>
          </a:ln>
        </p:spPr>
      </p:sp>
      <p:sp>
        <p:nvSpPr>
          <p:cNvPr id="31" name="Text 28"/>
          <p:cNvSpPr txBox="1"/>
          <p:nvPr/>
        </p:nvSpPr>
        <p:spPr>
          <a:xfrm>
            <a:off x="4800600" y="297180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7</a:t>
            </a:r>
            <a:endParaRPr lang="en-US" sz="1400" dirty="0"/>
          </a:p>
        </p:txBody>
      </p:sp>
      <p:sp>
        <p:nvSpPr>
          <p:cNvPr id="32" name="Text 29"/>
          <p:cNvSpPr txBox="1"/>
          <p:nvPr/>
        </p:nvSpPr>
        <p:spPr>
          <a:xfrm>
            <a:off x="5349240" y="2898648"/>
            <a:ext cx="3200400" cy="548640"/>
          </a:xfrm>
          <a:prstGeom prst="rect">
            <a:avLst/>
          </a:prstGeom>
          <a:noFill/>
          <a:ln/>
        </p:spPr>
        <p:txBody>
          <a:bodyPr wrap="square" lIns="0" tIns="0" rIns="0" bIns="0" rtlCol="0" anchor="ctr">
            <a:normAutofit/>
          </a:bodyPr>
          <a:lstStyle/>
          <a:p>
            <a:pPr indent="0" marL="0">
              <a:buNone/>
            </a:pPr>
            <a:r>
              <a:rPr lang="en-US" sz="1300" dirty="0">
                <a:solidFill>
                  <a:srgbClr val="1E293B"/>
                </a:solidFill>
                <a:latin typeface="Calibri" pitchFamily="34" charset="0"/>
                <a:ea typeface="Calibri" pitchFamily="34" charset="-122"/>
                <a:cs typeface="Calibri" pitchFamily="34" charset="-120"/>
              </a:rPr>
              <a:t>Redes inalámbricas: problemas y WLAN seguras</a:t>
            </a:r>
            <a:endParaRPr lang="en-US" sz="1300" dirty="0"/>
          </a:p>
        </p:txBody>
      </p:sp>
      <p:sp>
        <p:nvSpPr>
          <p:cNvPr id="33" name="Shape 30"/>
          <p:cNvSpPr/>
          <p:nvPr/>
        </p:nvSpPr>
        <p:spPr>
          <a:xfrm>
            <a:off x="4663440" y="3648456"/>
            <a:ext cx="3977640" cy="658368"/>
          </a:xfrm>
          <a:prstGeom prst="roundRect">
            <a:avLst>
              <a:gd name="adj" fmla="val 11111"/>
            </a:avLst>
          </a:prstGeom>
          <a:solidFill>
            <a:srgbClr val="F1F7F8"/>
          </a:solidFill>
          <a:ln w="12700">
            <a:solidFill>
              <a:srgbClr val="F1F7F8"/>
            </a:solidFill>
            <a:prstDash val="solid"/>
          </a:ln>
        </p:spPr>
      </p:sp>
      <p:sp>
        <p:nvSpPr>
          <p:cNvPr id="34" name="Shape 31"/>
          <p:cNvSpPr/>
          <p:nvPr/>
        </p:nvSpPr>
        <p:spPr>
          <a:xfrm>
            <a:off x="4800600" y="3776472"/>
            <a:ext cx="402336" cy="402336"/>
          </a:xfrm>
          <a:prstGeom prst="ellipse">
            <a:avLst/>
          </a:prstGeom>
          <a:solidFill>
            <a:srgbClr val="0E7C86"/>
          </a:solidFill>
          <a:ln w="12700">
            <a:solidFill>
              <a:srgbClr val="0E7C86"/>
            </a:solidFill>
            <a:prstDash val="solid"/>
          </a:ln>
        </p:spPr>
      </p:sp>
      <p:sp>
        <p:nvSpPr>
          <p:cNvPr id="35" name="Text 32"/>
          <p:cNvSpPr txBox="1"/>
          <p:nvPr/>
        </p:nvSpPr>
        <p:spPr>
          <a:xfrm>
            <a:off x="4800600" y="3776472"/>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8</a:t>
            </a:r>
            <a:endParaRPr lang="en-US" sz="1400" dirty="0"/>
          </a:p>
        </p:txBody>
      </p:sp>
      <p:sp>
        <p:nvSpPr>
          <p:cNvPr id="36" name="Text 33"/>
          <p:cNvSpPr txBox="1"/>
          <p:nvPr/>
        </p:nvSpPr>
        <p:spPr>
          <a:xfrm>
            <a:off x="5349240" y="3703320"/>
            <a:ext cx="3200400" cy="548640"/>
          </a:xfrm>
          <a:prstGeom prst="rect">
            <a:avLst/>
          </a:prstGeom>
          <a:noFill/>
          <a:ln/>
        </p:spPr>
        <p:txBody>
          <a:bodyPr wrap="square" lIns="0" tIns="0" rIns="0" bIns="0" rtlCol="0" anchor="ctr">
            <a:normAutofit/>
          </a:bodyPr>
          <a:lstStyle/>
          <a:p>
            <a:pPr indent="0" marL="0">
              <a:buNone/>
            </a:pPr>
            <a:r>
              <a:rPr lang="en-US" sz="1300" dirty="0">
                <a:solidFill>
                  <a:srgbClr val="1E293B"/>
                </a:solidFill>
                <a:latin typeface="Calibri" pitchFamily="34" charset="0"/>
                <a:ea typeface="Calibri" pitchFamily="34" charset="-122"/>
                <a:cs typeface="Calibri" pitchFamily="34" charset="-120"/>
              </a:rPr>
              <a:t>Infraestructura de seguridad de red</a:t>
            </a:r>
            <a:endParaRPr lang="en-US" sz="1300" dirty="0"/>
          </a:p>
        </p:txBody>
      </p:sp>
      <p:sp>
        <p:nvSpPr>
          <p:cNvPr id="37" name="Text 34"/>
          <p:cNvSpPr txBox="1"/>
          <p:nvPr/>
        </p:nvSpPr>
        <p:spPr>
          <a:xfrm>
            <a:off x="45720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Fundamentos de ciberseguridad · RA1</a:t>
            </a:r>
            <a:endParaRPr lang="en-US" sz="900" dirty="0"/>
          </a:p>
        </p:txBody>
      </p:sp>
      <p:sp>
        <p:nvSpPr>
          <p:cNvPr id="38" name="Text 35"/>
          <p:cNvSpPr txBox="1"/>
          <p:nvPr/>
        </p:nvSpPr>
        <p:spPr>
          <a:xfrm>
            <a:off x="8229600" y="4800600"/>
            <a:ext cx="457200" cy="22860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47472"/>
            <a:ext cx="566928" cy="566928"/>
          </a:xfrm>
          <a:prstGeom prst="ellipse">
            <a:avLst/>
          </a:prstGeom>
          <a:solidFill>
            <a:srgbClr val="0E7C86"/>
          </a:solidFill>
          <a:ln w="12700">
            <a:solidFill>
              <a:srgbClr val="0E7C86"/>
            </a:solidFill>
            <a:prstDash val="solid"/>
          </a:ln>
        </p:spPr>
      </p:sp>
      <p:sp>
        <p:nvSpPr>
          <p:cNvPr id="3" name="Text 1"/>
          <p:cNvSpPr txBox="1"/>
          <p:nvPr/>
        </p:nvSpPr>
        <p:spPr>
          <a:xfrm>
            <a:off x="457200" y="34747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4" name="Text 2"/>
          <p:cNvSpPr txBox="1"/>
          <p:nvPr/>
        </p:nvSpPr>
        <p:spPr>
          <a:xfrm>
            <a:off x="1188720" y="292608"/>
            <a:ext cx="7498080" cy="256032"/>
          </a:xfrm>
          <a:prstGeom prst="rect">
            <a:avLst/>
          </a:prstGeom>
          <a:noFill/>
          <a:ln/>
        </p:spPr>
        <p:txBody>
          <a:bodyPr wrap="square" lIns="0" tIns="0" rIns="0" bIns="0" rtlCol="0" anchor="ctr"/>
          <a:lstStyle/>
          <a:p>
            <a:pPr indent="0" marL="0">
              <a:buNone/>
            </a:pPr>
            <a:r>
              <a:rPr lang="en-US" sz="1100" b="1" dirty="0">
                <a:solidFill>
                  <a:srgbClr val="0E7C86"/>
                </a:solidFill>
                <a:latin typeface="Calibri" pitchFamily="34" charset="0"/>
                <a:ea typeface="Calibri" pitchFamily="34" charset="-122"/>
                <a:cs typeface="Calibri" pitchFamily="34" charset="-120"/>
              </a:rPr>
              <a:t>TEMA 1</a:t>
            </a:r>
            <a:endParaRPr lang="en-US" sz="1100" dirty="0"/>
          </a:p>
        </p:txBody>
      </p:sp>
      <p:sp>
        <p:nvSpPr>
          <p:cNvPr id="5" name="Text 3"/>
          <p:cNvSpPr txBox="1"/>
          <p:nvPr/>
        </p:nvSpPr>
        <p:spPr>
          <a:xfrm>
            <a:off x="1188720" y="530352"/>
            <a:ext cx="7498080" cy="502920"/>
          </a:xfrm>
          <a:prstGeom prst="rect">
            <a:avLst/>
          </a:prstGeom>
          <a:noFill/>
          <a:ln/>
        </p:spPr>
        <p:txBody>
          <a:bodyPr wrap="square" lIns="0" tIns="0" rIns="0" bIns="0" rtlCol="0" anchor="t">
            <a:normAutofit/>
          </a:bodyPr>
          <a:lstStyle/>
          <a:p>
            <a:pPr indent="0" marL="0">
              <a:buNone/>
            </a:pPr>
            <a:r>
              <a:rPr lang="en-US" sz="2500" b="1" dirty="0">
                <a:solidFill>
                  <a:srgbClr val="0B1D2E"/>
                </a:solidFill>
                <a:latin typeface="Calibri" pitchFamily="34" charset="0"/>
                <a:ea typeface="Calibri" pitchFamily="34" charset="-122"/>
                <a:cs typeface="Calibri" pitchFamily="34" charset="-120"/>
              </a:rPr>
              <a:t>Amenazas, vulnerabilidades y riesgo</a:t>
            </a:r>
            <a:endParaRPr lang="en-US" sz="2500" dirty="0"/>
          </a:p>
        </p:txBody>
      </p:sp>
      <p:sp>
        <p:nvSpPr>
          <p:cNvPr id="6" name="Text 4"/>
          <p:cNvSpPr txBox="1"/>
          <p:nvPr/>
        </p:nvSpPr>
        <p:spPr>
          <a:xfrm>
            <a:off x="457200" y="1234440"/>
            <a:ext cx="8229600" cy="356616"/>
          </a:xfrm>
          <a:prstGeom prst="rect">
            <a:avLst/>
          </a:prstGeom>
          <a:noFill/>
          <a:ln/>
        </p:spPr>
        <p:txBody>
          <a:bodyPr wrap="square" lIns="0" tIns="0" rIns="0" bIns="0" rtlCol="0" anchor="t">
            <a:normAutofit/>
          </a:bodyPr>
          <a:lstStyle/>
          <a:p>
            <a:pPr indent="0" marL="0">
              <a:buNone/>
            </a:pPr>
            <a:r>
              <a:rPr lang="en-US" sz="1400" dirty="0">
                <a:solidFill>
                  <a:srgbClr val="1E293B"/>
                </a:solidFill>
                <a:latin typeface="Calibri" pitchFamily="34" charset="0"/>
                <a:ea typeface="Calibri" pitchFamily="34" charset="-122"/>
                <a:cs typeface="Calibri" pitchFamily="34" charset="-120"/>
              </a:rPr>
              <a:t>Para entender la ciberseguridad hay que distinguir tres ideas que suelen confundirse:</a:t>
            </a:r>
            <a:endParaRPr lang="en-US" sz="14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1700784"/>
          <a:ext cx="8229600" cy="914400"/>
        </p:xfrm>
        <a:graphic>
          <a:graphicData uri="http://schemas.openxmlformats.org/drawingml/2006/table">
            <a:tbl>
              <a:tblPr/>
              <a:tblGrid>
                <a:gridCol w="1568752"/>
                <a:gridCol w="3699894"/>
                <a:gridCol w="2960954"/>
              </a:tblGrid>
              <a:tr h="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Concepto</a:t>
                      </a:r>
                      <a:endParaRPr lang="en-US" sz="14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E7C86"/>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Qué es</a:t>
                      </a:r>
                      <a:endParaRPr lang="en-US" sz="14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E7C86"/>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Ejemplo</a:t>
                      </a:r>
                      <a:endParaRPr lang="en-US" sz="14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E7C86"/>
                    </a:solidFill>
                  </a:tcPr>
                </a:tc>
              </a:tr>
              <a:tr h="0">
                <a:tc>
                  <a:txBody>
                    <a:bodyPr/>
                    <a:lstStyle/>
                    <a:p>
                      <a:pPr indent="0" marL="0">
                        <a:buNone/>
                      </a:pPr>
                      <a:r>
                        <a:rPr lang="en-US" sz="1400" b="1" dirty="0">
                          <a:solidFill>
                            <a:srgbClr val="1E293B"/>
                          </a:solidFill>
                          <a:latin typeface="Calibri" pitchFamily="34" charset="0"/>
                          <a:ea typeface="Calibri" pitchFamily="34" charset="-122"/>
                          <a:cs typeface="Calibri" pitchFamily="34" charset="-120"/>
                        </a:rPr>
                        <a:t>Activo</a:t>
                      </a:r>
                      <a:endParaRPr lang="en-US" sz="14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7F8"/>
                    </a:solidFill>
                  </a:tcPr>
                </a:tc>
                <a:tc>
                  <a:txBody>
                    <a:bodyPr/>
                    <a:lstStyle/>
                    <a:p>
                      <a:pPr indent="0" marL="0">
                        <a:buNone/>
                      </a:pPr>
                      <a:r>
                        <a:rPr lang="en-US" sz="1400" dirty="0">
                          <a:solidFill>
                            <a:srgbClr val="1E293B"/>
                          </a:solidFill>
                          <a:latin typeface="Calibri" pitchFamily="34" charset="0"/>
                          <a:ea typeface="Calibri" pitchFamily="34" charset="-122"/>
                          <a:cs typeface="Calibri" pitchFamily="34" charset="-120"/>
                        </a:rPr>
                        <a:t>Todo lo que tiene valor y hay que proteger.</a:t>
                      </a:r>
                      <a:endParaRPr lang="en-US" sz="14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7F8"/>
                    </a:solidFill>
                  </a:tcPr>
                </a:tc>
                <a:tc>
                  <a:txBody>
                    <a:bodyPr/>
                    <a:lstStyle/>
                    <a:p>
                      <a:pPr indent="0" marL="0">
                        <a:buNone/>
                      </a:pPr>
                      <a:r>
                        <a:rPr lang="en-US" sz="1400" dirty="0">
                          <a:solidFill>
                            <a:srgbClr val="1E293B"/>
                          </a:solidFill>
                          <a:latin typeface="Calibri" pitchFamily="34" charset="0"/>
                          <a:ea typeface="Calibri" pitchFamily="34" charset="-122"/>
                          <a:cs typeface="Calibri" pitchFamily="34" charset="-120"/>
                        </a:rPr>
                        <a:t>La base de datos de clientes de una tienda en línea.</a:t>
                      </a:r>
                      <a:endParaRPr lang="en-US" sz="14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7F8"/>
                    </a:solidFill>
                  </a:tcPr>
                </a:tc>
              </a:tr>
              <a:tr h="0">
                <a:tc>
                  <a:txBody>
                    <a:bodyPr/>
                    <a:lstStyle/>
                    <a:p>
                      <a:pPr indent="0" marL="0">
                        <a:buNone/>
                      </a:pPr>
                      <a:r>
                        <a:rPr lang="en-US" sz="1400" b="1" dirty="0">
                          <a:solidFill>
                            <a:srgbClr val="1E293B"/>
                          </a:solidFill>
                          <a:latin typeface="Calibri" pitchFamily="34" charset="0"/>
                          <a:ea typeface="Calibri" pitchFamily="34" charset="-122"/>
                          <a:cs typeface="Calibri" pitchFamily="34" charset="-120"/>
                        </a:rPr>
                        <a:t>Vulnerabilidad</a:t>
                      </a:r>
                      <a:endParaRPr lang="en-US" sz="14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1E293B"/>
                          </a:solidFill>
                          <a:latin typeface="Calibri" pitchFamily="34" charset="0"/>
                          <a:ea typeface="Calibri" pitchFamily="34" charset="-122"/>
                          <a:cs typeface="Calibri" pitchFamily="34" charset="-120"/>
                        </a:rPr>
                        <a:t>Una debilidad que puede ser aprovechada.</a:t>
                      </a:r>
                      <a:endParaRPr lang="en-US" sz="14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1E293B"/>
                          </a:solidFill>
                          <a:latin typeface="Calibri" pitchFamily="34" charset="0"/>
                          <a:ea typeface="Calibri" pitchFamily="34" charset="-122"/>
                          <a:cs typeface="Calibri" pitchFamily="34" charset="-120"/>
                        </a:rPr>
                        <a:t>Un servidor sin actualizar o una contraseña «123456».</a:t>
                      </a:r>
                      <a:endParaRPr lang="en-US" sz="14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E293B"/>
                          </a:solidFill>
                          <a:latin typeface="Calibri" pitchFamily="34" charset="0"/>
                          <a:ea typeface="Calibri" pitchFamily="34" charset="-122"/>
                          <a:cs typeface="Calibri" pitchFamily="34" charset="-120"/>
                        </a:rPr>
                        <a:t>Amenaza</a:t>
                      </a:r>
                      <a:endParaRPr lang="en-US" sz="14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7F8"/>
                    </a:solidFill>
                  </a:tcPr>
                </a:tc>
                <a:tc>
                  <a:txBody>
                    <a:bodyPr/>
                    <a:lstStyle/>
                    <a:p>
                      <a:pPr indent="0" marL="0">
                        <a:buNone/>
                      </a:pPr>
                      <a:r>
                        <a:rPr lang="en-US" sz="1400" dirty="0">
                          <a:solidFill>
                            <a:srgbClr val="1E293B"/>
                          </a:solidFill>
                          <a:latin typeface="Calibri" pitchFamily="34" charset="0"/>
                          <a:ea typeface="Calibri" pitchFamily="34" charset="-122"/>
                          <a:cs typeface="Calibri" pitchFamily="34" charset="-120"/>
                        </a:rPr>
                        <a:t>Algo o alguien que puede causar daño aprovechando una vulnerabilidad.</a:t>
                      </a:r>
                      <a:endParaRPr lang="en-US" sz="14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7F8"/>
                    </a:solidFill>
                  </a:tcPr>
                </a:tc>
                <a:tc>
                  <a:txBody>
                    <a:bodyPr/>
                    <a:lstStyle/>
                    <a:p>
                      <a:pPr indent="0" marL="0">
                        <a:buNone/>
                      </a:pPr>
                      <a:r>
                        <a:rPr lang="en-US" sz="1400" dirty="0">
                          <a:solidFill>
                            <a:srgbClr val="1E293B"/>
                          </a:solidFill>
                          <a:latin typeface="Calibri" pitchFamily="34" charset="0"/>
                          <a:ea typeface="Calibri" pitchFamily="34" charset="-122"/>
                          <a:cs typeface="Calibri" pitchFamily="34" charset="-120"/>
                        </a:rPr>
                        <a:t>Un ciberdelincuente que busca servidores desactualizados.</a:t>
                      </a:r>
                      <a:endParaRPr lang="en-US" sz="14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7F8"/>
                    </a:solidFill>
                  </a:tcPr>
                </a:tc>
              </a:tr>
              <a:tr h="0">
                <a:tc>
                  <a:txBody>
                    <a:bodyPr/>
                    <a:lstStyle/>
                    <a:p>
                      <a:pPr indent="0" marL="0">
                        <a:buNone/>
                      </a:pPr>
                      <a:r>
                        <a:rPr lang="en-US" sz="1400" b="1" dirty="0">
                          <a:solidFill>
                            <a:srgbClr val="1E293B"/>
                          </a:solidFill>
                          <a:latin typeface="Calibri" pitchFamily="34" charset="0"/>
                          <a:ea typeface="Calibri" pitchFamily="34" charset="-122"/>
                          <a:cs typeface="Calibri" pitchFamily="34" charset="-120"/>
                        </a:rPr>
                        <a:t>Ataque (exploit)</a:t>
                      </a:r>
                      <a:endParaRPr lang="en-US" sz="14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1E293B"/>
                          </a:solidFill>
                          <a:latin typeface="Calibri" pitchFamily="34" charset="0"/>
                          <a:ea typeface="Calibri" pitchFamily="34" charset="-122"/>
                          <a:cs typeface="Calibri" pitchFamily="34" charset="-120"/>
                        </a:rPr>
                        <a:t>La acción concreta de aprovechar la vulnerabilidad.</a:t>
                      </a:r>
                      <a:endParaRPr lang="en-US" sz="14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1E293B"/>
                          </a:solidFill>
                          <a:latin typeface="Calibri" pitchFamily="34" charset="0"/>
                          <a:ea typeface="Calibri" pitchFamily="34" charset="-122"/>
                          <a:cs typeface="Calibri" pitchFamily="34" charset="-120"/>
                        </a:rPr>
                        <a:t>Usar un programa que explota la falla del servidor.</a:t>
                      </a:r>
                      <a:endParaRPr lang="en-US" sz="14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E293B"/>
                          </a:solidFill>
                          <a:latin typeface="Calibri" pitchFamily="34" charset="0"/>
                          <a:ea typeface="Calibri" pitchFamily="34" charset="-122"/>
                          <a:cs typeface="Calibri" pitchFamily="34" charset="-120"/>
                        </a:rPr>
                        <a:t>Riesgo</a:t>
                      </a:r>
                      <a:endParaRPr lang="en-US" sz="14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7F8"/>
                    </a:solidFill>
                  </a:tcPr>
                </a:tc>
                <a:tc>
                  <a:txBody>
                    <a:bodyPr/>
                    <a:lstStyle/>
                    <a:p>
                      <a:pPr indent="0" marL="0">
                        <a:buNone/>
                      </a:pPr>
                      <a:r>
                        <a:rPr lang="en-US" sz="1400" dirty="0">
                          <a:solidFill>
                            <a:srgbClr val="1E293B"/>
                          </a:solidFill>
                          <a:latin typeface="Calibri" pitchFamily="34" charset="0"/>
                          <a:ea typeface="Calibri" pitchFamily="34" charset="-122"/>
                          <a:cs typeface="Calibri" pitchFamily="34" charset="-120"/>
                        </a:rPr>
                        <a:t>La probabilidad de que una amenaza aproveche una vulnerabilidad y el impacto que tendría.</a:t>
                      </a:r>
                      <a:endParaRPr lang="en-US" sz="14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7F8"/>
                    </a:solidFill>
                  </a:tcPr>
                </a:tc>
                <a:tc>
                  <a:txBody>
                    <a:bodyPr/>
                    <a:lstStyle/>
                    <a:p>
                      <a:pPr indent="0" marL="0">
                        <a:buNone/>
                      </a:pPr>
                      <a:r>
                        <a:rPr lang="en-US" sz="1400" dirty="0">
                          <a:solidFill>
                            <a:srgbClr val="1E293B"/>
                          </a:solidFill>
                          <a:latin typeface="Calibri" pitchFamily="34" charset="0"/>
                          <a:ea typeface="Calibri" pitchFamily="34" charset="-122"/>
                          <a:cs typeface="Calibri" pitchFamily="34" charset="-120"/>
                        </a:rPr>
                        <a:t>Alta probabilidad × impacto alto = riesgo alto.</a:t>
                      </a:r>
                      <a:endParaRPr lang="en-US" sz="14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7F8"/>
                    </a:solidFill>
                  </a:tcPr>
                </a:tc>
              </a:tr>
            </a:tbl>
          </a:graphicData>
        </a:graphic>
      </p:graphicFrame>
      <p:sp>
        <p:nvSpPr>
          <p:cNvPr id="8" name="Text 5"/>
          <p:cNvSpPr txBox="1"/>
          <p:nvPr/>
        </p:nvSpPr>
        <p:spPr>
          <a:xfrm>
            <a:off x="45720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Fundamentos de ciberseguridad · RA1</a:t>
            </a:r>
            <a:endParaRPr lang="en-US" sz="900" dirty="0"/>
          </a:p>
        </p:txBody>
      </p:sp>
      <p:sp>
        <p:nvSpPr>
          <p:cNvPr id="9" name="Text 6"/>
          <p:cNvSpPr txBox="1"/>
          <p:nvPr/>
        </p:nvSpPr>
        <p:spPr>
          <a:xfrm>
            <a:off x="8229600" y="4800600"/>
            <a:ext cx="457200" cy="22860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47472"/>
            <a:ext cx="566928" cy="566928"/>
          </a:xfrm>
          <a:prstGeom prst="ellipse">
            <a:avLst/>
          </a:prstGeom>
          <a:solidFill>
            <a:srgbClr val="0E7C86"/>
          </a:solidFill>
          <a:ln w="12700">
            <a:solidFill>
              <a:srgbClr val="0E7C86"/>
            </a:solidFill>
            <a:prstDash val="solid"/>
          </a:ln>
        </p:spPr>
      </p:sp>
      <p:sp>
        <p:nvSpPr>
          <p:cNvPr id="3" name="Text 1"/>
          <p:cNvSpPr txBox="1"/>
          <p:nvPr/>
        </p:nvSpPr>
        <p:spPr>
          <a:xfrm>
            <a:off x="457200" y="34747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4" name="Text 2"/>
          <p:cNvSpPr txBox="1"/>
          <p:nvPr/>
        </p:nvSpPr>
        <p:spPr>
          <a:xfrm>
            <a:off x="1188720" y="292608"/>
            <a:ext cx="7498080" cy="256032"/>
          </a:xfrm>
          <a:prstGeom prst="rect">
            <a:avLst/>
          </a:prstGeom>
          <a:noFill/>
          <a:ln/>
        </p:spPr>
        <p:txBody>
          <a:bodyPr wrap="square" lIns="0" tIns="0" rIns="0" bIns="0" rtlCol="0" anchor="ctr"/>
          <a:lstStyle/>
          <a:p>
            <a:pPr indent="0" marL="0">
              <a:buNone/>
            </a:pPr>
            <a:r>
              <a:rPr lang="en-US" sz="1100" b="1" dirty="0">
                <a:solidFill>
                  <a:srgbClr val="0E7C86"/>
                </a:solidFill>
                <a:latin typeface="Calibri" pitchFamily="34" charset="0"/>
                <a:ea typeface="Calibri" pitchFamily="34" charset="-122"/>
                <a:cs typeface="Calibri" pitchFamily="34" charset="-120"/>
              </a:rPr>
              <a:t>TEMA 1 · AMENAZAS, VULNERABILIDADES Y RIESGO</a:t>
            </a:r>
            <a:endParaRPr lang="en-US" sz="1100" dirty="0"/>
          </a:p>
        </p:txBody>
      </p:sp>
      <p:sp>
        <p:nvSpPr>
          <p:cNvPr id="5" name="Text 3"/>
          <p:cNvSpPr txBox="1"/>
          <p:nvPr/>
        </p:nvSpPr>
        <p:spPr>
          <a:xfrm>
            <a:off x="1188720" y="530352"/>
            <a:ext cx="7498080" cy="502920"/>
          </a:xfrm>
          <a:prstGeom prst="rect">
            <a:avLst/>
          </a:prstGeom>
          <a:noFill/>
          <a:ln/>
        </p:spPr>
        <p:txBody>
          <a:bodyPr wrap="square" lIns="0" tIns="0" rIns="0" bIns="0" rtlCol="0" anchor="t">
            <a:normAutofit/>
          </a:bodyPr>
          <a:lstStyle/>
          <a:p>
            <a:pPr indent="0" marL="0">
              <a:buNone/>
            </a:pPr>
            <a:r>
              <a:rPr lang="en-US" sz="2500" b="1" dirty="0">
                <a:solidFill>
                  <a:srgbClr val="0B1D2E"/>
                </a:solidFill>
                <a:latin typeface="Calibri" pitchFamily="34" charset="0"/>
                <a:ea typeface="Calibri" pitchFamily="34" charset="-122"/>
                <a:cs typeface="Calibri" pitchFamily="34" charset="-120"/>
              </a:rPr>
              <a:t>¿Quién ataca? Los actores de amenazas</a:t>
            </a:r>
            <a:endParaRPr lang="en-US" sz="2500" dirty="0"/>
          </a:p>
        </p:txBody>
      </p:sp>
      <p:sp>
        <p:nvSpPr>
          <p:cNvPr id="6" name="Shape 4"/>
          <p:cNvSpPr/>
          <p:nvPr/>
        </p:nvSpPr>
        <p:spPr>
          <a:xfrm>
            <a:off x="457200" y="3941064"/>
            <a:ext cx="8229600" cy="722376"/>
          </a:xfrm>
          <a:prstGeom prst="roundRect">
            <a:avLst>
              <a:gd name="adj" fmla="val 7595"/>
            </a:avLst>
          </a:prstGeom>
          <a:solidFill>
            <a:srgbClr val="FFF6E5"/>
          </a:solidFill>
          <a:ln w="12700">
            <a:solidFill>
              <a:srgbClr val="FFF6E5"/>
            </a:solidFill>
            <a:prstDash val="solid"/>
          </a:ln>
        </p:spPr>
      </p:sp>
      <p:sp>
        <p:nvSpPr>
          <p:cNvPr id="7" name="Text 5"/>
          <p:cNvSpPr txBox="1"/>
          <p:nvPr/>
        </p:nvSpPr>
        <p:spPr>
          <a:xfrm>
            <a:off x="640080" y="3941064"/>
            <a:ext cx="7863840" cy="722376"/>
          </a:xfrm>
          <a:prstGeom prst="rect">
            <a:avLst/>
          </a:prstGeom>
          <a:noFill/>
          <a:ln/>
        </p:spPr>
        <p:txBody>
          <a:bodyPr wrap="square" lIns="0" tIns="0" rIns="0" bIns="0" rtlCol="0" anchor="ctr">
            <a:normAutofit/>
          </a:bodyPr>
          <a:lstStyle/>
          <a:p>
            <a:pPr indent="0" marL="0">
              <a:buNone/>
            </a:pPr>
            <a:r>
              <a:rPr lang="en-US" sz="1350" dirty="0">
                <a:solidFill>
                  <a:srgbClr val="1E293B"/>
                </a:solidFill>
                <a:latin typeface="Calibri" pitchFamily="34" charset="0"/>
                <a:ea typeface="Calibri" pitchFamily="34" charset="-122"/>
                <a:cs typeface="Calibri" pitchFamily="34" charset="-120"/>
              </a:rPr>
              <a:t>También existe la </a:t>
            </a:r>
            <a:pPr indent="0" marL="0">
              <a:buNone/>
            </a:pPr>
            <a:r>
              <a:rPr lang="en-US" sz="1350" b="1" dirty="0">
                <a:solidFill>
                  <a:srgbClr val="1E293B"/>
                </a:solidFill>
                <a:latin typeface="Calibri" pitchFamily="34" charset="0"/>
                <a:ea typeface="Calibri" pitchFamily="34" charset="-122"/>
                <a:cs typeface="Calibri" pitchFamily="34" charset="-120"/>
              </a:rPr>
              <a:t>amenaza interna</a:t>
            </a:r>
            <a:pPr indent="0" marL="0">
              <a:buNone/>
            </a:pPr>
            <a:r>
              <a:rPr lang="en-US" sz="1350" dirty="0">
                <a:solidFill>
                  <a:srgbClr val="1E293B"/>
                </a:solidFill>
                <a:latin typeface="Calibri" pitchFamily="34" charset="0"/>
                <a:ea typeface="Calibri" pitchFamily="34" charset="-122"/>
                <a:cs typeface="Calibri" pitchFamily="34" charset="-120"/>
              </a:rPr>
              <a:t>: un empleado o exempleado que, por descuido o con mala intención, daña a su propia organización.</a:t>
            </a:r>
            <a:endParaRPr lang="en-US" sz="1350" dirty="0"/>
          </a:p>
        </p:txBody>
      </p:sp>
      <p:sp>
        <p:nvSpPr>
          <p:cNvPr id="8" name="Shape 6"/>
          <p:cNvSpPr/>
          <p:nvPr/>
        </p:nvSpPr>
        <p:spPr>
          <a:xfrm>
            <a:off x="457200" y="1234440"/>
            <a:ext cx="2590800" cy="1170432"/>
          </a:xfrm>
          <a:prstGeom prst="roundRect">
            <a:avLst>
              <a:gd name="adj" fmla="val 6250"/>
            </a:avLst>
          </a:prstGeom>
          <a:solidFill>
            <a:srgbClr val="F1F7F8"/>
          </a:solidFill>
          <a:ln w="12700">
            <a:solidFill>
              <a:srgbClr val="F1F7F8"/>
            </a:solidFill>
            <a:prstDash val="solid"/>
          </a:ln>
        </p:spPr>
      </p:sp>
      <p:sp>
        <p:nvSpPr>
          <p:cNvPr id="9" name="Shape 7"/>
          <p:cNvSpPr/>
          <p:nvPr/>
        </p:nvSpPr>
        <p:spPr>
          <a:xfrm>
            <a:off x="621792" y="1399032"/>
            <a:ext cx="365760" cy="365760"/>
          </a:xfrm>
          <a:prstGeom prst="ellipse">
            <a:avLst/>
          </a:prstGeom>
          <a:solidFill>
            <a:srgbClr val="0E7C86"/>
          </a:solidFill>
          <a:ln w="12700">
            <a:solidFill>
              <a:srgbClr val="0E7C86"/>
            </a:solidFill>
            <a:prstDash val="solid"/>
          </a:ln>
        </p:spPr>
      </p:sp>
      <p:sp>
        <p:nvSpPr>
          <p:cNvPr id="10" name="Text 8"/>
          <p:cNvSpPr txBox="1"/>
          <p:nvPr/>
        </p:nvSpPr>
        <p:spPr>
          <a:xfrm>
            <a:off x="621792" y="139903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097280" y="1353312"/>
            <a:ext cx="1813560" cy="457200"/>
          </a:xfrm>
          <a:prstGeom prst="rect">
            <a:avLst/>
          </a:prstGeom>
          <a:noFill/>
          <a:ln/>
        </p:spPr>
        <p:txBody>
          <a:bodyPr wrap="square" lIns="0" tIns="0" rIns="0" bIns="0" rtlCol="0" anchor="ctr">
            <a:normAutofit/>
          </a:bodyPr>
          <a:lstStyle/>
          <a:p>
            <a:pPr indent="0" marL="0">
              <a:buNone/>
            </a:pPr>
            <a:r>
              <a:rPr lang="en-US" sz="1400" b="1" dirty="0">
                <a:solidFill>
                  <a:srgbClr val="0B1D2E"/>
                </a:solidFill>
                <a:latin typeface="Calibri" pitchFamily="34" charset="0"/>
                <a:ea typeface="Calibri" pitchFamily="34" charset="-122"/>
                <a:cs typeface="Calibri" pitchFamily="34" charset="-120"/>
              </a:rPr>
              <a:t>Hacker de sombrero blanco</a:t>
            </a:r>
            <a:endParaRPr lang="en-US" sz="1400" dirty="0"/>
          </a:p>
        </p:txBody>
      </p:sp>
      <p:sp>
        <p:nvSpPr>
          <p:cNvPr id="12" name="Text 10"/>
          <p:cNvSpPr txBox="1"/>
          <p:nvPr/>
        </p:nvSpPr>
        <p:spPr>
          <a:xfrm>
            <a:off x="621792" y="1892808"/>
            <a:ext cx="2261616" cy="393192"/>
          </a:xfrm>
          <a:prstGeom prst="rect">
            <a:avLst/>
          </a:prstGeom>
          <a:noFill/>
          <a:ln/>
        </p:spPr>
        <p:txBody>
          <a:bodyPr wrap="square" lIns="0" tIns="0" rIns="0" bIns="0" rtlCol="0" anchor="t">
            <a:normAutofit/>
          </a:bodyPr>
          <a:lstStyle/>
          <a:p>
            <a:pPr indent="0" marL="0">
              <a:buNone/>
            </a:pPr>
            <a:r>
              <a:rPr lang="en-US" sz="1400" dirty="0">
                <a:solidFill>
                  <a:srgbClr val="1E293B"/>
                </a:solidFill>
                <a:latin typeface="Calibri" pitchFamily="34" charset="0"/>
                <a:ea typeface="Calibri" pitchFamily="34" charset="-122"/>
                <a:cs typeface="Calibri" pitchFamily="34" charset="-120"/>
              </a:rPr>
              <a:t>Hacker ético: busca fallas con permiso para que se corrijan.</a:t>
            </a:r>
            <a:endParaRPr lang="en-US" sz="1400" dirty="0"/>
          </a:p>
        </p:txBody>
      </p:sp>
      <p:sp>
        <p:nvSpPr>
          <p:cNvPr id="13" name="Shape 11"/>
          <p:cNvSpPr/>
          <p:nvPr/>
        </p:nvSpPr>
        <p:spPr>
          <a:xfrm>
            <a:off x="3276600" y="1234440"/>
            <a:ext cx="2590800" cy="1170432"/>
          </a:xfrm>
          <a:prstGeom prst="roundRect">
            <a:avLst>
              <a:gd name="adj" fmla="val 6250"/>
            </a:avLst>
          </a:prstGeom>
          <a:solidFill>
            <a:srgbClr val="F1F7F8"/>
          </a:solidFill>
          <a:ln w="12700">
            <a:solidFill>
              <a:srgbClr val="F1F7F8"/>
            </a:solidFill>
            <a:prstDash val="solid"/>
          </a:ln>
        </p:spPr>
      </p:sp>
      <p:sp>
        <p:nvSpPr>
          <p:cNvPr id="14" name="Shape 12"/>
          <p:cNvSpPr/>
          <p:nvPr/>
        </p:nvSpPr>
        <p:spPr>
          <a:xfrm>
            <a:off x="3441192" y="1399032"/>
            <a:ext cx="365760" cy="365760"/>
          </a:xfrm>
          <a:prstGeom prst="ellipse">
            <a:avLst/>
          </a:prstGeom>
          <a:solidFill>
            <a:srgbClr val="0E7C86"/>
          </a:solidFill>
          <a:ln w="12700">
            <a:solidFill>
              <a:srgbClr val="0E7C86"/>
            </a:solidFill>
            <a:prstDash val="solid"/>
          </a:ln>
        </p:spPr>
      </p:sp>
      <p:sp>
        <p:nvSpPr>
          <p:cNvPr id="15" name="Text 13"/>
          <p:cNvSpPr txBox="1"/>
          <p:nvPr/>
        </p:nvSpPr>
        <p:spPr>
          <a:xfrm>
            <a:off x="3441192" y="139903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6" name="Text 14"/>
          <p:cNvSpPr txBox="1"/>
          <p:nvPr/>
        </p:nvSpPr>
        <p:spPr>
          <a:xfrm>
            <a:off x="3916680" y="1353312"/>
            <a:ext cx="1813560" cy="457200"/>
          </a:xfrm>
          <a:prstGeom prst="rect">
            <a:avLst/>
          </a:prstGeom>
          <a:noFill/>
          <a:ln/>
        </p:spPr>
        <p:txBody>
          <a:bodyPr wrap="square" lIns="0" tIns="0" rIns="0" bIns="0" rtlCol="0" anchor="ctr">
            <a:normAutofit/>
          </a:bodyPr>
          <a:lstStyle/>
          <a:p>
            <a:pPr indent="0" marL="0">
              <a:buNone/>
            </a:pPr>
            <a:r>
              <a:rPr lang="en-US" sz="1400" b="1" dirty="0">
                <a:solidFill>
                  <a:srgbClr val="0B1D2E"/>
                </a:solidFill>
                <a:latin typeface="Calibri" pitchFamily="34" charset="0"/>
                <a:ea typeface="Calibri" pitchFamily="34" charset="-122"/>
                <a:cs typeface="Calibri" pitchFamily="34" charset="-120"/>
              </a:rPr>
              <a:t>Sombrero gris</a:t>
            </a:r>
            <a:endParaRPr lang="en-US" sz="1400" dirty="0"/>
          </a:p>
        </p:txBody>
      </p:sp>
      <p:sp>
        <p:nvSpPr>
          <p:cNvPr id="17" name="Text 15"/>
          <p:cNvSpPr txBox="1"/>
          <p:nvPr/>
        </p:nvSpPr>
        <p:spPr>
          <a:xfrm>
            <a:off x="3441192" y="1892808"/>
            <a:ext cx="2261616" cy="393192"/>
          </a:xfrm>
          <a:prstGeom prst="rect">
            <a:avLst/>
          </a:prstGeom>
          <a:noFill/>
          <a:ln/>
        </p:spPr>
        <p:txBody>
          <a:bodyPr wrap="square" lIns="0" tIns="0" rIns="0" bIns="0" rtlCol="0" anchor="t">
            <a:normAutofit/>
          </a:bodyPr>
          <a:lstStyle/>
          <a:p>
            <a:pPr indent="0" marL="0">
              <a:buNone/>
            </a:pPr>
            <a:r>
              <a:rPr lang="en-US" sz="1400" dirty="0">
                <a:solidFill>
                  <a:srgbClr val="1E293B"/>
                </a:solidFill>
                <a:latin typeface="Calibri" pitchFamily="34" charset="0"/>
                <a:ea typeface="Calibri" pitchFamily="34" charset="-122"/>
                <a:cs typeface="Calibri" pitchFamily="34" charset="-120"/>
              </a:rPr>
              <a:t>Entra sin permiso, aunque luego avise de la falla. Sigue siendo ilegal.</a:t>
            </a:r>
            <a:endParaRPr lang="en-US" sz="1400" dirty="0"/>
          </a:p>
        </p:txBody>
      </p:sp>
      <p:sp>
        <p:nvSpPr>
          <p:cNvPr id="18" name="Shape 16"/>
          <p:cNvSpPr/>
          <p:nvPr/>
        </p:nvSpPr>
        <p:spPr>
          <a:xfrm>
            <a:off x="6096000" y="1234440"/>
            <a:ext cx="2590800" cy="1170432"/>
          </a:xfrm>
          <a:prstGeom prst="roundRect">
            <a:avLst>
              <a:gd name="adj" fmla="val 6250"/>
            </a:avLst>
          </a:prstGeom>
          <a:solidFill>
            <a:srgbClr val="F1F7F8"/>
          </a:solidFill>
          <a:ln w="12700">
            <a:solidFill>
              <a:srgbClr val="F1F7F8"/>
            </a:solidFill>
            <a:prstDash val="solid"/>
          </a:ln>
        </p:spPr>
      </p:sp>
      <p:sp>
        <p:nvSpPr>
          <p:cNvPr id="19" name="Shape 17"/>
          <p:cNvSpPr/>
          <p:nvPr/>
        </p:nvSpPr>
        <p:spPr>
          <a:xfrm>
            <a:off x="6260592" y="1399032"/>
            <a:ext cx="365760" cy="365760"/>
          </a:xfrm>
          <a:prstGeom prst="ellipse">
            <a:avLst/>
          </a:prstGeom>
          <a:solidFill>
            <a:srgbClr val="0E7C86"/>
          </a:solidFill>
          <a:ln w="12700">
            <a:solidFill>
              <a:srgbClr val="0E7C86"/>
            </a:solidFill>
            <a:prstDash val="solid"/>
          </a:ln>
        </p:spPr>
      </p:sp>
      <p:sp>
        <p:nvSpPr>
          <p:cNvPr id="20" name="Text 18"/>
          <p:cNvSpPr txBox="1"/>
          <p:nvPr/>
        </p:nvSpPr>
        <p:spPr>
          <a:xfrm>
            <a:off x="6260592" y="139903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1" name="Text 19"/>
          <p:cNvSpPr txBox="1"/>
          <p:nvPr/>
        </p:nvSpPr>
        <p:spPr>
          <a:xfrm>
            <a:off x="6736080" y="1353312"/>
            <a:ext cx="1813560" cy="457200"/>
          </a:xfrm>
          <a:prstGeom prst="rect">
            <a:avLst/>
          </a:prstGeom>
          <a:noFill/>
          <a:ln/>
        </p:spPr>
        <p:txBody>
          <a:bodyPr wrap="square" lIns="0" tIns="0" rIns="0" bIns="0" rtlCol="0" anchor="ctr">
            <a:normAutofit/>
          </a:bodyPr>
          <a:lstStyle/>
          <a:p>
            <a:pPr indent="0" marL="0">
              <a:buNone/>
            </a:pPr>
            <a:r>
              <a:rPr lang="en-US" sz="1400" b="1" dirty="0">
                <a:solidFill>
                  <a:srgbClr val="0B1D2E"/>
                </a:solidFill>
                <a:latin typeface="Calibri" pitchFamily="34" charset="0"/>
                <a:ea typeface="Calibri" pitchFamily="34" charset="-122"/>
                <a:cs typeface="Calibri" pitchFamily="34" charset="-120"/>
              </a:rPr>
              <a:t>Sombrero negro</a:t>
            </a:r>
            <a:endParaRPr lang="en-US" sz="1400" dirty="0"/>
          </a:p>
        </p:txBody>
      </p:sp>
      <p:sp>
        <p:nvSpPr>
          <p:cNvPr id="22" name="Text 20"/>
          <p:cNvSpPr txBox="1"/>
          <p:nvPr/>
        </p:nvSpPr>
        <p:spPr>
          <a:xfrm>
            <a:off x="6260592" y="1892808"/>
            <a:ext cx="2261616" cy="393192"/>
          </a:xfrm>
          <a:prstGeom prst="rect">
            <a:avLst/>
          </a:prstGeom>
          <a:noFill/>
          <a:ln/>
        </p:spPr>
        <p:txBody>
          <a:bodyPr wrap="square" lIns="0" tIns="0" rIns="0" bIns="0" rtlCol="0" anchor="t">
            <a:normAutofit/>
          </a:bodyPr>
          <a:lstStyle/>
          <a:p>
            <a:pPr indent="0" marL="0">
              <a:buNone/>
            </a:pPr>
            <a:r>
              <a:rPr lang="en-US" sz="1400" dirty="0">
                <a:solidFill>
                  <a:srgbClr val="1E293B"/>
                </a:solidFill>
                <a:latin typeface="Calibri" pitchFamily="34" charset="0"/>
                <a:ea typeface="Calibri" pitchFamily="34" charset="-122"/>
                <a:cs typeface="Calibri" pitchFamily="34" charset="-120"/>
              </a:rPr>
              <a:t>Ataca para robar, extorsionar o dañar.</a:t>
            </a:r>
            <a:endParaRPr lang="en-US" sz="1400" dirty="0"/>
          </a:p>
        </p:txBody>
      </p:sp>
      <p:sp>
        <p:nvSpPr>
          <p:cNvPr id="23" name="Shape 21"/>
          <p:cNvSpPr/>
          <p:nvPr/>
        </p:nvSpPr>
        <p:spPr>
          <a:xfrm>
            <a:off x="457200" y="2633472"/>
            <a:ext cx="2590800" cy="1170432"/>
          </a:xfrm>
          <a:prstGeom prst="roundRect">
            <a:avLst>
              <a:gd name="adj" fmla="val 6250"/>
            </a:avLst>
          </a:prstGeom>
          <a:solidFill>
            <a:srgbClr val="F1F7F8"/>
          </a:solidFill>
          <a:ln w="12700">
            <a:solidFill>
              <a:srgbClr val="F1F7F8"/>
            </a:solidFill>
            <a:prstDash val="solid"/>
          </a:ln>
        </p:spPr>
      </p:sp>
      <p:sp>
        <p:nvSpPr>
          <p:cNvPr id="24" name="Shape 22"/>
          <p:cNvSpPr/>
          <p:nvPr/>
        </p:nvSpPr>
        <p:spPr>
          <a:xfrm>
            <a:off x="621792" y="2798064"/>
            <a:ext cx="365760" cy="365760"/>
          </a:xfrm>
          <a:prstGeom prst="ellipse">
            <a:avLst/>
          </a:prstGeom>
          <a:solidFill>
            <a:srgbClr val="0E7C86"/>
          </a:solidFill>
          <a:ln w="12700">
            <a:solidFill>
              <a:srgbClr val="0E7C86"/>
            </a:solidFill>
            <a:prstDash val="solid"/>
          </a:ln>
        </p:spPr>
      </p:sp>
      <p:sp>
        <p:nvSpPr>
          <p:cNvPr id="25" name="Text 23"/>
          <p:cNvSpPr txBox="1"/>
          <p:nvPr/>
        </p:nvSpPr>
        <p:spPr>
          <a:xfrm>
            <a:off x="621792" y="279806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6" name="Text 24"/>
          <p:cNvSpPr txBox="1"/>
          <p:nvPr/>
        </p:nvSpPr>
        <p:spPr>
          <a:xfrm>
            <a:off x="1097280" y="2752344"/>
            <a:ext cx="1813560" cy="457200"/>
          </a:xfrm>
          <a:prstGeom prst="rect">
            <a:avLst/>
          </a:prstGeom>
          <a:noFill/>
          <a:ln/>
        </p:spPr>
        <p:txBody>
          <a:bodyPr wrap="square" lIns="0" tIns="0" rIns="0" bIns="0" rtlCol="0" anchor="ctr">
            <a:normAutofit/>
          </a:bodyPr>
          <a:lstStyle/>
          <a:p>
            <a:pPr indent="0" marL="0">
              <a:buNone/>
            </a:pPr>
            <a:r>
              <a:rPr lang="en-US" sz="1400" b="1" dirty="0">
                <a:solidFill>
                  <a:srgbClr val="0B1D2E"/>
                </a:solidFill>
                <a:latin typeface="Calibri" pitchFamily="34" charset="0"/>
                <a:ea typeface="Calibri" pitchFamily="34" charset="-122"/>
                <a:cs typeface="Calibri" pitchFamily="34" charset="-120"/>
              </a:rPr>
              <a:t>Script kiddie</a:t>
            </a:r>
            <a:endParaRPr lang="en-US" sz="1400" dirty="0"/>
          </a:p>
        </p:txBody>
      </p:sp>
      <p:sp>
        <p:nvSpPr>
          <p:cNvPr id="27" name="Text 25"/>
          <p:cNvSpPr txBox="1"/>
          <p:nvPr/>
        </p:nvSpPr>
        <p:spPr>
          <a:xfrm>
            <a:off x="621792" y="3291840"/>
            <a:ext cx="2261616" cy="393192"/>
          </a:xfrm>
          <a:prstGeom prst="rect">
            <a:avLst/>
          </a:prstGeom>
          <a:noFill/>
          <a:ln/>
        </p:spPr>
        <p:txBody>
          <a:bodyPr wrap="square" lIns="0" tIns="0" rIns="0" bIns="0" rtlCol="0" anchor="t">
            <a:normAutofit/>
          </a:bodyPr>
          <a:lstStyle/>
          <a:p>
            <a:pPr indent="0" marL="0">
              <a:buNone/>
            </a:pPr>
            <a:r>
              <a:rPr lang="en-US" sz="1400" dirty="0">
                <a:solidFill>
                  <a:srgbClr val="1E293B"/>
                </a:solidFill>
                <a:latin typeface="Calibri" pitchFamily="34" charset="0"/>
                <a:ea typeface="Calibri" pitchFamily="34" charset="-122"/>
                <a:cs typeface="Calibri" pitchFamily="34" charset="-120"/>
              </a:rPr>
              <a:t>Usa herramientas hechas por otros, sin entender cómo funcionan.</a:t>
            </a:r>
            <a:endParaRPr lang="en-US" sz="1400" dirty="0"/>
          </a:p>
        </p:txBody>
      </p:sp>
      <p:sp>
        <p:nvSpPr>
          <p:cNvPr id="28" name="Shape 26"/>
          <p:cNvSpPr/>
          <p:nvPr/>
        </p:nvSpPr>
        <p:spPr>
          <a:xfrm>
            <a:off x="3276600" y="2633472"/>
            <a:ext cx="2590800" cy="1170432"/>
          </a:xfrm>
          <a:prstGeom prst="roundRect">
            <a:avLst>
              <a:gd name="adj" fmla="val 6250"/>
            </a:avLst>
          </a:prstGeom>
          <a:solidFill>
            <a:srgbClr val="F1F7F8"/>
          </a:solidFill>
          <a:ln w="12700">
            <a:solidFill>
              <a:srgbClr val="F1F7F8"/>
            </a:solidFill>
            <a:prstDash val="solid"/>
          </a:ln>
        </p:spPr>
      </p:sp>
      <p:sp>
        <p:nvSpPr>
          <p:cNvPr id="29" name="Shape 27"/>
          <p:cNvSpPr/>
          <p:nvPr/>
        </p:nvSpPr>
        <p:spPr>
          <a:xfrm>
            <a:off x="3441192" y="2798064"/>
            <a:ext cx="365760" cy="365760"/>
          </a:xfrm>
          <a:prstGeom prst="ellipse">
            <a:avLst/>
          </a:prstGeom>
          <a:solidFill>
            <a:srgbClr val="0E7C86"/>
          </a:solidFill>
          <a:ln w="12700">
            <a:solidFill>
              <a:srgbClr val="0E7C86"/>
            </a:solidFill>
            <a:prstDash val="solid"/>
          </a:ln>
        </p:spPr>
      </p:sp>
      <p:sp>
        <p:nvSpPr>
          <p:cNvPr id="30" name="Text 28"/>
          <p:cNvSpPr txBox="1"/>
          <p:nvPr/>
        </p:nvSpPr>
        <p:spPr>
          <a:xfrm>
            <a:off x="3441192" y="279806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31" name="Text 29"/>
          <p:cNvSpPr txBox="1"/>
          <p:nvPr/>
        </p:nvSpPr>
        <p:spPr>
          <a:xfrm>
            <a:off x="3916680" y="2752344"/>
            <a:ext cx="1813560" cy="457200"/>
          </a:xfrm>
          <a:prstGeom prst="rect">
            <a:avLst/>
          </a:prstGeom>
          <a:noFill/>
          <a:ln/>
        </p:spPr>
        <p:txBody>
          <a:bodyPr wrap="square" lIns="0" tIns="0" rIns="0" bIns="0" rtlCol="0" anchor="ctr">
            <a:normAutofit/>
          </a:bodyPr>
          <a:lstStyle/>
          <a:p>
            <a:pPr indent="0" marL="0">
              <a:buNone/>
            </a:pPr>
            <a:r>
              <a:rPr lang="en-US" sz="1400" b="1" dirty="0">
                <a:solidFill>
                  <a:srgbClr val="0B1D2E"/>
                </a:solidFill>
                <a:latin typeface="Calibri" pitchFamily="34" charset="0"/>
                <a:ea typeface="Calibri" pitchFamily="34" charset="-122"/>
                <a:cs typeface="Calibri" pitchFamily="34" charset="-120"/>
              </a:rPr>
              <a:t>Hacktivista</a:t>
            </a:r>
            <a:endParaRPr lang="en-US" sz="1400" dirty="0"/>
          </a:p>
        </p:txBody>
      </p:sp>
      <p:sp>
        <p:nvSpPr>
          <p:cNvPr id="32" name="Text 30"/>
          <p:cNvSpPr txBox="1"/>
          <p:nvPr/>
        </p:nvSpPr>
        <p:spPr>
          <a:xfrm>
            <a:off x="3441192" y="3291840"/>
            <a:ext cx="2261616" cy="393192"/>
          </a:xfrm>
          <a:prstGeom prst="rect">
            <a:avLst/>
          </a:prstGeom>
          <a:noFill/>
          <a:ln/>
        </p:spPr>
        <p:txBody>
          <a:bodyPr wrap="square" lIns="0" tIns="0" rIns="0" bIns="0" rtlCol="0" anchor="t">
            <a:normAutofit/>
          </a:bodyPr>
          <a:lstStyle/>
          <a:p>
            <a:pPr indent="0" marL="0">
              <a:buNone/>
            </a:pPr>
            <a:r>
              <a:rPr lang="en-US" sz="1400" dirty="0">
                <a:solidFill>
                  <a:srgbClr val="1E293B"/>
                </a:solidFill>
                <a:latin typeface="Calibri" pitchFamily="34" charset="0"/>
                <a:ea typeface="Calibri" pitchFamily="34" charset="-122"/>
                <a:cs typeface="Calibri" pitchFamily="34" charset="-120"/>
              </a:rPr>
              <a:t>Ataca para protestar por una causa política o social.</a:t>
            </a:r>
            <a:endParaRPr lang="en-US" sz="1400" dirty="0"/>
          </a:p>
        </p:txBody>
      </p:sp>
      <p:sp>
        <p:nvSpPr>
          <p:cNvPr id="33" name="Shape 31"/>
          <p:cNvSpPr/>
          <p:nvPr/>
        </p:nvSpPr>
        <p:spPr>
          <a:xfrm>
            <a:off x="6096000" y="2633472"/>
            <a:ext cx="2590800" cy="1170432"/>
          </a:xfrm>
          <a:prstGeom prst="roundRect">
            <a:avLst>
              <a:gd name="adj" fmla="val 6250"/>
            </a:avLst>
          </a:prstGeom>
          <a:solidFill>
            <a:srgbClr val="F1F7F8"/>
          </a:solidFill>
          <a:ln w="12700">
            <a:solidFill>
              <a:srgbClr val="F1F7F8"/>
            </a:solidFill>
            <a:prstDash val="solid"/>
          </a:ln>
        </p:spPr>
      </p:sp>
      <p:sp>
        <p:nvSpPr>
          <p:cNvPr id="34" name="Shape 32"/>
          <p:cNvSpPr/>
          <p:nvPr/>
        </p:nvSpPr>
        <p:spPr>
          <a:xfrm>
            <a:off x="6260592" y="2798064"/>
            <a:ext cx="365760" cy="365760"/>
          </a:xfrm>
          <a:prstGeom prst="ellipse">
            <a:avLst/>
          </a:prstGeom>
          <a:solidFill>
            <a:srgbClr val="0E7C86"/>
          </a:solidFill>
          <a:ln w="12700">
            <a:solidFill>
              <a:srgbClr val="0E7C86"/>
            </a:solidFill>
            <a:prstDash val="solid"/>
          </a:ln>
        </p:spPr>
      </p:sp>
      <p:sp>
        <p:nvSpPr>
          <p:cNvPr id="35" name="Text 33"/>
          <p:cNvSpPr txBox="1"/>
          <p:nvPr/>
        </p:nvSpPr>
        <p:spPr>
          <a:xfrm>
            <a:off x="6260592" y="279806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6" name="Text 34"/>
          <p:cNvSpPr txBox="1"/>
          <p:nvPr/>
        </p:nvSpPr>
        <p:spPr>
          <a:xfrm>
            <a:off x="6736080" y="2752344"/>
            <a:ext cx="1813560" cy="457200"/>
          </a:xfrm>
          <a:prstGeom prst="rect">
            <a:avLst/>
          </a:prstGeom>
          <a:noFill/>
          <a:ln/>
        </p:spPr>
        <p:txBody>
          <a:bodyPr wrap="square" lIns="0" tIns="0" rIns="0" bIns="0" rtlCol="0" anchor="ctr">
            <a:normAutofit/>
          </a:bodyPr>
          <a:lstStyle/>
          <a:p>
            <a:pPr indent="0" marL="0">
              <a:buNone/>
            </a:pPr>
            <a:r>
              <a:rPr lang="en-US" sz="1400" b="1" dirty="0">
                <a:solidFill>
                  <a:srgbClr val="0B1D2E"/>
                </a:solidFill>
                <a:latin typeface="Calibri" pitchFamily="34" charset="0"/>
                <a:ea typeface="Calibri" pitchFamily="34" charset="-122"/>
                <a:cs typeface="Calibri" pitchFamily="34" charset="-120"/>
              </a:rPr>
              <a:t>Patrocinado por un Estado</a:t>
            </a:r>
            <a:endParaRPr lang="en-US" sz="1400" dirty="0"/>
          </a:p>
        </p:txBody>
      </p:sp>
      <p:sp>
        <p:nvSpPr>
          <p:cNvPr id="37" name="Text 35"/>
          <p:cNvSpPr txBox="1"/>
          <p:nvPr/>
        </p:nvSpPr>
        <p:spPr>
          <a:xfrm>
            <a:off x="6260592" y="3291840"/>
            <a:ext cx="2261616" cy="393192"/>
          </a:xfrm>
          <a:prstGeom prst="rect">
            <a:avLst/>
          </a:prstGeom>
          <a:noFill/>
          <a:ln/>
        </p:spPr>
        <p:txBody>
          <a:bodyPr wrap="square" lIns="0" tIns="0" rIns="0" bIns="0" rtlCol="0" anchor="t">
            <a:normAutofit/>
          </a:bodyPr>
          <a:lstStyle/>
          <a:p>
            <a:pPr indent="0" marL="0">
              <a:buNone/>
            </a:pPr>
            <a:r>
              <a:rPr lang="en-US" sz="1400" dirty="0">
                <a:solidFill>
                  <a:srgbClr val="1E293B"/>
                </a:solidFill>
                <a:latin typeface="Calibri" pitchFamily="34" charset="0"/>
                <a:ea typeface="Calibri" pitchFamily="34" charset="-122"/>
                <a:cs typeface="Calibri" pitchFamily="34" charset="-120"/>
              </a:rPr>
              <a:t>Grupos muy organizados que espían o sabotean a otros países.</a:t>
            </a:r>
            <a:endParaRPr lang="en-US" sz="1400" dirty="0"/>
          </a:p>
        </p:txBody>
      </p:sp>
      <p:sp>
        <p:nvSpPr>
          <p:cNvPr id="38" name="Text 36"/>
          <p:cNvSpPr txBox="1"/>
          <p:nvPr/>
        </p:nvSpPr>
        <p:spPr>
          <a:xfrm>
            <a:off x="45720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Fundamentos de ciberseguridad · RA1</a:t>
            </a:r>
            <a:endParaRPr lang="en-US" sz="900" dirty="0"/>
          </a:p>
        </p:txBody>
      </p:sp>
      <p:sp>
        <p:nvSpPr>
          <p:cNvPr id="39" name="Text 37"/>
          <p:cNvSpPr txBox="1"/>
          <p:nvPr/>
        </p:nvSpPr>
        <p:spPr>
          <a:xfrm>
            <a:off x="8229600" y="4800600"/>
            <a:ext cx="457200" cy="22860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47472"/>
            <a:ext cx="566928" cy="566928"/>
          </a:xfrm>
          <a:prstGeom prst="ellipse">
            <a:avLst/>
          </a:prstGeom>
          <a:solidFill>
            <a:srgbClr val="0E7C86"/>
          </a:solidFill>
          <a:ln w="12700">
            <a:solidFill>
              <a:srgbClr val="0E7C86"/>
            </a:solidFill>
            <a:prstDash val="solid"/>
          </a:ln>
        </p:spPr>
      </p:sp>
      <p:sp>
        <p:nvSpPr>
          <p:cNvPr id="3" name="Text 1"/>
          <p:cNvSpPr txBox="1"/>
          <p:nvPr/>
        </p:nvSpPr>
        <p:spPr>
          <a:xfrm>
            <a:off x="457200" y="34747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4" name="Text 2"/>
          <p:cNvSpPr txBox="1"/>
          <p:nvPr/>
        </p:nvSpPr>
        <p:spPr>
          <a:xfrm>
            <a:off x="1188720" y="292608"/>
            <a:ext cx="7498080" cy="256032"/>
          </a:xfrm>
          <a:prstGeom prst="rect">
            <a:avLst/>
          </a:prstGeom>
          <a:noFill/>
          <a:ln/>
        </p:spPr>
        <p:txBody>
          <a:bodyPr wrap="square" lIns="0" tIns="0" rIns="0" bIns="0" rtlCol="0" anchor="ctr"/>
          <a:lstStyle/>
          <a:p>
            <a:pPr indent="0" marL="0">
              <a:buNone/>
            </a:pPr>
            <a:r>
              <a:rPr lang="en-US" sz="1100" b="1" dirty="0">
                <a:solidFill>
                  <a:srgbClr val="0E7C86"/>
                </a:solidFill>
                <a:latin typeface="Calibri" pitchFamily="34" charset="0"/>
                <a:ea typeface="Calibri" pitchFamily="34" charset="-122"/>
                <a:cs typeface="Calibri" pitchFamily="34" charset="-120"/>
              </a:rPr>
              <a:t>TEMA 2</a:t>
            </a:r>
            <a:endParaRPr lang="en-US" sz="1100" dirty="0"/>
          </a:p>
        </p:txBody>
      </p:sp>
      <p:sp>
        <p:nvSpPr>
          <p:cNvPr id="5" name="Text 3"/>
          <p:cNvSpPr txBox="1"/>
          <p:nvPr/>
        </p:nvSpPr>
        <p:spPr>
          <a:xfrm>
            <a:off x="1188720" y="530352"/>
            <a:ext cx="7498080" cy="502920"/>
          </a:xfrm>
          <a:prstGeom prst="rect">
            <a:avLst/>
          </a:prstGeom>
          <a:noFill/>
          <a:ln/>
        </p:spPr>
        <p:txBody>
          <a:bodyPr wrap="square" lIns="0" tIns="0" rIns="0" bIns="0" rtlCol="0" anchor="t">
            <a:normAutofit/>
          </a:bodyPr>
          <a:lstStyle/>
          <a:p>
            <a:pPr indent="0" marL="0">
              <a:buNone/>
            </a:pPr>
            <a:r>
              <a:rPr lang="en-US" sz="2800" b="1" dirty="0">
                <a:solidFill>
                  <a:srgbClr val="0B1D2E"/>
                </a:solidFill>
                <a:latin typeface="Calibri" pitchFamily="34" charset="0"/>
                <a:ea typeface="Calibri" pitchFamily="34" charset="-122"/>
                <a:cs typeface="Calibri" pitchFamily="34" charset="-120"/>
              </a:rPr>
              <a:t>Amenazas comunes: el malware</a:t>
            </a:r>
            <a:endParaRPr lang="en-US" sz="2800" dirty="0"/>
          </a:p>
        </p:txBody>
      </p:sp>
      <p:sp>
        <p:nvSpPr>
          <p:cNvPr id="6" name="Text 4"/>
          <p:cNvSpPr txBox="1"/>
          <p:nvPr/>
        </p:nvSpPr>
        <p:spPr>
          <a:xfrm>
            <a:off x="457200" y="1234440"/>
            <a:ext cx="8229600" cy="603504"/>
          </a:xfrm>
          <a:prstGeom prst="rect">
            <a:avLst/>
          </a:prstGeom>
          <a:noFill/>
          <a:ln/>
        </p:spPr>
        <p:txBody>
          <a:bodyPr wrap="square" lIns="0" tIns="0" rIns="0" bIns="0" rtlCol="0" anchor="t">
            <a:normAutofit/>
          </a:bodyPr>
          <a:lstStyle/>
          <a:p>
            <a:pPr indent="0" marL="0">
              <a:buNone/>
            </a:pPr>
            <a:r>
              <a:rPr lang="en-US" sz="1400" b="1" dirty="0">
                <a:solidFill>
                  <a:srgbClr val="1E293B"/>
                </a:solidFill>
                <a:latin typeface="Calibri" pitchFamily="34" charset="0"/>
                <a:ea typeface="Calibri" pitchFamily="34" charset="-122"/>
                <a:cs typeface="Calibri" pitchFamily="34" charset="-120"/>
              </a:rPr>
              <a:t>Malware</a:t>
            </a:r>
            <a:pPr indent="0" marL="0">
              <a:buNone/>
            </a:pPr>
            <a:r>
              <a:rPr lang="en-US" sz="1400" dirty="0">
                <a:solidFill>
                  <a:srgbClr val="1E293B"/>
                </a:solidFill>
                <a:latin typeface="Calibri" pitchFamily="34" charset="0"/>
                <a:ea typeface="Calibri" pitchFamily="34" charset="-122"/>
                <a:cs typeface="Calibri" pitchFamily="34" charset="-120"/>
              </a:rPr>
              <a:t> (software malicioso) es cualquier programa diseñado para dañar, espiar o tomar el control de un equipo.</a:t>
            </a:r>
            <a:endParaRPr lang="en-US" sz="1400" dirty="0"/>
          </a:p>
        </p:txBody>
      </p:sp>
      <p:sp>
        <p:nvSpPr>
          <p:cNvPr id="7" name="Shape 5"/>
          <p:cNvSpPr/>
          <p:nvPr/>
        </p:nvSpPr>
        <p:spPr>
          <a:xfrm>
            <a:off x="457200" y="3941064"/>
            <a:ext cx="8229600" cy="722376"/>
          </a:xfrm>
          <a:prstGeom prst="roundRect">
            <a:avLst>
              <a:gd name="adj" fmla="val 7595"/>
            </a:avLst>
          </a:prstGeom>
          <a:solidFill>
            <a:srgbClr val="FFF6E5"/>
          </a:solidFill>
          <a:ln w="12700">
            <a:solidFill>
              <a:srgbClr val="FFF6E5"/>
            </a:solidFill>
            <a:prstDash val="solid"/>
          </a:ln>
        </p:spPr>
      </p:sp>
      <p:sp>
        <p:nvSpPr>
          <p:cNvPr id="8" name="Text 6"/>
          <p:cNvSpPr txBox="1"/>
          <p:nvPr/>
        </p:nvSpPr>
        <p:spPr>
          <a:xfrm>
            <a:off x="640080" y="3941064"/>
            <a:ext cx="7863840" cy="722376"/>
          </a:xfrm>
          <a:prstGeom prst="rect">
            <a:avLst/>
          </a:prstGeom>
          <a:noFill/>
          <a:ln/>
        </p:spPr>
        <p:txBody>
          <a:bodyPr wrap="square" lIns="0" tIns="0" rIns="0" bIns="0" rtlCol="0" anchor="ctr">
            <a:normAutofit/>
          </a:bodyPr>
          <a:lstStyle/>
          <a:p>
            <a:pPr indent="0" marL="0">
              <a:buNone/>
            </a:pPr>
            <a:r>
              <a:rPr lang="en-US" sz="1350" b="1" dirty="0">
                <a:solidFill>
                  <a:srgbClr val="1E293B"/>
                </a:solidFill>
                <a:latin typeface="Calibri" pitchFamily="34" charset="0"/>
                <a:ea typeface="Calibri" pitchFamily="34" charset="-122"/>
                <a:cs typeface="Calibri" pitchFamily="34" charset="-120"/>
              </a:rPr>
              <a:t>Ejemplo: </a:t>
            </a:r>
            <a:pPr indent="0" marL="0">
              <a:buNone/>
            </a:pPr>
            <a:r>
              <a:rPr lang="en-US" sz="1350" dirty="0">
                <a:solidFill>
                  <a:srgbClr val="1E293B"/>
                </a:solidFill>
                <a:latin typeface="Calibri" pitchFamily="34" charset="0"/>
                <a:ea typeface="Calibri" pitchFamily="34" charset="-122"/>
                <a:cs typeface="Calibri" pitchFamily="34" charset="-120"/>
              </a:rPr>
              <a:t>En 2022, varias instituciones públicas de Costa Rica sufrieron ataques de ransomware que dejaron servicios fuera de línea durante semanas.</a:t>
            </a:r>
            <a:endParaRPr lang="en-US" sz="13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947672"/>
          <a:ext cx="8229600" cy="914400"/>
        </p:xfrm>
        <a:graphic>
          <a:graphicData uri="http://schemas.openxmlformats.org/drawingml/2006/table">
            <a:tbl>
              <a:tblPr/>
              <a:tblGrid>
                <a:gridCol w="2201244"/>
                <a:gridCol w="6028356"/>
              </a:tblGrid>
              <a:tr h="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Tipo</a:t>
                      </a:r>
                      <a:endParaRPr lang="en-US" sz="10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E7C86"/>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Cómo funciona</a:t>
                      </a:r>
                      <a:endParaRPr lang="en-US" sz="10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E7C86"/>
                    </a:solidFill>
                  </a:tcPr>
                </a:tc>
              </a:tr>
              <a:tr h="0">
                <a:tc>
                  <a:txBody>
                    <a:bodyPr/>
                    <a:lstStyle/>
                    <a:p>
                      <a:pPr indent="0" marL="0">
                        <a:buNone/>
                      </a:pPr>
                      <a:r>
                        <a:rPr lang="en-US" sz="1000" b="1" dirty="0">
                          <a:solidFill>
                            <a:srgbClr val="1E293B"/>
                          </a:solidFill>
                          <a:latin typeface="Calibri" pitchFamily="34" charset="0"/>
                          <a:ea typeface="Calibri" pitchFamily="34" charset="-122"/>
                          <a:cs typeface="Calibri" pitchFamily="34" charset="-120"/>
                        </a:rPr>
                        <a:t>Virus</a:t>
                      </a:r>
                      <a:endParaRPr lang="en-US" sz="10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7F8"/>
                    </a:solidFill>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Se adjunta a un archivo o programa y necesita que una persona lo ejecute para propagarse.</a:t>
                      </a:r>
                      <a:endParaRPr lang="en-US" sz="10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7F8"/>
                    </a:solidFill>
                  </a:tcPr>
                </a:tc>
              </a:tr>
              <a:tr h="0">
                <a:tc>
                  <a:txBody>
                    <a:bodyPr/>
                    <a:lstStyle/>
                    <a:p>
                      <a:pPr indent="0" marL="0">
                        <a:buNone/>
                      </a:pPr>
                      <a:r>
                        <a:rPr lang="en-US" sz="1000" b="1" dirty="0">
                          <a:solidFill>
                            <a:srgbClr val="1E293B"/>
                          </a:solidFill>
                          <a:latin typeface="Calibri" pitchFamily="34" charset="0"/>
                          <a:ea typeface="Calibri" pitchFamily="34" charset="-122"/>
                          <a:cs typeface="Calibri" pitchFamily="34" charset="-120"/>
                        </a:rPr>
                        <a:t>Gusano</a:t>
                      </a:r>
                      <a:endParaRPr lang="en-US" sz="10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Se replica solo a través de la red, sin intervención humana.</a:t>
                      </a:r>
                      <a:endParaRPr lang="en-US" sz="10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1E293B"/>
                          </a:solidFill>
                          <a:latin typeface="Calibri" pitchFamily="34" charset="0"/>
                          <a:ea typeface="Calibri" pitchFamily="34" charset="-122"/>
                          <a:cs typeface="Calibri" pitchFamily="34" charset="-120"/>
                        </a:rPr>
                        <a:t>Troyano</a:t>
                      </a:r>
                      <a:endParaRPr lang="en-US" sz="10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7F8"/>
                    </a:solidFill>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Se disfraza de programa útil (un juego, un «crack») y por dentro trae código malicioso.</a:t>
                      </a:r>
                      <a:endParaRPr lang="en-US" sz="10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7F8"/>
                    </a:solidFill>
                  </a:tcPr>
                </a:tc>
              </a:tr>
              <a:tr h="0">
                <a:tc>
                  <a:txBody>
                    <a:bodyPr/>
                    <a:lstStyle/>
                    <a:p>
                      <a:pPr indent="0" marL="0">
                        <a:buNone/>
                      </a:pPr>
                      <a:r>
                        <a:rPr lang="en-US" sz="1000" b="1" dirty="0">
                          <a:solidFill>
                            <a:srgbClr val="1E293B"/>
                          </a:solidFill>
                          <a:latin typeface="Calibri" pitchFamily="34" charset="0"/>
                          <a:ea typeface="Calibri" pitchFamily="34" charset="-122"/>
                          <a:cs typeface="Calibri" pitchFamily="34" charset="-120"/>
                        </a:rPr>
                        <a:t>Ransomware</a:t>
                      </a:r>
                      <a:endParaRPr lang="en-US" sz="10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Cifra los archivos de la víctima y pide un rescate para devolverlos.</a:t>
                      </a:r>
                      <a:endParaRPr lang="en-US" sz="10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1E293B"/>
                          </a:solidFill>
                          <a:latin typeface="Calibri" pitchFamily="34" charset="0"/>
                          <a:ea typeface="Calibri" pitchFamily="34" charset="-122"/>
                          <a:cs typeface="Calibri" pitchFamily="34" charset="-120"/>
                        </a:rPr>
                        <a:t>Spyware</a:t>
                      </a:r>
                      <a:endParaRPr lang="en-US" sz="10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7F8"/>
                    </a:solidFill>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Espía lo que hace el usuario: teclas, contraseñas, sitios visitados.</a:t>
                      </a:r>
                      <a:endParaRPr lang="en-US" sz="10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7F8"/>
                    </a:solidFill>
                  </a:tcPr>
                </a:tc>
              </a:tr>
              <a:tr h="0">
                <a:tc>
                  <a:txBody>
                    <a:bodyPr/>
                    <a:lstStyle/>
                    <a:p>
                      <a:pPr indent="0" marL="0">
                        <a:buNone/>
                      </a:pPr>
                      <a:r>
                        <a:rPr lang="en-US" sz="1000" b="1" dirty="0">
                          <a:solidFill>
                            <a:srgbClr val="1E293B"/>
                          </a:solidFill>
                          <a:latin typeface="Calibri" pitchFamily="34" charset="0"/>
                          <a:ea typeface="Calibri" pitchFamily="34" charset="-122"/>
                          <a:cs typeface="Calibri" pitchFamily="34" charset="-120"/>
                        </a:rPr>
                        <a:t>Adware</a:t>
                      </a:r>
                      <a:endParaRPr lang="en-US" sz="10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Muestra publicidad no deseada; muchas veces viene con spyware.</a:t>
                      </a:r>
                      <a:endParaRPr lang="en-US" sz="10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1E293B"/>
                          </a:solidFill>
                          <a:latin typeface="Calibri" pitchFamily="34" charset="0"/>
                          <a:ea typeface="Calibri" pitchFamily="34" charset="-122"/>
                          <a:cs typeface="Calibri" pitchFamily="34" charset="-120"/>
                        </a:rPr>
                        <a:t>Rootkit</a:t>
                      </a:r>
                      <a:endParaRPr lang="en-US" sz="10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7F8"/>
                    </a:solidFill>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Se esconde en lo más profundo del sistema para dar acceso oculto al atacante.</a:t>
                      </a:r>
                      <a:endParaRPr lang="en-US" sz="10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7F8"/>
                    </a:solidFill>
                  </a:tcPr>
                </a:tc>
              </a:tr>
              <a:tr h="0">
                <a:tc>
                  <a:txBody>
                    <a:bodyPr/>
                    <a:lstStyle/>
                    <a:p>
                      <a:pPr indent="0" marL="0">
                        <a:buNone/>
                      </a:pPr>
                      <a:r>
                        <a:rPr lang="en-US" sz="1000" b="1" dirty="0">
                          <a:solidFill>
                            <a:srgbClr val="1E293B"/>
                          </a:solidFill>
                          <a:latin typeface="Calibri" pitchFamily="34" charset="0"/>
                          <a:ea typeface="Calibri" pitchFamily="34" charset="-122"/>
                          <a:cs typeface="Calibri" pitchFamily="34" charset="-120"/>
                        </a:rPr>
                        <a:t>Bot y botnet</a:t>
                      </a:r>
                      <a:endParaRPr lang="en-US" sz="10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Un equipo infectado (bot) obedece órdenes remotas; miles de bots juntos forman una botnet.</a:t>
                      </a:r>
                      <a:endParaRPr lang="en-US" sz="10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0" name="Text 7"/>
          <p:cNvSpPr txBox="1"/>
          <p:nvPr/>
        </p:nvSpPr>
        <p:spPr>
          <a:xfrm>
            <a:off x="45720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Fundamentos de ciberseguridad · RA1</a:t>
            </a:r>
            <a:endParaRPr lang="en-US" sz="900" dirty="0"/>
          </a:p>
        </p:txBody>
      </p:sp>
      <p:sp>
        <p:nvSpPr>
          <p:cNvPr id="11" name="Text 8"/>
          <p:cNvSpPr txBox="1"/>
          <p:nvPr/>
        </p:nvSpPr>
        <p:spPr>
          <a:xfrm>
            <a:off x="8229600" y="4800600"/>
            <a:ext cx="457200" cy="22860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47472"/>
            <a:ext cx="566928" cy="566928"/>
          </a:xfrm>
          <a:prstGeom prst="ellipse">
            <a:avLst/>
          </a:prstGeom>
          <a:solidFill>
            <a:srgbClr val="0E7C86"/>
          </a:solidFill>
          <a:ln w="12700">
            <a:solidFill>
              <a:srgbClr val="0E7C86"/>
            </a:solidFill>
            <a:prstDash val="solid"/>
          </a:ln>
        </p:spPr>
      </p:sp>
      <p:sp>
        <p:nvSpPr>
          <p:cNvPr id="3" name="Text 1"/>
          <p:cNvSpPr txBox="1"/>
          <p:nvPr/>
        </p:nvSpPr>
        <p:spPr>
          <a:xfrm>
            <a:off x="457200" y="34747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4" name="Text 2"/>
          <p:cNvSpPr txBox="1"/>
          <p:nvPr/>
        </p:nvSpPr>
        <p:spPr>
          <a:xfrm>
            <a:off x="1188720" y="292608"/>
            <a:ext cx="7498080" cy="256032"/>
          </a:xfrm>
          <a:prstGeom prst="rect">
            <a:avLst/>
          </a:prstGeom>
          <a:noFill/>
          <a:ln/>
        </p:spPr>
        <p:txBody>
          <a:bodyPr wrap="square" lIns="0" tIns="0" rIns="0" bIns="0" rtlCol="0" anchor="ctr"/>
          <a:lstStyle/>
          <a:p>
            <a:pPr indent="0" marL="0">
              <a:buNone/>
            </a:pPr>
            <a:r>
              <a:rPr lang="en-US" sz="1100" b="1" dirty="0">
                <a:solidFill>
                  <a:srgbClr val="0E7C86"/>
                </a:solidFill>
                <a:latin typeface="Calibri" pitchFamily="34" charset="0"/>
                <a:ea typeface="Calibri" pitchFamily="34" charset="-122"/>
                <a:cs typeface="Calibri" pitchFamily="34" charset="-120"/>
              </a:rPr>
              <a:t>TEMA 3</a:t>
            </a:r>
            <a:endParaRPr lang="en-US" sz="1100" dirty="0"/>
          </a:p>
        </p:txBody>
      </p:sp>
      <p:sp>
        <p:nvSpPr>
          <p:cNvPr id="5" name="Text 3"/>
          <p:cNvSpPr txBox="1"/>
          <p:nvPr/>
        </p:nvSpPr>
        <p:spPr>
          <a:xfrm>
            <a:off x="1188720" y="530352"/>
            <a:ext cx="7498080" cy="502920"/>
          </a:xfrm>
          <a:prstGeom prst="rect">
            <a:avLst/>
          </a:prstGeom>
          <a:noFill/>
          <a:ln/>
        </p:spPr>
        <p:txBody>
          <a:bodyPr wrap="square" lIns="0" tIns="0" rIns="0" bIns="0" rtlCol="0" anchor="t">
            <a:normAutofit/>
          </a:bodyPr>
          <a:lstStyle/>
          <a:p>
            <a:pPr indent="0" marL="0">
              <a:buNone/>
            </a:pPr>
            <a:r>
              <a:rPr lang="en-US" sz="2800" b="1" dirty="0">
                <a:solidFill>
                  <a:srgbClr val="0B1D2E"/>
                </a:solidFill>
                <a:latin typeface="Calibri" pitchFamily="34" charset="0"/>
                <a:ea typeface="Calibri" pitchFamily="34" charset="-122"/>
                <a:cs typeface="Calibri" pitchFamily="34" charset="-120"/>
              </a:rPr>
              <a:t>Engaño e ingeniería social</a:t>
            </a:r>
            <a:endParaRPr lang="en-US" sz="2800" dirty="0"/>
          </a:p>
        </p:txBody>
      </p:sp>
      <p:sp>
        <p:nvSpPr>
          <p:cNvPr id="6" name="Text 4"/>
          <p:cNvSpPr txBox="1"/>
          <p:nvPr/>
        </p:nvSpPr>
        <p:spPr>
          <a:xfrm>
            <a:off x="457200" y="1234440"/>
            <a:ext cx="4892040" cy="3429000"/>
          </a:xfrm>
          <a:prstGeom prst="rect">
            <a:avLst/>
          </a:prstGeom>
          <a:noFill/>
          <a:ln/>
        </p:spPr>
        <p:txBody>
          <a:bodyPr wrap="square" lIns="0" tIns="0" rIns="0" bIns="0" rtlCol="0" anchor="t">
            <a:normAutofit/>
          </a:bodyPr>
          <a:lstStyle/>
          <a:p>
            <a:pPr indent="0" marL="0">
              <a:spcAft>
                <a:spcPts val="1000"/>
              </a:spcAft>
              <a:buNone/>
            </a:pPr>
            <a:r>
              <a:rPr lang="en-US" sz="1700" dirty="0">
                <a:solidFill>
                  <a:srgbClr val="1E293B"/>
                </a:solidFill>
                <a:latin typeface="Calibri" pitchFamily="34" charset="0"/>
                <a:ea typeface="Calibri" pitchFamily="34" charset="-122"/>
                <a:cs typeface="Calibri" pitchFamily="34" charset="-120"/>
              </a:rPr>
              <a:t>La </a:t>
            </a:r>
            <a:pPr indent="0" marL="0">
              <a:spcAft>
                <a:spcPts val="1000"/>
              </a:spcAft>
              <a:buNone/>
            </a:pPr>
            <a:r>
              <a:rPr lang="en-US" sz="1700" b="1" dirty="0">
                <a:solidFill>
                  <a:srgbClr val="1E293B"/>
                </a:solidFill>
                <a:latin typeface="Calibri" pitchFamily="34" charset="0"/>
                <a:ea typeface="Calibri" pitchFamily="34" charset="-122"/>
                <a:cs typeface="Calibri" pitchFamily="34" charset="-120"/>
              </a:rPr>
              <a:t>ingeniería social</a:t>
            </a:r>
            <a:pPr indent="0" marL="0">
              <a:spcAft>
                <a:spcPts val="1000"/>
              </a:spcAft>
              <a:buNone/>
            </a:pPr>
            <a:r>
              <a:rPr lang="en-US" sz="1700" dirty="0">
                <a:solidFill>
                  <a:srgbClr val="1E293B"/>
                </a:solidFill>
                <a:latin typeface="Calibri" pitchFamily="34" charset="0"/>
                <a:ea typeface="Calibri" pitchFamily="34" charset="-122"/>
                <a:cs typeface="Calibri" pitchFamily="34" charset="-120"/>
              </a:rPr>
              <a:t> ataca a las personas en lugar de a las máquinas: engaña a alguien para que entregue información o haga algo que no debería. Es efectiva porque aprovecha la confianza, la prisa, el miedo o la curiosidad.</a:t>
            </a:r>
            <a:endParaRPr lang="en-US" sz="1700" dirty="0"/>
          </a:p>
        </p:txBody>
      </p:sp>
      <p:sp>
        <p:nvSpPr>
          <p:cNvPr id="7" name="Shape 5"/>
          <p:cNvSpPr/>
          <p:nvPr/>
        </p:nvSpPr>
        <p:spPr>
          <a:xfrm>
            <a:off x="5623560" y="1234440"/>
            <a:ext cx="3063240" cy="2533802"/>
          </a:xfrm>
          <a:prstGeom prst="roundRect">
            <a:avLst>
              <a:gd name="adj" fmla="val 3609"/>
            </a:avLst>
          </a:prstGeom>
          <a:solidFill>
            <a:srgbClr val="D8EEF0"/>
          </a:solidFill>
          <a:ln w="12700">
            <a:solidFill>
              <a:srgbClr val="D8EEF0"/>
            </a:solidFill>
            <a:prstDash val="solid"/>
          </a:ln>
        </p:spPr>
      </p:sp>
      <p:sp>
        <p:nvSpPr>
          <p:cNvPr id="8" name="Shape 6"/>
          <p:cNvSpPr/>
          <p:nvPr/>
        </p:nvSpPr>
        <p:spPr>
          <a:xfrm>
            <a:off x="5852160" y="1463040"/>
            <a:ext cx="502920" cy="502920"/>
          </a:xfrm>
          <a:prstGeom prst="ellipse">
            <a:avLst/>
          </a:prstGeom>
          <a:solidFill>
            <a:srgbClr val="0E7C86"/>
          </a:solidFill>
          <a:ln w="12700">
            <a:solidFill>
              <a:srgbClr val="0E7C86"/>
            </a:solidFill>
            <a:prstDash val="solid"/>
          </a:ln>
        </p:spPr>
      </p:sp>
      <p:pic>
        <p:nvPicPr>
          <p:cNvPr id="9" name="Image 0" descr="preencoded.png">    </p:cNvPr>
          <p:cNvPicPr>
            <a:picLocks noChangeAspect="1"/>
          </p:cNvPicPr>
          <p:nvPr/>
        </p:nvPicPr>
        <p:blipFill>
          <a:blip r:embed="rId1"/>
          <a:stretch>
            <a:fillRect/>
          </a:stretch>
        </p:blipFill>
        <p:spPr>
          <a:xfrm>
            <a:off x="5975604" y="1586484"/>
            <a:ext cx="256032" cy="256032"/>
          </a:xfrm>
          <a:prstGeom prst="rect">
            <a:avLst/>
          </a:prstGeom>
        </p:spPr>
      </p:pic>
      <p:sp>
        <p:nvSpPr>
          <p:cNvPr id="10" name="Text 7"/>
          <p:cNvSpPr txBox="1"/>
          <p:nvPr/>
        </p:nvSpPr>
        <p:spPr>
          <a:xfrm>
            <a:off x="6492240" y="1508760"/>
            <a:ext cx="2057400" cy="411480"/>
          </a:xfrm>
          <a:prstGeom prst="rect">
            <a:avLst/>
          </a:prstGeom>
          <a:noFill/>
          <a:ln/>
        </p:spPr>
        <p:txBody>
          <a:bodyPr wrap="square" lIns="0" tIns="0" rIns="0" bIns="0" rtlCol="0" anchor="ctr"/>
          <a:lstStyle/>
          <a:p>
            <a:pPr indent="0" marL="0">
              <a:buNone/>
            </a:pPr>
            <a:r>
              <a:rPr lang="en-US" sz="1600" b="1" dirty="0">
                <a:solidFill>
                  <a:srgbClr val="0E7C86"/>
                </a:solidFill>
                <a:latin typeface="Calibri" pitchFamily="34" charset="0"/>
                <a:ea typeface="Calibri" pitchFamily="34" charset="-122"/>
                <a:cs typeface="Calibri" pitchFamily="34" charset="-120"/>
              </a:rPr>
              <a:t>Idea clave</a:t>
            </a:r>
            <a:endParaRPr lang="en-US" sz="1600" dirty="0"/>
          </a:p>
        </p:txBody>
      </p:sp>
      <p:sp>
        <p:nvSpPr>
          <p:cNvPr id="11" name="Text 8"/>
          <p:cNvSpPr txBox="1"/>
          <p:nvPr/>
        </p:nvSpPr>
        <p:spPr>
          <a:xfrm>
            <a:off x="5852160" y="2148840"/>
            <a:ext cx="2606040" cy="1482242"/>
          </a:xfrm>
          <a:prstGeom prst="rect">
            <a:avLst/>
          </a:prstGeom>
          <a:noFill/>
          <a:ln/>
        </p:spPr>
        <p:txBody>
          <a:bodyPr wrap="square" lIns="0" tIns="0" rIns="0" bIns="0" rtlCol="0" anchor="t">
            <a:normAutofit/>
          </a:bodyPr>
          <a:lstStyle/>
          <a:p>
            <a:pPr indent="0" marL="0">
              <a:buNone/>
            </a:pPr>
            <a:r>
              <a:rPr lang="en-US" sz="1300" b="1" dirty="0">
                <a:solidFill>
                  <a:srgbClr val="1E293B"/>
                </a:solidFill>
                <a:latin typeface="Calibri" pitchFamily="34" charset="0"/>
                <a:ea typeface="Calibri" pitchFamily="34" charset="-122"/>
                <a:cs typeface="Calibri" pitchFamily="34" charset="-120"/>
              </a:rPr>
              <a:t>Señales de alerta:</a:t>
            </a:r>
            <a:pPr indent="0" marL="0">
              <a:buNone/>
            </a:pPr>
            <a:r>
              <a:rPr lang="en-US" sz="1300" dirty="0">
                <a:solidFill>
                  <a:srgbClr val="1E293B"/>
                </a:solidFill>
                <a:latin typeface="Calibri" pitchFamily="34" charset="0"/>
                <a:ea typeface="Calibri" pitchFamily="34" charset="-122"/>
                <a:cs typeface="Calibri" pitchFamily="34" charset="-120"/>
              </a:rPr>
              <a:t> urgencia («su cuenta se cierra hoy»), remitentes extraños, errores de ortografía, enlaces que no coinciden con el sitio real y solicitudes de contraseñas o códigos.</a:t>
            </a:r>
            <a:endParaRPr lang="en-US" sz="1300" dirty="0"/>
          </a:p>
        </p:txBody>
      </p:sp>
      <p:sp>
        <p:nvSpPr>
          <p:cNvPr id="12" name="Text 9"/>
          <p:cNvSpPr txBox="1"/>
          <p:nvPr/>
        </p:nvSpPr>
        <p:spPr>
          <a:xfrm>
            <a:off x="45720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Fundamentos de ciberseguridad · RA1</a:t>
            </a:r>
            <a:endParaRPr lang="en-US" sz="900" dirty="0"/>
          </a:p>
        </p:txBody>
      </p:sp>
      <p:sp>
        <p:nvSpPr>
          <p:cNvPr id="13" name="Text 10"/>
          <p:cNvSpPr txBox="1"/>
          <p:nvPr/>
        </p:nvSpPr>
        <p:spPr>
          <a:xfrm>
            <a:off x="8229600" y="4800600"/>
            <a:ext cx="457200" cy="22860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47472"/>
            <a:ext cx="566928" cy="566928"/>
          </a:xfrm>
          <a:prstGeom prst="ellipse">
            <a:avLst/>
          </a:prstGeom>
          <a:solidFill>
            <a:srgbClr val="0E7C86"/>
          </a:solidFill>
          <a:ln w="12700">
            <a:solidFill>
              <a:srgbClr val="0E7C86"/>
            </a:solidFill>
            <a:prstDash val="solid"/>
          </a:ln>
        </p:spPr>
      </p:sp>
      <p:sp>
        <p:nvSpPr>
          <p:cNvPr id="3" name="Text 1"/>
          <p:cNvSpPr txBox="1"/>
          <p:nvPr/>
        </p:nvSpPr>
        <p:spPr>
          <a:xfrm>
            <a:off x="457200" y="34747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4" name="Text 2"/>
          <p:cNvSpPr txBox="1"/>
          <p:nvPr/>
        </p:nvSpPr>
        <p:spPr>
          <a:xfrm>
            <a:off x="1188720" y="292608"/>
            <a:ext cx="7498080" cy="256032"/>
          </a:xfrm>
          <a:prstGeom prst="rect">
            <a:avLst/>
          </a:prstGeom>
          <a:noFill/>
          <a:ln/>
        </p:spPr>
        <p:txBody>
          <a:bodyPr wrap="square" lIns="0" tIns="0" rIns="0" bIns="0" rtlCol="0" anchor="ctr"/>
          <a:lstStyle/>
          <a:p>
            <a:pPr indent="0" marL="0">
              <a:buNone/>
            </a:pPr>
            <a:r>
              <a:rPr lang="en-US" sz="1100" b="1" dirty="0">
                <a:solidFill>
                  <a:srgbClr val="0E7C86"/>
                </a:solidFill>
                <a:latin typeface="Calibri" pitchFamily="34" charset="0"/>
                <a:ea typeface="Calibri" pitchFamily="34" charset="-122"/>
                <a:cs typeface="Calibri" pitchFamily="34" charset="-120"/>
              </a:rPr>
              <a:t>TEMA 3</a:t>
            </a:r>
            <a:endParaRPr lang="en-US" sz="1100" dirty="0"/>
          </a:p>
        </p:txBody>
      </p:sp>
      <p:sp>
        <p:nvSpPr>
          <p:cNvPr id="5" name="Text 3"/>
          <p:cNvSpPr txBox="1"/>
          <p:nvPr/>
        </p:nvSpPr>
        <p:spPr>
          <a:xfrm>
            <a:off x="1188720" y="530352"/>
            <a:ext cx="7498080" cy="502920"/>
          </a:xfrm>
          <a:prstGeom prst="rect">
            <a:avLst/>
          </a:prstGeom>
          <a:noFill/>
          <a:ln/>
        </p:spPr>
        <p:txBody>
          <a:bodyPr wrap="square" lIns="0" tIns="0" rIns="0" bIns="0" rtlCol="0" anchor="t">
            <a:normAutofit/>
          </a:bodyPr>
          <a:lstStyle/>
          <a:p>
            <a:pPr indent="0" marL="0">
              <a:buNone/>
            </a:pPr>
            <a:r>
              <a:rPr lang="en-US" sz="2800" b="1" dirty="0">
                <a:solidFill>
                  <a:srgbClr val="0B1D2E"/>
                </a:solidFill>
                <a:latin typeface="Calibri" pitchFamily="34" charset="0"/>
                <a:ea typeface="Calibri" pitchFamily="34" charset="-122"/>
                <a:cs typeface="Calibri" pitchFamily="34" charset="-120"/>
              </a:rPr>
              <a:t>Engaño e ingeniería social</a:t>
            </a:r>
            <a:endParaRPr lang="en-US" sz="28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2395901"/>
                <a:gridCol w="5833699"/>
              </a:tblGrid>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Técnica</a:t>
                      </a:r>
                      <a:endParaRPr lang="en-US" sz="15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E7C86"/>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En qué consiste</a:t>
                      </a:r>
                      <a:endParaRPr lang="en-US" sz="15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E7C86"/>
                    </a:solidFill>
                  </a:tcPr>
                </a:tc>
              </a:tr>
              <a:tr h="0">
                <a:tc>
                  <a:txBody>
                    <a:bodyPr/>
                    <a:lstStyle/>
                    <a:p>
                      <a:pPr indent="0" marL="0">
                        <a:buNone/>
                      </a:pPr>
                      <a:r>
                        <a:rPr lang="en-US" sz="1500" b="1" dirty="0">
                          <a:solidFill>
                            <a:srgbClr val="1E293B"/>
                          </a:solidFill>
                          <a:latin typeface="Calibri" pitchFamily="34" charset="0"/>
                          <a:ea typeface="Calibri" pitchFamily="34" charset="-122"/>
                          <a:cs typeface="Calibri" pitchFamily="34" charset="-120"/>
                        </a:rPr>
                        <a:t>Phishing</a:t>
                      </a:r>
                      <a:endParaRPr lang="en-US" sz="15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7F8"/>
                    </a:solidFill>
                  </a:tcPr>
                </a:tc>
                <a:tc>
                  <a:txBody>
                    <a:bodyPr/>
                    <a:lstStyle/>
                    <a:p>
                      <a:pPr indent="0" marL="0">
                        <a:buNone/>
                      </a:pPr>
                      <a:r>
                        <a:rPr lang="en-US" sz="1500" dirty="0">
                          <a:solidFill>
                            <a:srgbClr val="1E293B"/>
                          </a:solidFill>
                          <a:latin typeface="Calibri" pitchFamily="34" charset="0"/>
                          <a:ea typeface="Calibri" pitchFamily="34" charset="-122"/>
                          <a:cs typeface="Calibri" pitchFamily="34" charset="-120"/>
                        </a:rPr>
                        <a:t>Correo falso que imita a un banco o empresa para robar datos.</a:t>
                      </a:r>
                      <a:endParaRPr lang="en-US" sz="15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7F8"/>
                    </a:solidFill>
                  </a:tcPr>
                </a:tc>
              </a:tr>
              <a:tr h="0">
                <a:tc>
                  <a:txBody>
                    <a:bodyPr/>
                    <a:lstStyle/>
                    <a:p>
                      <a:pPr indent="0" marL="0">
                        <a:buNone/>
                      </a:pPr>
                      <a:r>
                        <a:rPr lang="en-US" sz="1500" b="1" dirty="0">
                          <a:solidFill>
                            <a:srgbClr val="1E293B"/>
                          </a:solidFill>
                          <a:latin typeface="Calibri" pitchFamily="34" charset="0"/>
                          <a:ea typeface="Calibri" pitchFamily="34" charset="-122"/>
                          <a:cs typeface="Calibri" pitchFamily="34" charset="-120"/>
                        </a:rPr>
                        <a:t>Spear phishing</a:t>
                      </a:r>
                      <a:endParaRPr lang="en-US" sz="15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500" dirty="0">
                          <a:solidFill>
                            <a:srgbClr val="1E293B"/>
                          </a:solidFill>
                          <a:latin typeface="Calibri" pitchFamily="34" charset="0"/>
                          <a:ea typeface="Calibri" pitchFamily="34" charset="-122"/>
                          <a:cs typeface="Calibri" pitchFamily="34" charset="-120"/>
                        </a:rPr>
                        <a:t>Phishing dirigido a una persona concreta, con datos reales sobre ella.</a:t>
                      </a:r>
                      <a:endParaRPr lang="en-US" sz="15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1E293B"/>
                          </a:solidFill>
                          <a:latin typeface="Calibri" pitchFamily="34" charset="0"/>
                          <a:ea typeface="Calibri" pitchFamily="34" charset="-122"/>
                          <a:cs typeface="Calibri" pitchFamily="34" charset="-120"/>
                        </a:rPr>
                        <a:t>Vishing</a:t>
                      </a:r>
                      <a:endParaRPr lang="en-US" sz="15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7F8"/>
                    </a:solidFill>
                  </a:tcPr>
                </a:tc>
                <a:tc>
                  <a:txBody>
                    <a:bodyPr/>
                    <a:lstStyle/>
                    <a:p>
                      <a:pPr indent="0" marL="0">
                        <a:buNone/>
                      </a:pPr>
                      <a:r>
                        <a:rPr lang="en-US" sz="1500" dirty="0">
                          <a:solidFill>
                            <a:srgbClr val="1E293B"/>
                          </a:solidFill>
                          <a:latin typeface="Calibri" pitchFamily="34" charset="0"/>
                          <a:ea typeface="Calibri" pitchFamily="34" charset="-122"/>
                          <a:cs typeface="Calibri" pitchFamily="34" charset="-120"/>
                        </a:rPr>
                        <a:t>Engaño por llamada telefónica («le habla el banco…»).</a:t>
                      </a:r>
                      <a:endParaRPr lang="en-US" sz="15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7F8"/>
                    </a:solidFill>
                  </a:tcPr>
                </a:tc>
              </a:tr>
              <a:tr h="0">
                <a:tc>
                  <a:txBody>
                    <a:bodyPr/>
                    <a:lstStyle/>
                    <a:p>
                      <a:pPr indent="0" marL="0">
                        <a:buNone/>
                      </a:pPr>
                      <a:r>
                        <a:rPr lang="en-US" sz="1500" b="1" dirty="0">
                          <a:solidFill>
                            <a:srgbClr val="1E293B"/>
                          </a:solidFill>
                          <a:latin typeface="Calibri" pitchFamily="34" charset="0"/>
                          <a:ea typeface="Calibri" pitchFamily="34" charset="-122"/>
                          <a:cs typeface="Calibri" pitchFamily="34" charset="-120"/>
                        </a:rPr>
                        <a:t>Smishing</a:t>
                      </a:r>
                      <a:endParaRPr lang="en-US" sz="15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500" dirty="0">
                          <a:solidFill>
                            <a:srgbClr val="1E293B"/>
                          </a:solidFill>
                          <a:latin typeface="Calibri" pitchFamily="34" charset="0"/>
                          <a:ea typeface="Calibri" pitchFamily="34" charset="-122"/>
                          <a:cs typeface="Calibri" pitchFamily="34" charset="-120"/>
                        </a:rPr>
                        <a:t>Engaño por mensaje de texto o WhatsApp.</a:t>
                      </a:r>
                      <a:endParaRPr lang="en-US" sz="15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1E293B"/>
                          </a:solidFill>
                          <a:latin typeface="Calibri" pitchFamily="34" charset="0"/>
                          <a:ea typeface="Calibri" pitchFamily="34" charset="-122"/>
                          <a:cs typeface="Calibri" pitchFamily="34" charset="-120"/>
                        </a:rPr>
                        <a:t>Pretexting</a:t>
                      </a:r>
                      <a:endParaRPr lang="en-US" sz="15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7F8"/>
                    </a:solidFill>
                  </a:tcPr>
                </a:tc>
                <a:tc>
                  <a:txBody>
                    <a:bodyPr/>
                    <a:lstStyle/>
                    <a:p>
                      <a:pPr indent="0" marL="0">
                        <a:buNone/>
                      </a:pPr>
                      <a:r>
                        <a:rPr lang="en-US" sz="1500" dirty="0">
                          <a:solidFill>
                            <a:srgbClr val="1E293B"/>
                          </a:solidFill>
                          <a:latin typeface="Calibri" pitchFamily="34" charset="0"/>
                          <a:ea typeface="Calibri" pitchFamily="34" charset="-122"/>
                          <a:cs typeface="Calibri" pitchFamily="34" charset="-120"/>
                        </a:rPr>
                        <a:t>El atacante inventa una historia creíble (soy de soporte técnico) para pedir datos.</a:t>
                      </a:r>
                      <a:endParaRPr lang="en-US" sz="15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7F8"/>
                    </a:solidFill>
                  </a:tcPr>
                </a:tc>
              </a:tr>
            </a:tbl>
          </a:graphicData>
        </a:graphic>
      </p:graphicFrame>
      <p:sp>
        <p:nvSpPr>
          <p:cNvPr id="7" name="Text 4"/>
          <p:cNvSpPr txBox="1"/>
          <p:nvPr/>
        </p:nvSpPr>
        <p:spPr>
          <a:xfrm>
            <a:off x="45720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Fundamentos de ciberseguridad · RA1</a:t>
            </a:r>
            <a:endParaRPr lang="en-US" sz="900" dirty="0"/>
          </a:p>
        </p:txBody>
      </p:sp>
      <p:sp>
        <p:nvSpPr>
          <p:cNvPr id="8" name="Text 5"/>
          <p:cNvSpPr txBox="1"/>
          <p:nvPr/>
        </p:nvSpPr>
        <p:spPr>
          <a:xfrm>
            <a:off x="8229600" y="4800600"/>
            <a:ext cx="457200" cy="22860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47472"/>
            <a:ext cx="566928" cy="566928"/>
          </a:xfrm>
          <a:prstGeom prst="ellipse">
            <a:avLst/>
          </a:prstGeom>
          <a:solidFill>
            <a:srgbClr val="0E7C86"/>
          </a:solidFill>
          <a:ln w="12700">
            <a:solidFill>
              <a:srgbClr val="0E7C86"/>
            </a:solidFill>
            <a:prstDash val="solid"/>
          </a:ln>
        </p:spPr>
      </p:sp>
      <p:sp>
        <p:nvSpPr>
          <p:cNvPr id="3" name="Text 1"/>
          <p:cNvSpPr txBox="1"/>
          <p:nvPr/>
        </p:nvSpPr>
        <p:spPr>
          <a:xfrm>
            <a:off x="457200" y="34747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4" name="Text 2"/>
          <p:cNvSpPr txBox="1"/>
          <p:nvPr/>
        </p:nvSpPr>
        <p:spPr>
          <a:xfrm>
            <a:off x="1188720" y="292608"/>
            <a:ext cx="7498080" cy="256032"/>
          </a:xfrm>
          <a:prstGeom prst="rect">
            <a:avLst/>
          </a:prstGeom>
          <a:noFill/>
          <a:ln/>
        </p:spPr>
        <p:txBody>
          <a:bodyPr wrap="square" lIns="0" tIns="0" rIns="0" bIns="0" rtlCol="0" anchor="ctr"/>
          <a:lstStyle/>
          <a:p>
            <a:pPr indent="0" marL="0">
              <a:buNone/>
            </a:pPr>
            <a:r>
              <a:rPr lang="en-US" sz="1100" b="1" dirty="0">
                <a:solidFill>
                  <a:srgbClr val="0E7C86"/>
                </a:solidFill>
                <a:latin typeface="Calibri" pitchFamily="34" charset="0"/>
                <a:ea typeface="Calibri" pitchFamily="34" charset="-122"/>
                <a:cs typeface="Calibri" pitchFamily="34" charset="-120"/>
              </a:rPr>
              <a:t>TEMA 3 (continuación)</a:t>
            </a:r>
            <a:endParaRPr lang="en-US" sz="1100" dirty="0"/>
          </a:p>
        </p:txBody>
      </p:sp>
      <p:sp>
        <p:nvSpPr>
          <p:cNvPr id="5" name="Text 3"/>
          <p:cNvSpPr txBox="1"/>
          <p:nvPr/>
        </p:nvSpPr>
        <p:spPr>
          <a:xfrm>
            <a:off x="1188720" y="530352"/>
            <a:ext cx="7498080" cy="502920"/>
          </a:xfrm>
          <a:prstGeom prst="rect">
            <a:avLst/>
          </a:prstGeom>
          <a:noFill/>
          <a:ln/>
        </p:spPr>
        <p:txBody>
          <a:bodyPr wrap="square" lIns="0" tIns="0" rIns="0" bIns="0" rtlCol="0" anchor="t">
            <a:normAutofit/>
          </a:bodyPr>
          <a:lstStyle/>
          <a:p>
            <a:pPr indent="0" marL="0">
              <a:buNone/>
            </a:pPr>
            <a:r>
              <a:rPr lang="en-US" sz="2800" b="1" dirty="0">
                <a:solidFill>
                  <a:srgbClr val="0B1D2E"/>
                </a:solidFill>
                <a:latin typeface="Calibri" pitchFamily="34" charset="0"/>
                <a:ea typeface="Calibri" pitchFamily="34" charset="-122"/>
                <a:cs typeface="Calibri" pitchFamily="34" charset="-120"/>
              </a:rPr>
              <a:t>Engaño e ingeniería social</a:t>
            </a:r>
            <a:endParaRPr lang="en-US" sz="28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2729867"/>
                <a:gridCol w="5499733"/>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Técnica</a:t>
                      </a:r>
                      <a:endParaRPr lang="en-US" sz="16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E7C86"/>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En qué consiste</a:t>
                      </a:r>
                      <a:endParaRPr lang="en-US" sz="16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E7C86"/>
                    </a:solidFill>
                  </a:tcPr>
                </a:tc>
              </a:tr>
              <a:tr h="0">
                <a:tc>
                  <a:txBody>
                    <a:bodyPr/>
                    <a:lstStyle/>
                    <a:p>
                      <a:pPr indent="0" marL="0">
                        <a:buNone/>
                      </a:pPr>
                      <a:r>
                        <a:rPr lang="en-US" sz="1600" b="1" dirty="0">
                          <a:solidFill>
                            <a:srgbClr val="1E293B"/>
                          </a:solidFill>
                          <a:latin typeface="Calibri" pitchFamily="34" charset="0"/>
                          <a:ea typeface="Calibri" pitchFamily="34" charset="-122"/>
                          <a:cs typeface="Calibri" pitchFamily="34" charset="-120"/>
                        </a:rPr>
                        <a:t>Baiting (carnada)</a:t>
                      </a:r>
                      <a:endParaRPr lang="en-US" sz="16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7F8"/>
                    </a:solidFill>
                  </a:tcPr>
                </a:tc>
                <a:tc>
                  <a:txBody>
                    <a:bodyPr/>
                    <a:lstStyle/>
                    <a:p>
                      <a:pPr indent="0" marL="0">
                        <a:buNone/>
                      </a:pPr>
                      <a:r>
                        <a:rPr lang="en-US" sz="1600" dirty="0">
                          <a:solidFill>
                            <a:srgbClr val="1E293B"/>
                          </a:solidFill>
                          <a:latin typeface="Calibri" pitchFamily="34" charset="0"/>
                          <a:ea typeface="Calibri" pitchFamily="34" charset="-122"/>
                          <a:cs typeface="Calibri" pitchFamily="34" charset="-120"/>
                        </a:rPr>
                        <a:t>Dejar una llave USB infectada a la vista para que alguien la conecte.</a:t>
                      </a:r>
                      <a:endParaRPr lang="en-US" sz="16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7F8"/>
                    </a:solidFill>
                  </a:tcPr>
                </a:tc>
              </a:tr>
              <a:tr h="0">
                <a:tc>
                  <a:txBody>
                    <a:bodyPr/>
                    <a:lstStyle/>
                    <a:p>
                      <a:pPr indent="0" marL="0">
                        <a:buNone/>
                      </a:pPr>
                      <a:r>
                        <a:rPr lang="en-US" sz="1600" b="1" dirty="0">
                          <a:solidFill>
                            <a:srgbClr val="1E293B"/>
                          </a:solidFill>
                          <a:latin typeface="Calibri" pitchFamily="34" charset="0"/>
                          <a:ea typeface="Calibri" pitchFamily="34" charset="-122"/>
                          <a:cs typeface="Calibri" pitchFamily="34" charset="-120"/>
                        </a:rPr>
                        <a:t>Tailgating</a:t>
                      </a:r>
                      <a:endParaRPr lang="en-US" sz="16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600" dirty="0">
                          <a:solidFill>
                            <a:srgbClr val="1E293B"/>
                          </a:solidFill>
                          <a:latin typeface="Calibri" pitchFamily="34" charset="0"/>
                          <a:ea typeface="Calibri" pitchFamily="34" charset="-122"/>
                          <a:cs typeface="Calibri" pitchFamily="34" charset="-120"/>
                        </a:rPr>
                        <a:t>Entrar detrás de una persona autorizada a un lugar restringido.</a:t>
                      </a:r>
                      <a:endParaRPr lang="en-US" sz="16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E293B"/>
                          </a:solidFill>
                          <a:latin typeface="Calibri" pitchFamily="34" charset="0"/>
                          <a:ea typeface="Calibri" pitchFamily="34" charset="-122"/>
                          <a:cs typeface="Calibri" pitchFamily="34" charset="-120"/>
                        </a:rPr>
                        <a:t>Shoulder surfing</a:t>
                      </a:r>
                      <a:endParaRPr lang="en-US" sz="16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7F8"/>
                    </a:solidFill>
                  </a:tcPr>
                </a:tc>
                <a:tc>
                  <a:txBody>
                    <a:bodyPr/>
                    <a:lstStyle/>
                    <a:p>
                      <a:pPr indent="0" marL="0">
                        <a:buNone/>
                      </a:pPr>
                      <a:r>
                        <a:rPr lang="en-US" sz="1600" dirty="0">
                          <a:solidFill>
                            <a:srgbClr val="1E293B"/>
                          </a:solidFill>
                          <a:latin typeface="Calibri" pitchFamily="34" charset="0"/>
                          <a:ea typeface="Calibri" pitchFamily="34" charset="-122"/>
                          <a:cs typeface="Calibri" pitchFamily="34" charset="-120"/>
                        </a:rPr>
                        <a:t>Mirar por encima del hombro para ver un PIN o una contraseña.</a:t>
                      </a:r>
                      <a:endParaRPr lang="en-US" sz="16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7F8"/>
                    </a:solidFill>
                  </a:tcPr>
                </a:tc>
              </a:tr>
              <a:tr h="0">
                <a:tc>
                  <a:txBody>
                    <a:bodyPr/>
                    <a:lstStyle/>
                    <a:p>
                      <a:pPr indent="0" marL="0">
                        <a:buNone/>
                      </a:pPr>
                      <a:r>
                        <a:rPr lang="en-US" sz="1600" b="1" dirty="0">
                          <a:solidFill>
                            <a:srgbClr val="1E293B"/>
                          </a:solidFill>
                          <a:latin typeface="Calibri" pitchFamily="34" charset="0"/>
                          <a:ea typeface="Calibri" pitchFamily="34" charset="-122"/>
                          <a:cs typeface="Calibri" pitchFamily="34" charset="-120"/>
                        </a:rPr>
                        <a:t>Dumpster diving</a:t>
                      </a:r>
                      <a:endParaRPr lang="en-US" sz="16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600" dirty="0">
                          <a:solidFill>
                            <a:srgbClr val="1E293B"/>
                          </a:solidFill>
                          <a:latin typeface="Calibri" pitchFamily="34" charset="0"/>
                          <a:ea typeface="Calibri" pitchFamily="34" charset="-122"/>
                          <a:cs typeface="Calibri" pitchFamily="34" charset="-120"/>
                        </a:rPr>
                        <a:t>Buscar en la basura documentos con información útil.</a:t>
                      </a:r>
                      <a:endParaRPr lang="en-US" sz="16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45720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Fundamentos de ciberseguridad · RA1</a:t>
            </a:r>
            <a:endParaRPr lang="en-US" sz="900" dirty="0"/>
          </a:p>
        </p:txBody>
      </p:sp>
      <p:sp>
        <p:nvSpPr>
          <p:cNvPr id="8" name="Text 5"/>
          <p:cNvSpPr txBox="1"/>
          <p:nvPr/>
        </p:nvSpPr>
        <p:spPr>
          <a:xfrm>
            <a:off x="8229600" y="4800600"/>
            <a:ext cx="457200" cy="22860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47472"/>
            <a:ext cx="566928" cy="566928"/>
          </a:xfrm>
          <a:prstGeom prst="ellipse">
            <a:avLst/>
          </a:prstGeom>
          <a:solidFill>
            <a:srgbClr val="0E7C86"/>
          </a:solidFill>
          <a:ln w="12700">
            <a:solidFill>
              <a:srgbClr val="0E7C86"/>
            </a:solidFill>
            <a:prstDash val="solid"/>
          </a:ln>
        </p:spPr>
      </p:sp>
      <p:sp>
        <p:nvSpPr>
          <p:cNvPr id="3" name="Text 1"/>
          <p:cNvSpPr txBox="1"/>
          <p:nvPr/>
        </p:nvSpPr>
        <p:spPr>
          <a:xfrm>
            <a:off x="457200" y="34747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4" name="Text 2"/>
          <p:cNvSpPr txBox="1"/>
          <p:nvPr/>
        </p:nvSpPr>
        <p:spPr>
          <a:xfrm>
            <a:off x="1188720" y="292608"/>
            <a:ext cx="7498080" cy="256032"/>
          </a:xfrm>
          <a:prstGeom prst="rect">
            <a:avLst/>
          </a:prstGeom>
          <a:noFill/>
          <a:ln/>
        </p:spPr>
        <p:txBody>
          <a:bodyPr wrap="square" lIns="0" tIns="0" rIns="0" bIns="0" rtlCol="0" anchor="ctr"/>
          <a:lstStyle/>
          <a:p>
            <a:pPr indent="0" marL="0">
              <a:buNone/>
            </a:pPr>
            <a:r>
              <a:rPr lang="en-US" sz="1100" b="1" dirty="0">
                <a:solidFill>
                  <a:srgbClr val="0E7C86"/>
                </a:solidFill>
                <a:latin typeface="Calibri" pitchFamily="34" charset="0"/>
                <a:ea typeface="Calibri" pitchFamily="34" charset="-122"/>
                <a:cs typeface="Calibri" pitchFamily="34" charset="-120"/>
              </a:rPr>
              <a:t>TEMA 4 · CIBERATAQUES, DISPOSITIVOS MÓVILES Y APLICACIONES</a:t>
            </a:r>
            <a:endParaRPr lang="en-US" sz="1100" dirty="0"/>
          </a:p>
        </p:txBody>
      </p:sp>
      <p:sp>
        <p:nvSpPr>
          <p:cNvPr id="5" name="Text 3"/>
          <p:cNvSpPr txBox="1"/>
          <p:nvPr/>
        </p:nvSpPr>
        <p:spPr>
          <a:xfrm>
            <a:off x="1188720" y="530352"/>
            <a:ext cx="7498080" cy="502920"/>
          </a:xfrm>
          <a:prstGeom prst="rect">
            <a:avLst/>
          </a:prstGeom>
          <a:noFill/>
          <a:ln/>
        </p:spPr>
        <p:txBody>
          <a:bodyPr wrap="square" lIns="0" tIns="0" rIns="0" bIns="0" rtlCol="0" anchor="t">
            <a:normAutofit/>
          </a:bodyPr>
          <a:lstStyle/>
          <a:p>
            <a:pPr indent="0" marL="0">
              <a:buNone/>
            </a:pPr>
            <a:r>
              <a:rPr lang="en-US" sz="2800" b="1" dirty="0">
                <a:solidFill>
                  <a:srgbClr val="0B1D2E"/>
                </a:solidFill>
                <a:latin typeface="Calibri" pitchFamily="34" charset="0"/>
                <a:ea typeface="Calibri" pitchFamily="34" charset="-122"/>
                <a:cs typeface="Calibri" pitchFamily="34" charset="-120"/>
              </a:rPr>
              <a:t>Ciberataques frecuentes</a:t>
            </a:r>
            <a:endParaRPr lang="en-US" sz="2800" dirty="0"/>
          </a:p>
        </p:txBody>
      </p:sp>
      <p:sp>
        <p:nvSpPr>
          <p:cNvPr id="6" name="Shape 4"/>
          <p:cNvSpPr/>
          <p:nvPr/>
        </p:nvSpPr>
        <p:spPr>
          <a:xfrm>
            <a:off x="457200" y="3694176"/>
            <a:ext cx="8229600" cy="969264"/>
          </a:xfrm>
          <a:prstGeom prst="roundRect">
            <a:avLst>
              <a:gd name="adj" fmla="val 5660"/>
            </a:avLst>
          </a:prstGeom>
          <a:solidFill>
            <a:srgbClr val="FFF6E5"/>
          </a:solidFill>
          <a:ln w="12700">
            <a:solidFill>
              <a:srgbClr val="FFF6E5"/>
            </a:solidFill>
            <a:prstDash val="solid"/>
          </a:ln>
        </p:spPr>
      </p:sp>
      <p:sp>
        <p:nvSpPr>
          <p:cNvPr id="7" name="Text 5"/>
          <p:cNvSpPr txBox="1"/>
          <p:nvPr/>
        </p:nvSpPr>
        <p:spPr>
          <a:xfrm>
            <a:off x="640080" y="3694176"/>
            <a:ext cx="7863840" cy="969264"/>
          </a:xfrm>
          <a:prstGeom prst="rect">
            <a:avLst/>
          </a:prstGeom>
          <a:noFill/>
          <a:ln/>
        </p:spPr>
        <p:txBody>
          <a:bodyPr wrap="square" lIns="0" tIns="0" rIns="0" bIns="0" rtlCol="0" anchor="ctr">
            <a:normAutofit/>
          </a:bodyPr>
          <a:lstStyle/>
          <a:p>
            <a:pPr indent="0" marL="0">
              <a:buNone/>
            </a:pPr>
            <a:r>
              <a:rPr lang="en-US" sz="1350" b="1" dirty="0">
                <a:solidFill>
                  <a:srgbClr val="1E293B"/>
                </a:solidFill>
                <a:latin typeface="Calibri" pitchFamily="34" charset="0"/>
                <a:ea typeface="Calibri" pitchFamily="34" charset="-122"/>
                <a:cs typeface="Calibri" pitchFamily="34" charset="-120"/>
              </a:rPr>
              <a:t>Ejemplo: </a:t>
            </a:r>
            <a:pPr indent="0" marL="0">
              <a:buNone/>
            </a:pPr>
            <a:r>
              <a:rPr lang="en-US" sz="1350" dirty="0">
                <a:solidFill>
                  <a:srgbClr val="1E293B"/>
                </a:solidFill>
                <a:latin typeface="Calibri" pitchFamily="34" charset="0"/>
                <a:ea typeface="Calibri" pitchFamily="34" charset="-122"/>
                <a:cs typeface="Calibri" pitchFamily="34" charset="-120"/>
              </a:rPr>
              <a:t>Un formulario de inicio de sesión que acepta </a:t>
            </a:r>
            <a:pPr indent="0" marL="0">
              <a:buNone/>
            </a:pPr>
            <a:r>
              <a:rPr lang="en-US" sz="1350" dirty="0">
                <a:solidFill>
                  <a:srgbClr val="1E293B"/>
                </a:solidFill>
                <a:latin typeface="Courier New" pitchFamily="34" charset="0"/>
                <a:ea typeface="Courier New" pitchFamily="34" charset="-122"/>
                <a:cs typeface="Courier New" pitchFamily="34" charset="-120"/>
              </a:rPr>
              <a:t>' OR '1'='1</a:t>
            </a:r>
            <a:pPr indent="0" marL="0">
              <a:buNone/>
            </a:pPr>
            <a:r>
              <a:rPr lang="en-US" sz="1350" dirty="0">
                <a:solidFill>
                  <a:srgbClr val="1E293B"/>
                </a:solidFill>
                <a:latin typeface="Calibri" pitchFamily="34" charset="0"/>
                <a:ea typeface="Calibri" pitchFamily="34" charset="-122"/>
                <a:cs typeface="Calibri" pitchFamily="34" charset="-120"/>
              </a:rPr>
              <a:t> como contraseña es vulnerable a inyección SQL. Como desarrolladores web, siempre hay que validar y parametrizar lo que escribe el usuario.</a:t>
            </a:r>
            <a:endParaRPr lang="en-US" sz="1350" dirty="0"/>
          </a:p>
        </p:txBody>
      </p:sp>
      <p:sp>
        <p:nvSpPr>
          <p:cNvPr id="8" name="Shape 6"/>
          <p:cNvSpPr/>
          <p:nvPr/>
        </p:nvSpPr>
        <p:spPr>
          <a:xfrm>
            <a:off x="457200" y="1234440"/>
            <a:ext cx="2590800" cy="2171700"/>
          </a:xfrm>
          <a:prstGeom prst="roundRect">
            <a:avLst>
              <a:gd name="adj" fmla="val 3368"/>
            </a:avLst>
          </a:prstGeom>
          <a:solidFill>
            <a:srgbClr val="F1F7F8"/>
          </a:solidFill>
          <a:ln w="12700">
            <a:solidFill>
              <a:srgbClr val="F1F7F8"/>
            </a:solidFill>
            <a:prstDash val="solid"/>
          </a:ln>
        </p:spPr>
      </p:sp>
      <p:sp>
        <p:nvSpPr>
          <p:cNvPr id="9" name="Shape 7"/>
          <p:cNvSpPr/>
          <p:nvPr/>
        </p:nvSpPr>
        <p:spPr>
          <a:xfrm>
            <a:off x="621792" y="1399032"/>
            <a:ext cx="365760" cy="365760"/>
          </a:xfrm>
          <a:prstGeom prst="ellipse">
            <a:avLst/>
          </a:prstGeom>
          <a:solidFill>
            <a:srgbClr val="0E7C86"/>
          </a:solidFill>
          <a:ln w="12700">
            <a:solidFill>
              <a:srgbClr val="0E7C86"/>
            </a:solidFill>
            <a:prstDash val="solid"/>
          </a:ln>
        </p:spPr>
      </p:sp>
      <p:sp>
        <p:nvSpPr>
          <p:cNvPr id="10" name="Text 8"/>
          <p:cNvSpPr txBox="1"/>
          <p:nvPr/>
        </p:nvSpPr>
        <p:spPr>
          <a:xfrm>
            <a:off x="621792" y="139903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097280" y="1353312"/>
            <a:ext cx="1813560" cy="457200"/>
          </a:xfrm>
          <a:prstGeom prst="rect">
            <a:avLst/>
          </a:prstGeom>
          <a:noFill/>
          <a:ln/>
        </p:spPr>
        <p:txBody>
          <a:bodyPr wrap="square" lIns="0" tIns="0" rIns="0" bIns="0" rtlCol="0" anchor="ctr">
            <a:normAutofit/>
          </a:bodyPr>
          <a:lstStyle/>
          <a:p>
            <a:pPr indent="0" marL="0">
              <a:buNone/>
            </a:pPr>
            <a:r>
              <a:rPr lang="en-US" sz="1400" b="1" dirty="0">
                <a:solidFill>
                  <a:srgbClr val="0B1D2E"/>
                </a:solidFill>
                <a:latin typeface="Calibri" pitchFamily="34" charset="0"/>
                <a:ea typeface="Calibri" pitchFamily="34" charset="-122"/>
                <a:cs typeface="Calibri" pitchFamily="34" charset="-120"/>
              </a:rPr>
              <a:t>Denegación de servicio (DoS)</a:t>
            </a:r>
            <a:endParaRPr lang="en-US" sz="1400" dirty="0"/>
          </a:p>
        </p:txBody>
      </p:sp>
      <p:sp>
        <p:nvSpPr>
          <p:cNvPr id="12" name="Text 10"/>
          <p:cNvSpPr txBox="1"/>
          <p:nvPr/>
        </p:nvSpPr>
        <p:spPr>
          <a:xfrm>
            <a:off x="621792" y="1892808"/>
            <a:ext cx="2261616" cy="1394460"/>
          </a:xfrm>
          <a:prstGeom prst="rect">
            <a:avLst/>
          </a:prstGeom>
          <a:noFill/>
          <a:ln/>
        </p:spPr>
        <p:txBody>
          <a:bodyPr wrap="square" lIns="0" tIns="0" rIns="0" bIns="0" rtlCol="0" anchor="t">
            <a:normAutofit/>
          </a:bodyPr>
          <a:lstStyle/>
          <a:p>
            <a:pPr indent="0" marL="0">
              <a:buNone/>
            </a:pPr>
            <a:r>
              <a:rPr lang="en-US" sz="1500" dirty="0">
                <a:solidFill>
                  <a:srgbClr val="1E293B"/>
                </a:solidFill>
                <a:latin typeface="Calibri" pitchFamily="34" charset="0"/>
                <a:ea typeface="Calibri" pitchFamily="34" charset="-122"/>
                <a:cs typeface="Calibri" pitchFamily="34" charset="-120"/>
              </a:rPr>
              <a:t>Saturar un servidor para que deje de responder. Si el ataque viene desde muchos equipos a la vez (una botnet) es un DDoS.</a:t>
            </a:r>
            <a:endParaRPr lang="en-US" sz="1500" dirty="0"/>
          </a:p>
        </p:txBody>
      </p:sp>
      <p:sp>
        <p:nvSpPr>
          <p:cNvPr id="13" name="Shape 11"/>
          <p:cNvSpPr/>
          <p:nvPr/>
        </p:nvSpPr>
        <p:spPr>
          <a:xfrm>
            <a:off x="3276600" y="1234440"/>
            <a:ext cx="2590800" cy="2171700"/>
          </a:xfrm>
          <a:prstGeom prst="roundRect">
            <a:avLst>
              <a:gd name="adj" fmla="val 3368"/>
            </a:avLst>
          </a:prstGeom>
          <a:solidFill>
            <a:srgbClr val="F1F7F8"/>
          </a:solidFill>
          <a:ln w="12700">
            <a:solidFill>
              <a:srgbClr val="F1F7F8"/>
            </a:solidFill>
            <a:prstDash val="solid"/>
          </a:ln>
        </p:spPr>
      </p:sp>
      <p:sp>
        <p:nvSpPr>
          <p:cNvPr id="14" name="Shape 12"/>
          <p:cNvSpPr/>
          <p:nvPr/>
        </p:nvSpPr>
        <p:spPr>
          <a:xfrm>
            <a:off x="3441192" y="1399032"/>
            <a:ext cx="365760" cy="365760"/>
          </a:xfrm>
          <a:prstGeom prst="ellipse">
            <a:avLst/>
          </a:prstGeom>
          <a:solidFill>
            <a:srgbClr val="0E7C86"/>
          </a:solidFill>
          <a:ln w="12700">
            <a:solidFill>
              <a:srgbClr val="0E7C86"/>
            </a:solidFill>
            <a:prstDash val="solid"/>
          </a:ln>
        </p:spPr>
      </p:sp>
      <p:sp>
        <p:nvSpPr>
          <p:cNvPr id="15" name="Text 13"/>
          <p:cNvSpPr txBox="1"/>
          <p:nvPr/>
        </p:nvSpPr>
        <p:spPr>
          <a:xfrm>
            <a:off x="3441192" y="139903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6" name="Text 14"/>
          <p:cNvSpPr txBox="1"/>
          <p:nvPr/>
        </p:nvSpPr>
        <p:spPr>
          <a:xfrm>
            <a:off x="3916680" y="1353312"/>
            <a:ext cx="1813560" cy="457200"/>
          </a:xfrm>
          <a:prstGeom prst="rect">
            <a:avLst/>
          </a:prstGeom>
          <a:noFill/>
          <a:ln/>
        </p:spPr>
        <p:txBody>
          <a:bodyPr wrap="square" lIns="0" tIns="0" rIns="0" bIns="0" rtlCol="0" anchor="ctr">
            <a:normAutofit/>
          </a:bodyPr>
          <a:lstStyle/>
          <a:p>
            <a:pPr indent="0" marL="0">
              <a:buNone/>
            </a:pPr>
            <a:r>
              <a:rPr lang="en-US" sz="1400" b="1" dirty="0">
                <a:solidFill>
                  <a:srgbClr val="0B1D2E"/>
                </a:solidFill>
                <a:latin typeface="Calibri" pitchFamily="34" charset="0"/>
                <a:ea typeface="Calibri" pitchFamily="34" charset="-122"/>
                <a:cs typeface="Calibri" pitchFamily="34" charset="-120"/>
              </a:rPr>
              <a:t>Hombre en el medio (MitM)</a:t>
            </a:r>
            <a:endParaRPr lang="en-US" sz="1400" dirty="0"/>
          </a:p>
        </p:txBody>
      </p:sp>
      <p:sp>
        <p:nvSpPr>
          <p:cNvPr id="17" name="Text 15"/>
          <p:cNvSpPr txBox="1"/>
          <p:nvPr/>
        </p:nvSpPr>
        <p:spPr>
          <a:xfrm>
            <a:off x="3441192" y="1892808"/>
            <a:ext cx="2261616" cy="1394460"/>
          </a:xfrm>
          <a:prstGeom prst="rect">
            <a:avLst/>
          </a:prstGeom>
          <a:noFill/>
          <a:ln/>
        </p:spPr>
        <p:txBody>
          <a:bodyPr wrap="square" lIns="0" tIns="0" rIns="0" bIns="0" rtlCol="0" anchor="t">
            <a:normAutofit/>
          </a:bodyPr>
          <a:lstStyle/>
          <a:p>
            <a:pPr indent="0" marL="0">
              <a:buNone/>
            </a:pPr>
            <a:r>
              <a:rPr lang="en-US" sz="1500" dirty="0">
                <a:solidFill>
                  <a:srgbClr val="1E293B"/>
                </a:solidFill>
                <a:latin typeface="Calibri" pitchFamily="34" charset="0"/>
                <a:ea typeface="Calibri" pitchFamily="34" charset="-122"/>
                <a:cs typeface="Calibri" pitchFamily="34" charset="-120"/>
              </a:rPr>
              <a:t>El atacante se coloca entre dos equipos que se comunican para leer o alterar el tráfico.</a:t>
            </a:r>
            <a:endParaRPr lang="en-US" sz="1500" dirty="0"/>
          </a:p>
        </p:txBody>
      </p:sp>
      <p:sp>
        <p:nvSpPr>
          <p:cNvPr id="18" name="Shape 16"/>
          <p:cNvSpPr/>
          <p:nvPr/>
        </p:nvSpPr>
        <p:spPr>
          <a:xfrm>
            <a:off x="6096000" y="1234440"/>
            <a:ext cx="2590800" cy="2171700"/>
          </a:xfrm>
          <a:prstGeom prst="roundRect">
            <a:avLst>
              <a:gd name="adj" fmla="val 3368"/>
            </a:avLst>
          </a:prstGeom>
          <a:solidFill>
            <a:srgbClr val="F1F7F8"/>
          </a:solidFill>
          <a:ln w="12700">
            <a:solidFill>
              <a:srgbClr val="F1F7F8"/>
            </a:solidFill>
            <a:prstDash val="solid"/>
          </a:ln>
        </p:spPr>
      </p:sp>
      <p:sp>
        <p:nvSpPr>
          <p:cNvPr id="19" name="Shape 17"/>
          <p:cNvSpPr/>
          <p:nvPr/>
        </p:nvSpPr>
        <p:spPr>
          <a:xfrm>
            <a:off x="6260592" y="1399032"/>
            <a:ext cx="365760" cy="365760"/>
          </a:xfrm>
          <a:prstGeom prst="ellipse">
            <a:avLst/>
          </a:prstGeom>
          <a:solidFill>
            <a:srgbClr val="0E7C86"/>
          </a:solidFill>
          <a:ln w="12700">
            <a:solidFill>
              <a:srgbClr val="0E7C86"/>
            </a:solidFill>
            <a:prstDash val="solid"/>
          </a:ln>
        </p:spPr>
      </p:sp>
      <p:sp>
        <p:nvSpPr>
          <p:cNvPr id="20" name="Text 18"/>
          <p:cNvSpPr txBox="1"/>
          <p:nvPr/>
        </p:nvSpPr>
        <p:spPr>
          <a:xfrm>
            <a:off x="6260592" y="139903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1" name="Text 19"/>
          <p:cNvSpPr txBox="1"/>
          <p:nvPr/>
        </p:nvSpPr>
        <p:spPr>
          <a:xfrm>
            <a:off x="6736080" y="1353312"/>
            <a:ext cx="1813560" cy="457200"/>
          </a:xfrm>
          <a:prstGeom prst="rect">
            <a:avLst/>
          </a:prstGeom>
          <a:noFill/>
          <a:ln/>
        </p:spPr>
        <p:txBody>
          <a:bodyPr wrap="square" lIns="0" tIns="0" rIns="0" bIns="0" rtlCol="0" anchor="ctr">
            <a:normAutofit/>
          </a:bodyPr>
          <a:lstStyle/>
          <a:p>
            <a:pPr indent="0" marL="0">
              <a:buNone/>
            </a:pPr>
            <a:r>
              <a:rPr lang="en-US" sz="1400" b="1" dirty="0">
                <a:solidFill>
                  <a:srgbClr val="0B1D2E"/>
                </a:solidFill>
                <a:latin typeface="Calibri" pitchFamily="34" charset="0"/>
                <a:ea typeface="Calibri" pitchFamily="34" charset="-122"/>
                <a:cs typeface="Calibri" pitchFamily="34" charset="-120"/>
              </a:rPr>
              <a:t>Fuerza bruta</a:t>
            </a:r>
            <a:endParaRPr lang="en-US" sz="1400" dirty="0"/>
          </a:p>
        </p:txBody>
      </p:sp>
      <p:sp>
        <p:nvSpPr>
          <p:cNvPr id="22" name="Text 20"/>
          <p:cNvSpPr txBox="1"/>
          <p:nvPr/>
        </p:nvSpPr>
        <p:spPr>
          <a:xfrm>
            <a:off x="6260592" y="1892808"/>
            <a:ext cx="2261616" cy="1394460"/>
          </a:xfrm>
          <a:prstGeom prst="rect">
            <a:avLst/>
          </a:prstGeom>
          <a:noFill/>
          <a:ln/>
        </p:spPr>
        <p:txBody>
          <a:bodyPr wrap="square" lIns="0" tIns="0" rIns="0" bIns="0" rtlCol="0" anchor="t">
            <a:normAutofit/>
          </a:bodyPr>
          <a:lstStyle/>
          <a:p>
            <a:pPr indent="0" marL="0">
              <a:buNone/>
            </a:pPr>
            <a:r>
              <a:rPr lang="en-US" sz="1500" dirty="0">
                <a:solidFill>
                  <a:srgbClr val="1E293B"/>
                </a:solidFill>
                <a:latin typeface="Calibri" pitchFamily="34" charset="0"/>
                <a:ea typeface="Calibri" pitchFamily="34" charset="-122"/>
                <a:cs typeface="Calibri" pitchFamily="34" charset="-120"/>
              </a:rPr>
              <a:t>Probar todas las combinaciones posibles de una contraseña. El ataque de diccionario prueba palabras comunes.</a:t>
            </a:r>
            <a:endParaRPr lang="en-US" sz="1500" dirty="0"/>
          </a:p>
        </p:txBody>
      </p:sp>
      <p:sp>
        <p:nvSpPr>
          <p:cNvPr id="23" name="Text 21"/>
          <p:cNvSpPr txBox="1"/>
          <p:nvPr/>
        </p:nvSpPr>
        <p:spPr>
          <a:xfrm>
            <a:off x="45720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Fundamentos de ciberseguridad · RA1</a:t>
            </a:r>
            <a:endParaRPr lang="en-US" sz="900" dirty="0"/>
          </a:p>
        </p:txBody>
      </p:sp>
      <p:sp>
        <p:nvSpPr>
          <p:cNvPr id="24" name="Text 22"/>
          <p:cNvSpPr txBox="1"/>
          <p:nvPr/>
        </p:nvSpPr>
        <p:spPr>
          <a:xfrm>
            <a:off x="8229600" y="4800600"/>
            <a:ext cx="457200" cy="22860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47472"/>
            <a:ext cx="566928" cy="566928"/>
          </a:xfrm>
          <a:prstGeom prst="ellipse">
            <a:avLst/>
          </a:prstGeom>
          <a:solidFill>
            <a:srgbClr val="0E7C86"/>
          </a:solidFill>
          <a:ln w="12700">
            <a:solidFill>
              <a:srgbClr val="0E7C86"/>
            </a:solidFill>
            <a:prstDash val="solid"/>
          </a:ln>
        </p:spPr>
      </p:sp>
      <p:sp>
        <p:nvSpPr>
          <p:cNvPr id="3" name="Text 1"/>
          <p:cNvSpPr txBox="1"/>
          <p:nvPr/>
        </p:nvSpPr>
        <p:spPr>
          <a:xfrm>
            <a:off x="457200" y="34747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4" name="Text 2"/>
          <p:cNvSpPr txBox="1"/>
          <p:nvPr/>
        </p:nvSpPr>
        <p:spPr>
          <a:xfrm>
            <a:off x="1188720" y="292608"/>
            <a:ext cx="7498080" cy="256032"/>
          </a:xfrm>
          <a:prstGeom prst="rect">
            <a:avLst/>
          </a:prstGeom>
          <a:noFill/>
          <a:ln/>
        </p:spPr>
        <p:txBody>
          <a:bodyPr wrap="square" lIns="0" tIns="0" rIns="0" bIns="0" rtlCol="0" anchor="ctr"/>
          <a:lstStyle/>
          <a:p>
            <a:pPr indent="0" marL="0">
              <a:buNone/>
            </a:pPr>
            <a:r>
              <a:rPr lang="en-US" sz="1100" b="1" dirty="0">
                <a:solidFill>
                  <a:srgbClr val="0E7C86"/>
                </a:solidFill>
                <a:latin typeface="Calibri" pitchFamily="34" charset="0"/>
                <a:ea typeface="Calibri" pitchFamily="34" charset="-122"/>
                <a:cs typeface="Calibri" pitchFamily="34" charset="-120"/>
              </a:rPr>
              <a:t>TEMA 4 · CIBERATAQUES, DISPOSITIVOS MÓVILES Y APLICACIONES</a:t>
            </a:r>
            <a:endParaRPr lang="en-US" sz="1100" dirty="0"/>
          </a:p>
        </p:txBody>
      </p:sp>
      <p:sp>
        <p:nvSpPr>
          <p:cNvPr id="5" name="Text 3"/>
          <p:cNvSpPr txBox="1"/>
          <p:nvPr/>
        </p:nvSpPr>
        <p:spPr>
          <a:xfrm>
            <a:off x="1188720" y="530352"/>
            <a:ext cx="7498080" cy="502920"/>
          </a:xfrm>
          <a:prstGeom prst="rect">
            <a:avLst/>
          </a:prstGeom>
          <a:noFill/>
          <a:ln/>
        </p:spPr>
        <p:txBody>
          <a:bodyPr wrap="square" lIns="0" tIns="0" rIns="0" bIns="0" rtlCol="0" anchor="t">
            <a:normAutofit/>
          </a:bodyPr>
          <a:lstStyle/>
          <a:p>
            <a:pPr indent="0" marL="0">
              <a:buNone/>
            </a:pPr>
            <a:r>
              <a:rPr lang="en-US" sz="2500" b="1" dirty="0">
                <a:solidFill>
                  <a:srgbClr val="0B1D2E"/>
                </a:solidFill>
                <a:latin typeface="Calibri" pitchFamily="34" charset="0"/>
                <a:ea typeface="Calibri" pitchFamily="34" charset="-122"/>
                <a:cs typeface="Calibri" pitchFamily="34" charset="-120"/>
              </a:rPr>
              <a:t>Ataques a dispositivos inalámbricos y móviles</a:t>
            </a:r>
            <a:endParaRPr lang="en-US" sz="2500" dirty="0"/>
          </a:p>
        </p:txBody>
      </p:sp>
      <p:sp>
        <p:nvSpPr>
          <p:cNvPr id="6" name="Shape 4"/>
          <p:cNvSpPr/>
          <p:nvPr/>
        </p:nvSpPr>
        <p:spPr>
          <a:xfrm>
            <a:off x="457200" y="1234440"/>
            <a:ext cx="2590800" cy="1911096"/>
          </a:xfrm>
          <a:prstGeom prst="roundRect">
            <a:avLst>
              <a:gd name="adj" fmla="val 3828"/>
            </a:avLst>
          </a:prstGeom>
          <a:solidFill>
            <a:srgbClr val="F1F7F8"/>
          </a:solidFill>
          <a:ln w="12700">
            <a:solidFill>
              <a:srgbClr val="F1F7F8"/>
            </a:solidFill>
            <a:prstDash val="solid"/>
          </a:ln>
        </p:spPr>
      </p:sp>
      <p:sp>
        <p:nvSpPr>
          <p:cNvPr id="7" name="Shape 5"/>
          <p:cNvSpPr/>
          <p:nvPr/>
        </p:nvSpPr>
        <p:spPr>
          <a:xfrm>
            <a:off x="621792" y="1399032"/>
            <a:ext cx="365760" cy="365760"/>
          </a:xfrm>
          <a:prstGeom prst="ellipse">
            <a:avLst/>
          </a:prstGeom>
          <a:solidFill>
            <a:srgbClr val="0E7C86"/>
          </a:solidFill>
          <a:ln w="12700">
            <a:solidFill>
              <a:srgbClr val="0E7C86"/>
            </a:solidFill>
            <a:prstDash val="solid"/>
          </a:ln>
        </p:spPr>
      </p:sp>
      <p:sp>
        <p:nvSpPr>
          <p:cNvPr id="8" name="Text 6"/>
          <p:cNvSpPr txBox="1"/>
          <p:nvPr/>
        </p:nvSpPr>
        <p:spPr>
          <a:xfrm>
            <a:off x="621792" y="139903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9" name="Text 7"/>
          <p:cNvSpPr txBox="1"/>
          <p:nvPr/>
        </p:nvSpPr>
        <p:spPr>
          <a:xfrm>
            <a:off x="1097280" y="1353312"/>
            <a:ext cx="1813560" cy="457200"/>
          </a:xfrm>
          <a:prstGeom prst="rect">
            <a:avLst/>
          </a:prstGeom>
          <a:noFill/>
          <a:ln/>
        </p:spPr>
        <p:txBody>
          <a:bodyPr wrap="square" lIns="0" tIns="0" rIns="0" bIns="0" rtlCol="0" anchor="ctr">
            <a:normAutofit/>
          </a:bodyPr>
          <a:lstStyle/>
          <a:p>
            <a:pPr indent="0" marL="0">
              <a:buNone/>
            </a:pPr>
            <a:r>
              <a:rPr lang="en-US" sz="1400" b="1" dirty="0">
                <a:solidFill>
                  <a:srgbClr val="0B1D2E"/>
                </a:solidFill>
                <a:latin typeface="Calibri" pitchFamily="34" charset="0"/>
                <a:ea typeface="Calibri" pitchFamily="34" charset="-122"/>
                <a:cs typeface="Calibri" pitchFamily="34" charset="-120"/>
              </a:rPr>
              <a:t>Punto de acceso falso (evil twin)</a:t>
            </a:r>
            <a:endParaRPr lang="en-US" sz="1400" dirty="0"/>
          </a:p>
        </p:txBody>
      </p:sp>
      <p:sp>
        <p:nvSpPr>
          <p:cNvPr id="10" name="Text 8"/>
          <p:cNvSpPr txBox="1"/>
          <p:nvPr/>
        </p:nvSpPr>
        <p:spPr>
          <a:xfrm>
            <a:off x="621792" y="1892808"/>
            <a:ext cx="2261616" cy="1133856"/>
          </a:xfrm>
          <a:prstGeom prst="rect">
            <a:avLst/>
          </a:prstGeom>
          <a:noFill/>
          <a:ln/>
        </p:spPr>
        <p:txBody>
          <a:bodyPr wrap="square" lIns="0" tIns="0" rIns="0" bIns="0" rtlCol="0" anchor="t">
            <a:normAutofit/>
          </a:bodyPr>
          <a:lstStyle/>
          <a:p>
            <a:pPr indent="0" marL="0">
              <a:buNone/>
            </a:pPr>
            <a:r>
              <a:rPr lang="en-US" sz="1500" dirty="0">
                <a:solidFill>
                  <a:srgbClr val="1E293B"/>
                </a:solidFill>
                <a:latin typeface="Calibri" pitchFamily="34" charset="0"/>
                <a:ea typeface="Calibri" pitchFamily="34" charset="-122"/>
                <a:cs typeface="Calibri" pitchFamily="34" charset="-120"/>
              </a:rPr>
              <a:t>Una red Wi-Fi con el mismo nombre que una legítima para capturar el tráfico.</a:t>
            </a:r>
            <a:endParaRPr lang="en-US" sz="1500" dirty="0"/>
          </a:p>
        </p:txBody>
      </p:sp>
      <p:sp>
        <p:nvSpPr>
          <p:cNvPr id="11" name="Shape 9"/>
          <p:cNvSpPr/>
          <p:nvPr/>
        </p:nvSpPr>
        <p:spPr>
          <a:xfrm>
            <a:off x="3276600" y="1234440"/>
            <a:ext cx="2590800" cy="1911096"/>
          </a:xfrm>
          <a:prstGeom prst="roundRect">
            <a:avLst>
              <a:gd name="adj" fmla="val 3828"/>
            </a:avLst>
          </a:prstGeom>
          <a:solidFill>
            <a:srgbClr val="F1F7F8"/>
          </a:solidFill>
          <a:ln w="12700">
            <a:solidFill>
              <a:srgbClr val="F1F7F8"/>
            </a:solidFill>
            <a:prstDash val="solid"/>
          </a:ln>
        </p:spPr>
      </p:sp>
      <p:sp>
        <p:nvSpPr>
          <p:cNvPr id="12" name="Shape 10"/>
          <p:cNvSpPr/>
          <p:nvPr/>
        </p:nvSpPr>
        <p:spPr>
          <a:xfrm>
            <a:off x="3441192" y="1399032"/>
            <a:ext cx="365760" cy="365760"/>
          </a:xfrm>
          <a:prstGeom prst="ellipse">
            <a:avLst/>
          </a:prstGeom>
          <a:solidFill>
            <a:srgbClr val="0E7C86"/>
          </a:solidFill>
          <a:ln w="12700">
            <a:solidFill>
              <a:srgbClr val="0E7C86"/>
            </a:solidFill>
            <a:prstDash val="solid"/>
          </a:ln>
        </p:spPr>
      </p:sp>
      <p:sp>
        <p:nvSpPr>
          <p:cNvPr id="13" name="Text 11"/>
          <p:cNvSpPr txBox="1"/>
          <p:nvPr/>
        </p:nvSpPr>
        <p:spPr>
          <a:xfrm>
            <a:off x="3441192" y="139903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4" name="Text 12"/>
          <p:cNvSpPr txBox="1"/>
          <p:nvPr/>
        </p:nvSpPr>
        <p:spPr>
          <a:xfrm>
            <a:off x="3916680" y="1353312"/>
            <a:ext cx="1813560" cy="457200"/>
          </a:xfrm>
          <a:prstGeom prst="rect">
            <a:avLst/>
          </a:prstGeom>
          <a:noFill/>
          <a:ln/>
        </p:spPr>
        <p:txBody>
          <a:bodyPr wrap="square" lIns="0" tIns="0" rIns="0" bIns="0" rtlCol="0" anchor="ctr">
            <a:normAutofit/>
          </a:bodyPr>
          <a:lstStyle/>
          <a:p>
            <a:pPr indent="0" marL="0">
              <a:buNone/>
            </a:pPr>
            <a:r>
              <a:rPr lang="en-US" sz="1400" b="1" dirty="0">
                <a:solidFill>
                  <a:srgbClr val="0B1D2E"/>
                </a:solidFill>
                <a:latin typeface="Calibri" pitchFamily="34" charset="0"/>
                <a:ea typeface="Calibri" pitchFamily="34" charset="-122"/>
                <a:cs typeface="Calibri" pitchFamily="34" charset="-120"/>
              </a:rPr>
              <a:t>Bluejacking</a:t>
            </a:r>
            <a:endParaRPr lang="en-US" sz="1400" dirty="0"/>
          </a:p>
        </p:txBody>
      </p:sp>
      <p:sp>
        <p:nvSpPr>
          <p:cNvPr id="15" name="Text 13"/>
          <p:cNvSpPr txBox="1"/>
          <p:nvPr/>
        </p:nvSpPr>
        <p:spPr>
          <a:xfrm>
            <a:off x="3441192" y="1892808"/>
            <a:ext cx="2261616" cy="1133856"/>
          </a:xfrm>
          <a:prstGeom prst="rect">
            <a:avLst/>
          </a:prstGeom>
          <a:noFill/>
          <a:ln/>
        </p:spPr>
        <p:txBody>
          <a:bodyPr wrap="square" lIns="0" tIns="0" rIns="0" bIns="0" rtlCol="0" anchor="t">
            <a:normAutofit/>
          </a:bodyPr>
          <a:lstStyle/>
          <a:p>
            <a:pPr indent="0" marL="0">
              <a:buNone/>
            </a:pPr>
            <a:r>
              <a:rPr lang="en-US" sz="1500" dirty="0">
                <a:solidFill>
                  <a:srgbClr val="1E293B"/>
                </a:solidFill>
                <a:latin typeface="Calibri" pitchFamily="34" charset="0"/>
                <a:ea typeface="Calibri" pitchFamily="34" charset="-122"/>
                <a:cs typeface="Calibri" pitchFamily="34" charset="-120"/>
              </a:rPr>
              <a:t>Enviar mensajes no solicitados por Bluetooth. Bluesnarfing: robar datos por Bluetooth.</a:t>
            </a:r>
            <a:endParaRPr lang="en-US" sz="1500" dirty="0"/>
          </a:p>
        </p:txBody>
      </p:sp>
      <p:sp>
        <p:nvSpPr>
          <p:cNvPr id="16" name="Shape 14"/>
          <p:cNvSpPr/>
          <p:nvPr/>
        </p:nvSpPr>
        <p:spPr>
          <a:xfrm>
            <a:off x="6096000" y="1234440"/>
            <a:ext cx="2590800" cy="1911096"/>
          </a:xfrm>
          <a:prstGeom prst="roundRect">
            <a:avLst>
              <a:gd name="adj" fmla="val 3828"/>
            </a:avLst>
          </a:prstGeom>
          <a:solidFill>
            <a:srgbClr val="F1F7F8"/>
          </a:solidFill>
          <a:ln w="12700">
            <a:solidFill>
              <a:srgbClr val="F1F7F8"/>
            </a:solidFill>
            <a:prstDash val="solid"/>
          </a:ln>
        </p:spPr>
      </p:sp>
      <p:sp>
        <p:nvSpPr>
          <p:cNvPr id="17" name="Shape 15"/>
          <p:cNvSpPr/>
          <p:nvPr/>
        </p:nvSpPr>
        <p:spPr>
          <a:xfrm>
            <a:off x="6260592" y="1399032"/>
            <a:ext cx="365760" cy="365760"/>
          </a:xfrm>
          <a:prstGeom prst="ellipse">
            <a:avLst/>
          </a:prstGeom>
          <a:solidFill>
            <a:srgbClr val="0E7C86"/>
          </a:solidFill>
          <a:ln w="12700">
            <a:solidFill>
              <a:srgbClr val="0E7C86"/>
            </a:solidFill>
            <a:prstDash val="solid"/>
          </a:ln>
        </p:spPr>
      </p:sp>
      <p:sp>
        <p:nvSpPr>
          <p:cNvPr id="18" name="Text 16"/>
          <p:cNvSpPr txBox="1"/>
          <p:nvPr/>
        </p:nvSpPr>
        <p:spPr>
          <a:xfrm>
            <a:off x="6260592" y="139903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6736080" y="1353312"/>
            <a:ext cx="1813560" cy="457200"/>
          </a:xfrm>
          <a:prstGeom prst="rect">
            <a:avLst/>
          </a:prstGeom>
          <a:noFill/>
          <a:ln/>
        </p:spPr>
        <p:txBody>
          <a:bodyPr wrap="square" lIns="0" tIns="0" rIns="0" bIns="0" rtlCol="0" anchor="ctr">
            <a:normAutofit/>
          </a:bodyPr>
          <a:lstStyle/>
          <a:p>
            <a:pPr indent="0" marL="0">
              <a:buNone/>
            </a:pPr>
            <a:r>
              <a:rPr lang="en-US" sz="1400" b="1" dirty="0">
                <a:solidFill>
                  <a:srgbClr val="0B1D2E"/>
                </a:solidFill>
                <a:latin typeface="Calibri" pitchFamily="34" charset="0"/>
                <a:ea typeface="Calibri" pitchFamily="34" charset="-122"/>
                <a:cs typeface="Calibri" pitchFamily="34" charset="-120"/>
              </a:rPr>
              <a:t>Aplicaciones maliciosas</a:t>
            </a:r>
            <a:endParaRPr lang="en-US" sz="1400" dirty="0"/>
          </a:p>
        </p:txBody>
      </p:sp>
      <p:sp>
        <p:nvSpPr>
          <p:cNvPr id="20" name="Text 18"/>
          <p:cNvSpPr txBox="1"/>
          <p:nvPr/>
        </p:nvSpPr>
        <p:spPr>
          <a:xfrm>
            <a:off x="6260592" y="1892808"/>
            <a:ext cx="2261616" cy="1133856"/>
          </a:xfrm>
          <a:prstGeom prst="rect">
            <a:avLst/>
          </a:prstGeom>
          <a:noFill/>
          <a:ln/>
        </p:spPr>
        <p:txBody>
          <a:bodyPr wrap="square" lIns="0" tIns="0" rIns="0" bIns="0" rtlCol="0" anchor="t">
            <a:normAutofit/>
          </a:bodyPr>
          <a:lstStyle/>
          <a:p>
            <a:pPr indent="0" marL="0">
              <a:buNone/>
            </a:pPr>
            <a:r>
              <a:rPr lang="en-US" sz="1500" dirty="0">
                <a:solidFill>
                  <a:srgbClr val="1E293B"/>
                </a:solidFill>
                <a:latin typeface="Calibri" pitchFamily="34" charset="0"/>
                <a:ea typeface="Calibri" pitchFamily="34" charset="-122"/>
                <a:cs typeface="Calibri" pitchFamily="34" charset="-120"/>
              </a:rPr>
              <a:t>Apps falsas o descargadas fuera de las tiendas oficiales.</a:t>
            </a:r>
            <a:endParaRPr lang="en-US" sz="1500" dirty="0"/>
          </a:p>
        </p:txBody>
      </p:sp>
      <p:sp>
        <p:nvSpPr>
          <p:cNvPr id="21" name="Text 19"/>
          <p:cNvSpPr txBox="1"/>
          <p:nvPr/>
        </p:nvSpPr>
        <p:spPr>
          <a:xfrm>
            <a:off x="45720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Fundamentos de ciberseguridad · RA1</a:t>
            </a:r>
            <a:endParaRPr lang="en-US" sz="900" dirty="0"/>
          </a:p>
        </p:txBody>
      </p:sp>
      <p:sp>
        <p:nvSpPr>
          <p:cNvPr id="22" name="Text 20"/>
          <p:cNvSpPr txBox="1"/>
          <p:nvPr/>
        </p:nvSpPr>
        <p:spPr>
          <a:xfrm>
            <a:off x="8229600" y="4800600"/>
            <a:ext cx="457200" cy="22860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47472"/>
            <a:ext cx="566928" cy="566928"/>
          </a:xfrm>
          <a:prstGeom prst="ellipse">
            <a:avLst/>
          </a:prstGeom>
          <a:solidFill>
            <a:srgbClr val="0E7C86"/>
          </a:solidFill>
          <a:ln w="12700">
            <a:solidFill>
              <a:srgbClr val="0E7C86"/>
            </a:solidFill>
            <a:prstDash val="solid"/>
          </a:ln>
        </p:spPr>
      </p:sp>
      <p:sp>
        <p:nvSpPr>
          <p:cNvPr id="3" name="Text 1"/>
          <p:cNvSpPr txBox="1"/>
          <p:nvPr/>
        </p:nvSpPr>
        <p:spPr>
          <a:xfrm>
            <a:off x="457200" y="34747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4" name="Text 2"/>
          <p:cNvSpPr txBox="1"/>
          <p:nvPr/>
        </p:nvSpPr>
        <p:spPr>
          <a:xfrm>
            <a:off x="1188720" y="292608"/>
            <a:ext cx="7498080" cy="256032"/>
          </a:xfrm>
          <a:prstGeom prst="rect">
            <a:avLst/>
          </a:prstGeom>
          <a:noFill/>
          <a:ln/>
        </p:spPr>
        <p:txBody>
          <a:bodyPr wrap="square" lIns="0" tIns="0" rIns="0" bIns="0" rtlCol="0" anchor="ctr"/>
          <a:lstStyle/>
          <a:p>
            <a:pPr indent="0" marL="0">
              <a:buNone/>
            </a:pPr>
            <a:r>
              <a:rPr lang="en-US" sz="1100" b="1" dirty="0">
                <a:solidFill>
                  <a:srgbClr val="0E7C86"/>
                </a:solidFill>
                <a:latin typeface="Calibri" pitchFamily="34" charset="0"/>
                <a:ea typeface="Calibri" pitchFamily="34" charset="-122"/>
                <a:cs typeface="Calibri" pitchFamily="34" charset="-120"/>
              </a:rPr>
              <a:t>TEMA 4 · CIBERATAQUES, DISPOSITIVOS MÓVILES Y APLICACIONES</a:t>
            </a:r>
            <a:endParaRPr lang="en-US" sz="1100" dirty="0"/>
          </a:p>
        </p:txBody>
      </p:sp>
      <p:sp>
        <p:nvSpPr>
          <p:cNvPr id="5" name="Text 3"/>
          <p:cNvSpPr txBox="1"/>
          <p:nvPr/>
        </p:nvSpPr>
        <p:spPr>
          <a:xfrm>
            <a:off x="1188720" y="530352"/>
            <a:ext cx="7498080" cy="502920"/>
          </a:xfrm>
          <a:prstGeom prst="rect">
            <a:avLst/>
          </a:prstGeom>
          <a:noFill/>
          <a:ln/>
        </p:spPr>
        <p:txBody>
          <a:bodyPr wrap="square" lIns="0" tIns="0" rIns="0" bIns="0" rtlCol="0" anchor="t">
            <a:normAutofit/>
          </a:bodyPr>
          <a:lstStyle/>
          <a:p>
            <a:pPr indent="0" marL="0">
              <a:buNone/>
            </a:pPr>
            <a:r>
              <a:rPr lang="en-US" sz="2800" b="1" dirty="0">
                <a:solidFill>
                  <a:srgbClr val="0B1D2E"/>
                </a:solidFill>
                <a:latin typeface="Calibri" pitchFamily="34" charset="0"/>
                <a:ea typeface="Calibri" pitchFamily="34" charset="-122"/>
                <a:cs typeface="Calibri" pitchFamily="34" charset="-120"/>
              </a:rPr>
              <a:t>Ataques a las aplicaciones</a:t>
            </a:r>
            <a:endParaRPr lang="en-US" sz="2800" dirty="0"/>
          </a:p>
        </p:txBody>
      </p:sp>
      <p:sp>
        <p:nvSpPr>
          <p:cNvPr id="6" name="Shape 4"/>
          <p:cNvSpPr/>
          <p:nvPr/>
        </p:nvSpPr>
        <p:spPr>
          <a:xfrm>
            <a:off x="457200" y="1234440"/>
            <a:ext cx="4000500" cy="1600200"/>
          </a:xfrm>
          <a:prstGeom prst="roundRect">
            <a:avLst>
              <a:gd name="adj" fmla="val 4571"/>
            </a:avLst>
          </a:prstGeom>
          <a:solidFill>
            <a:srgbClr val="F1F7F8"/>
          </a:solidFill>
          <a:ln w="12700">
            <a:solidFill>
              <a:srgbClr val="F1F7F8"/>
            </a:solidFill>
            <a:prstDash val="solid"/>
          </a:ln>
        </p:spPr>
      </p:sp>
      <p:sp>
        <p:nvSpPr>
          <p:cNvPr id="7" name="Shape 5"/>
          <p:cNvSpPr/>
          <p:nvPr/>
        </p:nvSpPr>
        <p:spPr>
          <a:xfrm>
            <a:off x="621792" y="1399032"/>
            <a:ext cx="365760" cy="365760"/>
          </a:xfrm>
          <a:prstGeom prst="ellipse">
            <a:avLst/>
          </a:prstGeom>
          <a:solidFill>
            <a:srgbClr val="0E7C86"/>
          </a:solidFill>
          <a:ln w="12700">
            <a:solidFill>
              <a:srgbClr val="0E7C86"/>
            </a:solidFill>
            <a:prstDash val="solid"/>
          </a:ln>
        </p:spPr>
      </p:sp>
      <p:sp>
        <p:nvSpPr>
          <p:cNvPr id="8" name="Text 6"/>
          <p:cNvSpPr txBox="1"/>
          <p:nvPr/>
        </p:nvSpPr>
        <p:spPr>
          <a:xfrm>
            <a:off x="621792" y="139903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9" name="Text 7"/>
          <p:cNvSpPr txBox="1"/>
          <p:nvPr/>
        </p:nvSpPr>
        <p:spPr>
          <a:xfrm>
            <a:off x="1097280" y="1353312"/>
            <a:ext cx="3223260" cy="457200"/>
          </a:xfrm>
          <a:prstGeom prst="rect">
            <a:avLst/>
          </a:prstGeom>
          <a:noFill/>
          <a:ln/>
        </p:spPr>
        <p:txBody>
          <a:bodyPr wrap="square" lIns="0" tIns="0" rIns="0" bIns="0" rtlCol="0" anchor="ctr">
            <a:normAutofit/>
          </a:bodyPr>
          <a:lstStyle/>
          <a:p>
            <a:pPr indent="0" marL="0">
              <a:buNone/>
            </a:pPr>
            <a:r>
              <a:rPr lang="en-US" sz="1400" b="1" dirty="0">
                <a:solidFill>
                  <a:srgbClr val="0B1D2E"/>
                </a:solidFill>
                <a:latin typeface="Calibri" pitchFamily="34" charset="0"/>
                <a:ea typeface="Calibri" pitchFamily="34" charset="-122"/>
                <a:cs typeface="Calibri" pitchFamily="34" charset="-120"/>
              </a:rPr>
              <a:t>Inyección SQL</a:t>
            </a:r>
            <a:endParaRPr lang="en-US" sz="1400" dirty="0"/>
          </a:p>
        </p:txBody>
      </p:sp>
      <p:sp>
        <p:nvSpPr>
          <p:cNvPr id="10" name="Text 8"/>
          <p:cNvSpPr txBox="1"/>
          <p:nvPr/>
        </p:nvSpPr>
        <p:spPr>
          <a:xfrm>
            <a:off x="621792" y="1892808"/>
            <a:ext cx="3671316" cy="822960"/>
          </a:xfrm>
          <a:prstGeom prst="rect">
            <a:avLst/>
          </a:prstGeom>
          <a:noFill/>
          <a:ln/>
        </p:spPr>
        <p:txBody>
          <a:bodyPr wrap="square" lIns="0" tIns="0" rIns="0" bIns="0" rtlCol="0" anchor="t">
            <a:normAutofit/>
          </a:bodyPr>
          <a:lstStyle/>
          <a:p>
            <a:pPr indent="0" marL="0">
              <a:buNone/>
            </a:pPr>
            <a:r>
              <a:rPr lang="en-US" sz="1500" dirty="0">
                <a:solidFill>
                  <a:srgbClr val="1E293B"/>
                </a:solidFill>
                <a:latin typeface="Calibri" pitchFamily="34" charset="0"/>
                <a:ea typeface="Calibri" pitchFamily="34" charset="-122"/>
                <a:cs typeface="Calibri" pitchFamily="34" charset="-120"/>
              </a:rPr>
              <a:t>El atacante escribe código SQL en un formulario para leer o borrar la base de datos.</a:t>
            </a:r>
            <a:endParaRPr lang="en-US" sz="1500" dirty="0"/>
          </a:p>
        </p:txBody>
      </p:sp>
      <p:sp>
        <p:nvSpPr>
          <p:cNvPr id="11" name="Shape 9"/>
          <p:cNvSpPr/>
          <p:nvPr/>
        </p:nvSpPr>
        <p:spPr>
          <a:xfrm>
            <a:off x="4686300" y="1234440"/>
            <a:ext cx="4000500" cy="1600200"/>
          </a:xfrm>
          <a:prstGeom prst="roundRect">
            <a:avLst>
              <a:gd name="adj" fmla="val 4571"/>
            </a:avLst>
          </a:prstGeom>
          <a:solidFill>
            <a:srgbClr val="F1F7F8"/>
          </a:solidFill>
          <a:ln w="12700">
            <a:solidFill>
              <a:srgbClr val="F1F7F8"/>
            </a:solidFill>
            <a:prstDash val="solid"/>
          </a:ln>
        </p:spPr>
      </p:sp>
      <p:sp>
        <p:nvSpPr>
          <p:cNvPr id="12" name="Shape 10"/>
          <p:cNvSpPr/>
          <p:nvPr/>
        </p:nvSpPr>
        <p:spPr>
          <a:xfrm>
            <a:off x="4850892" y="1399032"/>
            <a:ext cx="365760" cy="365760"/>
          </a:xfrm>
          <a:prstGeom prst="ellipse">
            <a:avLst/>
          </a:prstGeom>
          <a:solidFill>
            <a:srgbClr val="0E7C86"/>
          </a:solidFill>
          <a:ln w="12700">
            <a:solidFill>
              <a:srgbClr val="0E7C86"/>
            </a:solidFill>
            <a:prstDash val="solid"/>
          </a:ln>
        </p:spPr>
      </p:sp>
      <p:sp>
        <p:nvSpPr>
          <p:cNvPr id="13" name="Text 11"/>
          <p:cNvSpPr txBox="1"/>
          <p:nvPr/>
        </p:nvSpPr>
        <p:spPr>
          <a:xfrm>
            <a:off x="4850892" y="139903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4" name="Text 12"/>
          <p:cNvSpPr txBox="1"/>
          <p:nvPr/>
        </p:nvSpPr>
        <p:spPr>
          <a:xfrm>
            <a:off x="5326380" y="1353312"/>
            <a:ext cx="3223260" cy="457200"/>
          </a:xfrm>
          <a:prstGeom prst="rect">
            <a:avLst/>
          </a:prstGeom>
          <a:noFill/>
          <a:ln/>
        </p:spPr>
        <p:txBody>
          <a:bodyPr wrap="square" lIns="0" tIns="0" rIns="0" bIns="0" rtlCol="0" anchor="ctr">
            <a:normAutofit/>
          </a:bodyPr>
          <a:lstStyle/>
          <a:p>
            <a:pPr indent="0" marL="0">
              <a:buNone/>
            </a:pPr>
            <a:r>
              <a:rPr lang="en-US" sz="1400" b="1" dirty="0">
                <a:solidFill>
                  <a:srgbClr val="0B1D2E"/>
                </a:solidFill>
                <a:latin typeface="Calibri" pitchFamily="34" charset="0"/>
                <a:ea typeface="Calibri" pitchFamily="34" charset="-122"/>
                <a:cs typeface="Calibri" pitchFamily="34" charset="-120"/>
              </a:rPr>
              <a:t>Cross-site scripting (XSS)</a:t>
            </a:r>
            <a:endParaRPr lang="en-US" sz="1400" dirty="0"/>
          </a:p>
        </p:txBody>
      </p:sp>
      <p:sp>
        <p:nvSpPr>
          <p:cNvPr id="15" name="Text 13"/>
          <p:cNvSpPr txBox="1"/>
          <p:nvPr/>
        </p:nvSpPr>
        <p:spPr>
          <a:xfrm>
            <a:off x="4850892" y="1892808"/>
            <a:ext cx="3671316" cy="822960"/>
          </a:xfrm>
          <a:prstGeom prst="rect">
            <a:avLst/>
          </a:prstGeom>
          <a:noFill/>
          <a:ln/>
        </p:spPr>
        <p:txBody>
          <a:bodyPr wrap="square" lIns="0" tIns="0" rIns="0" bIns="0" rtlCol="0" anchor="t">
            <a:normAutofit/>
          </a:bodyPr>
          <a:lstStyle/>
          <a:p>
            <a:pPr indent="0" marL="0">
              <a:buNone/>
            </a:pPr>
            <a:r>
              <a:rPr lang="en-US" sz="1500" dirty="0">
                <a:solidFill>
                  <a:srgbClr val="1E293B"/>
                </a:solidFill>
                <a:latin typeface="Calibri" pitchFamily="34" charset="0"/>
                <a:ea typeface="Calibri" pitchFamily="34" charset="-122"/>
                <a:cs typeface="Calibri" pitchFamily="34" charset="-120"/>
              </a:rPr>
              <a:t>Se inyecta código JavaScript en una página web para que se ejecute en el navegador de otros usuarios.</a:t>
            </a:r>
            <a:endParaRPr lang="en-US" sz="1500" dirty="0"/>
          </a:p>
        </p:txBody>
      </p:sp>
      <p:sp>
        <p:nvSpPr>
          <p:cNvPr id="16" name="Shape 14"/>
          <p:cNvSpPr/>
          <p:nvPr/>
        </p:nvSpPr>
        <p:spPr>
          <a:xfrm>
            <a:off x="457200" y="3063240"/>
            <a:ext cx="4000500" cy="1600200"/>
          </a:xfrm>
          <a:prstGeom prst="roundRect">
            <a:avLst>
              <a:gd name="adj" fmla="val 4571"/>
            </a:avLst>
          </a:prstGeom>
          <a:solidFill>
            <a:srgbClr val="F1F7F8"/>
          </a:solidFill>
          <a:ln w="12700">
            <a:solidFill>
              <a:srgbClr val="F1F7F8"/>
            </a:solidFill>
            <a:prstDash val="solid"/>
          </a:ln>
        </p:spPr>
      </p:sp>
      <p:sp>
        <p:nvSpPr>
          <p:cNvPr id="17" name="Shape 15"/>
          <p:cNvSpPr/>
          <p:nvPr/>
        </p:nvSpPr>
        <p:spPr>
          <a:xfrm>
            <a:off x="621792" y="3227832"/>
            <a:ext cx="365760" cy="365760"/>
          </a:xfrm>
          <a:prstGeom prst="ellipse">
            <a:avLst/>
          </a:prstGeom>
          <a:solidFill>
            <a:srgbClr val="0E7C86"/>
          </a:solidFill>
          <a:ln w="12700">
            <a:solidFill>
              <a:srgbClr val="0E7C86"/>
            </a:solidFill>
            <a:prstDash val="solid"/>
          </a:ln>
        </p:spPr>
      </p:sp>
      <p:sp>
        <p:nvSpPr>
          <p:cNvPr id="18" name="Text 16"/>
          <p:cNvSpPr txBox="1"/>
          <p:nvPr/>
        </p:nvSpPr>
        <p:spPr>
          <a:xfrm>
            <a:off x="621792" y="322783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1097280" y="3182112"/>
            <a:ext cx="3223260" cy="457200"/>
          </a:xfrm>
          <a:prstGeom prst="rect">
            <a:avLst/>
          </a:prstGeom>
          <a:noFill/>
          <a:ln/>
        </p:spPr>
        <p:txBody>
          <a:bodyPr wrap="square" lIns="0" tIns="0" rIns="0" bIns="0" rtlCol="0" anchor="ctr">
            <a:normAutofit/>
          </a:bodyPr>
          <a:lstStyle/>
          <a:p>
            <a:pPr indent="0" marL="0">
              <a:buNone/>
            </a:pPr>
            <a:r>
              <a:rPr lang="en-US" sz="1400" b="1" dirty="0">
                <a:solidFill>
                  <a:srgbClr val="0B1D2E"/>
                </a:solidFill>
                <a:latin typeface="Calibri" pitchFamily="34" charset="0"/>
                <a:ea typeface="Calibri" pitchFamily="34" charset="-122"/>
                <a:cs typeface="Calibri" pitchFamily="34" charset="-120"/>
              </a:rPr>
              <a:t>Desbordamiento de búfer</a:t>
            </a:r>
            <a:endParaRPr lang="en-US" sz="1400" dirty="0"/>
          </a:p>
        </p:txBody>
      </p:sp>
      <p:sp>
        <p:nvSpPr>
          <p:cNvPr id="20" name="Text 18"/>
          <p:cNvSpPr txBox="1"/>
          <p:nvPr/>
        </p:nvSpPr>
        <p:spPr>
          <a:xfrm>
            <a:off x="621792" y="3721608"/>
            <a:ext cx="3671316" cy="822960"/>
          </a:xfrm>
          <a:prstGeom prst="rect">
            <a:avLst/>
          </a:prstGeom>
          <a:noFill/>
          <a:ln/>
        </p:spPr>
        <p:txBody>
          <a:bodyPr wrap="square" lIns="0" tIns="0" rIns="0" bIns="0" rtlCol="0" anchor="t">
            <a:normAutofit/>
          </a:bodyPr>
          <a:lstStyle/>
          <a:p>
            <a:pPr indent="0" marL="0">
              <a:buNone/>
            </a:pPr>
            <a:r>
              <a:rPr lang="en-US" sz="1500" dirty="0">
                <a:solidFill>
                  <a:srgbClr val="1E293B"/>
                </a:solidFill>
                <a:latin typeface="Calibri" pitchFamily="34" charset="0"/>
                <a:ea typeface="Calibri" pitchFamily="34" charset="-122"/>
                <a:cs typeface="Calibri" pitchFamily="34" charset="-120"/>
              </a:rPr>
              <a:t>Se envían más datos de los que un programa puede manejar para hacerlo fallar o ejecutar código.</a:t>
            </a:r>
            <a:endParaRPr lang="en-US" sz="1500" dirty="0"/>
          </a:p>
        </p:txBody>
      </p:sp>
      <p:sp>
        <p:nvSpPr>
          <p:cNvPr id="21" name="Shape 19"/>
          <p:cNvSpPr/>
          <p:nvPr/>
        </p:nvSpPr>
        <p:spPr>
          <a:xfrm>
            <a:off x="4686300" y="3063240"/>
            <a:ext cx="4000500" cy="1600200"/>
          </a:xfrm>
          <a:prstGeom prst="roundRect">
            <a:avLst>
              <a:gd name="adj" fmla="val 4571"/>
            </a:avLst>
          </a:prstGeom>
          <a:solidFill>
            <a:srgbClr val="F1F7F8"/>
          </a:solidFill>
          <a:ln w="12700">
            <a:solidFill>
              <a:srgbClr val="F1F7F8"/>
            </a:solidFill>
            <a:prstDash val="solid"/>
          </a:ln>
        </p:spPr>
      </p:sp>
      <p:sp>
        <p:nvSpPr>
          <p:cNvPr id="22" name="Shape 20"/>
          <p:cNvSpPr/>
          <p:nvPr/>
        </p:nvSpPr>
        <p:spPr>
          <a:xfrm>
            <a:off x="4850892" y="3227832"/>
            <a:ext cx="365760" cy="365760"/>
          </a:xfrm>
          <a:prstGeom prst="ellipse">
            <a:avLst/>
          </a:prstGeom>
          <a:solidFill>
            <a:srgbClr val="0E7C86"/>
          </a:solidFill>
          <a:ln w="12700">
            <a:solidFill>
              <a:srgbClr val="0E7C86"/>
            </a:solidFill>
            <a:prstDash val="solid"/>
          </a:ln>
        </p:spPr>
      </p:sp>
      <p:sp>
        <p:nvSpPr>
          <p:cNvPr id="23" name="Text 21"/>
          <p:cNvSpPr txBox="1"/>
          <p:nvPr/>
        </p:nvSpPr>
        <p:spPr>
          <a:xfrm>
            <a:off x="4850892" y="322783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4" name="Text 22"/>
          <p:cNvSpPr txBox="1"/>
          <p:nvPr/>
        </p:nvSpPr>
        <p:spPr>
          <a:xfrm>
            <a:off x="5326380" y="3182112"/>
            <a:ext cx="3223260" cy="457200"/>
          </a:xfrm>
          <a:prstGeom prst="rect">
            <a:avLst/>
          </a:prstGeom>
          <a:noFill/>
          <a:ln/>
        </p:spPr>
        <p:txBody>
          <a:bodyPr wrap="square" lIns="0" tIns="0" rIns="0" bIns="0" rtlCol="0" anchor="ctr">
            <a:normAutofit/>
          </a:bodyPr>
          <a:lstStyle/>
          <a:p>
            <a:pPr indent="0" marL="0">
              <a:buNone/>
            </a:pPr>
            <a:r>
              <a:rPr lang="en-US" sz="1400" b="1" dirty="0">
                <a:solidFill>
                  <a:srgbClr val="0B1D2E"/>
                </a:solidFill>
                <a:latin typeface="Calibri" pitchFamily="34" charset="0"/>
                <a:ea typeface="Calibri" pitchFamily="34" charset="-122"/>
                <a:cs typeface="Calibri" pitchFamily="34" charset="-120"/>
              </a:rPr>
              <a:t>Ejecución remota de código</a:t>
            </a:r>
            <a:endParaRPr lang="en-US" sz="1400" dirty="0"/>
          </a:p>
        </p:txBody>
      </p:sp>
      <p:sp>
        <p:nvSpPr>
          <p:cNvPr id="25" name="Text 23"/>
          <p:cNvSpPr txBox="1"/>
          <p:nvPr/>
        </p:nvSpPr>
        <p:spPr>
          <a:xfrm>
            <a:off x="4850892" y="3721608"/>
            <a:ext cx="3671316" cy="822960"/>
          </a:xfrm>
          <a:prstGeom prst="rect">
            <a:avLst/>
          </a:prstGeom>
          <a:noFill/>
          <a:ln/>
        </p:spPr>
        <p:txBody>
          <a:bodyPr wrap="square" lIns="0" tIns="0" rIns="0" bIns="0" rtlCol="0" anchor="t">
            <a:normAutofit/>
          </a:bodyPr>
          <a:lstStyle/>
          <a:p>
            <a:pPr indent="0" marL="0">
              <a:buNone/>
            </a:pPr>
            <a:r>
              <a:rPr lang="en-US" sz="1500" dirty="0">
                <a:solidFill>
                  <a:srgbClr val="1E293B"/>
                </a:solidFill>
                <a:latin typeface="Calibri" pitchFamily="34" charset="0"/>
                <a:ea typeface="Calibri" pitchFamily="34" charset="-122"/>
                <a:cs typeface="Calibri" pitchFamily="34" charset="-120"/>
              </a:rPr>
              <a:t>El atacante logra correr sus propios comandos en el servidor.</a:t>
            </a:r>
            <a:endParaRPr lang="en-US" sz="1500" dirty="0"/>
          </a:p>
        </p:txBody>
      </p:sp>
      <p:sp>
        <p:nvSpPr>
          <p:cNvPr id="26" name="Text 24"/>
          <p:cNvSpPr txBox="1"/>
          <p:nvPr/>
        </p:nvSpPr>
        <p:spPr>
          <a:xfrm>
            <a:off x="45720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Fundamentos de ciberseguridad · RA1</a:t>
            </a:r>
            <a:endParaRPr lang="en-US" sz="900" dirty="0"/>
          </a:p>
        </p:txBody>
      </p:sp>
      <p:sp>
        <p:nvSpPr>
          <p:cNvPr id="27" name="Text 25"/>
          <p:cNvSpPr txBox="1"/>
          <p:nvPr/>
        </p:nvSpPr>
        <p:spPr>
          <a:xfrm>
            <a:off x="8229600" y="4800600"/>
            <a:ext cx="457200" cy="22860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47472"/>
            <a:ext cx="566928" cy="566928"/>
          </a:xfrm>
          <a:prstGeom prst="ellipse">
            <a:avLst/>
          </a:prstGeom>
          <a:solidFill>
            <a:srgbClr val="0E7C86"/>
          </a:solidFill>
          <a:ln w="12700">
            <a:solidFill>
              <a:srgbClr val="0E7C86"/>
            </a:solidFill>
            <a:prstDash val="solid"/>
          </a:ln>
        </p:spPr>
      </p:sp>
      <p:sp>
        <p:nvSpPr>
          <p:cNvPr id="3" name="Text 1"/>
          <p:cNvSpPr txBox="1"/>
          <p:nvPr/>
        </p:nvSpPr>
        <p:spPr>
          <a:xfrm>
            <a:off x="457200" y="34747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5</a:t>
            </a:r>
            <a:endParaRPr lang="en-US" sz="2000" dirty="0"/>
          </a:p>
        </p:txBody>
      </p:sp>
      <p:sp>
        <p:nvSpPr>
          <p:cNvPr id="4" name="Text 2"/>
          <p:cNvSpPr txBox="1"/>
          <p:nvPr/>
        </p:nvSpPr>
        <p:spPr>
          <a:xfrm>
            <a:off x="1188720" y="292608"/>
            <a:ext cx="7498080" cy="256032"/>
          </a:xfrm>
          <a:prstGeom prst="rect">
            <a:avLst/>
          </a:prstGeom>
          <a:noFill/>
          <a:ln/>
        </p:spPr>
        <p:txBody>
          <a:bodyPr wrap="square" lIns="0" tIns="0" rIns="0" bIns="0" rtlCol="0" anchor="ctr"/>
          <a:lstStyle/>
          <a:p>
            <a:pPr indent="0" marL="0">
              <a:buNone/>
            </a:pPr>
            <a:r>
              <a:rPr lang="en-US" sz="1100" b="1" dirty="0">
                <a:solidFill>
                  <a:srgbClr val="0E7C86"/>
                </a:solidFill>
                <a:latin typeface="Calibri" pitchFamily="34" charset="0"/>
                <a:ea typeface="Calibri" pitchFamily="34" charset="-122"/>
                <a:cs typeface="Calibri" pitchFamily="34" charset="-120"/>
              </a:rPr>
              <a:t>TEMA 5 · ATAQUE A LOS FUNDAMENTOS: TCP/IP, IPV4 E IPV6</a:t>
            </a:r>
            <a:endParaRPr lang="en-US" sz="1100" dirty="0"/>
          </a:p>
        </p:txBody>
      </p:sp>
      <p:sp>
        <p:nvSpPr>
          <p:cNvPr id="5" name="Text 3"/>
          <p:cNvSpPr txBox="1"/>
          <p:nvPr/>
        </p:nvSpPr>
        <p:spPr>
          <a:xfrm>
            <a:off x="1188720" y="530352"/>
            <a:ext cx="7498080" cy="502920"/>
          </a:xfrm>
          <a:prstGeom prst="rect">
            <a:avLst/>
          </a:prstGeom>
          <a:noFill/>
          <a:ln/>
        </p:spPr>
        <p:txBody>
          <a:bodyPr wrap="square" lIns="0" tIns="0" rIns="0" bIns="0" rtlCol="0" anchor="t">
            <a:normAutofit/>
          </a:bodyPr>
          <a:lstStyle/>
          <a:p>
            <a:pPr indent="0" marL="0">
              <a:buNone/>
            </a:pPr>
            <a:r>
              <a:rPr lang="en-US" sz="2800" b="1" dirty="0">
                <a:solidFill>
                  <a:srgbClr val="0B1D2E"/>
                </a:solidFill>
                <a:latin typeface="Calibri" pitchFamily="34" charset="0"/>
                <a:ea typeface="Calibri" pitchFamily="34" charset="-122"/>
                <a:cs typeface="Calibri" pitchFamily="34" charset="-120"/>
              </a:rPr>
              <a:t>Estructura del encabezado</a:t>
            </a:r>
            <a:endParaRPr lang="en-US" sz="2800" dirty="0"/>
          </a:p>
        </p:txBody>
      </p:sp>
      <p:sp>
        <p:nvSpPr>
          <p:cNvPr id="6" name="Text 4"/>
          <p:cNvSpPr txBox="1"/>
          <p:nvPr/>
        </p:nvSpPr>
        <p:spPr>
          <a:xfrm>
            <a:off x="457200" y="1234440"/>
            <a:ext cx="8229600" cy="603504"/>
          </a:xfrm>
          <a:prstGeom prst="rect">
            <a:avLst/>
          </a:prstGeom>
          <a:noFill/>
          <a:ln/>
        </p:spPr>
        <p:txBody>
          <a:bodyPr wrap="square" lIns="0" tIns="0" rIns="0" bIns="0" rtlCol="0" anchor="t">
            <a:normAutofit/>
          </a:bodyPr>
          <a:lstStyle/>
          <a:p>
            <a:pPr indent="0" marL="0">
              <a:buNone/>
            </a:pPr>
            <a:r>
              <a:rPr lang="en-US" sz="1400" dirty="0">
                <a:solidFill>
                  <a:srgbClr val="1E293B"/>
                </a:solidFill>
                <a:latin typeface="Calibri" pitchFamily="34" charset="0"/>
                <a:ea typeface="Calibri" pitchFamily="34" charset="-122"/>
                <a:cs typeface="Calibri" pitchFamily="34" charset="-120"/>
              </a:rPr>
              <a:t>Internet funciona con el modelo </a:t>
            </a:r>
            <a:pPr indent="0" marL="0">
              <a:buNone/>
            </a:pPr>
            <a:r>
              <a:rPr lang="en-US" sz="1400" b="1" dirty="0">
                <a:solidFill>
                  <a:srgbClr val="1E293B"/>
                </a:solidFill>
                <a:latin typeface="Calibri" pitchFamily="34" charset="0"/>
                <a:ea typeface="Calibri" pitchFamily="34" charset="-122"/>
                <a:cs typeface="Calibri" pitchFamily="34" charset="-120"/>
              </a:rPr>
              <a:t>TCP/IP</a:t>
            </a:r>
            <a:pPr indent="0" marL="0">
              <a:buNone/>
            </a:pPr>
            <a:r>
              <a:rPr lang="en-US" sz="1400" dirty="0">
                <a:solidFill>
                  <a:srgbClr val="1E293B"/>
                </a:solidFill>
                <a:latin typeface="Calibri" pitchFamily="34" charset="0"/>
                <a:ea typeface="Calibri" pitchFamily="34" charset="-122"/>
                <a:cs typeface="Calibri" pitchFamily="34" charset="-120"/>
              </a:rPr>
              <a:t>, que se diseñó cuando la red era pequeña y confiable. Por eso varios de sus protocolos no traen seguridad incorporada.</a:t>
            </a:r>
            <a:endParaRPr lang="en-US" sz="1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1947672"/>
          <a:ext cx="8229600" cy="914400"/>
        </p:xfrm>
        <a:graphic>
          <a:graphicData uri="http://schemas.openxmlformats.org/drawingml/2006/table">
            <a:tbl>
              <a:tblPr/>
              <a:tblGrid>
                <a:gridCol w="4039687"/>
                <a:gridCol w="4189913"/>
              </a:tblGrid>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IPv4 (direcciones de 32 bits)</a:t>
                      </a:r>
                      <a:endParaRPr lang="en-US" sz="15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E7C86"/>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IPv6 (direcciones de 128 bits)</a:t>
                      </a:r>
                      <a:endParaRPr lang="en-US" sz="15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E7C86"/>
                    </a:solidFill>
                  </a:tcPr>
                </a:tc>
              </a:tr>
              <a:tr h="0">
                <a:tc>
                  <a:txBody>
                    <a:bodyPr/>
                    <a:lstStyle/>
                    <a:p>
                      <a:pPr indent="0" marL="0">
                        <a:buNone/>
                      </a:pPr>
                      <a:r>
                        <a:rPr lang="en-US" sz="1500" dirty="0">
                          <a:solidFill>
                            <a:srgbClr val="1E293B"/>
                          </a:solidFill>
                          <a:latin typeface="Calibri" pitchFamily="34" charset="0"/>
                          <a:ea typeface="Calibri" pitchFamily="34" charset="-122"/>
                          <a:cs typeface="Calibri" pitchFamily="34" charset="-120"/>
                        </a:rPr>
                        <a:t>Versión, longitud del encabezado, tipo de servicio, longitud total</a:t>
                      </a:r>
                      <a:endParaRPr lang="en-US" sz="15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7F8"/>
                    </a:solidFill>
                  </a:tcPr>
                </a:tc>
                <a:tc>
                  <a:txBody>
                    <a:bodyPr/>
                    <a:lstStyle/>
                    <a:p>
                      <a:pPr indent="0" marL="0">
                        <a:buNone/>
                      </a:pPr>
                      <a:r>
                        <a:rPr lang="en-US" sz="1500" dirty="0">
                          <a:solidFill>
                            <a:srgbClr val="1E293B"/>
                          </a:solidFill>
                          <a:latin typeface="Calibri" pitchFamily="34" charset="0"/>
                          <a:ea typeface="Calibri" pitchFamily="34" charset="-122"/>
                          <a:cs typeface="Calibri" pitchFamily="34" charset="-120"/>
                        </a:rPr>
                        <a:t>Versión, clase de tráfico, etiqueta de flujo, longitud de la carga útil</a:t>
                      </a:r>
                      <a:endParaRPr lang="en-US" sz="15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7F8"/>
                    </a:solidFill>
                  </a:tcPr>
                </a:tc>
              </a:tr>
              <a:tr h="0">
                <a:tc>
                  <a:txBody>
                    <a:bodyPr/>
                    <a:lstStyle/>
                    <a:p>
                      <a:pPr indent="0" marL="0">
                        <a:buNone/>
                      </a:pPr>
                      <a:r>
                        <a:rPr lang="en-US" sz="1500" dirty="0">
                          <a:solidFill>
                            <a:srgbClr val="1E293B"/>
                          </a:solidFill>
                          <a:latin typeface="Calibri" pitchFamily="34" charset="0"/>
                          <a:ea typeface="Calibri" pitchFamily="34" charset="-122"/>
                          <a:cs typeface="Calibri" pitchFamily="34" charset="-120"/>
                        </a:rPr>
                        <a:t>TTL (tiempo de vida): se resta 1 en cada router</a:t>
                      </a:r>
                      <a:endParaRPr lang="en-US" sz="15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500" dirty="0">
                          <a:solidFill>
                            <a:srgbClr val="1E293B"/>
                          </a:solidFill>
                          <a:latin typeface="Calibri" pitchFamily="34" charset="0"/>
                          <a:ea typeface="Calibri" pitchFamily="34" charset="-122"/>
                          <a:cs typeface="Calibri" pitchFamily="34" charset="-120"/>
                        </a:rPr>
                        <a:t>Límite de saltos: cumple la misma función que el TTL</a:t>
                      </a:r>
                      <a:endParaRPr lang="en-US" sz="15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0">
                <a:tc>
                  <a:txBody>
                    <a:bodyPr/>
                    <a:lstStyle/>
                    <a:p>
                      <a:pPr indent="0" marL="0">
                        <a:buNone/>
                      </a:pPr>
                      <a:r>
                        <a:rPr lang="en-US" sz="1500" dirty="0">
                          <a:solidFill>
                            <a:srgbClr val="1E293B"/>
                          </a:solidFill>
                          <a:latin typeface="Calibri" pitchFamily="34" charset="0"/>
                          <a:ea typeface="Calibri" pitchFamily="34" charset="-122"/>
                          <a:cs typeface="Calibri" pitchFamily="34" charset="-120"/>
                        </a:rPr>
                        <a:t>Protocolo (indica si lo que viene es TCP, UDP o ICMP)</a:t>
                      </a:r>
                      <a:endParaRPr lang="en-US" sz="15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7F8"/>
                    </a:solidFill>
                  </a:tcPr>
                </a:tc>
                <a:tc>
                  <a:txBody>
                    <a:bodyPr/>
                    <a:lstStyle/>
                    <a:p>
                      <a:pPr indent="0" marL="0">
                        <a:buNone/>
                      </a:pPr>
                      <a:r>
                        <a:rPr lang="en-US" sz="1500" dirty="0">
                          <a:solidFill>
                            <a:srgbClr val="1E293B"/>
                          </a:solidFill>
                          <a:latin typeface="Calibri" pitchFamily="34" charset="0"/>
                          <a:ea typeface="Calibri" pitchFamily="34" charset="-122"/>
                          <a:cs typeface="Calibri" pitchFamily="34" charset="-120"/>
                        </a:rPr>
                        <a:t>Siguiente encabezado</a:t>
                      </a:r>
                      <a:endParaRPr lang="en-US" sz="15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7F8"/>
                    </a:solidFill>
                  </a:tcPr>
                </a:tc>
              </a:tr>
              <a:tr h="0">
                <a:tc>
                  <a:txBody>
                    <a:bodyPr/>
                    <a:lstStyle/>
                    <a:p>
                      <a:pPr indent="0" marL="0">
                        <a:buNone/>
                      </a:pPr>
                      <a:r>
                        <a:rPr lang="en-US" sz="1500" dirty="0">
                          <a:solidFill>
                            <a:srgbClr val="1E293B"/>
                          </a:solidFill>
                          <a:latin typeface="Calibri" pitchFamily="34" charset="0"/>
                          <a:ea typeface="Calibri" pitchFamily="34" charset="-122"/>
                          <a:cs typeface="Calibri" pitchFamily="34" charset="-120"/>
                        </a:rPr>
                        <a:t>Suma de comprobación del encabezado</a:t>
                      </a:r>
                      <a:endParaRPr lang="en-US" sz="15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500" dirty="0">
                          <a:solidFill>
                            <a:srgbClr val="1E293B"/>
                          </a:solidFill>
                          <a:latin typeface="Calibri" pitchFamily="34" charset="0"/>
                          <a:ea typeface="Calibri" pitchFamily="34" charset="-122"/>
                          <a:cs typeface="Calibri" pitchFamily="34" charset="-120"/>
                        </a:rPr>
                        <a:t>No tiene suma de comprobación (más simple y rápido)</a:t>
                      </a:r>
                      <a:endParaRPr lang="en-US" sz="15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0">
                <a:tc>
                  <a:txBody>
                    <a:bodyPr/>
                    <a:lstStyle/>
                    <a:p>
                      <a:pPr indent="0" marL="0">
                        <a:buNone/>
                      </a:pPr>
                      <a:r>
                        <a:rPr lang="en-US" sz="1500" dirty="0">
                          <a:solidFill>
                            <a:srgbClr val="1E293B"/>
                          </a:solidFill>
                          <a:latin typeface="Calibri" pitchFamily="34" charset="0"/>
                          <a:ea typeface="Calibri" pitchFamily="34" charset="-122"/>
                          <a:cs typeface="Calibri" pitchFamily="34" charset="-120"/>
                        </a:rPr>
                        <a:t>Dirección IP de origen y de destino</a:t>
                      </a:r>
                      <a:endParaRPr lang="en-US" sz="15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7F8"/>
                    </a:solidFill>
                  </a:tcPr>
                </a:tc>
                <a:tc>
                  <a:txBody>
                    <a:bodyPr/>
                    <a:lstStyle/>
                    <a:p>
                      <a:pPr indent="0" marL="0">
                        <a:buNone/>
                      </a:pPr>
                      <a:r>
                        <a:rPr lang="en-US" sz="1500" dirty="0">
                          <a:solidFill>
                            <a:srgbClr val="1E293B"/>
                          </a:solidFill>
                          <a:latin typeface="Calibri" pitchFamily="34" charset="0"/>
                          <a:ea typeface="Calibri" pitchFamily="34" charset="-122"/>
                          <a:cs typeface="Calibri" pitchFamily="34" charset="-120"/>
                        </a:rPr>
                        <a:t>Dirección IPv6 de origen y de destino</a:t>
                      </a:r>
                      <a:endParaRPr lang="en-US" sz="15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7F8"/>
                    </a:solidFill>
                  </a:tcPr>
                </a:tc>
              </a:tr>
            </a:tbl>
          </a:graphicData>
        </a:graphic>
      </p:graphicFrame>
      <p:sp>
        <p:nvSpPr>
          <p:cNvPr id="8" name="Text 5"/>
          <p:cNvSpPr txBox="1"/>
          <p:nvPr/>
        </p:nvSpPr>
        <p:spPr>
          <a:xfrm>
            <a:off x="45720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Fundamentos de ciberseguridad · RA1</a:t>
            </a:r>
            <a:endParaRPr lang="en-US" sz="900" dirty="0"/>
          </a:p>
        </p:txBody>
      </p:sp>
      <p:sp>
        <p:nvSpPr>
          <p:cNvPr id="9" name="Text 6"/>
          <p:cNvSpPr txBox="1"/>
          <p:nvPr/>
        </p:nvSpPr>
        <p:spPr>
          <a:xfrm>
            <a:off x="8229600" y="4800600"/>
            <a:ext cx="457200" cy="22860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47472"/>
            <a:ext cx="566928" cy="566928"/>
          </a:xfrm>
          <a:prstGeom prst="ellipse">
            <a:avLst/>
          </a:prstGeom>
          <a:solidFill>
            <a:srgbClr val="0E7C86"/>
          </a:solidFill>
          <a:ln w="12700">
            <a:solidFill>
              <a:srgbClr val="0E7C86"/>
            </a:solidFill>
            <a:prstDash val="solid"/>
          </a:ln>
        </p:spPr>
      </p:sp>
      <p:sp>
        <p:nvSpPr>
          <p:cNvPr id="3" name="Text 1"/>
          <p:cNvSpPr txBox="1"/>
          <p:nvPr/>
        </p:nvSpPr>
        <p:spPr>
          <a:xfrm>
            <a:off x="457200" y="34747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5</a:t>
            </a:r>
            <a:endParaRPr lang="en-US" sz="2000" dirty="0"/>
          </a:p>
        </p:txBody>
      </p:sp>
      <p:sp>
        <p:nvSpPr>
          <p:cNvPr id="4" name="Text 2"/>
          <p:cNvSpPr txBox="1"/>
          <p:nvPr/>
        </p:nvSpPr>
        <p:spPr>
          <a:xfrm>
            <a:off x="1188720" y="292608"/>
            <a:ext cx="7498080" cy="256032"/>
          </a:xfrm>
          <a:prstGeom prst="rect">
            <a:avLst/>
          </a:prstGeom>
          <a:noFill/>
          <a:ln/>
        </p:spPr>
        <p:txBody>
          <a:bodyPr wrap="square" lIns="0" tIns="0" rIns="0" bIns="0" rtlCol="0" anchor="ctr"/>
          <a:lstStyle/>
          <a:p>
            <a:pPr indent="0" marL="0">
              <a:buNone/>
            </a:pPr>
            <a:r>
              <a:rPr lang="en-US" sz="1100" b="1" dirty="0">
                <a:solidFill>
                  <a:srgbClr val="0E7C86"/>
                </a:solidFill>
                <a:latin typeface="Calibri" pitchFamily="34" charset="0"/>
                <a:ea typeface="Calibri" pitchFamily="34" charset="-122"/>
                <a:cs typeface="Calibri" pitchFamily="34" charset="-120"/>
              </a:rPr>
              <a:t>TEMA 5 · ATAQUE A LOS FUNDAMENTOS: TCP/IP, IPV4 E IPV6</a:t>
            </a:r>
            <a:endParaRPr lang="en-US" sz="1100" dirty="0"/>
          </a:p>
        </p:txBody>
      </p:sp>
      <p:sp>
        <p:nvSpPr>
          <p:cNvPr id="5" name="Text 3"/>
          <p:cNvSpPr txBox="1"/>
          <p:nvPr/>
        </p:nvSpPr>
        <p:spPr>
          <a:xfrm>
            <a:off x="1188720" y="530352"/>
            <a:ext cx="7498080" cy="502920"/>
          </a:xfrm>
          <a:prstGeom prst="rect">
            <a:avLst/>
          </a:prstGeom>
          <a:noFill/>
          <a:ln/>
        </p:spPr>
        <p:txBody>
          <a:bodyPr wrap="square" lIns="0" tIns="0" rIns="0" bIns="0" rtlCol="0" anchor="t">
            <a:normAutofit/>
          </a:bodyPr>
          <a:lstStyle/>
          <a:p>
            <a:pPr indent="0" marL="0">
              <a:buNone/>
            </a:pPr>
            <a:r>
              <a:rPr lang="en-US" sz="2800" b="1" dirty="0">
                <a:solidFill>
                  <a:srgbClr val="0B1D2E"/>
                </a:solidFill>
                <a:latin typeface="Calibri" pitchFamily="34" charset="0"/>
                <a:ea typeface="Calibri" pitchFamily="34" charset="-122"/>
                <a:cs typeface="Calibri" pitchFamily="34" charset="-120"/>
              </a:rPr>
              <a:t>Vulnerabilidades de IP</a:t>
            </a:r>
            <a:endParaRPr lang="en-US" sz="2800" dirty="0"/>
          </a:p>
        </p:txBody>
      </p:sp>
      <p:sp>
        <p:nvSpPr>
          <p:cNvPr id="6" name="Shape 4"/>
          <p:cNvSpPr/>
          <p:nvPr/>
        </p:nvSpPr>
        <p:spPr>
          <a:xfrm>
            <a:off x="457200" y="3200400"/>
            <a:ext cx="8229600" cy="1463040"/>
          </a:xfrm>
          <a:prstGeom prst="roundRect">
            <a:avLst>
              <a:gd name="adj" fmla="val 3750"/>
            </a:avLst>
          </a:prstGeom>
          <a:solidFill>
            <a:srgbClr val="FFF6E5"/>
          </a:solidFill>
          <a:ln w="12700">
            <a:solidFill>
              <a:srgbClr val="FFF6E5"/>
            </a:solidFill>
            <a:prstDash val="solid"/>
          </a:ln>
        </p:spPr>
      </p:sp>
      <p:sp>
        <p:nvSpPr>
          <p:cNvPr id="7" name="Text 5"/>
          <p:cNvSpPr txBox="1"/>
          <p:nvPr/>
        </p:nvSpPr>
        <p:spPr>
          <a:xfrm>
            <a:off x="640080" y="3200400"/>
            <a:ext cx="7863840" cy="1463040"/>
          </a:xfrm>
          <a:prstGeom prst="rect">
            <a:avLst/>
          </a:prstGeom>
          <a:noFill/>
          <a:ln/>
        </p:spPr>
        <p:txBody>
          <a:bodyPr wrap="square" lIns="0" tIns="0" rIns="0" bIns="0" rtlCol="0" anchor="ctr">
            <a:normAutofit/>
          </a:bodyPr>
          <a:lstStyle/>
          <a:p>
            <a:pPr indent="0" marL="0">
              <a:buNone/>
            </a:pPr>
            <a:r>
              <a:rPr lang="en-US" sz="1350" b="1" dirty="0">
                <a:solidFill>
                  <a:srgbClr val="1E293B"/>
                </a:solidFill>
                <a:latin typeface="Calibri" pitchFamily="34" charset="0"/>
                <a:ea typeface="Calibri" pitchFamily="34" charset="-122"/>
                <a:cs typeface="Calibri" pitchFamily="34" charset="-120"/>
              </a:rPr>
              <a:t>Vulnerabilidades de TCP y UDP: </a:t>
            </a:r>
            <a:pPr indent="0" marL="0">
              <a:buNone/>
            </a:pPr>
            <a:r>
              <a:rPr lang="en-US" sz="1350" b="1" dirty="0">
                <a:solidFill>
                  <a:srgbClr val="1E293B"/>
                </a:solidFill>
                <a:latin typeface="Calibri" pitchFamily="34" charset="0"/>
                <a:ea typeface="Calibri" pitchFamily="34" charset="-122"/>
                <a:cs typeface="Calibri" pitchFamily="34" charset="-120"/>
              </a:rPr>
              <a:t>TCP</a:t>
            </a:r>
            <a:pPr indent="0" marL="0">
              <a:buNone/>
            </a:pPr>
            <a:r>
              <a:rPr lang="en-US" sz="1350" dirty="0">
                <a:solidFill>
                  <a:srgbClr val="1E293B"/>
                </a:solidFill>
                <a:latin typeface="Calibri" pitchFamily="34" charset="0"/>
                <a:ea typeface="Calibri" pitchFamily="34" charset="-122"/>
                <a:cs typeface="Calibri" pitchFamily="34" charset="-120"/>
              </a:rPr>
              <a:t> establece la conexión con el </a:t>
            </a:r>
            <a:pPr indent="0" marL="0">
              <a:buNone/>
            </a:pPr>
            <a:r>
              <a:rPr lang="en-US" sz="1350" b="1" dirty="0">
                <a:solidFill>
                  <a:srgbClr val="1E293B"/>
                </a:solidFill>
                <a:latin typeface="Calibri" pitchFamily="34" charset="0"/>
                <a:ea typeface="Calibri" pitchFamily="34" charset="-122"/>
                <a:cs typeface="Calibri" pitchFamily="34" charset="-120"/>
              </a:rPr>
              <a:t>saludo de tres vías</a:t>
            </a:r>
            <a:pPr indent="0" marL="0">
              <a:buNone/>
            </a:pPr>
            <a:r>
              <a:rPr lang="en-US" sz="1350" dirty="0">
                <a:solidFill>
                  <a:srgbClr val="1E293B"/>
                </a:solidFill>
                <a:latin typeface="Calibri" pitchFamily="34" charset="0"/>
                <a:ea typeface="Calibri" pitchFamily="34" charset="-122"/>
                <a:cs typeface="Calibri" pitchFamily="34" charset="-120"/>
              </a:rPr>
              <a:t>: SYN → SYN-ACK → ACK. Ataques: </a:t>
            </a:r>
            <a:pPr indent="0" marL="0">
              <a:buNone/>
            </a:pPr>
            <a:r>
              <a:rPr lang="en-US" sz="1350" b="1" dirty="0">
                <a:solidFill>
                  <a:srgbClr val="1E293B"/>
                </a:solidFill>
                <a:latin typeface="Calibri" pitchFamily="34" charset="0"/>
                <a:ea typeface="Calibri" pitchFamily="34" charset="-122"/>
                <a:cs typeface="Calibri" pitchFamily="34" charset="-120"/>
              </a:rPr>
              <a:t>inundación SYN</a:t>
            </a:r>
            <a:pPr indent="0" marL="0">
              <a:buNone/>
            </a:pPr>
            <a:r>
              <a:rPr lang="en-US" sz="1350" dirty="0">
                <a:solidFill>
                  <a:srgbClr val="1E293B"/>
                </a:solidFill>
                <a:latin typeface="Calibri" pitchFamily="34" charset="0"/>
                <a:ea typeface="Calibri" pitchFamily="34" charset="-122"/>
                <a:cs typeface="Calibri" pitchFamily="34" charset="-120"/>
              </a:rPr>
              <a:t> (muchos SYN sin terminar el saludo), </a:t>
            </a:r>
            <a:pPr indent="0" marL="0">
              <a:buNone/>
            </a:pPr>
            <a:r>
              <a:rPr lang="en-US" sz="1350" b="1" dirty="0">
                <a:solidFill>
                  <a:srgbClr val="1E293B"/>
                </a:solidFill>
                <a:latin typeface="Calibri" pitchFamily="34" charset="0"/>
                <a:ea typeface="Calibri" pitchFamily="34" charset="-122"/>
                <a:cs typeface="Calibri" pitchFamily="34" charset="-120"/>
              </a:rPr>
              <a:t>reinicio TCP</a:t>
            </a:r>
            <a:pPr indent="0" marL="0">
              <a:buNone/>
            </a:pPr>
            <a:r>
              <a:rPr lang="en-US" sz="1350" dirty="0">
                <a:solidFill>
                  <a:srgbClr val="1E293B"/>
                </a:solidFill>
                <a:latin typeface="Calibri" pitchFamily="34" charset="0"/>
                <a:ea typeface="Calibri" pitchFamily="34" charset="-122"/>
                <a:cs typeface="Calibri" pitchFamily="34" charset="-120"/>
              </a:rPr>
              <a:t> (cortar conexiones con paquetes RST falsos) y </a:t>
            </a:r>
            <a:pPr indent="0" marL="0">
              <a:buNone/>
            </a:pPr>
            <a:r>
              <a:rPr lang="en-US" sz="1350" b="1" dirty="0">
                <a:solidFill>
                  <a:srgbClr val="1E293B"/>
                </a:solidFill>
                <a:latin typeface="Calibri" pitchFamily="34" charset="0"/>
                <a:ea typeface="Calibri" pitchFamily="34" charset="-122"/>
                <a:cs typeface="Calibri" pitchFamily="34" charset="-120"/>
              </a:rPr>
              <a:t>secuestro de sesión</a:t>
            </a:r>
            <a:pPr indent="0" marL="0">
              <a:buNone/>
            </a:pPr>
            <a:r>
              <a:rPr lang="en-US" sz="1350" dirty="0">
                <a:solidFill>
                  <a:srgbClr val="1E293B"/>
                </a:solidFill>
                <a:latin typeface="Calibri" pitchFamily="34" charset="0"/>
                <a:ea typeface="Calibri" pitchFamily="34" charset="-122"/>
                <a:cs typeface="Calibri" pitchFamily="34" charset="-120"/>
              </a:rPr>
              <a:t>.</a:t>
            </a:r>
            <a:endParaRPr lang="en-US" sz="1350" dirty="0"/>
          </a:p>
          <a:p>
            <a:pPr indent="0" marL="0">
              <a:buNone/>
            </a:pPr>
            <a:r>
              <a:rPr lang="en-US" sz="1350" b="1" dirty="0">
                <a:solidFill>
                  <a:srgbClr val="1E293B"/>
                </a:solidFill>
                <a:latin typeface="Calibri" pitchFamily="34" charset="0"/>
                <a:ea typeface="Calibri" pitchFamily="34" charset="-122"/>
                <a:cs typeface="Calibri" pitchFamily="34" charset="-120"/>
              </a:rPr>
              <a:t>UDP</a:t>
            </a:r>
            <a:pPr indent="0" marL="0">
              <a:buNone/>
            </a:pPr>
            <a:r>
              <a:rPr lang="en-US" sz="1350" dirty="0">
                <a:solidFill>
                  <a:srgbClr val="1E293B"/>
                </a:solidFill>
                <a:latin typeface="Calibri" pitchFamily="34" charset="0"/>
                <a:ea typeface="Calibri" pitchFamily="34" charset="-122"/>
                <a:cs typeface="Calibri" pitchFamily="34" charset="-120"/>
              </a:rPr>
              <a:t> no establece conexión ni confirma la entrega; es rápido pero fácil de falsificar. Ataque típico: </a:t>
            </a:r>
            <a:pPr indent="0" marL="0">
              <a:buNone/>
            </a:pPr>
            <a:r>
              <a:rPr lang="en-US" sz="1350" b="1" dirty="0">
                <a:solidFill>
                  <a:srgbClr val="1E293B"/>
                </a:solidFill>
                <a:latin typeface="Calibri" pitchFamily="34" charset="0"/>
                <a:ea typeface="Calibri" pitchFamily="34" charset="-122"/>
                <a:cs typeface="Calibri" pitchFamily="34" charset="-120"/>
              </a:rPr>
              <a:t>inundación UDP</a:t>
            </a:r>
            <a:pPr indent="0" marL="0">
              <a:buNone/>
            </a:pPr>
            <a:r>
              <a:rPr lang="en-US" sz="1350" dirty="0">
                <a:solidFill>
                  <a:srgbClr val="1E293B"/>
                </a:solidFill>
                <a:latin typeface="Calibri" pitchFamily="34" charset="0"/>
                <a:ea typeface="Calibri" pitchFamily="34" charset="-122"/>
                <a:cs typeface="Calibri" pitchFamily="34" charset="-120"/>
              </a:rPr>
              <a:t>.</a:t>
            </a:r>
            <a:endParaRPr lang="en-US" sz="1350" dirty="0"/>
          </a:p>
        </p:txBody>
      </p:sp>
      <p:sp>
        <p:nvSpPr>
          <p:cNvPr id="8" name="Shape 6"/>
          <p:cNvSpPr/>
          <p:nvPr/>
        </p:nvSpPr>
        <p:spPr>
          <a:xfrm>
            <a:off x="457200" y="1234440"/>
            <a:ext cx="2590800" cy="1828800"/>
          </a:xfrm>
          <a:prstGeom prst="roundRect">
            <a:avLst>
              <a:gd name="adj" fmla="val 4000"/>
            </a:avLst>
          </a:prstGeom>
          <a:solidFill>
            <a:srgbClr val="F1F7F8"/>
          </a:solidFill>
          <a:ln w="12700">
            <a:solidFill>
              <a:srgbClr val="F1F7F8"/>
            </a:solidFill>
            <a:prstDash val="solid"/>
          </a:ln>
        </p:spPr>
      </p:sp>
      <p:sp>
        <p:nvSpPr>
          <p:cNvPr id="9" name="Shape 7"/>
          <p:cNvSpPr/>
          <p:nvPr/>
        </p:nvSpPr>
        <p:spPr>
          <a:xfrm>
            <a:off x="621792" y="1399032"/>
            <a:ext cx="365760" cy="365760"/>
          </a:xfrm>
          <a:prstGeom prst="ellipse">
            <a:avLst/>
          </a:prstGeom>
          <a:solidFill>
            <a:srgbClr val="0E7C86"/>
          </a:solidFill>
          <a:ln w="12700">
            <a:solidFill>
              <a:srgbClr val="0E7C86"/>
            </a:solidFill>
            <a:prstDash val="solid"/>
          </a:ln>
        </p:spPr>
      </p:sp>
      <p:sp>
        <p:nvSpPr>
          <p:cNvPr id="10" name="Text 8"/>
          <p:cNvSpPr txBox="1"/>
          <p:nvPr/>
        </p:nvSpPr>
        <p:spPr>
          <a:xfrm>
            <a:off x="621792" y="139903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097280" y="1353312"/>
            <a:ext cx="1813560" cy="457200"/>
          </a:xfrm>
          <a:prstGeom prst="rect">
            <a:avLst/>
          </a:prstGeom>
          <a:noFill/>
          <a:ln/>
        </p:spPr>
        <p:txBody>
          <a:bodyPr wrap="square" lIns="0" tIns="0" rIns="0" bIns="0" rtlCol="0" anchor="ctr">
            <a:normAutofit/>
          </a:bodyPr>
          <a:lstStyle/>
          <a:p>
            <a:pPr indent="0" marL="0">
              <a:buNone/>
            </a:pPr>
            <a:r>
              <a:rPr lang="en-US" sz="1400" b="1" dirty="0">
                <a:solidFill>
                  <a:srgbClr val="0B1D2E"/>
                </a:solidFill>
                <a:latin typeface="Calibri" pitchFamily="34" charset="0"/>
                <a:ea typeface="Calibri" pitchFamily="34" charset="-122"/>
                <a:cs typeface="Calibri" pitchFamily="34" charset="-120"/>
              </a:rPr>
              <a:t>Suplantación de IP (spoofing)</a:t>
            </a:r>
            <a:endParaRPr lang="en-US" sz="1400" dirty="0"/>
          </a:p>
        </p:txBody>
      </p:sp>
      <p:sp>
        <p:nvSpPr>
          <p:cNvPr id="12" name="Text 10"/>
          <p:cNvSpPr txBox="1"/>
          <p:nvPr/>
        </p:nvSpPr>
        <p:spPr>
          <a:xfrm>
            <a:off x="621792" y="1892808"/>
            <a:ext cx="2261616" cy="1051560"/>
          </a:xfrm>
          <a:prstGeom prst="rect">
            <a:avLst/>
          </a:prstGeom>
          <a:noFill/>
          <a:ln/>
        </p:spPr>
        <p:txBody>
          <a:bodyPr wrap="square" lIns="0" tIns="0" rIns="0" bIns="0" rtlCol="0" anchor="t">
            <a:normAutofit/>
          </a:bodyPr>
          <a:lstStyle/>
          <a:p>
            <a:pPr indent="0" marL="0">
              <a:buNone/>
            </a:pPr>
            <a:r>
              <a:rPr lang="en-US" sz="1500" dirty="0">
                <a:solidFill>
                  <a:srgbClr val="1E293B"/>
                </a:solidFill>
                <a:latin typeface="Calibri" pitchFamily="34" charset="0"/>
                <a:ea typeface="Calibri" pitchFamily="34" charset="-122"/>
                <a:cs typeface="Calibri" pitchFamily="34" charset="-120"/>
              </a:rPr>
              <a:t>Falsificar la dirección de origen para hacerse pasar por otro equipo.</a:t>
            </a:r>
            <a:endParaRPr lang="en-US" sz="1500" dirty="0"/>
          </a:p>
        </p:txBody>
      </p:sp>
      <p:sp>
        <p:nvSpPr>
          <p:cNvPr id="13" name="Shape 11"/>
          <p:cNvSpPr/>
          <p:nvPr/>
        </p:nvSpPr>
        <p:spPr>
          <a:xfrm>
            <a:off x="3276600" y="1234440"/>
            <a:ext cx="2590800" cy="1828800"/>
          </a:xfrm>
          <a:prstGeom prst="roundRect">
            <a:avLst>
              <a:gd name="adj" fmla="val 4000"/>
            </a:avLst>
          </a:prstGeom>
          <a:solidFill>
            <a:srgbClr val="F1F7F8"/>
          </a:solidFill>
          <a:ln w="12700">
            <a:solidFill>
              <a:srgbClr val="F1F7F8"/>
            </a:solidFill>
            <a:prstDash val="solid"/>
          </a:ln>
        </p:spPr>
      </p:sp>
      <p:sp>
        <p:nvSpPr>
          <p:cNvPr id="14" name="Shape 12"/>
          <p:cNvSpPr/>
          <p:nvPr/>
        </p:nvSpPr>
        <p:spPr>
          <a:xfrm>
            <a:off x="3441192" y="1399032"/>
            <a:ext cx="365760" cy="365760"/>
          </a:xfrm>
          <a:prstGeom prst="ellipse">
            <a:avLst/>
          </a:prstGeom>
          <a:solidFill>
            <a:srgbClr val="0E7C86"/>
          </a:solidFill>
          <a:ln w="12700">
            <a:solidFill>
              <a:srgbClr val="0E7C86"/>
            </a:solidFill>
            <a:prstDash val="solid"/>
          </a:ln>
        </p:spPr>
      </p:sp>
      <p:sp>
        <p:nvSpPr>
          <p:cNvPr id="15" name="Text 13"/>
          <p:cNvSpPr txBox="1"/>
          <p:nvPr/>
        </p:nvSpPr>
        <p:spPr>
          <a:xfrm>
            <a:off x="3441192" y="139903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6" name="Text 14"/>
          <p:cNvSpPr txBox="1"/>
          <p:nvPr/>
        </p:nvSpPr>
        <p:spPr>
          <a:xfrm>
            <a:off x="3916680" y="1353312"/>
            <a:ext cx="1813560" cy="457200"/>
          </a:xfrm>
          <a:prstGeom prst="rect">
            <a:avLst/>
          </a:prstGeom>
          <a:noFill/>
          <a:ln/>
        </p:spPr>
        <p:txBody>
          <a:bodyPr wrap="square" lIns="0" tIns="0" rIns="0" bIns="0" rtlCol="0" anchor="ctr">
            <a:normAutofit/>
          </a:bodyPr>
          <a:lstStyle/>
          <a:p>
            <a:pPr indent="0" marL="0">
              <a:buNone/>
            </a:pPr>
            <a:r>
              <a:rPr lang="en-US" sz="1400" b="1" dirty="0">
                <a:solidFill>
                  <a:srgbClr val="0B1D2E"/>
                </a:solidFill>
                <a:latin typeface="Calibri" pitchFamily="34" charset="0"/>
                <a:ea typeface="Calibri" pitchFamily="34" charset="-122"/>
                <a:cs typeface="Calibri" pitchFamily="34" charset="-120"/>
              </a:rPr>
              <a:t>Ataques ICMP</a:t>
            </a:r>
            <a:endParaRPr lang="en-US" sz="1400" dirty="0"/>
          </a:p>
        </p:txBody>
      </p:sp>
      <p:sp>
        <p:nvSpPr>
          <p:cNvPr id="17" name="Text 15"/>
          <p:cNvSpPr txBox="1"/>
          <p:nvPr/>
        </p:nvSpPr>
        <p:spPr>
          <a:xfrm>
            <a:off x="3441192" y="1892808"/>
            <a:ext cx="2261616" cy="1051560"/>
          </a:xfrm>
          <a:prstGeom prst="rect">
            <a:avLst/>
          </a:prstGeom>
          <a:noFill/>
          <a:ln/>
        </p:spPr>
        <p:txBody>
          <a:bodyPr wrap="square" lIns="0" tIns="0" rIns="0" bIns="0" rtlCol="0" anchor="t">
            <a:normAutofit/>
          </a:bodyPr>
          <a:lstStyle/>
          <a:p>
            <a:pPr indent="0" marL="0">
              <a:buNone/>
            </a:pPr>
            <a:r>
              <a:rPr lang="en-US" sz="1500" dirty="0">
                <a:solidFill>
                  <a:srgbClr val="1E293B"/>
                </a:solidFill>
                <a:latin typeface="Calibri" pitchFamily="34" charset="0"/>
                <a:ea typeface="Calibri" pitchFamily="34" charset="-122"/>
                <a:cs typeface="Calibri" pitchFamily="34" charset="-120"/>
              </a:rPr>
              <a:t>Abusar de mensajes como ping para reconocer la red o saturarla.</a:t>
            </a:r>
            <a:endParaRPr lang="en-US" sz="1500" dirty="0"/>
          </a:p>
        </p:txBody>
      </p:sp>
      <p:sp>
        <p:nvSpPr>
          <p:cNvPr id="18" name="Shape 16"/>
          <p:cNvSpPr/>
          <p:nvPr/>
        </p:nvSpPr>
        <p:spPr>
          <a:xfrm>
            <a:off x="6096000" y="1234440"/>
            <a:ext cx="2590800" cy="1828800"/>
          </a:xfrm>
          <a:prstGeom prst="roundRect">
            <a:avLst>
              <a:gd name="adj" fmla="val 4000"/>
            </a:avLst>
          </a:prstGeom>
          <a:solidFill>
            <a:srgbClr val="F1F7F8"/>
          </a:solidFill>
          <a:ln w="12700">
            <a:solidFill>
              <a:srgbClr val="F1F7F8"/>
            </a:solidFill>
            <a:prstDash val="solid"/>
          </a:ln>
        </p:spPr>
      </p:sp>
      <p:sp>
        <p:nvSpPr>
          <p:cNvPr id="19" name="Shape 17"/>
          <p:cNvSpPr/>
          <p:nvPr/>
        </p:nvSpPr>
        <p:spPr>
          <a:xfrm>
            <a:off x="6260592" y="1399032"/>
            <a:ext cx="365760" cy="365760"/>
          </a:xfrm>
          <a:prstGeom prst="ellipse">
            <a:avLst/>
          </a:prstGeom>
          <a:solidFill>
            <a:srgbClr val="0E7C86"/>
          </a:solidFill>
          <a:ln w="12700">
            <a:solidFill>
              <a:srgbClr val="0E7C86"/>
            </a:solidFill>
            <a:prstDash val="solid"/>
          </a:ln>
        </p:spPr>
      </p:sp>
      <p:sp>
        <p:nvSpPr>
          <p:cNvPr id="20" name="Text 18"/>
          <p:cNvSpPr txBox="1"/>
          <p:nvPr/>
        </p:nvSpPr>
        <p:spPr>
          <a:xfrm>
            <a:off x="6260592" y="139903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1" name="Text 19"/>
          <p:cNvSpPr txBox="1"/>
          <p:nvPr/>
        </p:nvSpPr>
        <p:spPr>
          <a:xfrm>
            <a:off x="6736080" y="1353312"/>
            <a:ext cx="1813560" cy="457200"/>
          </a:xfrm>
          <a:prstGeom prst="rect">
            <a:avLst/>
          </a:prstGeom>
          <a:noFill/>
          <a:ln/>
        </p:spPr>
        <p:txBody>
          <a:bodyPr wrap="square" lIns="0" tIns="0" rIns="0" bIns="0" rtlCol="0" anchor="ctr">
            <a:normAutofit/>
          </a:bodyPr>
          <a:lstStyle/>
          <a:p>
            <a:pPr indent="0" marL="0">
              <a:buNone/>
            </a:pPr>
            <a:r>
              <a:rPr lang="en-US" sz="1400" b="1" dirty="0">
                <a:solidFill>
                  <a:srgbClr val="0B1D2E"/>
                </a:solidFill>
                <a:latin typeface="Calibri" pitchFamily="34" charset="0"/>
                <a:ea typeface="Calibri" pitchFamily="34" charset="-122"/>
                <a:cs typeface="Calibri" pitchFamily="34" charset="-120"/>
              </a:rPr>
              <a:t>Amplificación y reflexión</a:t>
            </a:r>
            <a:endParaRPr lang="en-US" sz="1400" dirty="0"/>
          </a:p>
        </p:txBody>
      </p:sp>
      <p:sp>
        <p:nvSpPr>
          <p:cNvPr id="22" name="Text 20"/>
          <p:cNvSpPr txBox="1"/>
          <p:nvPr/>
        </p:nvSpPr>
        <p:spPr>
          <a:xfrm>
            <a:off x="6260592" y="1892808"/>
            <a:ext cx="2261616" cy="1051560"/>
          </a:xfrm>
          <a:prstGeom prst="rect">
            <a:avLst/>
          </a:prstGeom>
          <a:noFill/>
          <a:ln/>
        </p:spPr>
        <p:txBody>
          <a:bodyPr wrap="square" lIns="0" tIns="0" rIns="0" bIns="0" rtlCol="0" anchor="t">
            <a:normAutofit/>
          </a:bodyPr>
          <a:lstStyle/>
          <a:p>
            <a:pPr indent="0" marL="0">
              <a:buNone/>
            </a:pPr>
            <a:r>
              <a:rPr lang="en-US" sz="1500" dirty="0">
                <a:solidFill>
                  <a:srgbClr val="1E293B"/>
                </a:solidFill>
                <a:latin typeface="Calibri" pitchFamily="34" charset="0"/>
                <a:ea typeface="Calibri" pitchFamily="34" charset="-122"/>
                <a:cs typeface="Calibri" pitchFamily="34" charset="-120"/>
              </a:rPr>
              <a:t>Enviar pequeñas peticiones con la IP de la víctima falsificada para que muchos servidores le respondan a ella.</a:t>
            </a:r>
            <a:endParaRPr lang="en-US" sz="1500" dirty="0"/>
          </a:p>
        </p:txBody>
      </p:sp>
      <p:sp>
        <p:nvSpPr>
          <p:cNvPr id="23" name="Text 21"/>
          <p:cNvSpPr txBox="1"/>
          <p:nvPr/>
        </p:nvSpPr>
        <p:spPr>
          <a:xfrm>
            <a:off x="45720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Fundamentos de ciberseguridad · RA1</a:t>
            </a:r>
            <a:endParaRPr lang="en-US" sz="900" dirty="0"/>
          </a:p>
        </p:txBody>
      </p:sp>
      <p:sp>
        <p:nvSpPr>
          <p:cNvPr id="24" name="Text 22"/>
          <p:cNvSpPr txBox="1"/>
          <p:nvPr/>
        </p:nvSpPr>
        <p:spPr>
          <a:xfrm>
            <a:off x="8229600" y="4800600"/>
            <a:ext cx="457200" cy="22860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47472"/>
            <a:ext cx="566928" cy="566928"/>
          </a:xfrm>
          <a:prstGeom prst="ellipse">
            <a:avLst/>
          </a:prstGeom>
          <a:solidFill>
            <a:srgbClr val="0E7C86"/>
          </a:solidFill>
          <a:ln w="12700">
            <a:solidFill>
              <a:srgbClr val="0E7C86"/>
            </a:solidFill>
            <a:prstDash val="solid"/>
          </a:ln>
        </p:spPr>
      </p:sp>
      <p:sp>
        <p:nvSpPr>
          <p:cNvPr id="3" name="Text 1"/>
          <p:cNvSpPr txBox="1"/>
          <p:nvPr/>
        </p:nvSpPr>
        <p:spPr>
          <a:xfrm>
            <a:off x="457200" y="34747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6</a:t>
            </a:r>
            <a:endParaRPr lang="en-US" sz="2000" dirty="0"/>
          </a:p>
        </p:txBody>
      </p:sp>
      <p:sp>
        <p:nvSpPr>
          <p:cNvPr id="4" name="Text 2"/>
          <p:cNvSpPr txBox="1"/>
          <p:nvPr/>
        </p:nvSpPr>
        <p:spPr>
          <a:xfrm>
            <a:off x="1188720" y="292608"/>
            <a:ext cx="7498080" cy="256032"/>
          </a:xfrm>
          <a:prstGeom prst="rect">
            <a:avLst/>
          </a:prstGeom>
          <a:noFill/>
          <a:ln/>
        </p:spPr>
        <p:txBody>
          <a:bodyPr wrap="square" lIns="0" tIns="0" rIns="0" bIns="0" rtlCol="0" anchor="ctr"/>
          <a:lstStyle/>
          <a:p>
            <a:pPr indent="0" marL="0">
              <a:buNone/>
            </a:pPr>
            <a:r>
              <a:rPr lang="en-US" sz="1100" b="1" dirty="0">
                <a:solidFill>
                  <a:srgbClr val="0E7C86"/>
                </a:solidFill>
                <a:latin typeface="Calibri" pitchFamily="34" charset="0"/>
                <a:ea typeface="Calibri" pitchFamily="34" charset="-122"/>
                <a:cs typeface="Calibri" pitchFamily="34" charset="-120"/>
              </a:rPr>
              <a:t>TEMA 6</a:t>
            </a:r>
            <a:endParaRPr lang="en-US" sz="1100" dirty="0"/>
          </a:p>
        </p:txBody>
      </p:sp>
      <p:sp>
        <p:nvSpPr>
          <p:cNvPr id="5" name="Text 3"/>
          <p:cNvSpPr txBox="1"/>
          <p:nvPr/>
        </p:nvSpPr>
        <p:spPr>
          <a:xfrm>
            <a:off x="1188720" y="530352"/>
            <a:ext cx="7498080" cy="502920"/>
          </a:xfrm>
          <a:prstGeom prst="rect">
            <a:avLst/>
          </a:prstGeom>
          <a:noFill/>
          <a:ln/>
        </p:spPr>
        <p:txBody>
          <a:bodyPr wrap="square" lIns="0" tIns="0" rIns="0" bIns="0" rtlCol="0" anchor="t">
            <a:normAutofit/>
          </a:bodyPr>
          <a:lstStyle/>
          <a:p>
            <a:pPr indent="0" marL="0">
              <a:buNone/>
            </a:pPr>
            <a:r>
              <a:rPr lang="en-US" sz="2200" b="1" dirty="0">
                <a:solidFill>
                  <a:srgbClr val="0B1D2E"/>
                </a:solidFill>
                <a:latin typeface="Calibri" pitchFamily="34" charset="0"/>
                <a:ea typeface="Calibri" pitchFamily="34" charset="-122"/>
                <a:cs typeface="Calibri" pitchFamily="34" charset="-120"/>
              </a:rPr>
              <a:t>Atacando lo que hacemos: servicios IP y empresariales</a:t>
            </a:r>
            <a:endParaRPr lang="en-US" sz="2200" dirty="0"/>
          </a:p>
        </p:txBody>
      </p:sp>
      <p:sp>
        <p:nvSpPr>
          <p:cNvPr id="6" name="Shape 4"/>
          <p:cNvSpPr/>
          <p:nvPr/>
        </p:nvSpPr>
        <p:spPr>
          <a:xfrm>
            <a:off x="457200" y="3694176"/>
            <a:ext cx="8229600" cy="969264"/>
          </a:xfrm>
          <a:prstGeom prst="roundRect">
            <a:avLst>
              <a:gd name="adj" fmla="val 5660"/>
            </a:avLst>
          </a:prstGeom>
          <a:solidFill>
            <a:srgbClr val="FFF6E5"/>
          </a:solidFill>
          <a:ln w="12700">
            <a:solidFill>
              <a:srgbClr val="FFF6E5"/>
            </a:solidFill>
            <a:prstDash val="solid"/>
          </a:ln>
        </p:spPr>
      </p:sp>
      <p:sp>
        <p:nvSpPr>
          <p:cNvPr id="7" name="Text 5"/>
          <p:cNvSpPr txBox="1"/>
          <p:nvPr/>
        </p:nvSpPr>
        <p:spPr>
          <a:xfrm>
            <a:off x="640080" y="3694176"/>
            <a:ext cx="7863840" cy="969264"/>
          </a:xfrm>
          <a:prstGeom prst="rect">
            <a:avLst/>
          </a:prstGeom>
          <a:noFill/>
          <a:ln/>
        </p:spPr>
        <p:txBody>
          <a:bodyPr wrap="square" lIns="0" tIns="0" rIns="0" bIns="0" rtlCol="0" anchor="ctr">
            <a:normAutofit/>
          </a:bodyPr>
          <a:lstStyle/>
          <a:p>
            <a:pPr indent="0" marL="0">
              <a:buNone/>
            </a:pPr>
            <a:r>
              <a:rPr lang="en-US" sz="1350" b="1" dirty="0">
                <a:solidFill>
                  <a:srgbClr val="1E293B"/>
                </a:solidFill>
                <a:latin typeface="Calibri" pitchFamily="34" charset="0"/>
                <a:ea typeface="Calibri" pitchFamily="34" charset="-122"/>
                <a:cs typeface="Calibri" pitchFamily="34" charset="-120"/>
              </a:rPr>
              <a:t>Importante: </a:t>
            </a:r>
            <a:pPr indent="0" marL="0">
              <a:buNone/>
            </a:pPr>
            <a:r>
              <a:rPr lang="en-US" sz="1350" b="1" dirty="0">
                <a:solidFill>
                  <a:srgbClr val="1E293B"/>
                </a:solidFill>
                <a:latin typeface="Calibri" pitchFamily="34" charset="0"/>
                <a:ea typeface="Calibri" pitchFamily="34" charset="-122"/>
                <a:cs typeface="Calibri" pitchFamily="34" charset="-120"/>
              </a:rPr>
              <a:t>Mitigación de ataques de red comunes:</a:t>
            </a:r>
            <a:pPr indent="0" marL="0">
              <a:buNone/>
            </a:pPr>
            <a:r>
              <a:rPr lang="en-US" sz="1350" dirty="0">
                <a:solidFill>
                  <a:srgbClr val="1E293B"/>
                </a:solidFill>
                <a:latin typeface="Calibri" pitchFamily="34" charset="0"/>
                <a:ea typeface="Calibri" pitchFamily="34" charset="-122"/>
                <a:cs typeface="Calibri" pitchFamily="34" charset="-120"/>
              </a:rPr>
              <a:t> mantener equipos actualizados, usar contraseñas robustas y MFA, cifrar el tráfico (HTTPS, VPN), segmentar la red, instalar firewalls e IPS, respaldar la información y capacitar a las personas.</a:t>
            </a:r>
            <a:endParaRPr lang="en-US" sz="13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067645"/>
                <a:gridCol w="2874723"/>
                <a:gridCol w="4287231"/>
              </a:tblGrid>
              <a:tr h="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Servicio</a:t>
                      </a:r>
                      <a:endParaRPr lang="en-US" sz="14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E7C86"/>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Para qué sirve</a:t>
                      </a:r>
                      <a:endParaRPr lang="en-US" sz="14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E7C86"/>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Cómo se ataca</a:t>
                      </a:r>
                      <a:endParaRPr lang="en-US" sz="14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E7C86"/>
                    </a:solidFill>
                  </a:tcPr>
                </a:tc>
              </a:tr>
              <a:tr h="0">
                <a:tc>
                  <a:txBody>
                    <a:bodyPr/>
                    <a:lstStyle/>
                    <a:p>
                      <a:pPr indent="0" marL="0">
                        <a:buNone/>
                      </a:pPr>
                      <a:r>
                        <a:rPr lang="en-US" sz="1400" b="1" dirty="0">
                          <a:solidFill>
                            <a:srgbClr val="1E293B"/>
                          </a:solidFill>
                          <a:latin typeface="Calibri" pitchFamily="34" charset="0"/>
                          <a:ea typeface="Calibri" pitchFamily="34" charset="-122"/>
                          <a:cs typeface="Calibri" pitchFamily="34" charset="-120"/>
                        </a:rPr>
                        <a:t>ARP</a:t>
                      </a:r>
                      <a:endParaRPr lang="en-US" sz="14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7F8"/>
                    </a:solidFill>
                  </a:tcPr>
                </a:tc>
                <a:tc>
                  <a:txBody>
                    <a:bodyPr/>
                    <a:lstStyle/>
                    <a:p>
                      <a:pPr indent="0" marL="0">
                        <a:buNone/>
                      </a:pPr>
                      <a:r>
                        <a:rPr lang="en-US" sz="1400" dirty="0">
                          <a:solidFill>
                            <a:srgbClr val="1E293B"/>
                          </a:solidFill>
                          <a:latin typeface="Calibri" pitchFamily="34" charset="0"/>
                          <a:ea typeface="Calibri" pitchFamily="34" charset="-122"/>
                          <a:cs typeface="Calibri" pitchFamily="34" charset="-120"/>
                        </a:rPr>
                        <a:t>Traduce una IP a una dirección MAC dentro de la red local.</a:t>
                      </a:r>
                      <a:endParaRPr lang="en-US" sz="14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7F8"/>
                    </a:solidFill>
                  </a:tcPr>
                </a:tc>
                <a:tc>
                  <a:txBody>
                    <a:bodyPr/>
                    <a:lstStyle/>
                    <a:p>
                      <a:pPr indent="0" marL="0">
                        <a:buNone/>
                      </a:pPr>
                      <a:r>
                        <a:rPr lang="en-US" sz="1400" dirty="0">
                          <a:solidFill>
                            <a:srgbClr val="1E293B"/>
                          </a:solidFill>
                          <a:latin typeface="Calibri" pitchFamily="34" charset="0"/>
                          <a:ea typeface="Calibri" pitchFamily="34" charset="-122"/>
                          <a:cs typeface="Calibri" pitchFamily="34" charset="-120"/>
                        </a:rPr>
                        <a:t>Envenenamiento ARP: el atacante dice ser el router para recibir todo el tráfico (MitM).</a:t>
                      </a:r>
                      <a:endParaRPr lang="en-US" sz="14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7F8"/>
                    </a:solidFill>
                  </a:tcPr>
                </a:tc>
              </a:tr>
              <a:tr h="0">
                <a:tc>
                  <a:txBody>
                    <a:bodyPr/>
                    <a:lstStyle/>
                    <a:p>
                      <a:pPr indent="0" marL="0">
                        <a:buNone/>
                      </a:pPr>
                      <a:r>
                        <a:rPr lang="en-US" sz="1400" b="1" dirty="0">
                          <a:solidFill>
                            <a:srgbClr val="1E293B"/>
                          </a:solidFill>
                          <a:latin typeface="Calibri" pitchFamily="34" charset="0"/>
                          <a:ea typeface="Calibri" pitchFamily="34" charset="-122"/>
                          <a:cs typeface="Calibri" pitchFamily="34" charset="-120"/>
                        </a:rPr>
                        <a:t>DNS</a:t>
                      </a:r>
                      <a:endParaRPr lang="en-US" sz="14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1E293B"/>
                          </a:solidFill>
                          <a:latin typeface="Calibri" pitchFamily="34" charset="0"/>
                          <a:ea typeface="Calibri" pitchFamily="34" charset="-122"/>
                          <a:cs typeface="Calibri" pitchFamily="34" charset="-120"/>
                        </a:rPr>
                        <a:t>Traduce nombres (www.mep.go.cr) a direcciones IP.</a:t>
                      </a:r>
                      <a:endParaRPr lang="en-US" sz="14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1E293B"/>
                          </a:solidFill>
                          <a:latin typeface="Calibri" pitchFamily="34" charset="0"/>
                          <a:ea typeface="Calibri" pitchFamily="34" charset="-122"/>
                          <a:cs typeface="Calibri" pitchFamily="34" charset="-120"/>
                        </a:rPr>
                        <a:t>Envenenamiento de caché (redirige a sitios falsos) y túneles DNS (esconder datos robados dentro de consultas DNS).</a:t>
                      </a:r>
                      <a:endParaRPr lang="en-US" sz="14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E293B"/>
                          </a:solidFill>
                          <a:latin typeface="Calibri" pitchFamily="34" charset="0"/>
                          <a:ea typeface="Calibri" pitchFamily="34" charset="-122"/>
                          <a:cs typeface="Calibri" pitchFamily="34" charset="-120"/>
                        </a:rPr>
                        <a:t>DHCP</a:t>
                      </a:r>
                      <a:endParaRPr lang="en-US" sz="14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7F8"/>
                    </a:solidFill>
                  </a:tcPr>
                </a:tc>
                <a:tc>
                  <a:txBody>
                    <a:bodyPr/>
                    <a:lstStyle/>
                    <a:p>
                      <a:pPr indent="0" marL="0">
                        <a:buNone/>
                      </a:pPr>
                      <a:r>
                        <a:rPr lang="en-US" sz="1400" dirty="0">
                          <a:solidFill>
                            <a:srgbClr val="1E293B"/>
                          </a:solidFill>
                          <a:latin typeface="Calibri" pitchFamily="34" charset="0"/>
                          <a:ea typeface="Calibri" pitchFamily="34" charset="-122"/>
                          <a:cs typeface="Calibri" pitchFamily="34" charset="-120"/>
                        </a:rPr>
                        <a:t>Entrega direcciones IP automáticamente.</a:t>
                      </a:r>
                      <a:endParaRPr lang="en-US" sz="14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7F8"/>
                    </a:solidFill>
                  </a:tcPr>
                </a:tc>
                <a:tc>
                  <a:txBody>
                    <a:bodyPr/>
                    <a:lstStyle/>
                    <a:p>
                      <a:pPr indent="0" marL="0">
                        <a:buNone/>
                      </a:pPr>
                      <a:r>
                        <a:rPr lang="en-US" sz="1400" dirty="0">
                          <a:solidFill>
                            <a:srgbClr val="1E293B"/>
                          </a:solidFill>
                          <a:latin typeface="Calibri" pitchFamily="34" charset="0"/>
                          <a:ea typeface="Calibri" pitchFamily="34" charset="-122"/>
                          <a:cs typeface="Calibri" pitchFamily="34" charset="-120"/>
                        </a:rPr>
                        <a:t>Suplantación DHCP (un servidor falso entrega una puerta de enlace maliciosa) y agotamiento DHCP (acaparar todas las direcciones).</a:t>
                      </a:r>
                      <a:endParaRPr lang="en-US" sz="14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7F8"/>
                    </a:solidFill>
                  </a:tcPr>
                </a:tc>
              </a:tr>
            </a:tbl>
          </a:graphicData>
        </a:graphic>
      </p:graphicFrame>
      <p:sp>
        <p:nvSpPr>
          <p:cNvPr id="9" name="Text 6"/>
          <p:cNvSpPr txBox="1"/>
          <p:nvPr/>
        </p:nvSpPr>
        <p:spPr>
          <a:xfrm>
            <a:off x="45720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Fundamentos de ciberseguridad · RA1</a:t>
            </a:r>
            <a:endParaRPr lang="en-US" sz="900" dirty="0"/>
          </a:p>
        </p:txBody>
      </p:sp>
      <p:sp>
        <p:nvSpPr>
          <p:cNvPr id="10" name="Text 7"/>
          <p:cNvSpPr txBox="1"/>
          <p:nvPr/>
        </p:nvSpPr>
        <p:spPr>
          <a:xfrm>
            <a:off x="8229600" y="4800600"/>
            <a:ext cx="457200" cy="22860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47472"/>
            <a:ext cx="566928" cy="566928"/>
          </a:xfrm>
          <a:prstGeom prst="ellipse">
            <a:avLst/>
          </a:prstGeom>
          <a:solidFill>
            <a:srgbClr val="0E7C86"/>
          </a:solidFill>
          <a:ln w="12700">
            <a:solidFill>
              <a:srgbClr val="0E7C86"/>
            </a:solidFill>
            <a:prstDash val="solid"/>
          </a:ln>
        </p:spPr>
      </p:sp>
      <p:sp>
        <p:nvSpPr>
          <p:cNvPr id="3" name="Text 1"/>
          <p:cNvSpPr txBox="1"/>
          <p:nvPr/>
        </p:nvSpPr>
        <p:spPr>
          <a:xfrm>
            <a:off x="457200" y="34747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6</a:t>
            </a:r>
            <a:endParaRPr lang="en-US" sz="2000" dirty="0"/>
          </a:p>
        </p:txBody>
      </p:sp>
      <p:sp>
        <p:nvSpPr>
          <p:cNvPr id="4" name="Text 2"/>
          <p:cNvSpPr txBox="1"/>
          <p:nvPr/>
        </p:nvSpPr>
        <p:spPr>
          <a:xfrm>
            <a:off x="1188720" y="292608"/>
            <a:ext cx="7498080" cy="256032"/>
          </a:xfrm>
          <a:prstGeom prst="rect">
            <a:avLst/>
          </a:prstGeom>
          <a:noFill/>
          <a:ln/>
        </p:spPr>
        <p:txBody>
          <a:bodyPr wrap="square" lIns="0" tIns="0" rIns="0" bIns="0" rtlCol="0" anchor="ctr"/>
          <a:lstStyle/>
          <a:p>
            <a:pPr indent="0" marL="0">
              <a:buNone/>
            </a:pPr>
            <a:r>
              <a:rPr lang="en-US" sz="1100" b="1" dirty="0">
                <a:solidFill>
                  <a:srgbClr val="0E7C86"/>
                </a:solidFill>
                <a:latin typeface="Calibri" pitchFamily="34" charset="0"/>
                <a:ea typeface="Calibri" pitchFamily="34" charset="-122"/>
                <a:cs typeface="Calibri" pitchFamily="34" charset="-120"/>
              </a:rPr>
              <a:t>TEMA 6 (continuación)</a:t>
            </a:r>
            <a:endParaRPr lang="en-US" sz="1100" dirty="0"/>
          </a:p>
        </p:txBody>
      </p:sp>
      <p:sp>
        <p:nvSpPr>
          <p:cNvPr id="5" name="Text 3"/>
          <p:cNvSpPr txBox="1"/>
          <p:nvPr/>
        </p:nvSpPr>
        <p:spPr>
          <a:xfrm>
            <a:off x="1188720" y="530352"/>
            <a:ext cx="7498080" cy="502920"/>
          </a:xfrm>
          <a:prstGeom prst="rect">
            <a:avLst/>
          </a:prstGeom>
          <a:noFill/>
          <a:ln/>
        </p:spPr>
        <p:txBody>
          <a:bodyPr wrap="square" lIns="0" tIns="0" rIns="0" bIns="0" rtlCol="0" anchor="t">
            <a:normAutofit/>
          </a:bodyPr>
          <a:lstStyle/>
          <a:p>
            <a:pPr indent="0" marL="0">
              <a:buNone/>
            </a:pPr>
            <a:r>
              <a:rPr lang="en-US" sz="2200" b="1" dirty="0">
                <a:solidFill>
                  <a:srgbClr val="0B1D2E"/>
                </a:solidFill>
                <a:latin typeface="Calibri" pitchFamily="34" charset="0"/>
                <a:ea typeface="Calibri" pitchFamily="34" charset="-122"/>
                <a:cs typeface="Calibri" pitchFamily="34" charset="-120"/>
              </a:rPr>
              <a:t>Atacando lo que hacemos: servicios IP y empresariales</a:t>
            </a:r>
            <a:endParaRPr lang="en-US" sz="2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743951"/>
                <a:gridCol w="2500339"/>
                <a:gridCol w="3985309"/>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Servicio</a:t>
                      </a:r>
                      <a:endParaRPr lang="en-US" sz="16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E7C86"/>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Para qué sirve</a:t>
                      </a:r>
                      <a:endParaRPr lang="en-US" sz="16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E7C86"/>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Cómo se ataca</a:t>
                      </a:r>
                      <a:endParaRPr lang="en-US" sz="16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E7C86"/>
                    </a:solidFill>
                  </a:tcPr>
                </a:tc>
              </a:tr>
              <a:tr h="0">
                <a:tc>
                  <a:txBody>
                    <a:bodyPr/>
                    <a:lstStyle/>
                    <a:p>
                      <a:pPr indent="0" marL="0">
                        <a:buNone/>
                      </a:pPr>
                      <a:r>
                        <a:rPr lang="en-US" sz="1600" b="1" dirty="0">
                          <a:solidFill>
                            <a:srgbClr val="1E293B"/>
                          </a:solidFill>
                          <a:latin typeface="Calibri" pitchFamily="34" charset="0"/>
                          <a:ea typeface="Calibri" pitchFamily="34" charset="-122"/>
                          <a:cs typeface="Calibri" pitchFamily="34" charset="-120"/>
                        </a:rPr>
                        <a:t>HTTP / HTTPS</a:t>
                      </a:r>
                      <a:endParaRPr lang="en-US" sz="16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7F8"/>
                    </a:solidFill>
                  </a:tcPr>
                </a:tc>
                <a:tc>
                  <a:txBody>
                    <a:bodyPr/>
                    <a:lstStyle/>
                    <a:p>
                      <a:pPr indent="0" marL="0">
                        <a:buNone/>
                      </a:pPr>
                      <a:r>
                        <a:rPr lang="en-US" sz="1600" dirty="0">
                          <a:solidFill>
                            <a:srgbClr val="1E293B"/>
                          </a:solidFill>
                          <a:latin typeface="Calibri" pitchFamily="34" charset="0"/>
                          <a:ea typeface="Calibri" pitchFamily="34" charset="-122"/>
                          <a:cs typeface="Calibri" pitchFamily="34" charset="-120"/>
                        </a:rPr>
                        <a:t>Páginas web.</a:t>
                      </a:r>
                      <a:endParaRPr lang="en-US" sz="16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7F8"/>
                    </a:solidFill>
                  </a:tcPr>
                </a:tc>
                <a:tc>
                  <a:txBody>
                    <a:bodyPr/>
                    <a:lstStyle/>
                    <a:p>
                      <a:pPr indent="0" marL="0">
                        <a:buNone/>
                      </a:pPr>
                      <a:r>
                        <a:rPr lang="en-US" sz="1600" dirty="0">
                          <a:solidFill>
                            <a:srgbClr val="1E293B"/>
                          </a:solidFill>
                          <a:latin typeface="Calibri" pitchFamily="34" charset="0"/>
                          <a:ea typeface="Calibri" pitchFamily="34" charset="-122"/>
                          <a:cs typeface="Calibri" pitchFamily="34" charset="-120"/>
                        </a:rPr>
                        <a:t>iFrames maliciosos, redirecciones a sitios falsos, robo de cookies. HTTP viaja en texto plano.</a:t>
                      </a:r>
                      <a:endParaRPr lang="en-US" sz="16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7F8"/>
                    </a:solidFill>
                  </a:tcPr>
                </a:tc>
              </a:tr>
              <a:tr h="0">
                <a:tc>
                  <a:txBody>
                    <a:bodyPr/>
                    <a:lstStyle/>
                    <a:p>
                      <a:pPr indent="0" marL="0">
                        <a:buNone/>
                      </a:pPr>
                      <a:r>
                        <a:rPr lang="en-US" sz="1600" b="1" dirty="0">
                          <a:solidFill>
                            <a:srgbClr val="1E293B"/>
                          </a:solidFill>
                          <a:latin typeface="Calibri" pitchFamily="34" charset="0"/>
                          <a:ea typeface="Calibri" pitchFamily="34" charset="-122"/>
                          <a:cs typeface="Calibri" pitchFamily="34" charset="-120"/>
                        </a:rPr>
                        <a:t>Correo electrónico</a:t>
                      </a:r>
                      <a:endParaRPr lang="en-US" sz="16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600" dirty="0">
                          <a:solidFill>
                            <a:srgbClr val="1E293B"/>
                          </a:solidFill>
                          <a:latin typeface="Calibri" pitchFamily="34" charset="0"/>
                          <a:ea typeface="Calibri" pitchFamily="34" charset="-122"/>
                          <a:cs typeface="Calibri" pitchFamily="34" charset="-120"/>
                        </a:rPr>
                        <a:t>Mensajería empresarial.</a:t>
                      </a:r>
                      <a:endParaRPr lang="en-US" sz="16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600" dirty="0">
                          <a:solidFill>
                            <a:srgbClr val="1E293B"/>
                          </a:solidFill>
                          <a:latin typeface="Calibri" pitchFamily="34" charset="0"/>
                          <a:ea typeface="Calibri" pitchFamily="34" charset="-122"/>
                          <a:cs typeface="Calibri" pitchFamily="34" charset="-120"/>
                        </a:rPr>
                        <a:t>Phishing, adjuntos con malware, suplantación del remitente.</a:t>
                      </a:r>
                      <a:endParaRPr lang="en-US" sz="16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E293B"/>
                          </a:solidFill>
                          <a:latin typeface="Calibri" pitchFamily="34" charset="0"/>
                          <a:ea typeface="Calibri" pitchFamily="34" charset="-122"/>
                          <a:cs typeface="Calibri" pitchFamily="34" charset="-120"/>
                        </a:rPr>
                        <a:t>Bases de datos</a:t>
                      </a:r>
                      <a:endParaRPr lang="en-US" sz="16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7F8"/>
                    </a:solidFill>
                  </a:tcPr>
                </a:tc>
                <a:tc>
                  <a:txBody>
                    <a:bodyPr/>
                    <a:lstStyle/>
                    <a:p>
                      <a:pPr indent="0" marL="0">
                        <a:buNone/>
                      </a:pPr>
                      <a:r>
                        <a:rPr lang="en-US" sz="1600" dirty="0">
                          <a:solidFill>
                            <a:srgbClr val="1E293B"/>
                          </a:solidFill>
                          <a:latin typeface="Calibri" pitchFamily="34" charset="0"/>
                          <a:ea typeface="Calibri" pitchFamily="34" charset="-122"/>
                          <a:cs typeface="Calibri" pitchFamily="34" charset="-120"/>
                        </a:rPr>
                        <a:t>Guardan la información de la empresa.</a:t>
                      </a:r>
                      <a:endParaRPr lang="en-US" sz="16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7F8"/>
                    </a:solidFill>
                  </a:tcPr>
                </a:tc>
                <a:tc>
                  <a:txBody>
                    <a:bodyPr/>
                    <a:lstStyle/>
                    <a:p>
                      <a:pPr indent="0" marL="0">
                        <a:buNone/>
                      </a:pPr>
                      <a:r>
                        <a:rPr lang="en-US" sz="1600" dirty="0">
                          <a:solidFill>
                            <a:srgbClr val="1E293B"/>
                          </a:solidFill>
                          <a:latin typeface="Calibri" pitchFamily="34" charset="0"/>
                          <a:ea typeface="Calibri" pitchFamily="34" charset="-122"/>
                          <a:cs typeface="Calibri" pitchFamily="34" charset="-120"/>
                        </a:rPr>
                        <a:t>Inyección SQL y robo de credenciales.</a:t>
                      </a:r>
                      <a:endParaRPr lang="en-US" sz="16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7F8"/>
                    </a:solidFill>
                  </a:tcPr>
                </a:tc>
              </a:tr>
            </a:tbl>
          </a:graphicData>
        </a:graphic>
      </p:graphicFrame>
      <p:sp>
        <p:nvSpPr>
          <p:cNvPr id="7" name="Text 4"/>
          <p:cNvSpPr txBox="1"/>
          <p:nvPr/>
        </p:nvSpPr>
        <p:spPr>
          <a:xfrm>
            <a:off x="45720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Fundamentos de ciberseguridad · RA1</a:t>
            </a:r>
            <a:endParaRPr lang="en-US" sz="900" dirty="0"/>
          </a:p>
        </p:txBody>
      </p:sp>
      <p:sp>
        <p:nvSpPr>
          <p:cNvPr id="8" name="Text 5"/>
          <p:cNvSpPr txBox="1"/>
          <p:nvPr/>
        </p:nvSpPr>
        <p:spPr>
          <a:xfrm>
            <a:off x="8229600" y="4800600"/>
            <a:ext cx="457200" cy="22860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47472"/>
            <a:ext cx="566928" cy="566928"/>
          </a:xfrm>
          <a:prstGeom prst="ellipse">
            <a:avLst/>
          </a:prstGeom>
          <a:solidFill>
            <a:srgbClr val="0E7C86"/>
          </a:solidFill>
          <a:ln w="12700">
            <a:solidFill>
              <a:srgbClr val="0E7C86"/>
            </a:solidFill>
            <a:prstDash val="solid"/>
          </a:ln>
        </p:spPr>
      </p:sp>
      <p:sp>
        <p:nvSpPr>
          <p:cNvPr id="3" name="Text 1"/>
          <p:cNvSpPr txBox="1"/>
          <p:nvPr/>
        </p:nvSpPr>
        <p:spPr>
          <a:xfrm>
            <a:off x="457200" y="34747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7</a:t>
            </a:r>
            <a:endParaRPr lang="en-US" sz="2000" dirty="0"/>
          </a:p>
        </p:txBody>
      </p:sp>
      <p:sp>
        <p:nvSpPr>
          <p:cNvPr id="4" name="Text 2"/>
          <p:cNvSpPr txBox="1"/>
          <p:nvPr/>
        </p:nvSpPr>
        <p:spPr>
          <a:xfrm>
            <a:off x="1188720" y="292608"/>
            <a:ext cx="7498080" cy="256032"/>
          </a:xfrm>
          <a:prstGeom prst="rect">
            <a:avLst/>
          </a:prstGeom>
          <a:noFill/>
          <a:ln/>
        </p:spPr>
        <p:txBody>
          <a:bodyPr wrap="square" lIns="0" tIns="0" rIns="0" bIns="0" rtlCol="0" anchor="ctr"/>
          <a:lstStyle/>
          <a:p>
            <a:pPr indent="0" marL="0">
              <a:buNone/>
            </a:pPr>
            <a:r>
              <a:rPr lang="en-US" sz="1100" b="1" dirty="0">
                <a:solidFill>
                  <a:srgbClr val="0E7C86"/>
                </a:solidFill>
                <a:latin typeface="Calibri" pitchFamily="34" charset="0"/>
                <a:ea typeface="Calibri" pitchFamily="34" charset="-122"/>
                <a:cs typeface="Calibri" pitchFamily="34" charset="-120"/>
              </a:rPr>
              <a:t>TEMA 7 · REDES INALÁMBRICAS: PROBLEMAS Y WLAN SEGURAS</a:t>
            </a:r>
            <a:endParaRPr lang="en-US" sz="1100" dirty="0"/>
          </a:p>
        </p:txBody>
      </p:sp>
      <p:sp>
        <p:nvSpPr>
          <p:cNvPr id="5" name="Text 3"/>
          <p:cNvSpPr txBox="1"/>
          <p:nvPr/>
        </p:nvSpPr>
        <p:spPr>
          <a:xfrm>
            <a:off x="1188720" y="530352"/>
            <a:ext cx="7498080" cy="502920"/>
          </a:xfrm>
          <a:prstGeom prst="rect">
            <a:avLst/>
          </a:prstGeom>
          <a:noFill/>
          <a:ln/>
        </p:spPr>
        <p:txBody>
          <a:bodyPr wrap="square" lIns="0" tIns="0" rIns="0" bIns="0" rtlCol="0" anchor="t">
            <a:normAutofit/>
          </a:bodyPr>
          <a:lstStyle/>
          <a:p>
            <a:pPr indent="0" marL="0">
              <a:buNone/>
            </a:pPr>
            <a:r>
              <a:rPr lang="en-US" sz="2800" b="1" dirty="0">
                <a:solidFill>
                  <a:srgbClr val="0B1D2E"/>
                </a:solidFill>
                <a:latin typeface="Calibri" pitchFamily="34" charset="0"/>
                <a:ea typeface="Calibri" pitchFamily="34" charset="-122"/>
                <a:cs typeface="Calibri" pitchFamily="34" charset="-120"/>
              </a:rPr>
              <a:t>Amenazas a la WLAN</a:t>
            </a:r>
            <a:endParaRPr lang="en-US" sz="2800" dirty="0"/>
          </a:p>
        </p:txBody>
      </p:sp>
      <p:sp>
        <p:nvSpPr>
          <p:cNvPr id="6" name="Text 4"/>
          <p:cNvSpPr txBox="1"/>
          <p:nvPr/>
        </p:nvSpPr>
        <p:spPr>
          <a:xfrm>
            <a:off x="457200" y="1234440"/>
            <a:ext cx="8229600" cy="850392"/>
          </a:xfrm>
          <a:prstGeom prst="rect">
            <a:avLst/>
          </a:prstGeom>
          <a:noFill/>
          <a:ln/>
        </p:spPr>
        <p:txBody>
          <a:bodyPr wrap="square" lIns="0" tIns="0" rIns="0" bIns="0" rtlCol="0" anchor="t">
            <a:normAutofit/>
          </a:bodyPr>
          <a:lstStyle/>
          <a:p>
            <a:pPr indent="0" marL="0">
              <a:buNone/>
            </a:pPr>
            <a:r>
              <a:rPr lang="en-US" sz="1400" dirty="0">
                <a:solidFill>
                  <a:srgbClr val="1E293B"/>
                </a:solidFill>
                <a:latin typeface="Calibri" pitchFamily="34" charset="0"/>
                <a:ea typeface="Calibri" pitchFamily="34" charset="-122"/>
                <a:cs typeface="Calibri" pitchFamily="34" charset="-120"/>
              </a:rPr>
              <a:t>Una </a:t>
            </a:r>
            <a:pPr indent="0" marL="0">
              <a:buNone/>
            </a:pPr>
            <a:r>
              <a:rPr lang="en-US" sz="1400" b="1" dirty="0">
                <a:solidFill>
                  <a:srgbClr val="1E293B"/>
                </a:solidFill>
                <a:latin typeface="Calibri" pitchFamily="34" charset="0"/>
                <a:ea typeface="Calibri" pitchFamily="34" charset="-122"/>
                <a:cs typeface="Calibri" pitchFamily="34" charset="-120"/>
              </a:rPr>
              <a:t>WLAN</a:t>
            </a:r>
            <a:pPr indent="0" marL="0">
              <a:buNone/>
            </a:pPr>
            <a:r>
              <a:rPr lang="en-US" sz="1400" dirty="0">
                <a:solidFill>
                  <a:srgbClr val="1E293B"/>
                </a:solidFill>
                <a:latin typeface="Calibri" pitchFamily="34" charset="0"/>
                <a:ea typeface="Calibri" pitchFamily="34" charset="-122"/>
                <a:cs typeface="Calibri" pitchFamily="34" charset="-120"/>
              </a:rPr>
              <a:t> (red de área local inalámbrica) usa ondas de radio del estándar </a:t>
            </a:r>
            <a:pPr indent="0" marL="0">
              <a:buNone/>
            </a:pPr>
            <a:r>
              <a:rPr lang="en-US" sz="1400" b="1" dirty="0">
                <a:solidFill>
                  <a:srgbClr val="1E293B"/>
                </a:solidFill>
                <a:latin typeface="Calibri" pitchFamily="34" charset="0"/>
                <a:ea typeface="Calibri" pitchFamily="34" charset="-122"/>
                <a:cs typeface="Calibri" pitchFamily="34" charset="-120"/>
              </a:rPr>
              <a:t>IEEE 802.11</a:t>
            </a:r>
            <a:pPr indent="0" marL="0">
              <a:buNone/>
            </a:pPr>
            <a:r>
              <a:rPr lang="en-US" sz="1400" dirty="0">
                <a:solidFill>
                  <a:srgbClr val="1E293B"/>
                </a:solidFill>
                <a:latin typeface="Calibri" pitchFamily="34" charset="0"/>
                <a:ea typeface="Calibri" pitchFamily="34" charset="-122"/>
                <a:cs typeface="Calibri" pitchFamily="34" charset="-120"/>
              </a:rPr>
              <a:t> (Wi-Fi), en las bandas de </a:t>
            </a:r>
            <a:pPr indent="0" marL="0">
              <a:buNone/>
            </a:pPr>
            <a:r>
              <a:rPr lang="en-US" sz="1400" b="1" dirty="0">
                <a:solidFill>
                  <a:srgbClr val="1E293B"/>
                </a:solidFill>
                <a:latin typeface="Calibri" pitchFamily="34" charset="0"/>
                <a:ea typeface="Calibri" pitchFamily="34" charset="-122"/>
                <a:cs typeface="Calibri" pitchFamily="34" charset="-120"/>
              </a:rPr>
              <a:t>2,4 GHz</a:t>
            </a:r>
            <a:pPr indent="0" marL="0">
              <a:buNone/>
            </a:pPr>
            <a:r>
              <a:rPr lang="en-US" sz="1400" dirty="0">
                <a:solidFill>
                  <a:srgbClr val="1E293B"/>
                </a:solidFill>
                <a:latin typeface="Calibri" pitchFamily="34" charset="0"/>
                <a:ea typeface="Calibri" pitchFamily="34" charset="-122"/>
                <a:cs typeface="Calibri" pitchFamily="34" charset="-120"/>
              </a:rPr>
              <a:t> (más alcance) y </a:t>
            </a:r>
            <a:pPr indent="0" marL="0">
              <a:buNone/>
            </a:pPr>
            <a:r>
              <a:rPr lang="en-US" sz="1400" b="1" dirty="0">
                <a:solidFill>
                  <a:srgbClr val="1E293B"/>
                </a:solidFill>
                <a:latin typeface="Calibri" pitchFamily="34" charset="0"/>
                <a:ea typeface="Calibri" pitchFamily="34" charset="-122"/>
                <a:cs typeface="Calibri" pitchFamily="34" charset="-120"/>
              </a:rPr>
              <a:t>5 GHz</a:t>
            </a:r>
            <a:pPr indent="0" marL="0">
              <a:buNone/>
            </a:pPr>
            <a:r>
              <a:rPr lang="en-US" sz="1400" dirty="0">
                <a:solidFill>
                  <a:srgbClr val="1E293B"/>
                </a:solidFill>
                <a:latin typeface="Calibri" pitchFamily="34" charset="0"/>
                <a:ea typeface="Calibri" pitchFamily="34" charset="-122"/>
                <a:cs typeface="Calibri" pitchFamily="34" charset="-120"/>
              </a:rPr>
              <a:t> (más velocidad). Los equipos se conectan a un </a:t>
            </a:r>
            <a:pPr indent="0" marL="0">
              <a:buNone/>
            </a:pPr>
            <a:r>
              <a:rPr lang="en-US" sz="1400" b="1" dirty="0">
                <a:solidFill>
                  <a:srgbClr val="1E293B"/>
                </a:solidFill>
                <a:latin typeface="Calibri" pitchFamily="34" charset="0"/>
                <a:ea typeface="Calibri" pitchFamily="34" charset="-122"/>
                <a:cs typeface="Calibri" pitchFamily="34" charset="-120"/>
              </a:rPr>
              <a:t>punto de acceso (AP)</a:t>
            </a:r>
            <a:pPr indent="0" marL="0">
              <a:buNone/>
            </a:pPr>
            <a:r>
              <a:rPr lang="en-US" sz="1400" dirty="0">
                <a:solidFill>
                  <a:srgbClr val="1E293B"/>
                </a:solidFill>
                <a:latin typeface="Calibri" pitchFamily="34" charset="0"/>
                <a:ea typeface="Calibri" pitchFamily="34" charset="-122"/>
                <a:cs typeface="Calibri" pitchFamily="34" charset="-120"/>
              </a:rPr>
              <a:t> identificado por un nombre de red o </a:t>
            </a:r>
            <a:pPr indent="0" marL="0">
              <a:buNone/>
            </a:pPr>
            <a:r>
              <a:rPr lang="en-US" sz="1400" b="1" dirty="0">
                <a:solidFill>
                  <a:srgbClr val="1E293B"/>
                </a:solidFill>
                <a:latin typeface="Calibri" pitchFamily="34" charset="0"/>
                <a:ea typeface="Calibri" pitchFamily="34" charset="-122"/>
                <a:cs typeface="Calibri" pitchFamily="34" charset="-120"/>
              </a:rPr>
              <a:t>SSID</a:t>
            </a:r>
            <a:pPr indent="0" marL="0">
              <a:buNone/>
            </a:pPr>
            <a:r>
              <a:rPr lang="en-US" sz="1400" dirty="0">
                <a:solidFill>
                  <a:srgbClr val="1E293B"/>
                </a:solidFill>
                <a:latin typeface="Calibri" pitchFamily="34" charset="0"/>
                <a:ea typeface="Calibri" pitchFamily="34" charset="-122"/>
                <a:cs typeface="Calibri" pitchFamily="34" charset="-120"/>
              </a:rPr>
              <a:t>.</a:t>
            </a:r>
            <a:endParaRPr lang="en-US" sz="1400" dirty="0"/>
          </a:p>
        </p:txBody>
      </p:sp>
      <p:sp>
        <p:nvSpPr>
          <p:cNvPr id="7" name="Shape 5"/>
          <p:cNvSpPr/>
          <p:nvPr/>
        </p:nvSpPr>
        <p:spPr>
          <a:xfrm>
            <a:off x="457200" y="2194560"/>
            <a:ext cx="4000500" cy="1120140"/>
          </a:xfrm>
          <a:prstGeom prst="roundRect">
            <a:avLst>
              <a:gd name="adj" fmla="val 6531"/>
            </a:avLst>
          </a:prstGeom>
          <a:solidFill>
            <a:srgbClr val="F1F7F8"/>
          </a:solidFill>
          <a:ln w="12700">
            <a:solidFill>
              <a:srgbClr val="F1F7F8"/>
            </a:solidFill>
            <a:prstDash val="solid"/>
          </a:ln>
        </p:spPr>
      </p:sp>
      <p:sp>
        <p:nvSpPr>
          <p:cNvPr id="8" name="Shape 6"/>
          <p:cNvSpPr/>
          <p:nvPr/>
        </p:nvSpPr>
        <p:spPr>
          <a:xfrm>
            <a:off x="621792" y="2359152"/>
            <a:ext cx="365760" cy="365760"/>
          </a:xfrm>
          <a:prstGeom prst="ellipse">
            <a:avLst/>
          </a:prstGeom>
          <a:solidFill>
            <a:srgbClr val="0E7C86"/>
          </a:solidFill>
          <a:ln w="12700">
            <a:solidFill>
              <a:srgbClr val="0E7C86"/>
            </a:solidFill>
            <a:prstDash val="solid"/>
          </a:ln>
        </p:spPr>
      </p:sp>
      <p:sp>
        <p:nvSpPr>
          <p:cNvPr id="9" name="Text 7"/>
          <p:cNvSpPr txBox="1"/>
          <p:nvPr/>
        </p:nvSpPr>
        <p:spPr>
          <a:xfrm>
            <a:off x="621792" y="235915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1097280" y="2313432"/>
            <a:ext cx="3223260" cy="457200"/>
          </a:xfrm>
          <a:prstGeom prst="rect">
            <a:avLst/>
          </a:prstGeom>
          <a:noFill/>
          <a:ln/>
        </p:spPr>
        <p:txBody>
          <a:bodyPr wrap="square" lIns="0" tIns="0" rIns="0" bIns="0" rtlCol="0" anchor="ctr">
            <a:normAutofit/>
          </a:bodyPr>
          <a:lstStyle/>
          <a:p>
            <a:pPr indent="0" marL="0">
              <a:buNone/>
            </a:pPr>
            <a:r>
              <a:rPr lang="en-US" sz="1400" b="1" dirty="0">
                <a:solidFill>
                  <a:srgbClr val="0B1D2E"/>
                </a:solidFill>
                <a:latin typeface="Calibri" pitchFamily="34" charset="0"/>
                <a:ea typeface="Calibri" pitchFamily="34" charset="-122"/>
                <a:cs typeface="Calibri" pitchFamily="34" charset="-120"/>
              </a:rPr>
              <a:t>AP no autorizado (rogue AP)</a:t>
            </a:r>
            <a:endParaRPr lang="en-US" sz="1400" dirty="0"/>
          </a:p>
        </p:txBody>
      </p:sp>
      <p:sp>
        <p:nvSpPr>
          <p:cNvPr id="11" name="Text 9"/>
          <p:cNvSpPr txBox="1"/>
          <p:nvPr/>
        </p:nvSpPr>
        <p:spPr>
          <a:xfrm>
            <a:off x="621792" y="2852928"/>
            <a:ext cx="3671316" cy="342900"/>
          </a:xfrm>
          <a:prstGeom prst="rect">
            <a:avLst/>
          </a:prstGeom>
          <a:noFill/>
          <a:ln/>
        </p:spPr>
        <p:txBody>
          <a:bodyPr wrap="square" lIns="0" tIns="0" rIns="0" bIns="0" rtlCol="0" anchor="t">
            <a:normAutofit/>
          </a:bodyPr>
          <a:lstStyle/>
          <a:p>
            <a:pPr indent="0" marL="0">
              <a:buNone/>
            </a:pPr>
            <a:r>
              <a:rPr lang="en-US" sz="1500" dirty="0">
                <a:solidFill>
                  <a:srgbClr val="1E293B"/>
                </a:solidFill>
                <a:latin typeface="Calibri" pitchFamily="34" charset="0"/>
                <a:ea typeface="Calibri" pitchFamily="34" charset="-122"/>
                <a:cs typeface="Calibri" pitchFamily="34" charset="-120"/>
              </a:rPr>
              <a:t>Alguien conecta su propio router a la red de la empresa sin permiso.</a:t>
            </a:r>
            <a:endParaRPr lang="en-US" sz="1500" dirty="0"/>
          </a:p>
        </p:txBody>
      </p:sp>
      <p:sp>
        <p:nvSpPr>
          <p:cNvPr id="12" name="Shape 10"/>
          <p:cNvSpPr/>
          <p:nvPr/>
        </p:nvSpPr>
        <p:spPr>
          <a:xfrm>
            <a:off x="4686300" y="2194560"/>
            <a:ext cx="4000500" cy="1120140"/>
          </a:xfrm>
          <a:prstGeom prst="roundRect">
            <a:avLst>
              <a:gd name="adj" fmla="val 6531"/>
            </a:avLst>
          </a:prstGeom>
          <a:solidFill>
            <a:srgbClr val="F1F7F8"/>
          </a:solidFill>
          <a:ln w="12700">
            <a:solidFill>
              <a:srgbClr val="F1F7F8"/>
            </a:solidFill>
            <a:prstDash val="solid"/>
          </a:ln>
        </p:spPr>
      </p:sp>
      <p:sp>
        <p:nvSpPr>
          <p:cNvPr id="13" name="Shape 11"/>
          <p:cNvSpPr/>
          <p:nvPr/>
        </p:nvSpPr>
        <p:spPr>
          <a:xfrm>
            <a:off x="4850892" y="2359152"/>
            <a:ext cx="365760" cy="365760"/>
          </a:xfrm>
          <a:prstGeom prst="ellipse">
            <a:avLst/>
          </a:prstGeom>
          <a:solidFill>
            <a:srgbClr val="0E7C86"/>
          </a:solidFill>
          <a:ln w="12700">
            <a:solidFill>
              <a:srgbClr val="0E7C86"/>
            </a:solidFill>
            <a:prstDash val="solid"/>
          </a:ln>
        </p:spPr>
      </p:sp>
      <p:sp>
        <p:nvSpPr>
          <p:cNvPr id="14" name="Text 12"/>
          <p:cNvSpPr txBox="1"/>
          <p:nvPr/>
        </p:nvSpPr>
        <p:spPr>
          <a:xfrm>
            <a:off x="4850892" y="235915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5326380" y="2313432"/>
            <a:ext cx="3223260" cy="457200"/>
          </a:xfrm>
          <a:prstGeom prst="rect">
            <a:avLst/>
          </a:prstGeom>
          <a:noFill/>
          <a:ln/>
        </p:spPr>
        <p:txBody>
          <a:bodyPr wrap="square" lIns="0" tIns="0" rIns="0" bIns="0" rtlCol="0" anchor="ctr">
            <a:normAutofit/>
          </a:bodyPr>
          <a:lstStyle/>
          <a:p>
            <a:pPr indent="0" marL="0">
              <a:buNone/>
            </a:pPr>
            <a:r>
              <a:rPr lang="en-US" sz="1400" b="1" dirty="0">
                <a:solidFill>
                  <a:srgbClr val="0B1D2E"/>
                </a:solidFill>
                <a:latin typeface="Calibri" pitchFamily="34" charset="0"/>
                <a:ea typeface="Calibri" pitchFamily="34" charset="-122"/>
                <a:cs typeface="Calibri" pitchFamily="34" charset="-120"/>
              </a:rPr>
              <a:t>Gemelo malvado (evil twin)</a:t>
            </a:r>
            <a:endParaRPr lang="en-US" sz="1400" dirty="0"/>
          </a:p>
        </p:txBody>
      </p:sp>
      <p:sp>
        <p:nvSpPr>
          <p:cNvPr id="16" name="Text 14"/>
          <p:cNvSpPr txBox="1"/>
          <p:nvPr/>
        </p:nvSpPr>
        <p:spPr>
          <a:xfrm>
            <a:off x="4850892" y="2852928"/>
            <a:ext cx="3671316" cy="342900"/>
          </a:xfrm>
          <a:prstGeom prst="rect">
            <a:avLst/>
          </a:prstGeom>
          <a:noFill/>
          <a:ln/>
        </p:spPr>
        <p:txBody>
          <a:bodyPr wrap="square" lIns="0" tIns="0" rIns="0" bIns="0" rtlCol="0" anchor="t">
            <a:normAutofit/>
          </a:bodyPr>
          <a:lstStyle/>
          <a:p>
            <a:pPr indent="0" marL="0">
              <a:buNone/>
            </a:pPr>
            <a:r>
              <a:rPr lang="en-US" sz="1500" dirty="0">
                <a:solidFill>
                  <a:srgbClr val="1E293B"/>
                </a:solidFill>
                <a:latin typeface="Calibri" pitchFamily="34" charset="0"/>
                <a:ea typeface="Calibri" pitchFamily="34" charset="-122"/>
                <a:cs typeface="Calibri" pitchFamily="34" charset="-120"/>
              </a:rPr>
              <a:t>Un AP falso con el mismo SSID que el real.</a:t>
            </a:r>
            <a:endParaRPr lang="en-US" sz="1500" dirty="0"/>
          </a:p>
        </p:txBody>
      </p:sp>
      <p:sp>
        <p:nvSpPr>
          <p:cNvPr id="17" name="Shape 15"/>
          <p:cNvSpPr/>
          <p:nvPr/>
        </p:nvSpPr>
        <p:spPr>
          <a:xfrm>
            <a:off x="457200" y="3543300"/>
            <a:ext cx="4000500" cy="1120140"/>
          </a:xfrm>
          <a:prstGeom prst="roundRect">
            <a:avLst>
              <a:gd name="adj" fmla="val 6531"/>
            </a:avLst>
          </a:prstGeom>
          <a:solidFill>
            <a:srgbClr val="F1F7F8"/>
          </a:solidFill>
          <a:ln w="12700">
            <a:solidFill>
              <a:srgbClr val="F1F7F8"/>
            </a:solidFill>
            <a:prstDash val="solid"/>
          </a:ln>
        </p:spPr>
      </p:sp>
      <p:sp>
        <p:nvSpPr>
          <p:cNvPr id="18" name="Shape 16"/>
          <p:cNvSpPr/>
          <p:nvPr/>
        </p:nvSpPr>
        <p:spPr>
          <a:xfrm>
            <a:off x="621792" y="3707892"/>
            <a:ext cx="365760" cy="365760"/>
          </a:xfrm>
          <a:prstGeom prst="ellipse">
            <a:avLst/>
          </a:prstGeom>
          <a:solidFill>
            <a:srgbClr val="0E7C86"/>
          </a:solidFill>
          <a:ln w="12700">
            <a:solidFill>
              <a:srgbClr val="0E7C86"/>
            </a:solidFill>
            <a:prstDash val="solid"/>
          </a:ln>
        </p:spPr>
      </p:sp>
      <p:sp>
        <p:nvSpPr>
          <p:cNvPr id="19" name="Text 17"/>
          <p:cNvSpPr txBox="1"/>
          <p:nvPr/>
        </p:nvSpPr>
        <p:spPr>
          <a:xfrm>
            <a:off x="621792" y="370789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8"/>
          <p:cNvSpPr txBox="1"/>
          <p:nvPr/>
        </p:nvSpPr>
        <p:spPr>
          <a:xfrm>
            <a:off x="1097280" y="3662172"/>
            <a:ext cx="3223260" cy="457200"/>
          </a:xfrm>
          <a:prstGeom prst="rect">
            <a:avLst/>
          </a:prstGeom>
          <a:noFill/>
          <a:ln/>
        </p:spPr>
        <p:txBody>
          <a:bodyPr wrap="square" lIns="0" tIns="0" rIns="0" bIns="0" rtlCol="0" anchor="ctr">
            <a:normAutofit/>
          </a:bodyPr>
          <a:lstStyle/>
          <a:p>
            <a:pPr indent="0" marL="0">
              <a:buNone/>
            </a:pPr>
            <a:r>
              <a:rPr lang="en-US" sz="1400" b="1" dirty="0">
                <a:solidFill>
                  <a:srgbClr val="0B1D2E"/>
                </a:solidFill>
                <a:latin typeface="Calibri" pitchFamily="34" charset="0"/>
                <a:ea typeface="Calibri" pitchFamily="34" charset="-122"/>
                <a:cs typeface="Calibri" pitchFamily="34" charset="-120"/>
              </a:rPr>
              <a:t>Denegación de servicio</a:t>
            </a:r>
            <a:endParaRPr lang="en-US" sz="1400" dirty="0"/>
          </a:p>
        </p:txBody>
      </p:sp>
      <p:sp>
        <p:nvSpPr>
          <p:cNvPr id="21" name="Text 19"/>
          <p:cNvSpPr txBox="1"/>
          <p:nvPr/>
        </p:nvSpPr>
        <p:spPr>
          <a:xfrm>
            <a:off x="621792" y="4201668"/>
            <a:ext cx="3671316" cy="342900"/>
          </a:xfrm>
          <a:prstGeom prst="rect">
            <a:avLst/>
          </a:prstGeom>
          <a:noFill/>
          <a:ln/>
        </p:spPr>
        <p:txBody>
          <a:bodyPr wrap="square" lIns="0" tIns="0" rIns="0" bIns="0" rtlCol="0" anchor="t">
            <a:normAutofit/>
          </a:bodyPr>
          <a:lstStyle/>
          <a:p>
            <a:pPr indent="0" marL="0">
              <a:buNone/>
            </a:pPr>
            <a:r>
              <a:rPr lang="en-US" sz="1500" dirty="0">
                <a:solidFill>
                  <a:srgbClr val="1E293B"/>
                </a:solidFill>
                <a:latin typeface="Calibri" pitchFamily="34" charset="0"/>
                <a:ea typeface="Calibri" pitchFamily="34" charset="-122"/>
                <a:cs typeface="Calibri" pitchFamily="34" charset="-120"/>
              </a:rPr>
              <a:t>Interferencias o paquetes de desautenticación que desconectan a todos.</a:t>
            </a:r>
            <a:endParaRPr lang="en-US" sz="1500" dirty="0"/>
          </a:p>
        </p:txBody>
      </p:sp>
      <p:sp>
        <p:nvSpPr>
          <p:cNvPr id="22" name="Shape 20"/>
          <p:cNvSpPr/>
          <p:nvPr/>
        </p:nvSpPr>
        <p:spPr>
          <a:xfrm>
            <a:off x="4686300" y="3543300"/>
            <a:ext cx="4000500" cy="1120140"/>
          </a:xfrm>
          <a:prstGeom prst="roundRect">
            <a:avLst>
              <a:gd name="adj" fmla="val 6531"/>
            </a:avLst>
          </a:prstGeom>
          <a:solidFill>
            <a:srgbClr val="F1F7F8"/>
          </a:solidFill>
          <a:ln w="12700">
            <a:solidFill>
              <a:srgbClr val="F1F7F8"/>
            </a:solidFill>
            <a:prstDash val="solid"/>
          </a:ln>
        </p:spPr>
      </p:sp>
      <p:sp>
        <p:nvSpPr>
          <p:cNvPr id="23" name="Shape 21"/>
          <p:cNvSpPr/>
          <p:nvPr/>
        </p:nvSpPr>
        <p:spPr>
          <a:xfrm>
            <a:off x="4850892" y="3707892"/>
            <a:ext cx="365760" cy="365760"/>
          </a:xfrm>
          <a:prstGeom prst="ellipse">
            <a:avLst/>
          </a:prstGeom>
          <a:solidFill>
            <a:srgbClr val="0E7C86"/>
          </a:solidFill>
          <a:ln w="12700">
            <a:solidFill>
              <a:srgbClr val="0E7C86"/>
            </a:solidFill>
            <a:prstDash val="solid"/>
          </a:ln>
        </p:spPr>
      </p:sp>
      <p:sp>
        <p:nvSpPr>
          <p:cNvPr id="24" name="Text 22"/>
          <p:cNvSpPr txBox="1"/>
          <p:nvPr/>
        </p:nvSpPr>
        <p:spPr>
          <a:xfrm>
            <a:off x="4850892" y="370789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5" name="Text 23"/>
          <p:cNvSpPr txBox="1"/>
          <p:nvPr/>
        </p:nvSpPr>
        <p:spPr>
          <a:xfrm>
            <a:off x="5326380" y="3662172"/>
            <a:ext cx="3223260" cy="457200"/>
          </a:xfrm>
          <a:prstGeom prst="rect">
            <a:avLst/>
          </a:prstGeom>
          <a:noFill/>
          <a:ln/>
        </p:spPr>
        <p:txBody>
          <a:bodyPr wrap="square" lIns="0" tIns="0" rIns="0" bIns="0" rtlCol="0" anchor="ctr">
            <a:normAutofit/>
          </a:bodyPr>
          <a:lstStyle/>
          <a:p>
            <a:pPr indent="0" marL="0">
              <a:buNone/>
            </a:pPr>
            <a:r>
              <a:rPr lang="en-US" sz="1400" b="1" dirty="0">
                <a:solidFill>
                  <a:srgbClr val="0B1D2E"/>
                </a:solidFill>
                <a:latin typeface="Calibri" pitchFamily="34" charset="0"/>
                <a:ea typeface="Calibri" pitchFamily="34" charset="-122"/>
                <a:cs typeface="Calibri" pitchFamily="34" charset="-120"/>
              </a:rPr>
              <a:t>Interceptación y descifrado de contraseñas</a:t>
            </a:r>
            <a:endParaRPr lang="en-US" sz="1400" dirty="0"/>
          </a:p>
        </p:txBody>
      </p:sp>
      <p:sp>
        <p:nvSpPr>
          <p:cNvPr id="26" name="Text 24"/>
          <p:cNvSpPr txBox="1"/>
          <p:nvPr/>
        </p:nvSpPr>
        <p:spPr>
          <a:xfrm>
            <a:off x="4850892" y="4201668"/>
            <a:ext cx="3671316" cy="342900"/>
          </a:xfrm>
          <a:prstGeom prst="rect">
            <a:avLst/>
          </a:prstGeom>
          <a:noFill/>
          <a:ln/>
        </p:spPr>
        <p:txBody>
          <a:bodyPr wrap="square" lIns="0" tIns="0" rIns="0" bIns="0" rtlCol="0" anchor="t">
            <a:normAutofit/>
          </a:bodyPr>
          <a:lstStyle/>
          <a:p>
            <a:pPr indent="0" marL="0">
              <a:buNone/>
            </a:pPr>
            <a:r>
              <a:rPr lang="en-US" sz="1500" dirty="0">
                <a:solidFill>
                  <a:srgbClr val="1E293B"/>
                </a:solidFill>
                <a:latin typeface="Calibri" pitchFamily="34" charset="0"/>
                <a:ea typeface="Calibri" pitchFamily="34" charset="-122"/>
                <a:cs typeface="Calibri" pitchFamily="34" charset="-120"/>
              </a:rPr>
              <a:t>Capturar el tráfico de una red con seguridad débil.</a:t>
            </a:r>
            <a:endParaRPr lang="en-US" sz="1500" dirty="0"/>
          </a:p>
        </p:txBody>
      </p:sp>
      <p:sp>
        <p:nvSpPr>
          <p:cNvPr id="27" name="Text 25"/>
          <p:cNvSpPr txBox="1"/>
          <p:nvPr/>
        </p:nvSpPr>
        <p:spPr>
          <a:xfrm>
            <a:off x="45720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Fundamentos de ciberseguridad · RA1</a:t>
            </a:r>
            <a:endParaRPr lang="en-US" sz="900" dirty="0"/>
          </a:p>
        </p:txBody>
      </p:sp>
      <p:sp>
        <p:nvSpPr>
          <p:cNvPr id="28" name="Text 26"/>
          <p:cNvSpPr txBox="1"/>
          <p:nvPr/>
        </p:nvSpPr>
        <p:spPr>
          <a:xfrm>
            <a:off x="8229600" y="4800600"/>
            <a:ext cx="457200" cy="22860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47472"/>
            <a:ext cx="566928" cy="566928"/>
          </a:xfrm>
          <a:prstGeom prst="ellipse">
            <a:avLst/>
          </a:prstGeom>
          <a:solidFill>
            <a:srgbClr val="0E7C86"/>
          </a:solidFill>
          <a:ln w="12700">
            <a:solidFill>
              <a:srgbClr val="0E7C86"/>
            </a:solidFill>
            <a:prstDash val="solid"/>
          </a:ln>
        </p:spPr>
      </p:sp>
      <p:sp>
        <p:nvSpPr>
          <p:cNvPr id="3" name="Text 1"/>
          <p:cNvSpPr txBox="1"/>
          <p:nvPr/>
        </p:nvSpPr>
        <p:spPr>
          <a:xfrm>
            <a:off x="457200" y="34747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7</a:t>
            </a:r>
            <a:endParaRPr lang="en-US" sz="2000" dirty="0"/>
          </a:p>
        </p:txBody>
      </p:sp>
      <p:sp>
        <p:nvSpPr>
          <p:cNvPr id="4" name="Text 2"/>
          <p:cNvSpPr txBox="1"/>
          <p:nvPr/>
        </p:nvSpPr>
        <p:spPr>
          <a:xfrm>
            <a:off x="1188720" y="292608"/>
            <a:ext cx="7498080" cy="256032"/>
          </a:xfrm>
          <a:prstGeom prst="rect">
            <a:avLst/>
          </a:prstGeom>
          <a:noFill/>
          <a:ln/>
        </p:spPr>
        <p:txBody>
          <a:bodyPr wrap="square" lIns="0" tIns="0" rIns="0" bIns="0" rtlCol="0" anchor="ctr"/>
          <a:lstStyle/>
          <a:p>
            <a:pPr indent="0" marL="0">
              <a:buNone/>
            </a:pPr>
            <a:r>
              <a:rPr lang="en-US" sz="1100" b="1" dirty="0">
                <a:solidFill>
                  <a:srgbClr val="0E7C86"/>
                </a:solidFill>
                <a:latin typeface="Calibri" pitchFamily="34" charset="0"/>
                <a:ea typeface="Calibri" pitchFamily="34" charset="-122"/>
                <a:cs typeface="Calibri" pitchFamily="34" charset="-120"/>
              </a:rPr>
              <a:t>TEMA 7 · REDES INALÁMBRICAS: PROBLEMAS Y WLAN SEGURAS</a:t>
            </a:r>
            <a:endParaRPr lang="en-US" sz="1100" dirty="0"/>
          </a:p>
        </p:txBody>
      </p:sp>
      <p:sp>
        <p:nvSpPr>
          <p:cNvPr id="5" name="Text 3"/>
          <p:cNvSpPr txBox="1"/>
          <p:nvPr/>
        </p:nvSpPr>
        <p:spPr>
          <a:xfrm>
            <a:off x="1188720" y="530352"/>
            <a:ext cx="7498080" cy="502920"/>
          </a:xfrm>
          <a:prstGeom prst="rect">
            <a:avLst/>
          </a:prstGeom>
          <a:noFill/>
          <a:ln/>
        </p:spPr>
        <p:txBody>
          <a:bodyPr wrap="square" lIns="0" tIns="0" rIns="0" bIns="0" rtlCol="0" anchor="t">
            <a:normAutofit/>
          </a:bodyPr>
          <a:lstStyle/>
          <a:p>
            <a:pPr indent="0" marL="0">
              <a:buNone/>
            </a:pPr>
            <a:r>
              <a:rPr lang="en-US" sz="2800" b="1" dirty="0">
                <a:solidFill>
                  <a:srgbClr val="0B1D2E"/>
                </a:solidFill>
                <a:latin typeface="Calibri" pitchFamily="34" charset="0"/>
                <a:ea typeface="Calibri" pitchFamily="34" charset="-122"/>
                <a:cs typeface="Calibri" pitchFamily="34" charset="-120"/>
              </a:rPr>
              <a:t>Cómo asegurar una WLAN</a:t>
            </a:r>
            <a:endParaRPr lang="en-US" sz="28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4096909"/>
                <a:gridCol w="4132691"/>
              </a:tblGrid>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Medida</a:t>
                      </a:r>
                      <a:endParaRPr lang="en-US" sz="15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E7C86"/>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¿Sirve?</a:t>
                      </a:r>
                      <a:endParaRPr lang="en-US" sz="15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E7C86"/>
                    </a:solidFill>
                  </a:tcPr>
                </a:tc>
              </a:tr>
              <a:tr h="0">
                <a:tc>
                  <a:txBody>
                    <a:bodyPr/>
                    <a:lstStyle/>
                    <a:p>
                      <a:pPr indent="0" marL="0">
                        <a:buNone/>
                      </a:pPr>
                      <a:r>
                        <a:rPr lang="en-US" sz="1500" dirty="0">
                          <a:solidFill>
                            <a:srgbClr val="1E293B"/>
                          </a:solidFill>
                          <a:latin typeface="Calibri" pitchFamily="34" charset="0"/>
                          <a:ea typeface="Calibri" pitchFamily="34" charset="-122"/>
                          <a:cs typeface="Calibri" pitchFamily="34" charset="-120"/>
                        </a:rPr>
                        <a:t>Usar WPA3 o, como mínimo, WPA2 con cifrado AES</a:t>
                      </a:r>
                      <a:endParaRPr lang="en-US" sz="15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7F8"/>
                    </a:solidFill>
                  </a:tcPr>
                </a:tc>
                <a:tc>
                  <a:txBody>
                    <a:bodyPr/>
                    <a:lstStyle/>
                    <a:p>
                      <a:pPr indent="0" marL="0">
                        <a:buNone/>
                      </a:pPr>
                      <a:r>
                        <a:rPr lang="en-US" sz="1500" dirty="0">
                          <a:solidFill>
                            <a:srgbClr val="1E293B"/>
                          </a:solidFill>
                          <a:latin typeface="Calibri" pitchFamily="34" charset="0"/>
                          <a:ea typeface="Calibri" pitchFamily="34" charset="-122"/>
                          <a:cs typeface="Calibri" pitchFamily="34" charset="-120"/>
                        </a:rPr>
                        <a:t>Sí: es la protección principal.</a:t>
                      </a:r>
                      <a:endParaRPr lang="en-US" sz="15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7F8"/>
                    </a:solidFill>
                  </a:tcPr>
                </a:tc>
              </a:tr>
              <a:tr h="0">
                <a:tc>
                  <a:txBody>
                    <a:bodyPr/>
                    <a:lstStyle/>
                    <a:p>
                      <a:pPr indent="0" marL="0">
                        <a:buNone/>
                      </a:pPr>
                      <a:r>
                        <a:rPr lang="en-US" sz="1500" dirty="0">
                          <a:solidFill>
                            <a:srgbClr val="1E293B"/>
                          </a:solidFill>
                          <a:latin typeface="Calibri" pitchFamily="34" charset="0"/>
                          <a:ea typeface="Calibri" pitchFamily="34" charset="-122"/>
                          <a:cs typeface="Calibri" pitchFamily="34" charset="-120"/>
                        </a:rPr>
                        <a:t>Usar WPA2/WPA3-Enterprise con 802.1X y un servidor RADIUS</a:t>
                      </a:r>
                      <a:endParaRPr lang="en-US" sz="15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500" dirty="0">
                          <a:solidFill>
                            <a:srgbClr val="1E293B"/>
                          </a:solidFill>
                          <a:latin typeface="Calibri" pitchFamily="34" charset="0"/>
                          <a:ea typeface="Calibri" pitchFamily="34" charset="-122"/>
                          <a:cs typeface="Calibri" pitchFamily="34" charset="-120"/>
                        </a:rPr>
                        <a:t>Sí: cada persona entra con su propio usuario.</a:t>
                      </a:r>
                      <a:endParaRPr lang="en-US" sz="15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0">
                <a:tc>
                  <a:txBody>
                    <a:bodyPr/>
                    <a:lstStyle/>
                    <a:p>
                      <a:pPr indent="0" marL="0">
                        <a:buNone/>
                      </a:pPr>
                      <a:r>
                        <a:rPr lang="en-US" sz="1500" dirty="0">
                          <a:solidFill>
                            <a:srgbClr val="1E293B"/>
                          </a:solidFill>
                          <a:latin typeface="Calibri" pitchFamily="34" charset="0"/>
                          <a:ea typeface="Calibri" pitchFamily="34" charset="-122"/>
                          <a:cs typeface="Calibri" pitchFamily="34" charset="-120"/>
                        </a:rPr>
                        <a:t>Cambiar el usuario y la contraseña de fábrica del router</a:t>
                      </a:r>
                      <a:endParaRPr lang="en-US" sz="15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7F8"/>
                    </a:solidFill>
                  </a:tcPr>
                </a:tc>
                <a:tc>
                  <a:txBody>
                    <a:bodyPr/>
                    <a:lstStyle/>
                    <a:p>
                      <a:pPr indent="0" marL="0">
                        <a:buNone/>
                      </a:pPr>
                      <a:r>
                        <a:rPr lang="en-US" sz="1500" dirty="0">
                          <a:solidFill>
                            <a:srgbClr val="1E293B"/>
                          </a:solidFill>
                          <a:latin typeface="Calibri" pitchFamily="34" charset="0"/>
                          <a:ea typeface="Calibri" pitchFamily="34" charset="-122"/>
                          <a:cs typeface="Calibri" pitchFamily="34" charset="-120"/>
                        </a:rPr>
                        <a:t>Sí, siempre.</a:t>
                      </a:r>
                      <a:endParaRPr lang="en-US" sz="15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7F8"/>
                    </a:solidFill>
                  </a:tcPr>
                </a:tc>
              </a:tr>
              <a:tr h="0">
                <a:tc>
                  <a:txBody>
                    <a:bodyPr/>
                    <a:lstStyle/>
                    <a:p>
                      <a:pPr indent="0" marL="0">
                        <a:buNone/>
                      </a:pPr>
                      <a:r>
                        <a:rPr lang="en-US" sz="1500" dirty="0">
                          <a:solidFill>
                            <a:srgbClr val="1E293B"/>
                          </a:solidFill>
                          <a:latin typeface="Calibri" pitchFamily="34" charset="0"/>
                          <a:ea typeface="Calibri" pitchFamily="34" charset="-122"/>
                          <a:cs typeface="Calibri" pitchFamily="34" charset="-120"/>
                        </a:rPr>
                        <a:t>Mantener actualizado el firmware del AP</a:t>
                      </a:r>
                      <a:endParaRPr lang="en-US" sz="15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500" dirty="0">
                          <a:solidFill>
                            <a:srgbClr val="1E293B"/>
                          </a:solidFill>
                          <a:latin typeface="Calibri" pitchFamily="34" charset="0"/>
                          <a:ea typeface="Calibri" pitchFamily="34" charset="-122"/>
                          <a:cs typeface="Calibri" pitchFamily="34" charset="-120"/>
                        </a:rPr>
                        <a:t>Sí.</a:t>
                      </a:r>
                      <a:endParaRPr lang="en-US" sz="15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0">
                <a:tc>
                  <a:txBody>
                    <a:bodyPr/>
                    <a:lstStyle/>
                    <a:p>
                      <a:pPr indent="0" marL="0">
                        <a:buNone/>
                      </a:pPr>
                      <a:r>
                        <a:rPr lang="en-US" sz="1500" dirty="0">
                          <a:solidFill>
                            <a:srgbClr val="1E293B"/>
                          </a:solidFill>
                          <a:latin typeface="Calibri" pitchFamily="34" charset="0"/>
                          <a:ea typeface="Calibri" pitchFamily="34" charset="-122"/>
                          <a:cs typeface="Calibri" pitchFamily="34" charset="-120"/>
                        </a:rPr>
                        <a:t>Usar WEP o WPA (versión 1)</a:t>
                      </a:r>
                      <a:endParaRPr lang="en-US" sz="15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7F8"/>
                    </a:solidFill>
                  </a:tcPr>
                </a:tc>
                <a:tc>
                  <a:txBody>
                    <a:bodyPr/>
                    <a:lstStyle/>
                    <a:p>
                      <a:pPr indent="0" marL="0">
                        <a:buNone/>
                      </a:pPr>
                      <a:r>
                        <a:rPr lang="en-US" sz="1500" dirty="0">
                          <a:solidFill>
                            <a:srgbClr val="1E293B"/>
                          </a:solidFill>
                          <a:latin typeface="Calibri" pitchFamily="34" charset="0"/>
                          <a:ea typeface="Calibri" pitchFamily="34" charset="-122"/>
                          <a:cs typeface="Calibri" pitchFamily="34" charset="-120"/>
                        </a:rPr>
                        <a:t>No: se descifran en minutos.</a:t>
                      </a:r>
                      <a:endParaRPr lang="en-US" sz="15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7F8"/>
                    </a:solidFill>
                  </a:tcPr>
                </a:tc>
              </a:tr>
              <a:tr h="0">
                <a:tc>
                  <a:txBody>
                    <a:bodyPr/>
                    <a:lstStyle/>
                    <a:p>
                      <a:pPr indent="0" marL="0">
                        <a:buNone/>
                      </a:pPr>
                      <a:r>
                        <a:rPr lang="en-US" sz="1500" dirty="0">
                          <a:solidFill>
                            <a:srgbClr val="1E293B"/>
                          </a:solidFill>
                          <a:latin typeface="Calibri" pitchFamily="34" charset="0"/>
                          <a:ea typeface="Calibri" pitchFamily="34" charset="-122"/>
                          <a:cs typeface="Calibri" pitchFamily="34" charset="-120"/>
                        </a:rPr>
                        <a:t>Ocultar el SSID o filtrar por MAC</a:t>
                      </a:r>
                      <a:endParaRPr lang="en-US" sz="15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500" dirty="0">
                          <a:solidFill>
                            <a:srgbClr val="1E293B"/>
                          </a:solidFill>
                          <a:latin typeface="Calibri" pitchFamily="34" charset="0"/>
                          <a:ea typeface="Calibri" pitchFamily="34" charset="-122"/>
                          <a:cs typeface="Calibri" pitchFamily="34" charset="-120"/>
                        </a:rPr>
                        <a:t>Muy poco: se descubren fácilmente. Es solo un complemento.</a:t>
                      </a:r>
                      <a:endParaRPr lang="en-US" sz="15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45720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Fundamentos de ciberseguridad · RA1</a:t>
            </a:r>
            <a:endParaRPr lang="en-US" sz="900" dirty="0"/>
          </a:p>
        </p:txBody>
      </p:sp>
      <p:sp>
        <p:nvSpPr>
          <p:cNvPr id="8" name="Text 5"/>
          <p:cNvSpPr txBox="1"/>
          <p:nvPr/>
        </p:nvSpPr>
        <p:spPr>
          <a:xfrm>
            <a:off x="8229600" y="4800600"/>
            <a:ext cx="457200" cy="22860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47472"/>
            <a:ext cx="566928" cy="566928"/>
          </a:xfrm>
          <a:prstGeom prst="ellipse">
            <a:avLst/>
          </a:prstGeom>
          <a:solidFill>
            <a:srgbClr val="0E7C86"/>
          </a:solidFill>
          <a:ln w="12700">
            <a:solidFill>
              <a:srgbClr val="0E7C86"/>
            </a:solidFill>
            <a:prstDash val="solid"/>
          </a:ln>
        </p:spPr>
      </p:sp>
      <p:sp>
        <p:nvSpPr>
          <p:cNvPr id="3" name="Text 1"/>
          <p:cNvSpPr txBox="1"/>
          <p:nvPr/>
        </p:nvSpPr>
        <p:spPr>
          <a:xfrm>
            <a:off x="457200" y="34747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8</a:t>
            </a:r>
            <a:endParaRPr lang="en-US" sz="2000" dirty="0"/>
          </a:p>
        </p:txBody>
      </p:sp>
      <p:sp>
        <p:nvSpPr>
          <p:cNvPr id="4" name="Text 2"/>
          <p:cNvSpPr txBox="1"/>
          <p:nvPr/>
        </p:nvSpPr>
        <p:spPr>
          <a:xfrm>
            <a:off x="1188720" y="292608"/>
            <a:ext cx="7498080" cy="256032"/>
          </a:xfrm>
          <a:prstGeom prst="rect">
            <a:avLst/>
          </a:prstGeom>
          <a:noFill/>
          <a:ln/>
        </p:spPr>
        <p:txBody>
          <a:bodyPr wrap="square" lIns="0" tIns="0" rIns="0" bIns="0" rtlCol="0" anchor="ctr"/>
          <a:lstStyle/>
          <a:p>
            <a:pPr indent="0" marL="0">
              <a:buNone/>
            </a:pPr>
            <a:r>
              <a:rPr lang="en-US" sz="1100" b="1" dirty="0">
                <a:solidFill>
                  <a:srgbClr val="0E7C86"/>
                </a:solidFill>
                <a:latin typeface="Calibri" pitchFamily="34" charset="0"/>
                <a:ea typeface="Calibri" pitchFamily="34" charset="-122"/>
                <a:cs typeface="Calibri" pitchFamily="34" charset="-120"/>
              </a:rPr>
              <a:t>TEMA 8 · INFRAESTRUCTURA DE SEGURIDAD DE RED</a:t>
            </a:r>
            <a:endParaRPr lang="en-US" sz="1100" dirty="0"/>
          </a:p>
        </p:txBody>
      </p:sp>
      <p:sp>
        <p:nvSpPr>
          <p:cNvPr id="5" name="Text 3"/>
          <p:cNvSpPr txBox="1"/>
          <p:nvPr/>
        </p:nvSpPr>
        <p:spPr>
          <a:xfrm>
            <a:off x="1188720" y="530352"/>
            <a:ext cx="7498080" cy="502920"/>
          </a:xfrm>
          <a:prstGeom prst="rect">
            <a:avLst/>
          </a:prstGeom>
          <a:noFill/>
          <a:ln/>
        </p:spPr>
        <p:txBody>
          <a:bodyPr wrap="square" lIns="0" tIns="0" rIns="0" bIns="0" rtlCol="0" anchor="t">
            <a:normAutofit/>
          </a:bodyPr>
          <a:lstStyle/>
          <a:p>
            <a:pPr indent="0" marL="0">
              <a:buNone/>
            </a:pPr>
            <a:r>
              <a:rPr lang="en-US" sz="2800" b="1" dirty="0">
                <a:solidFill>
                  <a:srgbClr val="0B1D2E"/>
                </a:solidFill>
                <a:latin typeface="Calibri" pitchFamily="34" charset="0"/>
                <a:ea typeface="Calibri" pitchFamily="34" charset="-122"/>
                <a:cs typeface="Calibri" pitchFamily="34" charset="-120"/>
              </a:rPr>
              <a:t>Dispositivos de seguridad</a:t>
            </a:r>
            <a:endParaRPr lang="en-US" sz="2800" dirty="0"/>
          </a:p>
        </p:txBody>
      </p:sp>
      <p:sp>
        <p:nvSpPr>
          <p:cNvPr id="6" name="Shape 4"/>
          <p:cNvSpPr/>
          <p:nvPr/>
        </p:nvSpPr>
        <p:spPr>
          <a:xfrm>
            <a:off x="457200" y="1234440"/>
            <a:ext cx="2590800" cy="1600200"/>
          </a:xfrm>
          <a:prstGeom prst="roundRect">
            <a:avLst>
              <a:gd name="adj" fmla="val 4571"/>
            </a:avLst>
          </a:prstGeom>
          <a:solidFill>
            <a:srgbClr val="F1F7F8"/>
          </a:solidFill>
          <a:ln w="12700">
            <a:solidFill>
              <a:srgbClr val="F1F7F8"/>
            </a:solidFill>
            <a:prstDash val="solid"/>
          </a:ln>
        </p:spPr>
      </p:sp>
      <p:sp>
        <p:nvSpPr>
          <p:cNvPr id="7" name="Shape 5"/>
          <p:cNvSpPr/>
          <p:nvPr/>
        </p:nvSpPr>
        <p:spPr>
          <a:xfrm>
            <a:off x="621792" y="1399032"/>
            <a:ext cx="365760" cy="365760"/>
          </a:xfrm>
          <a:prstGeom prst="ellipse">
            <a:avLst/>
          </a:prstGeom>
          <a:solidFill>
            <a:srgbClr val="0E7C86"/>
          </a:solidFill>
          <a:ln w="12700">
            <a:solidFill>
              <a:srgbClr val="0E7C86"/>
            </a:solidFill>
            <a:prstDash val="solid"/>
          </a:ln>
        </p:spPr>
      </p:sp>
      <p:sp>
        <p:nvSpPr>
          <p:cNvPr id="8" name="Text 6"/>
          <p:cNvSpPr txBox="1"/>
          <p:nvPr/>
        </p:nvSpPr>
        <p:spPr>
          <a:xfrm>
            <a:off x="621792" y="139903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9" name="Text 7"/>
          <p:cNvSpPr txBox="1"/>
          <p:nvPr/>
        </p:nvSpPr>
        <p:spPr>
          <a:xfrm>
            <a:off x="1097280" y="1353312"/>
            <a:ext cx="1813560" cy="457200"/>
          </a:xfrm>
          <a:prstGeom prst="rect">
            <a:avLst/>
          </a:prstGeom>
          <a:noFill/>
          <a:ln/>
        </p:spPr>
        <p:txBody>
          <a:bodyPr wrap="square" lIns="0" tIns="0" rIns="0" bIns="0" rtlCol="0" anchor="ctr">
            <a:normAutofit/>
          </a:bodyPr>
          <a:lstStyle/>
          <a:p>
            <a:pPr indent="0" marL="0">
              <a:buNone/>
            </a:pPr>
            <a:r>
              <a:rPr lang="en-US" sz="1400" b="1" dirty="0">
                <a:solidFill>
                  <a:srgbClr val="0B1D2E"/>
                </a:solidFill>
                <a:latin typeface="Calibri" pitchFamily="34" charset="0"/>
                <a:ea typeface="Calibri" pitchFamily="34" charset="-122"/>
                <a:cs typeface="Calibri" pitchFamily="34" charset="-120"/>
              </a:rPr>
              <a:t>Firewall</a:t>
            </a:r>
            <a:endParaRPr lang="en-US" sz="1400" dirty="0"/>
          </a:p>
        </p:txBody>
      </p:sp>
      <p:sp>
        <p:nvSpPr>
          <p:cNvPr id="10" name="Text 8"/>
          <p:cNvSpPr txBox="1"/>
          <p:nvPr/>
        </p:nvSpPr>
        <p:spPr>
          <a:xfrm>
            <a:off x="621792" y="1892808"/>
            <a:ext cx="2261616" cy="822960"/>
          </a:xfrm>
          <a:prstGeom prst="rect">
            <a:avLst/>
          </a:prstGeom>
          <a:noFill/>
          <a:ln/>
        </p:spPr>
        <p:txBody>
          <a:bodyPr wrap="square" lIns="0" tIns="0" rIns="0" bIns="0" rtlCol="0" anchor="t">
            <a:normAutofit/>
          </a:bodyPr>
          <a:lstStyle/>
          <a:p>
            <a:pPr indent="0" marL="0">
              <a:buNone/>
            </a:pPr>
            <a:r>
              <a:rPr lang="en-US" sz="1400" dirty="0">
                <a:solidFill>
                  <a:srgbClr val="1E293B"/>
                </a:solidFill>
                <a:latin typeface="Calibri" pitchFamily="34" charset="0"/>
                <a:ea typeface="Calibri" pitchFamily="34" charset="-122"/>
                <a:cs typeface="Calibri" pitchFamily="34" charset="-120"/>
              </a:rPr>
              <a:t>Filtra el tráfico según reglas: decide qué entra y qué sale.</a:t>
            </a:r>
            <a:endParaRPr lang="en-US" sz="1400" dirty="0"/>
          </a:p>
        </p:txBody>
      </p:sp>
      <p:sp>
        <p:nvSpPr>
          <p:cNvPr id="11" name="Shape 9"/>
          <p:cNvSpPr/>
          <p:nvPr/>
        </p:nvSpPr>
        <p:spPr>
          <a:xfrm>
            <a:off x="3276600" y="1234440"/>
            <a:ext cx="2590800" cy="1600200"/>
          </a:xfrm>
          <a:prstGeom prst="roundRect">
            <a:avLst>
              <a:gd name="adj" fmla="val 4571"/>
            </a:avLst>
          </a:prstGeom>
          <a:solidFill>
            <a:srgbClr val="F1F7F8"/>
          </a:solidFill>
          <a:ln w="12700">
            <a:solidFill>
              <a:srgbClr val="F1F7F8"/>
            </a:solidFill>
            <a:prstDash val="solid"/>
          </a:ln>
        </p:spPr>
      </p:sp>
      <p:sp>
        <p:nvSpPr>
          <p:cNvPr id="12" name="Shape 10"/>
          <p:cNvSpPr/>
          <p:nvPr/>
        </p:nvSpPr>
        <p:spPr>
          <a:xfrm>
            <a:off x="3441192" y="1399032"/>
            <a:ext cx="365760" cy="365760"/>
          </a:xfrm>
          <a:prstGeom prst="ellipse">
            <a:avLst/>
          </a:prstGeom>
          <a:solidFill>
            <a:srgbClr val="0E7C86"/>
          </a:solidFill>
          <a:ln w="12700">
            <a:solidFill>
              <a:srgbClr val="0E7C86"/>
            </a:solidFill>
            <a:prstDash val="solid"/>
          </a:ln>
        </p:spPr>
      </p:sp>
      <p:sp>
        <p:nvSpPr>
          <p:cNvPr id="13" name="Text 11"/>
          <p:cNvSpPr txBox="1"/>
          <p:nvPr/>
        </p:nvSpPr>
        <p:spPr>
          <a:xfrm>
            <a:off x="3441192" y="139903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4" name="Text 12"/>
          <p:cNvSpPr txBox="1"/>
          <p:nvPr/>
        </p:nvSpPr>
        <p:spPr>
          <a:xfrm>
            <a:off x="3916680" y="1353312"/>
            <a:ext cx="1813560" cy="457200"/>
          </a:xfrm>
          <a:prstGeom prst="rect">
            <a:avLst/>
          </a:prstGeom>
          <a:noFill/>
          <a:ln/>
        </p:spPr>
        <p:txBody>
          <a:bodyPr wrap="square" lIns="0" tIns="0" rIns="0" bIns="0" rtlCol="0" anchor="ctr">
            <a:normAutofit/>
          </a:bodyPr>
          <a:lstStyle/>
          <a:p>
            <a:pPr indent="0" marL="0">
              <a:buNone/>
            </a:pPr>
            <a:r>
              <a:rPr lang="en-US" sz="1400" b="1" dirty="0">
                <a:solidFill>
                  <a:srgbClr val="0B1D2E"/>
                </a:solidFill>
                <a:latin typeface="Calibri" pitchFamily="34" charset="0"/>
                <a:ea typeface="Calibri" pitchFamily="34" charset="-122"/>
                <a:cs typeface="Calibri" pitchFamily="34" charset="-120"/>
              </a:rPr>
              <a:t>IDS</a:t>
            </a:r>
            <a:endParaRPr lang="en-US" sz="1400" dirty="0"/>
          </a:p>
        </p:txBody>
      </p:sp>
      <p:sp>
        <p:nvSpPr>
          <p:cNvPr id="15" name="Text 13"/>
          <p:cNvSpPr txBox="1"/>
          <p:nvPr/>
        </p:nvSpPr>
        <p:spPr>
          <a:xfrm>
            <a:off x="3441192" y="1892808"/>
            <a:ext cx="2261616" cy="822960"/>
          </a:xfrm>
          <a:prstGeom prst="rect">
            <a:avLst/>
          </a:prstGeom>
          <a:noFill/>
          <a:ln/>
        </p:spPr>
        <p:txBody>
          <a:bodyPr wrap="square" lIns="0" tIns="0" rIns="0" bIns="0" rtlCol="0" anchor="t">
            <a:normAutofit/>
          </a:bodyPr>
          <a:lstStyle/>
          <a:p>
            <a:pPr indent="0" marL="0">
              <a:buNone/>
            </a:pPr>
            <a:r>
              <a:rPr lang="en-US" sz="1400" dirty="0">
                <a:solidFill>
                  <a:srgbClr val="1E293B"/>
                </a:solidFill>
                <a:latin typeface="Calibri" pitchFamily="34" charset="0"/>
                <a:ea typeface="Calibri" pitchFamily="34" charset="-122"/>
                <a:cs typeface="Calibri" pitchFamily="34" charset="-120"/>
              </a:rPr>
              <a:t>Sistema de detección de intrusos: vigila el tráfico y avisa si ve un ataque.</a:t>
            </a:r>
            <a:endParaRPr lang="en-US" sz="1400" dirty="0"/>
          </a:p>
        </p:txBody>
      </p:sp>
      <p:sp>
        <p:nvSpPr>
          <p:cNvPr id="16" name="Shape 14"/>
          <p:cNvSpPr/>
          <p:nvPr/>
        </p:nvSpPr>
        <p:spPr>
          <a:xfrm>
            <a:off x="6096000" y="1234440"/>
            <a:ext cx="2590800" cy="1600200"/>
          </a:xfrm>
          <a:prstGeom prst="roundRect">
            <a:avLst>
              <a:gd name="adj" fmla="val 4571"/>
            </a:avLst>
          </a:prstGeom>
          <a:solidFill>
            <a:srgbClr val="F1F7F8"/>
          </a:solidFill>
          <a:ln w="12700">
            <a:solidFill>
              <a:srgbClr val="F1F7F8"/>
            </a:solidFill>
            <a:prstDash val="solid"/>
          </a:ln>
        </p:spPr>
      </p:sp>
      <p:sp>
        <p:nvSpPr>
          <p:cNvPr id="17" name="Shape 15"/>
          <p:cNvSpPr/>
          <p:nvPr/>
        </p:nvSpPr>
        <p:spPr>
          <a:xfrm>
            <a:off x="6260592" y="1399032"/>
            <a:ext cx="365760" cy="365760"/>
          </a:xfrm>
          <a:prstGeom prst="ellipse">
            <a:avLst/>
          </a:prstGeom>
          <a:solidFill>
            <a:srgbClr val="0E7C86"/>
          </a:solidFill>
          <a:ln w="12700">
            <a:solidFill>
              <a:srgbClr val="0E7C86"/>
            </a:solidFill>
            <a:prstDash val="solid"/>
          </a:ln>
        </p:spPr>
      </p:sp>
      <p:sp>
        <p:nvSpPr>
          <p:cNvPr id="18" name="Text 16"/>
          <p:cNvSpPr txBox="1"/>
          <p:nvPr/>
        </p:nvSpPr>
        <p:spPr>
          <a:xfrm>
            <a:off x="6260592" y="139903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6736080" y="1353312"/>
            <a:ext cx="1813560" cy="457200"/>
          </a:xfrm>
          <a:prstGeom prst="rect">
            <a:avLst/>
          </a:prstGeom>
          <a:noFill/>
          <a:ln/>
        </p:spPr>
        <p:txBody>
          <a:bodyPr wrap="square" lIns="0" tIns="0" rIns="0" bIns="0" rtlCol="0" anchor="ctr">
            <a:normAutofit/>
          </a:bodyPr>
          <a:lstStyle/>
          <a:p>
            <a:pPr indent="0" marL="0">
              <a:buNone/>
            </a:pPr>
            <a:r>
              <a:rPr lang="en-US" sz="1400" b="1" dirty="0">
                <a:solidFill>
                  <a:srgbClr val="0B1D2E"/>
                </a:solidFill>
                <a:latin typeface="Calibri" pitchFamily="34" charset="0"/>
                <a:ea typeface="Calibri" pitchFamily="34" charset="-122"/>
                <a:cs typeface="Calibri" pitchFamily="34" charset="-120"/>
              </a:rPr>
              <a:t>IPS</a:t>
            </a:r>
            <a:endParaRPr lang="en-US" sz="1400" dirty="0"/>
          </a:p>
        </p:txBody>
      </p:sp>
      <p:sp>
        <p:nvSpPr>
          <p:cNvPr id="20" name="Text 18"/>
          <p:cNvSpPr txBox="1"/>
          <p:nvPr/>
        </p:nvSpPr>
        <p:spPr>
          <a:xfrm>
            <a:off x="6260592" y="1892808"/>
            <a:ext cx="2261616" cy="822960"/>
          </a:xfrm>
          <a:prstGeom prst="rect">
            <a:avLst/>
          </a:prstGeom>
          <a:noFill/>
          <a:ln/>
        </p:spPr>
        <p:txBody>
          <a:bodyPr wrap="square" lIns="0" tIns="0" rIns="0" bIns="0" rtlCol="0" anchor="t">
            <a:normAutofit/>
          </a:bodyPr>
          <a:lstStyle/>
          <a:p>
            <a:pPr indent="0" marL="0">
              <a:buNone/>
            </a:pPr>
            <a:r>
              <a:rPr lang="en-US" sz="1400" dirty="0">
                <a:solidFill>
                  <a:srgbClr val="1E293B"/>
                </a:solidFill>
                <a:latin typeface="Calibri" pitchFamily="34" charset="0"/>
                <a:ea typeface="Calibri" pitchFamily="34" charset="-122"/>
                <a:cs typeface="Calibri" pitchFamily="34" charset="-120"/>
              </a:rPr>
              <a:t>Sistema de prevención de intrusos: además de detectar, bloquea el ataque.</a:t>
            </a:r>
            <a:endParaRPr lang="en-US" sz="1400" dirty="0"/>
          </a:p>
        </p:txBody>
      </p:sp>
      <p:sp>
        <p:nvSpPr>
          <p:cNvPr id="21" name="Shape 19"/>
          <p:cNvSpPr/>
          <p:nvPr/>
        </p:nvSpPr>
        <p:spPr>
          <a:xfrm>
            <a:off x="457200" y="3063240"/>
            <a:ext cx="2590800" cy="1600200"/>
          </a:xfrm>
          <a:prstGeom prst="roundRect">
            <a:avLst>
              <a:gd name="adj" fmla="val 4571"/>
            </a:avLst>
          </a:prstGeom>
          <a:solidFill>
            <a:srgbClr val="F1F7F8"/>
          </a:solidFill>
          <a:ln w="12700">
            <a:solidFill>
              <a:srgbClr val="F1F7F8"/>
            </a:solidFill>
            <a:prstDash val="solid"/>
          </a:ln>
        </p:spPr>
      </p:sp>
      <p:sp>
        <p:nvSpPr>
          <p:cNvPr id="22" name="Shape 20"/>
          <p:cNvSpPr/>
          <p:nvPr/>
        </p:nvSpPr>
        <p:spPr>
          <a:xfrm>
            <a:off x="621792" y="3227832"/>
            <a:ext cx="365760" cy="365760"/>
          </a:xfrm>
          <a:prstGeom prst="ellipse">
            <a:avLst/>
          </a:prstGeom>
          <a:solidFill>
            <a:srgbClr val="0E7C86"/>
          </a:solidFill>
          <a:ln w="12700">
            <a:solidFill>
              <a:srgbClr val="0E7C86"/>
            </a:solidFill>
            <a:prstDash val="solid"/>
          </a:ln>
        </p:spPr>
      </p:sp>
      <p:sp>
        <p:nvSpPr>
          <p:cNvPr id="23" name="Text 21"/>
          <p:cNvSpPr txBox="1"/>
          <p:nvPr/>
        </p:nvSpPr>
        <p:spPr>
          <a:xfrm>
            <a:off x="621792" y="322783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4" name="Text 22"/>
          <p:cNvSpPr txBox="1"/>
          <p:nvPr/>
        </p:nvSpPr>
        <p:spPr>
          <a:xfrm>
            <a:off x="1097280" y="3182112"/>
            <a:ext cx="1813560" cy="457200"/>
          </a:xfrm>
          <a:prstGeom prst="rect">
            <a:avLst/>
          </a:prstGeom>
          <a:noFill/>
          <a:ln/>
        </p:spPr>
        <p:txBody>
          <a:bodyPr wrap="square" lIns="0" tIns="0" rIns="0" bIns="0" rtlCol="0" anchor="ctr">
            <a:normAutofit/>
          </a:bodyPr>
          <a:lstStyle/>
          <a:p>
            <a:pPr indent="0" marL="0">
              <a:buNone/>
            </a:pPr>
            <a:r>
              <a:rPr lang="en-US" sz="1400" b="1" dirty="0">
                <a:solidFill>
                  <a:srgbClr val="0B1D2E"/>
                </a:solidFill>
                <a:latin typeface="Calibri" pitchFamily="34" charset="0"/>
                <a:ea typeface="Calibri" pitchFamily="34" charset="-122"/>
                <a:cs typeface="Calibri" pitchFamily="34" charset="-120"/>
              </a:rPr>
              <a:t>Router con seguridad</a:t>
            </a:r>
            <a:endParaRPr lang="en-US" sz="1400" dirty="0"/>
          </a:p>
        </p:txBody>
      </p:sp>
      <p:sp>
        <p:nvSpPr>
          <p:cNvPr id="25" name="Text 23"/>
          <p:cNvSpPr txBox="1"/>
          <p:nvPr/>
        </p:nvSpPr>
        <p:spPr>
          <a:xfrm>
            <a:off x="621792" y="3721608"/>
            <a:ext cx="2261616" cy="822960"/>
          </a:xfrm>
          <a:prstGeom prst="rect">
            <a:avLst/>
          </a:prstGeom>
          <a:noFill/>
          <a:ln/>
        </p:spPr>
        <p:txBody>
          <a:bodyPr wrap="square" lIns="0" tIns="0" rIns="0" bIns="0" rtlCol="0" anchor="t">
            <a:normAutofit/>
          </a:bodyPr>
          <a:lstStyle/>
          <a:p>
            <a:pPr indent="0" marL="0">
              <a:buNone/>
            </a:pPr>
            <a:r>
              <a:rPr lang="en-US" sz="1400" dirty="0">
                <a:solidFill>
                  <a:srgbClr val="1E293B"/>
                </a:solidFill>
                <a:latin typeface="Calibri" pitchFamily="34" charset="0"/>
                <a:ea typeface="Calibri" pitchFamily="34" charset="-122"/>
                <a:cs typeface="Calibri" pitchFamily="34" charset="-120"/>
              </a:rPr>
              <a:t>Enruta y además puede aplicar listas de control de acceso, VPN y firewall.</a:t>
            </a:r>
            <a:endParaRPr lang="en-US" sz="1400" dirty="0"/>
          </a:p>
        </p:txBody>
      </p:sp>
      <p:sp>
        <p:nvSpPr>
          <p:cNvPr id="26" name="Shape 24"/>
          <p:cNvSpPr/>
          <p:nvPr/>
        </p:nvSpPr>
        <p:spPr>
          <a:xfrm>
            <a:off x="3276600" y="3063240"/>
            <a:ext cx="2590800" cy="1600200"/>
          </a:xfrm>
          <a:prstGeom prst="roundRect">
            <a:avLst>
              <a:gd name="adj" fmla="val 4571"/>
            </a:avLst>
          </a:prstGeom>
          <a:solidFill>
            <a:srgbClr val="F1F7F8"/>
          </a:solidFill>
          <a:ln w="12700">
            <a:solidFill>
              <a:srgbClr val="F1F7F8"/>
            </a:solidFill>
            <a:prstDash val="solid"/>
          </a:ln>
        </p:spPr>
      </p:sp>
      <p:sp>
        <p:nvSpPr>
          <p:cNvPr id="27" name="Shape 25"/>
          <p:cNvSpPr/>
          <p:nvPr/>
        </p:nvSpPr>
        <p:spPr>
          <a:xfrm>
            <a:off x="3441192" y="3227832"/>
            <a:ext cx="365760" cy="365760"/>
          </a:xfrm>
          <a:prstGeom prst="ellipse">
            <a:avLst/>
          </a:prstGeom>
          <a:solidFill>
            <a:srgbClr val="0E7C86"/>
          </a:solidFill>
          <a:ln w="12700">
            <a:solidFill>
              <a:srgbClr val="0E7C86"/>
            </a:solidFill>
            <a:prstDash val="solid"/>
          </a:ln>
        </p:spPr>
      </p:sp>
      <p:sp>
        <p:nvSpPr>
          <p:cNvPr id="28" name="Text 26"/>
          <p:cNvSpPr txBox="1"/>
          <p:nvPr/>
        </p:nvSpPr>
        <p:spPr>
          <a:xfrm>
            <a:off x="3441192" y="322783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9" name="Text 27"/>
          <p:cNvSpPr txBox="1"/>
          <p:nvPr/>
        </p:nvSpPr>
        <p:spPr>
          <a:xfrm>
            <a:off x="3916680" y="3182112"/>
            <a:ext cx="1813560" cy="457200"/>
          </a:xfrm>
          <a:prstGeom prst="rect">
            <a:avLst/>
          </a:prstGeom>
          <a:noFill/>
          <a:ln/>
        </p:spPr>
        <p:txBody>
          <a:bodyPr wrap="square" lIns="0" tIns="0" rIns="0" bIns="0" rtlCol="0" anchor="ctr">
            <a:normAutofit/>
          </a:bodyPr>
          <a:lstStyle/>
          <a:p>
            <a:pPr indent="0" marL="0">
              <a:buNone/>
            </a:pPr>
            <a:r>
              <a:rPr lang="en-US" sz="1400" b="1" dirty="0">
                <a:solidFill>
                  <a:srgbClr val="0B1D2E"/>
                </a:solidFill>
                <a:latin typeface="Calibri" pitchFamily="34" charset="0"/>
                <a:ea typeface="Calibri" pitchFamily="34" charset="-122"/>
                <a:cs typeface="Calibri" pitchFamily="34" charset="-120"/>
              </a:rPr>
              <a:t>Concentrador VPN</a:t>
            </a:r>
            <a:endParaRPr lang="en-US" sz="1400" dirty="0"/>
          </a:p>
        </p:txBody>
      </p:sp>
      <p:sp>
        <p:nvSpPr>
          <p:cNvPr id="30" name="Text 28"/>
          <p:cNvSpPr txBox="1"/>
          <p:nvPr/>
        </p:nvSpPr>
        <p:spPr>
          <a:xfrm>
            <a:off x="3441192" y="3721608"/>
            <a:ext cx="2261616" cy="822960"/>
          </a:xfrm>
          <a:prstGeom prst="rect">
            <a:avLst/>
          </a:prstGeom>
          <a:noFill/>
          <a:ln/>
        </p:spPr>
        <p:txBody>
          <a:bodyPr wrap="square" lIns="0" tIns="0" rIns="0" bIns="0" rtlCol="0" anchor="t">
            <a:normAutofit/>
          </a:bodyPr>
          <a:lstStyle/>
          <a:p>
            <a:pPr indent="0" marL="0">
              <a:buNone/>
            </a:pPr>
            <a:r>
              <a:rPr lang="en-US" sz="1400" dirty="0">
                <a:solidFill>
                  <a:srgbClr val="1E293B"/>
                </a:solidFill>
                <a:latin typeface="Calibri" pitchFamily="34" charset="0"/>
                <a:ea typeface="Calibri" pitchFamily="34" charset="-122"/>
                <a:cs typeface="Calibri" pitchFamily="34" charset="-120"/>
              </a:rPr>
              <a:t>Crea túneles cifrados para conectarse de forma segura a la red desde afuera.</a:t>
            </a:r>
            <a:endParaRPr lang="en-US" sz="1400" dirty="0"/>
          </a:p>
        </p:txBody>
      </p:sp>
      <p:sp>
        <p:nvSpPr>
          <p:cNvPr id="31" name="Shape 29"/>
          <p:cNvSpPr/>
          <p:nvPr/>
        </p:nvSpPr>
        <p:spPr>
          <a:xfrm>
            <a:off x="6096000" y="3063240"/>
            <a:ext cx="2590800" cy="1600200"/>
          </a:xfrm>
          <a:prstGeom prst="roundRect">
            <a:avLst>
              <a:gd name="adj" fmla="val 4571"/>
            </a:avLst>
          </a:prstGeom>
          <a:solidFill>
            <a:srgbClr val="F1F7F8"/>
          </a:solidFill>
          <a:ln w="12700">
            <a:solidFill>
              <a:srgbClr val="F1F7F8"/>
            </a:solidFill>
            <a:prstDash val="solid"/>
          </a:ln>
        </p:spPr>
      </p:sp>
      <p:sp>
        <p:nvSpPr>
          <p:cNvPr id="32" name="Shape 30"/>
          <p:cNvSpPr/>
          <p:nvPr/>
        </p:nvSpPr>
        <p:spPr>
          <a:xfrm>
            <a:off x="6260592" y="3227832"/>
            <a:ext cx="365760" cy="365760"/>
          </a:xfrm>
          <a:prstGeom prst="ellipse">
            <a:avLst/>
          </a:prstGeom>
          <a:solidFill>
            <a:srgbClr val="0E7C86"/>
          </a:solidFill>
          <a:ln w="12700">
            <a:solidFill>
              <a:srgbClr val="0E7C86"/>
            </a:solidFill>
            <a:prstDash val="solid"/>
          </a:ln>
        </p:spPr>
      </p:sp>
      <p:sp>
        <p:nvSpPr>
          <p:cNvPr id="33" name="Text 31"/>
          <p:cNvSpPr txBox="1"/>
          <p:nvPr/>
        </p:nvSpPr>
        <p:spPr>
          <a:xfrm>
            <a:off x="6260592" y="322783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4" name="Text 32"/>
          <p:cNvSpPr txBox="1"/>
          <p:nvPr/>
        </p:nvSpPr>
        <p:spPr>
          <a:xfrm>
            <a:off x="6736080" y="3182112"/>
            <a:ext cx="1813560" cy="457200"/>
          </a:xfrm>
          <a:prstGeom prst="rect">
            <a:avLst/>
          </a:prstGeom>
          <a:noFill/>
          <a:ln/>
        </p:spPr>
        <p:txBody>
          <a:bodyPr wrap="square" lIns="0" tIns="0" rIns="0" bIns="0" rtlCol="0" anchor="ctr">
            <a:normAutofit/>
          </a:bodyPr>
          <a:lstStyle/>
          <a:p>
            <a:pPr indent="0" marL="0">
              <a:buNone/>
            </a:pPr>
            <a:r>
              <a:rPr lang="en-US" sz="1400" b="1" dirty="0">
                <a:solidFill>
                  <a:srgbClr val="0B1D2E"/>
                </a:solidFill>
                <a:latin typeface="Calibri" pitchFamily="34" charset="0"/>
                <a:ea typeface="Calibri" pitchFamily="34" charset="-122"/>
                <a:cs typeface="Calibri" pitchFamily="34" charset="-120"/>
              </a:rPr>
              <a:t>Servidor AAA</a:t>
            </a:r>
            <a:endParaRPr lang="en-US" sz="1400" dirty="0"/>
          </a:p>
        </p:txBody>
      </p:sp>
      <p:sp>
        <p:nvSpPr>
          <p:cNvPr id="35" name="Text 33"/>
          <p:cNvSpPr txBox="1"/>
          <p:nvPr/>
        </p:nvSpPr>
        <p:spPr>
          <a:xfrm>
            <a:off x="6260592" y="3721608"/>
            <a:ext cx="2261616" cy="822960"/>
          </a:xfrm>
          <a:prstGeom prst="rect">
            <a:avLst/>
          </a:prstGeom>
          <a:noFill/>
          <a:ln/>
        </p:spPr>
        <p:txBody>
          <a:bodyPr wrap="square" lIns="0" tIns="0" rIns="0" bIns="0" rtlCol="0" anchor="t">
            <a:normAutofit/>
          </a:bodyPr>
          <a:lstStyle/>
          <a:p>
            <a:pPr indent="0" marL="0">
              <a:buNone/>
            </a:pPr>
            <a:r>
              <a:rPr lang="en-US" sz="1400" dirty="0">
                <a:solidFill>
                  <a:srgbClr val="1E293B"/>
                </a:solidFill>
                <a:latin typeface="Calibri" pitchFamily="34" charset="0"/>
                <a:ea typeface="Calibri" pitchFamily="34" charset="-122"/>
                <a:cs typeface="Calibri" pitchFamily="34" charset="-120"/>
              </a:rPr>
              <a:t>Controla quién entra (autenticación), qué puede hacer (autorización) y qué hizo (registro).</a:t>
            </a:r>
            <a:endParaRPr lang="en-US" sz="1400" dirty="0"/>
          </a:p>
        </p:txBody>
      </p:sp>
      <p:sp>
        <p:nvSpPr>
          <p:cNvPr id="36" name="Text 34"/>
          <p:cNvSpPr txBox="1"/>
          <p:nvPr/>
        </p:nvSpPr>
        <p:spPr>
          <a:xfrm>
            <a:off x="45720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Fundamentos de ciberseguridad · RA1</a:t>
            </a:r>
            <a:endParaRPr lang="en-US" sz="900" dirty="0"/>
          </a:p>
        </p:txBody>
      </p:sp>
      <p:sp>
        <p:nvSpPr>
          <p:cNvPr id="37" name="Text 35"/>
          <p:cNvSpPr txBox="1"/>
          <p:nvPr/>
        </p:nvSpPr>
        <p:spPr>
          <a:xfrm>
            <a:off x="8229600" y="4800600"/>
            <a:ext cx="457200" cy="22860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47472"/>
            <a:ext cx="566928" cy="566928"/>
          </a:xfrm>
          <a:prstGeom prst="ellipse">
            <a:avLst/>
          </a:prstGeom>
          <a:solidFill>
            <a:srgbClr val="0E7C86"/>
          </a:solidFill>
          <a:ln w="12700">
            <a:solidFill>
              <a:srgbClr val="0E7C86"/>
            </a:solidFill>
            <a:prstDash val="solid"/>
          </a:ln>
        </p:spPr>
      </p:sp>
      <p:sp>
        <p:nvSpPr>
          <p:cNvPr id="3" name="Text 1"/>
          <p:cNvSpPr txBox="1"/>
          <p:nvPr/>
        </p:nvSpPr>
        <p:spPr>
          <a:xfrm>
            <a:off x="457200" y="34747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8</a:t>
            </a:r>
            <a:endParaRPr lang="en-US" sz="2000" dirty="0"/>
          </a:p>
        </p:txBody>
      </p:sp>
      <p:sp>
        <p:nvSpPr>
          <p:cNvPr id="4" name="Text 2"/>
          <p:cNvSpPr txBox="1"/>
          <p:nvPr/>
        </p:nvSpPr>
        <p:spPr>
          <a:xfrm>
            <a:off x="1188720" y="292608"/>
            <a:ext cx="7498080" cy="256032"/>
          </a:xfrm>
          <a:prstGeom prst="rect">
            <a:avLst/>
          </a:prstGeom>
          <a:noFill/>
          <a:ln/>
        </p:spPr>
        <p:txBody>
          <a:bodyPr wrap="square" lIns="0" tIns="0" rIns="0" bIns="0" rtlCol="0" anchor="ctr"/>
          <a:lstStyle/>
          <a:p>
            <a:pPr indent="0" marL="0">
              <a:buNone/>
            </a:pPr>
            <a:r>
              <a:rPr lang="en-US" sz="1100" b="1" dirty="0">
                <a:solidFill>
                  <a:srgbClr val="0E7C86"/>
                </a:solidFill>
                <a:latin typeface="Calibri" pitchFamily="34" charset="0"/>
                <a:ea typeface="Calibri" pitchFamily="34" charset="-122"/>
                <a:cs typeface="Calibri" pitchFamily="34" charset="-120"/>
              </a:rPr>
              <a:t>TEMA 8 · INFRAESTRUCTURA DE SEGURIDAD DE RED</a:t>
            </a:r>
            <a:endParaRPr lang="en-US" sz="1100" dirty="0"/>
          </a:p>
        </p:txBody>
      </p:sp>
      <p:sp>
        <p:nvSpPr>
          <p:cNvPr id="5" name="Text 3"/>
          <p:cNvSpPr txBox="1"/>
          <p:nvPr/>
        </p:nvSpPr>
        <p:spPr>
          <a:xfrm>
            <a:off x="1188720" y="530352"/>
            <a:ext cx="7498080" cy="502920"/>
          </a:xfrm>
          <a:prstGeom prst="rect">
            <a:avLst/>
          </a:prstGeom>
          <a:noFill/>
          <a:ln/>
        </p:spPr>
        <p:txBody>
          <a:bodyPr wrap="square" lIns="0" tIns="0" rIns="0" bIns="0" rtlCol="0" anchor="t">
            <a:normAutofit/>
          </a:bodyPr>
          <a:lstStyle/>
          <a:p>
            <a:pPr indent="0" marL="0">
              <a:buNone/>
            </a:pPr>
            <a:r>
              <a:rPr lang="en-US" sz="2800" b="1" dirty="0">
                <a:solidFill>
                  <a:srgbClr val="0B1D2E"/>
                </a:solidFill>
                <a:latin typeface="Calibri" pitchFamily="34" charset="0"/>
                <a:ea typeface="Calibri" pitchFamily="34" charset="-122"/>
                <a:cs typeface="Calibri" pitchFamily="34" charset="-120"/>
              </a:rPr>
              <a:t>Servicios de seguridad</a:t>
            </a:r>
            <a:endParaRPr lang="en-US" sz="2800" dirty="0"/>
          </a:p>
        </p:txBody>
      </p:sp>
      <p:sp>
        <p:nvSpPr>
          <p:cNvPr id="6" name="Shape 4"/>
          <p:cNvSpPr/>
          <p:nvPr/>
        </p:nvSpPr>
        <p:spPr>
          <a:xfrm>
            <a:off x="457200" y="1234440"/>
            <a:ext cx="2590800" cy="1600200"/>
          </a:xfrm>
          <a:prstGeom prst="roundRect">
            <a:avLst>
              <a:gd name="adj" fmla="val 4571"/>
            </a:avLst>
          </a:prstGeom>
          <a:solidFill>
            <a:srgbClr val="F1F7F8"/>
          </a:solidFill>
          <a:ln w="12700">
            <a:solidFill>
              <a:srgbClr val="F1F7F8"/>
            </a:solidFill>
            <a:prstDash val="solid"/>
          </a:ln>
        </p:spPr>
      </p:sp>
      <p:sp>
        <p:nvSpPr>
          <p:cNvPr id="7" name="Shape 5"/>
          <p:cNvSpPr/>
          <p:nvPr/>
        </p:nvSpPr>
        <p:spPr>
          <a:xfrm>
            <a:off x="621792" y="1399032"/>
            <a:ext cx="365760" cy="365760"/>
          </a:xfrm>
          <a:prstGeom prst="ellipse">
            <a:avLst/>
          </a:prstGeom>
          <a:solidFill>
            <a:srgbClr val="0E7C86"/>
          </a:solidFill>
          <a:ln w="12700">
            <a:solidFill>
              <a:srgbClr val="0E7C86"/>
            </a:solidFill>
            <a:prstDash val="solid"/>
          </a:ln>
        </p:spPr>
      </p:sp>
      <p:sp>
        <p:nvSpPr>
          <p:cNvPr id="8" name="Text 6"/>
          <p:cNvSpPr txBox="1"/>
          <p:nvPr/>
        </p:nvSpPr>
        <p:spPr>
          <a:xfrm>
            <a:off x="621792" y="139903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9" name="Text 7"/>
          <p:cNvSpPr txBox="1"/>
          <p:nvPr/>
        </p:nvSpPr>
        <p:spPr>
          <a:xfrm>
            <a:off x="1097280" y="1353312"/>
            <a:ext cx="1813560" cy="457200"/>
          </a:xfrm>
          <a:prstGeom prst="rect">
            <a:avLst/>
          </a:prstGeom>
          <a:noFill/>
          <a:ln/>
        </p:spPr>
        <p:txBody>
          <a:bodyPr wrap="square" lIns="0" tIns="0" rIns="0" bIns="0" rtlCol="0" anchor="ctr">
            <a:normAutofit/>
          </a:bodyPr>
          <a:lstStyle/>
          <a:p>
            <a:pPr indent="0" marL="0">
              <a:buNone/>
            </a:pPr>
            <a:r>
              <a:rPr lang="en-US" sz="1400" b="1" dirty="0">
                <a:solidFill>
                  <a:srgbClr val="0B1D2E"/>
                </a:solidFill>
                <a:latin typeface="Calibri" pitchFamily="34" charset="0"/>
                <a:ea typeface="Calibri" pitchFamily="34" charset="-122"/>
                <a:cs typeface="Calibri" pitchFamily="34" charset="-120"/>
              </a:rPr>
              <a:t>Listas de control de acceso (ACL)</a:t>
            </a:r>
            <a:endParaRPr lang="en-US" sz="1400" dirty="0"/>
          </a:p>
        </p:txBody>
      </p:sp>
      <p:sp>
        <p:nvSpPr>
          <p:cNvPr id="10" name="Text 8"/>
          <p:cNvSpPr txBox="1"/>
          <p:nvPr/>
        </p:nvSpPr>
        <p:spPr>
          <a:xfrm>
            <a:off x="621792" y="1892808"/>
            <a:ext cx="2261616" cy="822960"/>
          </a:xfrm>
          <a:prstGeom prst="rect">
            <a:avLst/>
          </a:prstGeom>
          <a:noFill/>
          <a:ln/>
        </p:spPr>
        <p:txBody>
          <a:bodyPr wrap="square" lIns="0" tIns="0" rIns="0" bIns="0" rtlCol="0" anchor="t">
            <a:normAutofit/>
          </a:bodyPr>
          <a:lstStyle/>
          <a:p>
            <a:pPr indent="0" marL="0">
              <a:buNone/>
            </a:pPr>
            <a:r>
              <a:rPr lang="en-US" sz="1400" dirty="0">
                <a:solidFill>
                  <a:srgbClr val="1E293B"/>
                </a:solidFill>
                <a:latin typeface="Calibri" pitchFamily="34" charset="0"/>
                <a:ea typeface="Calibri" pitchFamily="34" charset="-122"/>
                <a:cs typeface="Calibri" pitchFamily="34" charset="-120"/>
              </a:rPr>
              <a:t>Reglas que permiten o deniegan tráfico.</a:t>
            </a:r>
            <a:endParaRPr lang="en-US" sz="1400" dirty="0"/>
          </a:p>
        </p:txBody>
      </p:sp>
      <p:sp>
        <p:nvSpPr>
          <p:cNvPr id="11" name="Shape 9"/>
          <p:cNvSpPr/>
          <p:nvPr/>
        </p:nvSpPr>
        <p:spPr>
          <a:xfrm>
            <a:off x="3276600" y="1234440"/>
            <a:ext cx="2590800" cy="1600200"/>
          </a:xfrm>
          <a:prstGeom prst="roundRect">
            <a:avLst>
              <a:gd name="adj" fmla="val 4571"/>
            </a:avLst>
          </a:prstGeom>
          <a:solidFill>
            <a:srgbClr val="F1F7F8"/>
          </a:solidFill>
          <a:ln w="12700">
            <a:solidFill>
              <a:srgbClr val="F1F7F8"/>
            </a:solidFill>
            <a:prstDash val="solid"/>
          </a:ln>
        </p:spPr>
      </p:sp>
      <p:sp>
        <p:nvSpPr>
          <p:cNvPr id="12" name="Shape 10"/>
          <p:cNvSpPr/>
          <p:nvPr/>
        </p:nvSpPr>
        <p:spPr>
          <a:xfrm>
            <a:off x="3441192" y="1399032"/>
            <a:ext cx="365760" cy="365760"/>
          </a:xfrm>
          <a:prstGeom prst="ellipse">
            <a:avLst/>
          </a:prstGeom>
          <a:solidFill>
            <a:srgbClr val="0E7C86"/>
          </a:solidFill>
          <a:ln w="12700">
            <a:solidFill>
              <a:srgbClr val="0E7C86"/>
            </a:solidFill>
            <a:prstDash val="solid"/>
          </a:ln>
        </p:spPr>
      </p:sp>
      <p:sp>
        <p:nvSpPr>
          <p:cNvPr id="13" name="Text 11"/>
          <p:cNvSpPr txBox="1"/>
          <p:nvPr/>
        </p:nvSpPr>
        <p:spPr>
          <a:xfrm>
            <a:off x="3441192" y="139903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4" name="Text 12"/>
          <p:cNvSpPr txBox="1"/>
          <p:nvPr/>
        </p:nvSpPr>
        <p:spPr>
          <a:xfrm>
            <a:off x="3916680" y="1353312"/>
            <a:ext cx="1813560" cy="457200"/>
          </a:xfrm>
          <a:prstGeom prst="rect">
            <a:avLst/>
          </a:prstGeom>
          <a:noFill/>
          <a:ln/>
        </p:spPr>
        <p:txBody>
          <a:bodyPr wrap="square" lIns="0" tIns="0" rIns="0" bIns="0" rtlCol="0" anchor="ctr">
            <a:normAutofit/>
          </a:bodyPr>
          <a:lstStyle/>
          <a:p>
            <a:pPr indent="0" marL="0">
              <a:buNone/>
            </a:pPr>
            <a:r>
              <a:rPr lang="en-US" sz="1400" b="1" dirty="0">
                <a:solidFill>
                  <a:srgbClr val="0B1D2E"/>
                </a:solidFill>
                <a:latin typeface="Calibri" pitchFamily="34" charset="0"/>
                <a:ea typeface="Calibri" pitchFamily="34" charset="-122"/>
                <a:cs typeface="Calibri" pitchFamily="34" charset="-120"/>
              </a:rPr>
              <a:t>Syslog</a:t>
            </a:r>
            <a:endParaRPr lang="en-US" sz="1400" dirty="0"/>
          </a:p>
        </p:txBody>
      </p:sp>
      <p:sp>
        <p:nvSpPr>
          <p:cNvPr id="15" name="Text 13"/>
          <p:cNvSpPr txBox="1"/>
          <p:nvPr/>
        </p:nvSpPr>
        <p:spPr>
          <a:xfrm>
            <a:off x="3441192" y="1892808"/>
            <a:ext cx="2261616" cy="822960"/>
          </a:xfrm>
          <a:prstGeom prst="rect">
            <a:avLst/>
          </a:prstGeom>
          <a:noFill/>
          <a:ln/>
        </p:spPr>
        <p:txBody>
          <a:bodyPr wrap="square" lIns="0" tIns="0" rIns="0" bIns="0" rtlCol="0" anchor="t">
            <a:normAutofit/>
          </a:bodyPr>
          <a:lstStyle/>
          <a:p>
            <a:pPr indent="0" marL="0">
              <a:buNone/>
            </a:pPr>
            <a:r>
              <a:rPr lang="en-US" sz="1400" dirty="0">
                <a:solidFill>
                  <a:srgbClr val="1E293B"/>
                </a:solidFill>
                <a:latin typeface="Calibri" pitchFamily="34" charset="0"/>
                <a:ea typeface="Calibri" pitchFamily="34" charset="-122"/>
                <a:cs typeface="Calibri" pitchFamily="34" charset="-120"/>
              </a:rPr>
              <a:t>Centraliza los registros (logs) de los equipos.</a:t>
            </a:r>
            <a:endParaRPr lang="en-US" sz="1400" dirty="0"/>
          </a:p>
        </p:txBody>
      </p:sp>
      <p:sp>
        <p:nvSpPr>
          <p:cNvPr id="16" name="Shape 14"/>
          <p:cNvSpPr/>
          <p:nvPr/>
        </p:nvSpPr>
        <p:spPr>
          <a:xfrm>
            <a:off x="6096000" y="1234440"/>
            <a:ext cx="2590800" cy="1600200"/>
          </a:xfrm>
          <a:prstGeom prst="roundRect">
            <a:avLst>
              <a:gd name="adj" fmla="val 4571"/>
            </a:avLst>
          </a:prstGeom>
          <a:solidFill>
            <a:srgbClr val="F1F7F8"/>
          </a:solidFill>
          <a:ln w="12700">
            <a:solidFill>
              <a:srgbClr val="F1F7F8"/>
            </a:solidFill>
            <a:prstDash val="solid"/>
          </a:ln>
        </p:spPr>
      </p:sp>
      <p:sp>
        <p:nvSpPr>
          <p:cNvPr id="17" name="Shape 15"/>
          <p:cNvSpPr/>
          <p:nvPr/>
        </p:nvSpPr>
        <p:spPr>
          <a:xfrm>
            <a:off x="6260592" y="1399032"/>
            <a:ext cx="365760" cy="365760"/>
          </a:xfrm>
          <a:prstGeom prst="ellipse">
            <a:avLst/>
          </a:prstGeom>
          <a:solidFill>
            <a:srgbClr val="0E7C86"/>
          </a:solidFill>
          <a:ln w="12700">
            <a:solidFill>
              <a:srgbClr val="0E7C86"/>
            </a:solidFill>
            <a:prstDash val="solid"/>
          </a:ln>
        </p:spPr>
      </p:sp>
      <p:sp>
        <p:nvSpPr>
          <p:cNvPr id="18" name="Text 16"/>
          <p:cNvSpPr txBox="1"/>
          <p:nvPr/>
        </p:nvSpPr>
        <p:spPr>
          <a:xfrm>
            <a:off x="6260592" y="139903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6736080" y="1353312"/>
            <a:ext cx="1813560" cy="457200"/>
          </a:xfrm>
          <a:prstGeom prst="rect">
            <a:avLst/>
          </a:prstGeom>
          <a:noFill/>
          <a:ln/>
        </p:spPr>
        <p:txBody>
          <a:bodyPr wrap="square" lIns="0" tIns="0" rIns="0" bIns="0" rtlCol="0" anchor="ctr">
            <a:normAutofit/>
          </a:bodyPr>
          <a:lstStyle/>
          <a:p>
            <a:pPr indent="0" marL="0">
              <a:buNone/>
            </a:pPr>
            <a:r>
              <a:rPr lang="en-US" sz="1400" b="1" dirty="0">
                <a:solidFill>
                  <a:srgbClr val="0B1D2E"/>
                </a:solidFill>
                <a:latin typeface="Calibri" pitchFamily="34" charset="0"/>
                <a:ea typeface="Calibri" pitchFamily="34" charset="-122"/>
                <a:cs typeface="Calibri" pitchFamily="34" charset="-120"/>
              </a:rPr>
              <a:t>NTP</a:t>
            </a:r>
            <a:endParaRPr lang="en-US" sz="1400" dirty="0"/>
          </a:p>
        </p:txBody>
      </p:sp>
      <p:sp>
        <p:nvSpPr>
          <p:cNvPr id="20" name="Text 18"/>
          <p:cNvSpPr txBox="1"/>
          <p:nvPr/>
        </p:nvSpPr>
        <p:spPr>
          <a:xfrm>
            <a:off x="6260592" y="1892808"/>
            <a:ext cx="2261616" cy="822960"/>
          </a:xfrm>
          <a:prstGeom prst="rect">
            <a:avLst/>
          </a:prstGeom>
          <a:noFill/>
          <a:ln/>
        </p:spPr>
        <p:txBody>
          <a:bodyPr wrap="square" lIns="0" tIns="0" rIns="0" bIns="0" rtlCol="0" anchor="t">
            <a:normAutofit/>
          </a:bodyPr>
          <a:lstStyle/>
          <a:p>
            <a:pPr indent="0" marL="0">
              <a:buNone/>
            </a:pPr>
            <a:r>
              <a:rPr lang="en-US" sz="1400" dirty="0">
                <a:solidFill>
                  <a:srgbClr val="1E293B"/>
                </a:solidFill>
                <a:latin typeface="Calibri" pitchFamily="34" charset="0"/>
                <a:ea typeface="Calibri" pitchFamily="34" charset="-122"/>
                <a:cs typeface="Calibri" pitchFamily="34" charset="-120"/>
              </a:rPr>
              <a:t>Sincroniza la hora de todos los equipos para que los registros sean confiables.</a:t>
            </a:r>
            <a:endParaRPr lang="en-US" sz="1400" dirty="0"/>
          </a:p>
        </p:txBody>
      </p:sp>
      <p:sp>
        <p:nvSpPr>
          <p:cNvPr id="21" name="Shape 19"/>
          <p:cNvSpPr/>
          <p:nvPr/>
        </p:nvSpPr>
        <p:spPr>
          <a:xfrm>
            <a:off x="457200" y="3063240"/>
            <a:ext cx="2590800" cy="1600200"/>
          </a:xfrm>
          <a:prstGeom prst="roundRect">
            <a:avLst>
              <a:gd name="adj" fmla="val 4571"/>
            </a:avLst>
          </a:prstGeom>
          <a:solidFill>
            <a:srgbClr val="F1F7F8"/>
          </a:solidFill>
          <a:ln w="12700">
            <a:solidFill>
              <a:srgbClr val="F1F7F8"/>
            </a:solidFill>
            <a:prstDash val="solid"/>
          </a:ln>
        </p:spPr>
      </p:sp>
      <p:sp>
        <p:nvSpPr>
          <p:cNvPr id="22" name="Shape 20"/>
          <p:cNvSpPr/>
          <p:nvPr/>
        </p:nvSpPr>
        <p:spPr>
          <a:xfrm>
            <a:off x="621792" y="3227832"/>
            <a:ext cx="365760" cy="365760"/>
          </a:xfrm>
          <a:prstGeom prst="ellipse">
            <a:avLst/>
          </a:prstGeom>
          <a:solidFill>
            <a:srgbClr val="0E7C86"/>
          </a:solidFill>
          <a:ln w="12700">
            <a:solidFill>
              <a:srgbClr val="0E7C86"/>
            </a:solidFill>
            <a:prstDash val="solid"/>
          </a:ln>
        </p:spPr>
      </p:sp>
      <p:sp>
        <p:nvSpPr>
          <p:cNvPr id="23" name="Text 21"/>
          <p:cNvSpPr txBox="1"/>
          <p:nvPr/>
        </p:nvSpPr>
        <p:spPr>
          <a:xfrm>
            <a:off x="621792" y="322783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4" name="Text 22"/>
          <p:cNvSpPr txBox="1"/>
          <p:nvPr/>
        </p:nvSpPr>
        <p:spPr>
          <a:xfrm>
            <a:off x="1097280" y="3182112"/>
            <a:ext cx="1813560" cy="457200"/>
          </a:xfrm>
          <a:prstGeom prst="rect">
            <a:avLst/>
          </a:prstGeom>
          <a:noFill/>
          <a:ln/>
        </p:spPr>
        <p:txBody>
          <a:bodyPr wrap="square" lIns="0" tIns="0" rIns="0" bIns="0" rtlCol="0" anchor="ctr">
            <a:normAutofit/>
          </a:bodyPr>
          <a:lstStyle/>
          <a:p>
            <a:pPr indent="0" marL="0">
              <a:buNone/>
            </a:pPr>
            <a:r>
              <a:rPr lang="en-US" sz="1400" b="1" dirty="0">
                <a:solidFill>
                  <a:srgbClr val="0B1D2E"/>
                </a:solidFill>
                <a:latin typeface="Calibri" pitchFamily="34" charset="0"/>
                <a:ea typeface="Calibri" pitchFamily="34" charset="-122"/>
                <a:cs typeface="Calibri" pitchFamily="34" charset="-120"/>
              </a:rPr>
              <a:t>SNMP</a:t>
            </a:r>
            <a:endParaRPr lang="en-US" sz="1400" dirty="0"/>
          </a:p>
        </p:txBody>
      </p:sp>
      <p:sp>
        <p:nvSpPr>
          <p:cNvPr id="25" name="Text 23"/>
          <p:cNvSpPr txBox="1"/>
          <p:nvPr/>
        </p:nvSpPr>
        <p:spPr>
          <a:xfrm>
            <a:off x="621792" y="3721608"/>
            <a:ext cx="2261616" cy="822960"/>
          </a:xfrm>
          <a:prstGeom prst="rect">
            <a:avLst/>
          </a:prstGeom>
          <a:noFill/>
          <a:ln/>
        </p:spPr>
        <p:txBody>
          <a:bodyPr wrap="square" lIns="0" tIns="0" rIns="0" bIns="0" rtlCol="0" anchor="t">
            <a:normAutofit/>
          </a:bodyPr>
          <a:lstStyle/>
          <a:p>
            <a:pPr indent="0" marL="0">
              <a:buNone/>
            </a:pPr>
            <a:r>
              <a:rPr lang="en-US" sz="1400" dirty="0">
                <a:solidFill>
                  <a:srgbClr val="1E293B"/>
                </a:solidFill>
                <a:latin typeface="Calibri" pitchFamily="34" charset="0"/>
                <a:ea typeface="Calibri" pitchFamily="34" charset="-122"/>
                <a:cs typeface="Calibri" pitchFamily="34" charset="-120"/>
              </a:rPr>
              <a:t>Permite monitorear y administrar los dispositivos de red.</a:t>
            </a:r>
            <a:endParaRPr lang="en-US" sz="1400" dirty="0"/>
          </a:p>
        </p:txBody>
      </p:sp>
      <p:sp>
        <p:nvSpPr>
          <p:cNvPr id="26" name="Shape 24"/>
          <p:cNvSpPr/>
          <p:nvPr/>
        </p:nvSpPr>
        <p:spPr>
          <a:xfrm>
            <a:off x="3276600" y="3063240"/>
            <a:ext cx="2590800" cy="1600200"/>
          </a:xfrm>
          <a:prstGeom prst="roundRect">
            <a:avLst>
              <a:gd name="adj" fmla="val 4571"/>
            </a:avLst>
          </a:prstGeom>
          <a:solidFill>
            <a:srgbClr val="F1F7F8"/>
          </a:solidFill>
          <a:ln w="12700">
            <a:solidFill>
              <a:srgbClr val="F1F7F8"/>
            </a:solidFill>
            <a:prstDash val="solid"/>
          </a:ln>
        </p:spPr>
      </p:sp>
      <p:sp>
        <p:nvSpPr>
          <p:cNvPr id="27" name="Shape 25"/>
          <p:cNvSpPr/>
          <p:nvPr/>
        </p:nvSpPr>
        <p:spPr>
          <a:xfrm>
            <a:off x="3441192" y="3227832"/>
            <a:ext cx="365760" cy="365760"/>
          </a:xfrm>
          <a:prstGeom prst="ellipse">
            <a:avLst/>
          </a:prstGeom>
          <a:solidFill>
            <a:srgbClr val="0E7C86"/>
          </a:solidFill>
          <a:ln w="12700">
            <a:solidFill>
              <a:srgbClr val="0E7C86"/>
            </a:solidFill>
            <a:prstDash val="solid"/>
          </a:ln>
        </p:spPr>
      </p:sp>
      <p:sp>
        <p:nvSpPr>
          <p:cNvPr id="28" name="Text 26"/>
          <p:cNvSpPr txBox="1"/>
          <p:nvPr/>
        </p:nvSpPr>
        <p:spPr>
          <a:xfrm>
            <a:off x="3441192" y="322783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9" name="Text 27"/>
          <p:cNvSpPr txBox="1"/>
          <p:nvPr/>
        </p:nvSpPr>
        <p:spPr>
          <a:xfrm>
            <a:off x="3916680" y="3182112"/>
            <a:ext cx="1813560" cy="457200"/>
          </a:xfrm>
          <a:prstGeom prst="rect">
            <a:avLst/>
          </a:prstGeom>
          <a:noFill/>
          <a:ln/>
        </p:spPr>
        <p:txBody>
          <a:bodyPr wrap="square" lIns="0" tIns="0" rIns="0" bIns="0" rtlCol="0" anchor="ctr">
            <a:normAutofit/>
          </a:bodyPr>
          <a:lstStyle/>
          <a:p>
            <a:pPr indent="0" marL="0">
              <a:buNone/>
            </a:pPr>
            <a:r>
              <a:rPr lang="en-US" sz="1400" b="1" dirty="0">
                <a:solidFill>
                  <a:srgbClr val="0B1D2E"/>
                </a:solidFill>
                <a:latin typeface="Calibri" pitchFamily="34" charset="0"/>
                <a:ea typeface="Calibri" pitchFamily="34" charset="-122"/>
                <a:cs typeface="Calibri" pitchFamily="34" charset="-120"/>
              </a:rPr>
              <a:t>NetFlow</a:t>
            </a:r>
            <a:endParaRPr lang="en-US" sz="1400" dirty="0"/>
          </a:p>
        </p:txBody>
      </p:sp>
      <p:sp>
        <p:nvSpPr>
          <p:cNvPr id="30" name="Text 28"/>
          <p:cNvSpPr txBox="1"/>
          <p:nvPr/>
        </p:nvSpPr>
        <p:spPr>
          <a:xfrm>
            <a:off x="3441192" y="3721608"/>
            <a:ext cx="2261616" cy="822960"/>
          </a:xfrm>
          <a:prstGeom prst="rect">
            <a:avLst/>
          </a:prstGeom>
          <a:noFill/>
          <a:ln/>
        </p:spPr>
        <p:txBody>
          <a:bodyPr wrap="square" lIns="0" tIns="0" rIns="0" bIns="0" rtlCol="0" anchor="t">
            <a:normAutofit/>
          </a:bodyPr>
          <a:lstStyle/>
          <a:p>
            <a:pPr indent="0" marL="0">
              <a:buNone/>
            </a:pPr>
            <a:r>
              <a:rPr lang="en-US" sz="1400" dirty="0">
                <a:solidFill>
                  <a:srgbClr val="1E293B"/>
                </a:solidFill>
                <a:latin typeface="Calibri" pitchFamily="34" charset="0"/>
                <a:ea typeface="Calibri" pitchFamily="34" charset="-122"/>
                <a:cs typeface="Calibri" pitchFamily="34" charset="-120"/>
              </a:rPr>
              <a:t>Resume quién habla con quién en la red y cuánto tráfico envía.</a:t>
            </a:r>
            <a:endParaRPr lang="en-US" sz="1400" dirty="0"/>
          </a:p>
        </p:txBody>
      </p:sp>
      <p:sp>
        <p:nvSpPr>
          <p:cNvPr id="31" name="Shape 29"/>
          <p:cNvSpPr/>
          <p:nvPr/>
        </p:nvSpPr>
        <p:spPr>
          <a:xfrm>
            <a:off x="6096000" y="3063240"/>
            <a:ext cx="2590800" cy="1600200"/>
          </a:xfrm>
          <a:prstGeom prst="roundRect">
            <a:avLst>
              <a:gd name="adj" fmla="val 4571"/>
            </a:avLst>
          </a:prstGeom>
          <a:solidFill>
            <a:srgbClr val="F1F7F8"/>
          </a:solidFill>
          <a:ln w="12700">
            <a:solidFill>
              <a:srgbClr val="F1F7F8"/>
            </a:solidFill>
            <a:prstDash val="solid"/>
          </a:ln>
        </p:spPr>
      </p:sp>
      <p:sp>
        <p:nvSpPr>
          <p:cNvPr id="32" name="Shape 30"/>
          <p:cNvSpPr/>
          <p:nvPr/>
        </p:nvSpPr>
        <p:spPr>
          <a:xfrm>
            <a:off x="6260592" y="3227832"/>
            <a:ext cx="365760" cy="365760"/>
          </a:xfrm>
          <a:prstGeom prst="ellipse">
            <a:avLst/>
          </a:prstGeom>
          <a:solidFill>
            <a:srgbClr val="0E7C86"/>
          </a:solidFill>
          <a:ln w="12700">
            <a:solidFill>
              <a:srgbClr val="0E7C86"/>
            </a:solidFill>
            <a:prstDash val="solid"/>
          </a:ln>
        </p:spPr>
      </p:sp>
      <p:sp>
        <p:nvSpPr>
          <p:cNvPr id="33" name="Text 31"/>
          <p:cNvSpPr txBox="1"/>
          <p:nvPr/>
        </p:nvSpPr>
        <p:spPr>
          <a:xfrm>
            <a:off x="6260592" y="322783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4" name="Text 32"/>
          <p:cNvSpPr txBox="1"/>
          <p:nvPr/>
        </p:nvSpPr>
        <p:spPr>
          <a:xfrm>
            <a:off x="6736080" y="3182112"/>
            <a:ext cx="1813560" cy="457200"/>
          </a:xfrm>
          <a:prstGeom prst="rect">
            <a:avLst/>
          </a:prstGeom>
          <a:noFill/>
          <a:ln/>
        </p:spPr>
        <p:txBody>
          <a:bodyPr wrap="square" lIns="0" tIns="0" rIns="0" bIns="0" rtlCol="0" anchor="ctr">
            <a:normAutofit/>
          </a:bodyPr>
          <a:lstStyle/>
          <a:p>
            <a:pPr indent="0" marL="0">
              <a:buNone/>
            </a:pPr>
            <a:r>
              <a:rPr lang="en-US" sz="1400" b="1" dirty="0">
                <a:solidFill>
                  <a:srgbClr val="0B1D2E"/>
                </a:solidFill>
                <a:latin typeface="Calibri" pitchFamily="34" charset="0"/>
                <a:ea typeface="Calibri" pitchFamily="34" charset="-122"/>
                <a:cs typeface="Calibri" pitchFamily="34" charset="-120"/>
              </a:rPr>
              <a:t>Duplicación de puertos (port mirroring)</a:t>
            </a:r>
            <a:endParaRPr lang="en-US" sz="1400" dirty="0"/>
          </a:p>
        </p:txBody>
      </p:sp>
      <p:sp>
        <p:nvSpPr>
          <p:cNvPr id="35" name="Text 33"/>
          <p:cNvSpPr txBox="1"/>
          <p:nvPr/>
        </p:nvSpPr>
        <p:spPr>
          <a:xfrm>
            <a:off x="6260592" y="3721608"/>
            <a:ext cx="2261616" cy="822960"/>
          </a:xfrm>
          <a:prstGeom prst="rect">
            <a:avLst/>
          </a:prstGeom>
          <a:noFill/>
          <a:ln/>
        </p:spPr>
        <p:txBody>
          <a:bodyPr wrap="square" lIns="0" tIns="0" rIns="0" bIns="0" rtlCol="0" anchor="t">
            <a:normAutofit/>
          </a:bodyPr>
          <a:lstStyle/>
          <a:p>
            <a:pPr indent="0" marL="0">
              <a:buNone/>
            </a:pPr>
            <a:r>
              <a:rPr lang="en-US" sz="1400" dirty="0">
                <a:solidFill>
                  <a:srgbClr val="1E293B"/>
                </a:solidFill>
                <a:latin typeface="Calibri" pitchFamily="34" charset="0"/>
                <a:ea typeface="Calibri" pitchFamily="34" charset="-122"/>
                <a:cs typeface="Calibri" pitchFamily="34" charset="-120"/>
              </a:rPr>
              <a:t>Copia el tráfico de un puerto a otro para analizarlo con un IDS.</a:t>
            </a:r>
            <a:endParaRPr lang="en-US" sz="1400" dirty="0"/>
          </a:p>
        </p:txBody>
      </p:sp>
      <p:sp>
        <p:nvSpPr>
          <p:cNvPr id="36" name="Text 34"/>
          <p:cNvSpPr txBox="1"/>
          <p:nvPr/>
        </p:nvSpPr>
        <p:spPr>
          <a:xfrm>
            <a:off x="45720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Fundamentos de ciberseguridad · RA1</a:t>
            </a:r>
            <a:endParaRPr lang="en-US" sz="900" dirty="0"/>
          </a:p>
        </p:txBody>
      </p:sp>
      <p:sp>
        <p:nvSpPr>
          <p:cNvPr id="37" name="Text 35"/>
          <p:cNvSpPr txBox="1"/>
          <p:nvPr/>
        </p:nvSpPr>
        <p:spPr>
          <a:xfrm>
            <a:off x="8229600" y="4800600"/>
            <a:ext cx="457200" cy="22860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47472"/>
            <a:ext cx="566928" cy="566928"/>
          </a:xfrm>
          <a:prstGeom prst="ellipse">
            <a:avLst/>
          </a:prstGeom>
          <a:solidFill>
            <a:srgbClr val="F5A623"/>
          </a:solidFill>
          <a:ln w="12700">
            <a:solidFill>
              <a:srgbClr val="F5A623"/>
            </a:solidFill>
            <a:prstDash val="solid"/>
          </a:ln>
        </p:spPr>
      </p:sp>
      <p:pic>
        <p:nvPicPr>
          <p:cNvPr id="3" name="Image 0" descr="preencoded.png">    </p:cNvPr>
          <p:cNvPicPr>
            <a:picLocks noChangeAspect="1"/>
          </p:cNvPicPr>
          <p:nvPr/>
        </p:nvPicPr>
        <p:blipFill>
          <a:blip r:embed="rId1"/>
          <a:stretch>
            <a:fillRect/>
          </a:stretch>
        </p:blipFill>
        <p:spPr>
          <a:xfrm>
            <a:off x="594360" y="484632"/>
            <a:ext cx="292608" cy="292608"/>
          </a:xfrm>
          <a:prstGeom prst="rect">
            <a:avLst/>
          </a:prstGeom>
        </p:spPr>
      </p:pic>
      <p:sp>
        <p:nvSpPr>
          <p:cNvPr id="4" name="Text 1"/>
          <p:cNvSpPr txBox="1"/>
          <p:nvPr/>
        </p:nvSpPr>
        <p:spPr>
          <a:xfrm>
            <a:off x="1188720" y="292608"/>
            <a:ext cx="7498080" cy="256032"/>
          </a:xfrm>
          <a:prstGeom prst="rect">
            <a:avLst/>
          </a:prstGeom>
          <a:noFill/>
          <a:ln/>
        </p:spPr>
        <p:txBody>
          <a:bodyPr wrap="square" lIns="0" tIns="0" rIns="0" bIns="0" rtlCol="0" anchor="ctr"/>
          <a:lstStyle/>
          <a:p>
            <a:pPr indent="0" marL="0">
              <a:buNone/>
            </a:pPr>
            <a:r>
              <a:rPr lang="en-US" sz="1100" b="1" dirty="0">
                <a:solidFill>
                  <a:srgbClr val="9A5B00"/>
                </a:solidFill>
                <a:latin typeface="Calibri" pitchFamily="34" charset="0"/>
                <a:ea typeface="Calibri" pitchFamily="34" charset="-122"/>
                <a:cs typeface="Calibri" pitchFamily="34" charset="-120"/>
              </a:rPr>
              <a:t>APLICAMOS LO APRENDIDO</a:t>
            </a:r>
            <a:endParaRPr lang="en-US" sz="1100" dirty="0"/>
          </a:p>
        </p:txBody>
      </p:sp>
      <p:sp>
        <p:nvSpPr>
          <p:cNvPr id="5" name="Text 2"/>
          <p:cNvSpPr txBox="1"/>
          <p:nvPr/>
        </p:nvSpPr>
        <p:spPr>
          <a:xfrm>
            <a:off x="1188720" y="530352"/>
            <a:ext cx="7498080" cy="502920"/>
          </a:xfrm>
          <a:prstGeom prst="rect">
            <a:avLst/>
          </a:prstGeom>
          <a:noFill/>
          <a:ln/>
        </p:spPr>
        <p:txBody>
          <a:bodyPr wrap="square" lIns="0" tIns="0" rIns="0" bIns="0" rtlCol="0" anchor="ctr">
            <a:normAutofit/>
          </a:bodyPr>
          <a:lstStyle/>
          <a:p>
            <a:pPr indent="0" marL="0">
              <a:buNone/>
            </a:pPr>
            <a:r>
              <a:rPr lang="en-US" sz="2400" b="1" dirty="0">
                <a:solidFill>
                  <a:srgbClr val="0B1D2E"/>
                </a:solidFill>
                <a:latin typeface="Calibri" pitchFamily="34" charset="0"/>
                <a:ea typeface="Calibri" pitchFamily="34" charset="-122"/>
                <a:cs typeface="Calibri" pitchFamily="34" charset="-120"/>
              </a:rPr>
              <a:t>Caso práctico: el correo del «banco»</a:t>
            </a:r>
            <a:endParaRPr lang="en-US" sz="2400" dirty="0"/>
          </a:p>
        </p:txBody>
      </p:sp>
      <p:sp>
        <p:nvSpPr>
          <p:cNvPr id="6" name="Shape 3"/>
          <p:cNvSpPr/>
          <p:nvPr/>
        </p:nvSpPr>
        <p:spPr>
          <a:xfrm>
            <a:off x="457200" y="1234440"/>
            <a:ext cx="8229600" cy="1051560"/>
          </a:xfrm>
          <a:prstGeom prst="roundRect">
            <a:avLst>
              <a:gd name="adj" fmla="val 6957"/>
            </a:avLst>
          </a:prstGeom>
          <a:solidFill>
            <a:srgbClr val="FFF6E5"/>
          </a:solidFill>
          <a:ln w="12700">
            <a:solidFill>
              <a:srgbClr val="FFF6E5"/>
            </a:solidFill>
            <a:prstDash val="solid"/>
          </a:ln>
        </p:spPr>
      </p:sp>
      <p:sp>
        <p:nvSpPr>
          <p:cNvPr id="7" name="Text 4"/>
          <p:cNvSpPr txBox="1"/>
          <p:nvPr/>
        </p:nvSpPr>
        <p:spPr>
          <a:xfrm>
            <a:off x="685800" y="1280160"/>
            <a:ext cx="7772400" cy="960120"/>
          </a:xfrm>
          <a:prstGeom prst="rect">
            <a:avLst/>
          </a:prstGeom>
          <a:noFill/>
          <a:ln/>
        </p:spPr>
        <p:txBody>
          <a:bodyPr wrap="square" lIns="0" tIns="0" rIns="0" bIns="0" rtlCol="0" anchor="ctr">
            <a:normAutofit/>
          </a:bodyPr>
          <a:lstStyle/>
          <a:p>
            <a:pPr indent="0" marL="0">
              <a:buNone/>
            </a:pPr>
            <a:r>
              <a:rPr lang="en-US" sz="1350" dirty="0">
                <a:solidFill>
                  <a:srgbClr val="1E293B"/>
                </a:solidFill>
                <a:latin typeface="Calibri" pitchFamily="34" charset="0"/>
                <a:ea typeface="Calibri" pitchFamily="34" charset="-122"/>
                <a:cs typeface="Calibri" pitchFamily="34" charset="-120"/>
              </a:rPr>
              <a:t>La secretaria del colegio recibe un correo del «Banco Nacional» que dice que su cuenta se bloqueará hoy si no confirma sus datos en un enlace. El enlace lleva a bncr-seguridad.com.</a:t>
            </a:r>
            <a:endParaRPr lang="en-US" sz="1350" dirty="0"/>
          </a:p>
        </p:txBody>
      </p:sp>
      <p:sp>
        <p:nvSpPr>
          <p:cNvPr id="8" name="Shape 5"/>
          <p:cNvSpPr/>
          <p:nvPr/>
        </p:nvSpPr>
        <p:spPr>
          <a:xfrm>
            <a:off x="457200" y="2514600"/>
            <a:ext cx="1885950" cy="2103120"/>
          </a:xfrm>
          <a:prstGeom prst="roundRect">
            <a:avLst>
              <a:gd name="adj" fmla="val 3879"/>
            </a:avLst>
          </a:prstGeom>
          <a:solidFill>
            <a:srgbClr val="F1F7F8"/>
          </a:solidFill>
          <a:ln w="12700">
            <a:solidFill>
              <a:srgbClr val="F1F7F8"/>
            </a:solidFill>
            <a:prstDash val="solid"/>
          </a:ln>
        </p:spPr>
      </p:sp>
      <p:sp>
        <p:nvSpPr>
          <p:cNvPr id="9" name="Shape 6"/>
          <p:cNvSpPr/>
          <p:nvPr/>
        </p:nvSpPr>
        <p:spPr>
          <a:xfrm>
            <a:off x="621792" y="2679192"/>
            <a:ext cx="384048" cy="384048"/>
          </a:xfrm>
          <a:prstGeom prst="ellipse">
            <a:avLst/>
          </a:prstGeom>
          <a:solidFill>
            <a:srgbClr val="0E7C86"/>
          </a:solidFill>
          <a:ln w="12700">
            <a:solidFill>
              <a:srgbClr val="0E7C86"/>
            </a:solidFill>
            <a:prstDash val="solid"/>
          </a:ln>
        </p:spPr>
      </p:sp>
      <p:sp>
        <p:nvSpPr>
          <p:cNvPr id="10" name="Text 7"/>
          <p:cNvSpPr txBox="1"/>
          <p:nvPr/>
        </p:nvSpPr>
        <p:spPr>
          <a:xfrm>
            <a:off x="621792" y="267919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1" name="Text 8"/>
          <p:cNvSpPr txBox="1"/>
          <p:nvPr/>
        </p:nvSpPr>
        <p:spPr>
          <a:xfrm>
            <a:off x="1097280" y="2660904"/>
            <a:ext cx="1154430" cy="420624"/>
          </a:xfrm>
          <a:prstGeom prst="rect">
            <a:avLst/>
          </a:prstGeom>
          <a:noFill/>
          <a:ln/>
        </p:spPr>
        <p:txBody>
          <a:bodyPr wrap="square" lIns="0" tIns="0" rIns="0" bIns="0" rtlCol="0" anchor="ctr">
            <a:normAutofit/>
          </a:bodyPr>
          <a:lstStyle/>
          <a:p>
            <a:pPr indent="0" marL="0">
              <a:buNone/>
            </a:pPr>
            <a:r>
              <a:rPr lang="en-US" sz="1300" b="1" dirty="0">
                <a:solidFill>
                  <a:srgbClr val="0B1D2E"/>
                </a:solidFill>
                <a:latin typeface="Calibri" pitchFamily="34" charset="0"/>
                <a:ea typeface="Calibri" pitchFamily="34" charset="-122"/>
                <a:cs typeface="Calibri" pitchFamily="34" charset="-120"/>
              </a:rPr>
              <a:t>Identificar</a:t>
            </a:r>
            <a:endParaRPr lang="en-US" sz="1300" dirty="0"/>
          </a:p>
        </p:txBody>
      </p:sp>
      <p:sp>
        <p:nvSpPr>
          <p:cNvPr id="12" name="Text 9"/>
          <p:cNvSpPr txBox="1"/>
          <p:nvPr/>
        </p:nvSpPr>
        <p:spPr>
          <a:xfrm>
            <a:off x="621792" y="3200400"/>
            <a:ext cx="1556766" cy="1325880"/>
          </a:xfrm>
          <a:prstGeom prst="rect">
            <a:avLst/>
          </a:prstGeom>
          <a:noFill/>
          <a:ln/>
        </p:spPr>
        <p:txBody>
          <a:bodyPr wrap="square" lIns="0" tIns="0" rIns="0" bIns="0" rtlCol="0" anchor="t">
            <a:normAutofit/>
          </a:bodyPr>
          <a:lstStyle/>
          <a:p>
            <a:pPr indent="0" marL="0">
              <a:buNone/>
            </a:pPr>
            <a:r>
              <a:rPr lang="en-US" sz="1200" dirty="0">
                <a:solidFill>
                  <a:srgbClr val="1E293B"/>
                </a:solidFill>
                <a:latin typeface="Calibri" pitchFamily="34" charset="0"/>
                <a:ea typeface="Calibri" pitchFamily="34" charset="-122"/>
                <a:cs typeface="Calibri" pitchFamily="34" charset="-120"/>
              </a:rPr>
              <a:t>Es phishing: hay urgencia, un dominio que no es el oficial y piden datos.</a:t>
            </a:r>
            <a:endParaRPr lang="en-US" sz="1200" dirty="0"/>
          </a:p>
        </p:txBody>
      </p:sp>
      <p:sp>
        <p:nvSpPr>
          <p:cNvPr id="13" name="Shape 10"/>
          <p:cNvSpPr/>
          <p:nvPr/>
        </p:nvSpPr>
        <p:spPr>
          <a:xfrm>
            <a:off x="2571750" y="2514600"/>
            <a:ext cx="1885950" cy="2103120"/>
          </a:xfrm>
          <a:prstGeom prst="roundRect">
            <a:avLst>
              <a:gd name="adj" fmla="val 3879"/>
            </a:avLst>
          </a:prstGeom>
          <a:solidFill>
            <a:srgbClr val="F1F7F8"/>
          </a:solidFill>
          <a:ln w="12700">
            <a:solidFill>
              <a:srgbClr val="F1F7F8"/>
            </a:solidFill>
            <a:prstDash val="solid"/>
          </a:ln>
        </p:spPr>
      </p:sp>
      <p:sp>
        <p:nvSpPr>
          <p:cNvPr id="14" name="Shape 11"/>
          <p:cNvSpPr/>
          <p:nvPr/>
        </p:nvSpPr>
        <p:spPr>
          <a:xfrm>
            <a:off x="2736342" y="2679192"/>
            <a:ext cx="384048" cy="384048"/>
          </a:xfrm>
          <a:prstGeom prst="ellipse">
            <a:avLst/>
          </a:prstGeom>
          <a:solidFill>
            <a:srgbClr val="0E7C86"/>
          </a:solidFill>
          <a:ln w="12700">
            <a:solidFill>
              <a:srgbClr val="0E7C86"/>
            </a:solidFill>
            <a:prstDash val="solid"/>
          </a:ln>
        </p:spPr>
      </p:sp>
      <p:sp>
        <p:nvSpPr>
          <p:cNvPr id="15" name="Text 12"/>
          <p:cNvSpPr txBox="1"/>
          <p:nvPr/>
        </p:nvSpPr>
        <p:spPr>
          <a:xfrm>
            <a:off x="2736342" y="267919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6" name="Text 13"/>
          <p:cNvSpPr txBox="1"/>
          <p:nvPr/>
        </p:nvSpPr>
        <p:spPr>
          <a:xfrm>
            <a:off x="3211830" y="2660904"/>
            <a:ext cx="1154430" cy="420624"/>
          </a:xfrm>
          <a:prstGeom prst="rect">
            <a:avLst/>
          </a:prstGeom>
          <a:noFill/>
          <a:ln/>
        </p:spPr>
        <p:txBody>
          <a:bodyPr wrap="square" lIns="0" tIns="0" rIns="0" bIns="0" rtlCol="0" anchor="ctr">
            <a:normAutofit/>
          </a:bodyPr>
          <a:lstStyle/>
          <a:p>
            <a:pPr indent="0" marL="0">
              <a:buNone/>
            </a:pPr>
            <a:r>
              <a:rPr lang="en-US" sz="1300" b="1" dirty="0">
                <a:solidFill>
                  <a:srgbClr val="0B1D2E"/>
                </a:solidFill>
                <a:latin typeface="Calibri" pitchFamily="34" charset="0"/>
                <a:ea typeface="Calibri" pitchFamily="34" charset="-122"/>
                <a:cs typeface="Calibri" pitchFamily="34" charset="-120"/>
              </a:rPr>
              <a:t>No interactuar</a:t>
            </a:r>
            <a:endParaRPr lang="en-US" sz="1300" dirty="0"/>
          </a:p>
        </p:txBody>
      </p:sp>
      <p:sp>
        <p:nvSpPr>
          <p:cNvPr id="17" name="Text 14"/>
          <p:cNvSpPr txBox="1"/>
          <p:nvPr/>
        </p:nvSpPr>
        <p:spPr>
          <a:xfrm>
            <a:off x="2736342" y="3200400"/>
            <a:ext cx="1556766" cy="1325880"/>
          </a:xfrm>
          <a:prstGeom prst="rect">
            <a:avLst/>
          </a:prstGeom>
          <a:noFill/>
          <a:ln/>
        </p:spPr>
        <p:txBody>
          <a:bodyPr wrap="square" lIns="0" tIns="0" rIns="0" bIns="0" rtlCol="0" anchor="t">
            <a:normAutofit/>
          </a:bodyPr>
          <a:lstStyle/>
          <a:p>
            <a:pPr indent="0" marL="0">
              <a:buNone/>
            </a:pPr>
            <a:r>
              <a:rPr lang="en-US" sz="1200" dirty="0">
                <a:solidFill>
                  <a:srgbClr val="1E293B"/>
                </a:solidFill>
                <a:latin typeface="Calibri" pitchFamily="34" charset="0"/>
                <a:ea typeface="Calibri" pitchFamily="34" charset="-122"/>
                <a:cs typeface="Calibri" pitchFamily="34" charset="-120"/>
              </a:rPr>
              <a:t>No hacer clic, no responder y no descargar adjuntos.</a:t>
            </a:r>
            <a:endParaRPr lang="en-US" sz="1200" dirty="0"/>
          </a:p>
        </p:txBody>
      </p:sp>
      <p:sp>
        <p:nvSpPr>
          <p:cNvPr id="18" name="Shape 15"/>
          <p:cNvSpPr/>
          <p:nvPr/>
        </p:nvSpPr>
        <p:spPr>
          <a:xfrm>
            <a:off x="4686300" y="2514600"/>
            <a:ext cx="1885950" cy="2103120"/>
          </a:xfrm>
          <a:prstGeom prst="roundRect">
            <a:avLst>
              <a:gd name="adj" fmla="val 3879"/>
            </a:avLst>
          </a:prstGeom>
          <a:solidFill>
            <a:srgbClr val="F1F7F8"/>
          </a:solidFill>
          <a:ln w="12700">
            <a:solidFill>
              <a:srgbClr val="F1F7F8"/>
            </a:solidFill>
            <a:prstDash val="solid"/>
          </a:ln>
        </p:spPr>
      </p:sp>
      <p:sp>
        <p:nvSpPr>
          <p:cNvPr id="19" name="Shape 16"/>
          <p:cNvSpPr/>
          <p:nvPr/>
        </p:nvSpPr>
        <p:spPr>
          <a:xfrm>
            <a:off x="4850892" y="2679192"/>
            <a:ext cx="384048" cy="384048"/>
          </a:xfrm>
          <a:prstGeom prst="ellipse">
            <a:avLst/>
          </a:prstGeom>
          <a:solidFill>
            <a:srgbClr val="0E7C86"/>
          </a:solidFill>
          <a:ln w="12700">
            <a:solidFill>
              <a:srgbClr val="0E7C86"/>
            </a:solidFill>
            <a:prstDash val="solid"/>
          </a:ln>
        </p:spPr>
      </p:sp>
      <p:sp>
        <p:nvSpPr>
          <p:cNvPr id="20" name="Text 17"/>
          <p:cNvSpPr txBox="1"/>
          <p:nvPr/>
        </p:nvSpPr>
        <p:spPr>
          <a:xfrm>
            <a:off x="4850892" y="267919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1" name="Text 18"/>
          <p:cNvSpPr txBox="1"/>
          <p:nvPr/>
        </p:nvSpPr>
        <p:spPr>
          <a:xfrm>
            <a:off x="5326380" y="2660904"/>
            <a:ext cx="1154430" cy="420624"/>
          </a:xfrm>
          <a:prstGeom prst="rect">
            <a:avLst/>
          </a:prstGeom>
          <a:noFill/>
          <a:ln/>
        </p:spPr>
        <p:txBody>
          <a:bodyPr wrap="square" lIns="0" tIns="0" rIns="0" bIns="0" rtlCol="0" anchor="ctr">
            <a:normAutofit/>
          </a:bodyPr>
          <a:lstStyle/>
          <a:p>
            <a:pPr indent="0" marL="0">
              <a:buNone/>
            </a:pPr>
            <a:r>
              <a:rPr lang="en-US" sz="1300" b="1" dirty="0">
                <a:solidFill>
                  <a:srgbClr val="0B1D2E"/>
                </a:solidFill>
                <a:latin typeface="Calibri" pitchFamily="34" charset="0"/>
                <a:ea typeface="Calibri" pitchFamily="34" charset="-122"/>
                <a:cs typeface="Calibri" pitchFamily="34" charset="-120"/>
              </a:rPr>
              <a:t>Reportar</a:t>
            </a:r>
            <a:endParaRPr lang="en-US" sz="1300" dirty="0"/>
          </a:p>
        </p:txBody>
      </p:sp>
      <p:sp>
        <p:nvSpPr>
          <p:cNvPr id="22" name="Text 19"/>
          <p:cNvSpPr txBox="1"/>
          <p:nvPr/>
        </p:nvSpPr>
        <p:spPr>
          <a:xfrm>
            <a:off x="4850892" y="3200400"/>
            <a:ext cx="1556766" cy="1325880"/>
          </a:xfrm>
          <a:prstGeom prst="rect">
            <a:avLst/>
          </a:prstGeom>
          <a:noFill/>
          <a:ln/>
        </p:spPr>
        <p:txBody>
          <a:bodyPr wrap="square" lIns="0" tIns="0" rIns="0" bIns="0" rtlCol="0" anchor="t">
            <a:normAutofit/>
          </a:bodyPr>
          <a:lstStyle/>
          <a:p>
            <a:pPr indent="0" marL="0">
              <a:buNone/>
            </a:pPr>
            <a:r>
              <a:rPr lang="en-US" sz="1200" dirty="0">
                <a:solidFill>
                  <a:srgbClr val="1E293B"/>
                </a:solidFill>
                <a:latin typeface="Calibri" pitchFamily="34" charset="0"/>
                <a:ea typeface="Calibri" pitchFamily="34" charset="-122"/>
                <a:cs typeface="Calibri" pitchFamily="34" charset="-120"/>
              </a:rPr>
              <a:t>Avisar al encargado de TI y reenviar el correo como evidencia.</a:t>
            </a:r>
            <a:endParaRPr lang="en-US" sz="1200" dirty="0"/>
          </a:p>
        </p:txBody>
      </p:sp>
      <p:sp>
        <p:nvSpPr>
          <p:cNvPr id="23" name="Shape 20"/>
          <p:cNvSpPr/>
          <p:nvPr/>
        </p:nvSpPr>
        <p:spPr>
          <a:xfrm>
            <a:off x="6800850" y="2514600"/>
            <a:ext cx="1885950" cy="2103120"/>
          </a:xfrm>
          <a:prstGeom prst="roundRect">
            <a:avLst>
              <a:gd name="adj" fmla="val 3879"/>
            </a:avLst>
          </a:prstGeom>
          <a:solidFill>
            <a:srgbClr val="F1F7F8"/>
          </a:solidFill>
          <a:ln w="12700">
            <a:solidFill>
              <a:srgbClr val="F1F7F8"/>
            </a:solidFill>
            <a:prstDash val="solid"/>
          </a:ln>
        </p:spPr>
      </p:sp>
      <p:sp>
        <p:nvSpPr>
          <p:cNvPr id="24" name="Shape 21"/>
          <p:cNvSpPr/>
          <p:nvPr/>
        </p:nvSpPr>
        <p:spPr>
          <a:xfrm>
            <a:off x="6965442" y="2679192"/>
            <a:ext cx="384048" cy="384048"/>
          </a:xfrm>
          <a:prstGeom prst="ellipse">
            <a:avLst/>
          </a:prstGeom>
          <a:solidFill>
            <a:srgbClr val="0E7C86"/>
          </a:solidFill>
          <a:ln w="12700">
            <a:solidFill>
              <a:srgbClr val="0E7C86"/>
            </a:solidFill>
            <a:prstDash val="solid"/>
          </a:ln>
        </p:spPr>
      </p:sp>
      <p:sp>
        <p:nvSpPr>
          <p:cNvPr id="25" name="Text 22"/>
          <p:cNvSpPr txBox="1"/>
          <p:nvPr/>
        </p:nvSpPr>
        <p:spPr>
          <a:xfrm>
            <a:off x="6965442" y="267919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6" name="Text 23"/>
          <p:cNvSpPr txBox="1"/>
          <p:nvPr/>
        </p:nvSpPr>
        <p:spPr>
          <a:xfrm>
            <a:off x="7440930" y="2660904"/>
            <a:ext cx="1154430" cy="420624"/>
          </a:xfrm>
          <a:prstGeom prst="rect">
            <a:avLst/>
          </a:prstGeom>
          <a:noFill/>
          <a:ln/>
        </p:spPr>
        <p:txBody>
          <a:bodyPr wrap="square" lIns="0" tIns="0" rIns="0" bIns="0" rtlCol="0" anchor="ctr">
            <a:normAutofit/>
          </a:bodyPr>
          <a:lstStyle/>
          <a:p>
            <a:pPr indent="0" marL="0">
              <a:buNone/>
            </a:pPr>
            <a:r>
              <a:rPr lang="en-US" sz="1300" b="1" dirty="0">
                <a:solidFill>
                  <a:srgbClr val="0B1D2E"/>
                </a:solidFill>
                <a:latin typeface="Calibri" pitchFamily="34" charset="0"/>
                <a:ea typeface="Calibri" pitchFamily="34" charset="-122"/>
                <a:cs typeface="Calibri" pitchFamily="34" charset="-120"/>
              </a:rPr>
              <a:t>Prevenir</a:t>
            </a:r>
            <a:endParaRPr lang="en-US" sz="1300" dirty="0"/>
          </a:p>
        </p:txBody>
      </p:sp>
      <p:sp>
        <p:nvSpPr>
          <p:cNvPr id="27" name="Text 24"/>
          <p:cNvSpPr txBox="1"/>
          <p:nvPr/>
        </p:nvSpPr>
        <p:spPr>
          <a:xfrm>
            <a:off x="6965442" y="3200400"/>
            <a:ext cx="1556766" cy="1325880"/>
          </a:xfrm>
          <a:prstGeom prst="rect">
            <a:avLst/>
          </a:prstGeom>
          <a:noFill/>
          <a:ln/>
        </p:spPr>
        <p:txBody>
          <a:bodyPr wrap="square" lIns="0" tIns="0" rIns="0" bIns="0" rtlCol="0" anchor="t">
            <a:normAutofit/>
          </a:bodyPr>
          <a:lstStyle/>
          <a:p>
            <a:pPr indent="0" marL="0">
              <a:buNone/>
            </a:pPr>
            <a:r>
              <a:rPr lang="en-US" sz="1200" dirty="0">
                <a:solidFill>
                  <a:srgbClr val="1E293B"/>
                </a:solidFill>
                <a:latin typeface="Calibri" pitchFamily="34" charset="0"/>
                <a:ea typeface="Calibri" pitchFamily="34" charset="-122"/>
                <a:cs typeface="Calibri" pitchFamily="34" charset="-120"/>
              </a:rPr>
              <a:t>Activar MFA, filtrar correo y capacitar al personal.</a:t>
            </a:r>
            <a:endParaRPr lang="en-US" sz="1200" dirty="0"/>
          </a:p>
        </p:txBody>
      </p:sp>
      <p:sp>
        <p:nvSpPr>
          <p:cNvPr id="28" name="Text 25"/>
          <p:cNvSpPr txBox="1"/>
          <p:nvPr/>
        </p:nvSpPr>
        <p:spPr>
          <a:xfrm>
            <a:off x="45720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Fundamentos de ciberseguridad · RA1</a:t>
            </a:r>
            <a:endParaRPr lang="en-US" sz="900" dirty="0"/>
          </a:p>
        </p:txBody>
      </p:sp>
      <p:sp>
        <p:nvSpPr>
          <p:cNvPr id="29" name="Text 26"/>
          <p:cNvSpPr txBox="1"/>
          <p:nvPr/>
        </p:nvSpPr>
        <p:spPr>
          <a:xfrm>
            <a:off x="8229600" y="4800600"/>
            <a:ext cx="457200" cy="22860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47472"/>
            <a:ext cx="566928" cy="566928"/>
          </a:xfrm>
          <a:prstGeom prst="ellipse">
            <a:avLst/>
          </a:prstGeom>
          <a:solidFill>
            <a:srgbClr val="F5A623"/>
          </a:solidFill>
          <a:ln w="12700">
            <a:solidFill>
              <a:srgbClr val="F5A623"/>
            </a:solidFill>
            <a:prstDash val="solid"/>
          </a:ln>
        </p:spPr>
      </p:sp>
      <p:pic>
        <p:nvPicPr>
          <p:cNvPr id="3" name="Image 0" descr="preencoded.png">    </p:cNvPr>
          <p:cNvPicPr>
            <a:picLocks noChangeAspect="1"/>
          </p:cNvPicPr>
          <p:nvPr/>
        </p:nvPicPr>
        <p:blipFill>
          <a:blip r:embed="rId1"/>
          <a:stretch>
            <a:fillRect/>
          </a:stretch>
        </p:blipFill>
        <p:spPr>
          <a:xfrm>
            <a:off x="612648" y="502920"/>
            <a:ext cx="256032" cy="256032"/>
          </a:xfrm>
          <a:prstGeom prst="rect">
            <a:avLst/>
          </a:prstGeom>
        </p:spPr>
      </p:pic>
      <p:sp>
        <p:nvSpPr>
          <p:cNvPr id="4" name="Text 1"/>
          <p:cNvSpPr txBox="1"/>
          <p:nvPr/>
        </p:nvSpPr>
        <p:spPr>
          <a:xfrm>
            <a:off x="1188720" y="292608"/>
            <a:ext cx="7498080" cy="256032"/>
          </a:xfrm>
          <a:prstGeom prst="rect">
            <a:avLst/>
          </a:prstGeom>
          <a:noFill/>
          <a:ln/>
        </p:spPr>
        <p:txBody>
          <a:bodyPr wrap="square" lIns="0" tIns="0" rIns="0" bIns="0" rtlCol="0" anchor="ctr"/>
          <a:lstStyle/>
          <a:p>
            <a:pPr indent="0" marL="0">
              <a:buNone/>
            </a:pPr>
            <a:r>
              <a:rPr lang="en-US" sz="1100" b="1" dirty="0">
                <a:solidFill>
                  <a:srgbClr val="9A5B00"/>
                </a:solidFill>
                <a:latin typeface="Calibri" pitchFamily="34" charset="0"/>
                <a:ea typeface="Calibri" pitchFamily="34" charset="-122"/>
                <a:cs typeface="Calibri" pitchFamily="34" charset="-120"/>
              </a:rPr>
              <a:t>REPASO RÁPIDO</a:t>
            </a:r>
            <a:endParaRPr lang="en-US" sz="1100" dirty="0"/>
          </a:p>
        </p:txBody>
      </p:sp>
      <p:sp>
        <p:nvSpPr>
          <p:cNvPr id="5" name="Text 2"/>
          <p:cNvSpPr txBox="1"/>
          <p:nvPr/>
        </p:nvSpPr>
        <p:spPr>
          <a:xfrm>
            <a:off x="1188720" y="530352"/>
            <a:ext cx="7498080" cy="502920"/>
          </a:xfrm>
          <a:prstGeom prst="rect">
            <a:avLst/>
          </a:prstGeom>
          <a:noFill/>
          <a:ln/>
        </p:spPr>
        <p:txBody>
          <a:bodyPr wrap="square" lIns="0" tIns="0" rIns="0" bIns="0" rtlCol="0" anchor="ctr"/>
          <a:lstStyle/>
          <a:p>
            <a:pPr indent="0" marL="0">
              <a:buNone/>
            </a:pPr>
            <a:r>
              <a:rPr lang="en-US" sz="2600" b="1" dirty="0">
                <a:solidFill>
                  <a:srgbClr val="0B1D2E"/>
                </a:solidFill>
                <a:latin typeface="Calibri" pitchFamily="34" charset="0"/>
                <a:ea typeface="Calibri" pitchFamily="34" charset="-122"/>
                <a:cs typeface="Calibri" pitchFamily="34" charset="-120"/>
              </a:rPr>
              <a:t>¿Qué aprendimos? (1 de 2)</a:t>
            </a:r>
            <a:endParaRPr lang="en-US" sz="2600" dirty="0"/>
          </a:p>
        </p:txBody>
      </p:sp>
      <p:sp>
        <p:nvSpPr>
          <p:cNvPr id="6" name="Shape 3"/>
          <p:cNvSpPr/>
          <p:nvPr/>
        </p:nvSpPr>
        <p:spPr>
          <a:xfrm>
            <a:off x="457200" y="1234440"/>
            <a:ext cx="8229600" cy="960120"/>
          </a:xfrm>
          <a:prstGeom prst="roundRect">
            <a:avLst>
              <a:gd name="adj" fmla="val 7619"/>
            </a:avLst>
          </a:prstGeom>
          <a:solidFill>
            <a:srgbClr val="F1F7F8"/>
          </a:solidFill>
          <a:ln w="12700">
            <a:solidFill>
              <a:srgbClr val="F1F7F8"/>
            </a:solidFill>
            <a:prstDash val="solid"/>
          </a:ln>
        </p:spPr>
      </p:sp>
      <p:sp>
        <p:nvSpPr>
          <p:cNvPr id="7" name="Text 4"/>
          <p:cNvSpPr txBox="1"/>
          <p:nvPr/>
        </p:nvSpPr>
        <p:spPr>
          <a:xfrm>
            <a:off x="640080" y="1481328"/>
            <a:ext cx="457200" cy="457200"/>
          </a:xfrm>
          <a:prstGeom prst="rect">
            <a:avLst/>
          </a:prstGeom>
          <a:noFill/>
          <a:ln/>
        </p:spPr>
        <p:txBody>
          <a:bodyPr wrap="square" lIns="0" tIns="0" rIns="0" bIns="0" rtlCol="0" anchor="ctr"/>
          <a:lstStyle/>
          <a:p>
            <a:pPr algn="ctr" indent="0" marL="0">
              <a:buNone/>
            </a:pPr>
            <a:r>
              <a:rPr lang="en-US" sz="2200" b="1" dirty="0">
                <a:solidFill>
                  <a:srgbClr val="F5A623"/>
                </a:solidFill>
                <a:latin typeface="Calibri" pitchFamily="34" charset="0"/>
                <a:ea typeface="Calibri" pitchFamily="34" charset="-122"/>
                <a:cs typeface="Calibri" pitchFamily="34" charset="-120"/>
              </a:rPr>
              <a:t>1</a:t>
            </a:r>
            <a:endParaRPr lang="en-US" sz="2200" dirty="0"/>
          </a:p>
        </p:txBody>
      </p:sp>
      <p:sp>
        <p:nvSpPr>
          <p:cNvPr id="8" name="Text 5"/>
          <p:cNvSpPr txBox="1"/>
          <p:nvPr/>
        </p:nvSpPr>
        <p:spPr>
          <a:xfrm>
            <a:off x="1280160" y="1234440"/>
            <a:ext cx="7223760" cy="960120"/>
          </a:xfrm>
          <a:prstGeom prst="rect">
            <a:avLst/>
          </a:prstGeom>
          <a:noFill/>
          <a:ln/>
        </p:spPr>
        <p:txBody>
          <a:bodyPr wrap="square" lIns="0" tIns="0" rIns="0" bIns="0" rtlCol="0" anchor="ctr">
            <a:normAutofit/>
          </a:bodyPr>
          <a:lstStyle/>
          <a:p>
            <a:pPr indent="0" marL="0">
              <a:buNone/>
            </a:pPr>
            <a:r>
              <a:rPr lang="en-US" sz="1600" dirty="0">
                <a:solidFill>
                  <a:srgbClr val="1E293B"/>
                </a:solidFill>
                <a:latin typeface="Calibri" pitchFamily="34" charset="0"/>
                <a:ea typeface="Calibri" pitchFamily="34" charset="-122"/>
                <a:cs typeface="Calibri" pitchFamily="34" charset="-120"/>
              </a:rPr>
              <a:t>¿Cuál es la diferencia entre una amenaza y una vulnerabilidad?</a:t>
            </a:r>
            <a:endParaRPr lang="en-US" sz="1600" dirty="0"/>
          </a:p>
        </p:txBody>
      </p:sp>
      <p:sp>
        <p:nvSpPr>
          <p:cNvPr id="9" name="Shape 6"/>
          <p:cNvSpPr/>
          <p:nvPr/>
        </p:nvSpPr>
        <p:spPr>
          <a:xfrm>
            <a:off x="457200" y="2377440"/>
            <a:ext cx="8229600" cy="960120"/>
          </a:xfrm>
          <a:prstGeom prst="roundRect">
            <a:avLst>
              <a:gd name="adj" fmla="val 7619"/>
            </a:avLst>
          </a:prstGeom>
          <a:solidFill>
            <a:srgbClr val="F1F7F8"/>
          </a:solidFill>
          <a:ln w="12700">
            <a:solidFill>
              <a:srgbClr val="F1F7F8"/>
            </a:solidFill>
            <a:prstDash val="solid"/>
          </a:ln>
        </p:spPr>
      </p:sp>
      <p:sp>
        <p:nvSpPr>
          <p:cNvPr id="10" name="Text 7"/>
          <p:cNvSpPr txBox="1"/>
          <p:nvPr/>
        </p:nvSpPr>
        <p:spPr>
          <a:xfrm>
            <a:off x="640080" y="2624328"/>
            <a:ext cx="457200" cy="457200"/>
          </a:xfrm>
          <a:prstGeom prst="rect">
            <a:avLst/>
          </a:prstGeom>
          <a:noFill/>
          <a:ln/>
        </p:spPr>
        <p:txBody>
          <a:bodyPr wrap="square" lIns="0" tIns="0" rIns="0" bIns="0" rtlCol="0" anchor="ctr"/>
          <a:lstStyle/>
          <a:p>
            <a:pPr algn="ctr" indent="0" marL="0">
              <a:buNone/>
            </a:pPr>
            <a:r>
              <a:rPr lang="en-US" sz="2200" b="1" dirty="0">
                <a:solidFill>
                  <a:srgbClr val="F5A623"/>
                </a:solidFill>
                <a:latin typeface="Calibri" pitchFamily="34" charset="0"/>
                <a:ea typeface="Calibri" pitchFamily="34" charset="-122"/>
                <a:cs typeface="Calibri" pitchFamily="34" charset="-120"/>
              </a:rPr>
              <a:t>2</a:t>
            </a:r>
            <a:endParaRPr lang="en-US" sz="2200" dirty="0"/>
          </a:p>
        </p:txBody>
      </p:sp>
      <p:sp>
        <p:nvSpPr>
          <p:cNvPr id="11" name="Text 8"/>
          <p:cNvSpPr txBox="1"/>
          <p:nvPr/>
        </p:nvSpPr>
        <p:spPr>
          <a:xfrm>
            <a:off x="1280160" y="2377440"/>
            <a:ext cx="7223760" cy="960120"/>
          </a:xfrm>
          <a:prstGeom prst="rect">
            <a:avLst/>
          </a:prstGeom>
          <a:noFill/>
          <a:ln/>
        </p:spPr>
        <p:txBody>
          <a:bodyPr wrap="square" lIns="0" tIns="0" rIns="0" bIns="0" rtlCol="0" anchor="ctr">
            <a:normAutofit/>
          </a:bodyPr>
          <a:lstStyle/>
          <a:p>
            <a:pPr indent="0" marL="0">
              <a:buNone/>
            </a:pPr>
            <a:r>
              <a:rPr lang="en-US" sz="1600" dirty="0">
                <a:solidFill>
                  <a:srgbClr val="1E293B"/>
                </a:solidFill>
                <a:latin typeface="Calibri" pitchFamily="34" charset="0"/>
                <a:ea typeface="Calibri" pitchFamily="34" charset="-122"/>
                <a:cs typeface="Calibri" pitchFamily="34" charset="-120"/>
              </a:rPr>
              <a:t>¿En qué se diferencia un gusano de un virus?</a:t>
            </a:r>
            <a:endParaRPr lang="en-US" sz="1600" dirty="0"/>
          </a:p>
        </p:txBody>
      </p:sp>
      <p:sp>
        <p:nvSpPr>
          <p:cNvPr id="12" name="Shape 9"/>
          <p:cNvSpPr/>
          <p:nvPr/>
        </p:nvSpPr>
        <p:spPr>
          <a:xfrm>
            <a:off x="457200" y="3520440"/>
            <a:ext cx="8229600" cy="960120"/>
          </a:xfrm>
          <a:prstGeom prst="roundRect">
            <a:avLst>
              <a:gd name="adj" fmla="val 7619"/>
            </a:avLst>
          </a:prstGeom>
          <a:solidFill>
            <a:srgbClr val="F1F7F8"/>
          </a:solidFill>
          <a:ln w="12700">
            <a:solidFill>
              <a:srgbClr val="F1F7F8"/>
            </a:solidFill>
            <a:prstDash val="solid"/>
          </a:ln>
        </p:spPr>
      </p:sp>
      <p:sp>
        <p:nvSpPr>
          <p:cNvPr id="13" name="Text 10"/>
          <p:cNvSpPr txBox="1"/>
          <p:nvPr/>
        </p:nvSpPr>
        <p:spPr>
          <a:xfrm>
            <a:off x="640080" y="3767328"/>
            <a:ext cx="457200" cy="457200"/>
          </a:xfrm>
          <a:prstGeom prst="rect">
            <a:avLst/>
          </a:prstGeom>
          <a:noFill/>
          <a:ln/>
        </p:spPr>
        <p:txBody>
          <a:bodyPr wrap="square" lIns="0" tIns="0" rIns="0" bIns="0" rtlCol="0" anchor="ctr"/>
          <a:lstStyle/>
          <a:p>
            <a:pPr algn="ctr" indent="0" marL="0">
              <a:buNone/>
            </a:pPr>
            <a:r>
              <a:rPr lang="en-US" sz="2200" b="1" dirty="0">
                <a:solidFill>
                  <a:srgbClr val="F5A623"/>
                </a:solidFill>
                <a:latin typeface="Calibri" pitchFamily="34" charset="0"/>
                <a:ea typeface="Calibri" pitchFamily="34" charset="-122"/>
                <a:cs typeface="Calibri" pitchFamily="34" charset="-120"/>
              </a:rPr>
              <a:t>3</a:t>
            </a:r>
            <a:endParaRPr lang="en-US" sz="2200" dirty="0"/>
          </a:p>
        </p:txBody>
      </p:sp>
      <p:sp>
        <p:nvSpPr>
          <p:cNvPr id="14" name="Text 11"/>
          <p:cNvSpPr txBox="1"/>
          <p:nvPr/>
        </p:nvSpPr>
        <p:spPr>
          <a:xfrm>
            <a:off x="1280160" y="3520440"/>
            <a:ext cx="7223760" cy="960120"/>
          </a:xfrm>
          <a:prstGeom prst="rect">
            <a:avLst/>
          </a:prstGeom>
          <a:noFill/>
          <a:ln/>
        </p:spPr>
        <p:txBody>
          <a:bodyPr wrap="square" lIns="0" tIns="0" rIns="0" bIns="0" rtlCol="0" anchor="ctr">
            <a:normAutofit/>
          </a:bodyPr>
          <a:lstStyle/>
          <a:p>
            <a:pPr indent="0" marL="0">
              <a:buNone/>
            </a:pPr>
            <a:r>
              <a:rPr lang="en-US" sz="1600" dirty="0">
                <a:solidFill>
                  <a:srgbClr val="1E293B"/>
                </a:solidFill>
                <a:latin typeface="Calibri" pitchFamily="34" charset="0"/>
                <a:ea typeface="Calibri" pitchFamily="34" charset="-122"/>
                <a:cs typeface="Calibri" pitchFamily="34" charset="-120"/>
              </a:rPr>
              <a:t>¿Qué es el smishing?</a:t>
            </a:r>
            <a:endParaRPr lang="en-US" sz="1600" dirty="0"/>
          </a:p>
        </p:txBody>
      </p:sp>
      <p:sp>
        <p:nvSpPr>
          <p:cNvPr id="15" name="Text 12"/>
          <p:cNvSpPr txBox="1"/>
          <p:nvPr/>
        </p:nvSpPr>
        <p:spPr>
          <a:xfrm>
            <a:off x="45720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Fundamentos de ciberseguridad · RA1</a:t>
            </a:r>
            <a:endParaRPr lang="en-US" sz="900" dirty="0"/>
          </a:p>
        </p:txBody>
      </p:sp>
      <p:sp>
        <p:nvSpPr>
          <p:cNvPr id="16" name="Text 13"/>
          <p:cNvSpPr txBox="1"/>
          <p:nvPr/>
        </p:nvSpPr>
        <p:spPr>
          <a:xfrm>
            <a:off x="8229600" y="4800600"/>
            <a:ext cx="457200" cy="22860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47472"/>
            <a:ext cx="566928" cy="566928"/>
          </a:xfrm>
          <a:prstGeom prst="ellipse">
            <a:avLst/>
          </a:prstGeom>
          <a:solidFill>
            <a:srgbClr val="F5A623"/>
          </a:solidFill>
          <a:ln w="12700">
            <a:solidFill>
              <a:srgbClr val="F5A623"/>
            </a:solidFill>
            <a:prstDash val="solid"/>
          </a:ln>
        </p:spPr>
      </p:sp>
      <p:pic>
        <p:nvPicPr>
          <p:cNvPr id="3" name="Image 0" descr="preencoded.png">    </p:cNvPr>
          <p:cNvPicPr>
            <a:picLocks noChangeAspect="1"/>
          </p:cNvPicPr>
          <p:nvPr/>
        </p:nvPicPr>
        <p:blipFill>
          <a:blip r:embed="rId1"/>
          <a:stretch>
            <a:fillRect/>
          </a:stretch>
        </p:blipFill>
        <p:spPr>
          <a:xfrm>
            <a:off x="612648" y="502920"/>
            <a:ext cx="256032" cy="256032"/>
          </a:xfrm>
          <a:prstGeom prst="rect">
            <a:avLst/>
          </a:prstGeom>
        </p:spPr>
      </p:pic>
      <p:sp>
        <p:nvSpPr>
          <p:cNvPr id="4" name="Text 1"/>
          <p:cNvSpPr txBox="1"/>
          <p:nvPr/>
        </p:nvSpPr>
        <p:spPr>
          <a:xfrm>
            <a:off x="1188720" y="292608"/>
            <a:ext cx="7498080" cy="256032"/>
          </a:xfrm>
          <a:prstGeom prst="rect">
            <a:avLst/>
          </a:prstGeom>
          <a:noFill/>
          <a:ln/>
        </p:spPr>
        <p:txBody>
          <a:bodyPr wrap="square" lIns="0" tIns="0" rIns="0" bIns="0" rtlCol="0" anchor="ctr"/>
          <a:lstStyle/>
          <a:p>
            <a:pPr indent="0" marL="0">
              <a:buNone/>
            </a:pPr>
            <a:r>
              <a:rPr lang="en-US" sz="1100" b="1" dirty="0">
                <a:solidFill>
                  <a:srgbClr val="9A5B00"/>
                </a:solidFill>
                <a:latin typeface="Calibri" pitchFamily="34" charset="0"/>
                <a:ea typeface="Calibri" pitchFamily="34" charset="-122"/>
                <a:cs typeface="Calibri" pitchFamily="34" charset="-120"/>
              </a:rPr>
              <a:t>REPASO RÁPIDO</a:t>
            </a:r>
            <a:endParaRPr lang="en-US" sz="1100" dirty="0"/>
          </a:p>
        </p:txBody>
      </p:sp>
      <p:sp>
        <p:nvSpPr>
          <p:cNvPr id="5" name="Text 2"/>
          <p:cNvSpPr txBox="1"/>
          <p:nvPr/>
        </p:nvSpPr>
        <p:spPr>
          <a:xfrm>
            <a:off x="1188720" y="530352"/>
            <a:ext cx="7498080" cy="502920"/>
          </a:xfrm>
          <a:prstGeom prst="rect">
            <a:avLst/>
          </a:prstGeom>
          <a:noFill/>
          <a:ln/>
        </p:spPr>
        <p:txBody>
          <a:bodyPr wrap="square" lIns="0" tIns="0" rIns="0" bIns="0" rtlCol="0" anchor="ctr"/>
          <a:lstStyle/>
          <a:p>
            <a:pPr indent="0" marL="0">
              <a:buNone/>
            </a:pPr>
            <a:r>
              <a:rPr lang="en-US" sz="2600" b="1" dirty="0">
                <a:solidFill>
                  <a:srgbClr val="0B1D2E"/>
                </a:solidFill>
                <a:latin typeface="Calibri" pitchFamily="34" charset="0"/>
                <a:ea typeface="Calibri" pitchFamily="34" charset="-122"/>
                <a:cs typeface="Calibri" pitchFamily="34" charset="-120"/>
              </a:rPr>
              <a:t>¿Qué aprendimos? (2 de 2)</a:t>
            </a:r>
            <a:endParaRPr lang="en-US" sz="2600" dirty="0"/>
          </a:p>
        </p:txBody>
      </p:sp>
      <p:sp>
        <p:nvSpPr>
          <p:cNvPr id="6" name="Shape 3"/>
          <p:cNvSpPr/>
          <p:nvPr/>
        </p:nvSpPr>
        <p:spPr>
          <a:xfrm>
            <a:off x="457200" y="1234440"/>
            <a:ext cx="8229600" cy="960120"/>
          </a:xfrm>
          <a:prstGeom prst="roundRect">
            <a:avLst>
              <a:gd name="adj" fmla="val 7619"/>
            </a:avLst>
          </a:prstGeom>
          <a:solidFill>
            <a:srgbClr val="F1F7F8"/>
          </a:solidFill>
          <a:ln w="12700">
            <a:solidFill>
              <a:srgbClr val="F1F7F8"/>
            </a:solidFill>
            <a:prstDash val="solid"/>
          </a:ln>
        </p:spPr>
      </p:sp>
      <p:sp>
        <p:nvSpPr>
          <p:cNvPr id="7" name="Text 4"/>
          <p:cNvSpPr txBox="1"/>
          <p:nvPr/>
        </p:nvSpPr>
        <p:spPr>
          <a:xfrm>
            <a:off x="640080" y="1481328"/>
            <a:ext cx="457200" cy="457200"/>
          </a:xfrm>
          <a:prstGeom prst="rect">
            <a:avLst/>
          </a:prstGeom>
          <a:noFill/>
          <a:ln/>
        </p:spPr>
        <p:txBody>
          <a:bodyPr wrap="square" lIns="0" tIns="0" rIns="0" bIns="0" rtlCol="0" anchor="ctr"/>
          <a:lstStyle/>
          <a:p>
            <a:pPr algn="ctr" indent="0" marL="0">
              <a:buNone/>
            </a:pPr>
            <a:r>
              <a:rPr lang="en-US" sz="2200" b="1" dirty="0">
                <a:solidFill>
                  <a:srgbClr val="F5A623"/>
                </a:solidFill>
                <a:latin typeface="Calibri" pitchFamily="34" charset="0"/>
                <a:ea typeface="Calibri" pitchFamily="34" charset="-122"/>
                <a:cs typeface="Calibri" pitchFamily="34" charset="-120"/>
              </a:rPr>
              <a:t>4</a:t>
            </a:r>
            <a:endParaRPr lang="en-US" sz="2200" dirty="0"/>
          </a:p>
        </p:txBody>
      </p:sp>
      <p:sp>
        <p:nvSpPr>
          <p:cNvPr id="8" name="Text 5"/>
          <p:cNvSpPr txBox="1"/>
          <p:nvPr/>
        </p:nvSpPr>
        <p:spPr>
          <a:xfrm>
            <a:off x="1280160" y="1234440"/>
            <a:ext cx="7223760" cy="960120"/>
          </a:xfrm>
          <a:prstGeom prst="rect">
            <a:avLst/>
          </a:prstGeom>
          <a:noFill/>
          <a:ln/>
        </p:spPr>
        <p:txBody>
          <a:bodyPr wrap="square" lIns="0" tIns="0" rIns="0" bIns="0" rtlCol="0" anchor="ctr">
            <a:normAutofit/>
          </a:bodyPr>
          <a:lstStyle/>
          <a:p>
            <a:pPr indent="0" marL="0">
              <a:buNone/>
            </a:pPr>
            <a:r>
              <a:rPr lang="en-US" sz="1600" dirty="0">
                <a:solidFill>
                  <a:srgbClr val="1E293B"/>
                </a:solidFill>
                <a:latin typeface="Calibri" pitchFamily="34" charset="0"/>
                <a:ea typeface="Calibri" pitchFamily="34" charset="-122"/>
                <a:cs typeface="Calibri" pitchFamily="34" charset="-120"/>
              </a:rPr>
              <a:t>Explique la inundación SYN.</a:t>
            </a:r>
            <a:endParaRPr lang="en-US" sz="1600" dirty="0"/>
          </a:p>
        </p:txBody>
      </p:sp>
      <p:sp>
        <p:nvSpPr>
          <p:cNvPr id="9" name="Shape 6"/>
          <p:cNvSpPr/>
          <p:nvPr/>
        </p:nvSpPr>
        <p:spPr>
          <a:xfrm>
            <a:off x="457200" y="2377440"/>
            <a:ext cx="8229600" cy="960120"/>
          </a:xfrm>
          <a:prstGeom prst="roundRect">
            <a:avLst>
              <a:gd name="adj" fmla="val 7619"/>
            </a:avLst>
          </a:prstGeom>
          <a:solidFill>
            <a:srgbClr val="F1F7F8"/>
          </a:solidFill>
          <a:ln w="12700">
            <a:solidFill>
              <a:srgbClr val="F1F7F8"/>
            </a:solidFill>
            <a:prstDash val="solid"/>
          </a:ln>
        </p:spPr>
      </p:sp>
      <p:sp>
        <p:nvSpPr>
          <p:cNvPr id="10" name="Text 7"/>
          <p:cNvSpPr txBox="1"/>
          <p:nvPr/>
        </p:nvSpPr>
        <p:spPr>
          <a:xfrm>
            <a:off x="640080" y="2624328"/>
            <a:ext cx="457200" cy="457200"/>
          </a:xfrm>
          <a:prstGeom prst="rect">
            <a:avLst/>
          </a:prstGeom>
          <a:noFill/>
          <a:ln/>
        </p:spPr>
        <p:txBody>
          <a:bodyPr wrap="square" lIns="0" tIns="0" rIns="0" bIns="0" rtlCol="0" anchor="ctr"/>
          <a:lstStyle/>
          <a:p>
            <a:pPr algn="ctr" indent="0" marL="0">
              <a:buNone/>
            </a:pPr>
            <a:r>
              <a:rPr lang="en-US" sz="2200" b="1" dirty="0">
                <a:solidFill>
                  <a:srgbClr val="F5A623"/>
                </a:solidFill>
                <a:latin typeface="Calibri" pitchFamily="34" charset="0"/>
                <a:ea typeface="Calibri" pitchFamily="34" charset="-122"/>
                <a:cs typeface="Calibri" pitchFamily="34" charset="-120"/>
              </a:rPr>
              <a:t>5</a:t>
            </a:r>
            <a:endParaRPr lang="en-US" sz="2200" dirty="0"/>
          </a:p>
        </p:txBody>
      </p:sp>
      <p:sp>
        <p:nvSpPr>
          <p:cNvPr id="11" name="Text 8"/>
          <p:cNvSpPr txBox="1"/>
          <p:nvPr/>
        </p:nvSpPr>
        <p:spPr>
          <a:xfrm>
            <a:off x="1280160" y="2377440"/>
            <a:ext cx="7223760" cy="960120"/>
          </a:xfrm>
          <a:prstGeom prst="rect">
            <a:avLst/>
          </a:prstGeom>
          <a:noFill/>
          <a:ln/>
        </p:spPr>
        <p:txBody>
          <a:bodyPr wrap="square" lIns="0" tIns="0" rIns="0" bIns="0" rtlCol="0" anchor="ctr">
            <a:normAutofit/>
          </a:bodyPr>
          <a:lstStyle/>
          <a:p>
            <a:pPr indent="0" marL="0">
              <a:buNone/>
            </a:pPr>
            <a:r>
              <a:rPr lang="en-US" sz="1600" dirty="0">
                <a:solidFill>
                  <a:srgbClr val="1E293B"/>
                </a:solidFill>
                <a:latin typeface="Calibri" pitchFamily="34" charset="0"/>
                <a:ea typeface="Calibri" pitchFamily="34" charset="-122"/>
                <a:cs typeface="Calibri" pitchFamily="34" charset="-120"/>
              </a:rPr>
              <a:t>¿Por qué ocultar el SSID no es suficiente para proteger una WLAN?</a:t>
            </a:r>
            <a:endParaRPr lang="en-US" sz="1600" dirty="0"/>
          </a:p>
        </p:txBody>
      </p:sp>
      <p:sp>
        <p:nvSpPr>
          <p:cNvPr id="12" name="Shape 9"/>
          <p:cNvSpPr/>
          <p:nvPr/>
        </p:nvSpPr>
        <p:spPr>
          <a:xfrm>
            <a:off x="457200" y="3520440"/>
            <a:ext cx="8229600" cy="960120"/>
          </a:xfrm>
          <a:prstGeom prst="roundRect">
            <a:avLst>
              <a:gd name="adj" fmla="val 7619"/>
            </a:avLst>
          </a:prstGeom>
          <a:solidFill>
            <a:srgbClr val="F1F7F8"/>
          </a:solidFill>
          <a:ln w="12700">
            <a:solidFill>
              <a:srgbClr val="F1F7F8"/>
            </a:solidFill>
            <a:prstDash val="solid"/>
          </a:ln>
        </p:spPr>
      </p:sp>
      <p:sp>
        <p:nvSpPr>
          <p:cNvPr id="13" name="Text 10"/>
          <p:cNvSpPr txBox="1"/>
          <p:nvPr/>
        </p:nvSpPr>
        <p:spPr>
          <a:xfrm>
            <a:off x="640080" y="3767328"/>
            <a:ext cx="457200" cy="457200"/>
          </a:xfrm>
          <a:prstGeom prst="rect">
            <a:avLst/>
          </a:prstGeom>
          <a:noFill/>
          <a:ln/>
        </p:spPr>
        <p:txBody>
          <a:bodyPr wrap="square" lIns="0" tIns="0" rIns="0" bIns="0" rtlCol="0" anchor="ctr"/>
          <a:lstStyle/>
          <a:p>
            <a:pPr algn="ctr" indent="0" marL="0">
              <a:buNone/>
            </a:pPr>
            <a:r>
              <a:rPr lang="en-US" sz="2200" b="1" dirty="0">
                <a:solidFill>
                  <a:srgbClr val="F5A623"/>
                </a:solidFill>
                <a:latin typeface="Calibri" pitchFamily="34" charset="0"/>
                <a:ea typeface="Calibri" pitchFamily="34" charset="-122"/>
                <a:cs typeface="Calibri" pitchFamily="34" charset="-120"/>
              </a:rPr>
              <a:t>6</a:t>
            </a:r>
            <a:endParaRPr lang="en-US" sz="2200" dirty="0"/>
          </a:p>
        </p:txBody>
      </p:sp>
      <p:sp>
        <p:nvSpPr>
          <p:cNvPr id="14" name="Text 11"/>
          <p:cNvSpPr txBox="1"/>
          <p:nvPr/>
        </p:nvSpPr>
        <p:spPr>
          <a:xfrm>
            <a:off x="1280160" y="3520440"/>
            <a:ext cx="7223760" cy="960120"/>
          </a:xfrm>
          <a:prstGeom prst="rect">
            <a:avLst/>
          </a:prstGeom>
          <a:noFill/>
          <a:ln/>
        </p:spPr>
        <p:txBody>
          <a:bodyPr wrap="square" lIns="0" tIns="0" rIns="0" bIns="0" rtlCol="0" anchor="ctr">
            <a:normAutofit/>
          </a:bodyPr>
          <a:lstStyle/>
          <a:p>
            <a:pPr indent="0" marL="0">
              <a:buNone/>
            </a:pPr>
            <a:r>
              <a:rPr lang="en-US" sz="1600" dirty="0">
                <a:solidFill>
                  <a:srgbClr val="1E293B"/>
                </a:solidFill>
                <a:latin typeface="Calibri" pitchFamily="34" charset="0"/>
                <a:ea typeface="Calibri" pitchFamily="34" charset="-122"/>
                <a:cs typeface="Calibri" pitchFamily="34" charset="-120"/>
              </a:rPr>
              <a:t>¿Qué diferencia hay entre un IDS y un IPS?</a:t>
            </a:r>
            <a:endParaRPr lang="en-US" sz="1600" dirty="0"/>
          </a:p>
        </p:txBody>
      </p:sp>
      <p:sp>
        <p:nvSpPr>
          <p:cNvPr id="15" name="Text 12"/>
          <p:cNvSpPr txBox="1"/>
          <p:nvPr/>
        </p:nvSpPr>
        <p:spPr>
          <a:xfrm>
            <a:off x="45720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Fundamentos de ciberseguridad · RA1</a:t>
            </a:r>
            <a:endParaRPr lang="en-US" sz="900" dirty="0"/>
          </a:p>
        </p:txBody>
      </p:sp>
      <p:sp>
        <p:nvSpPr>
          <p:cNvPr id="16" name="Text 13"/>
          <p:cNvSpPr txBox="1"/>
          <p:nvPr/>
        </p:nvSpPr>
        <p:spPr>
          <a:xfrm>
            <a:off x="8229600" y="4800600"/>
            <a:ext cx="457200" cy="22860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B1D2E"/>
        </a:solidFill>
      </p:bgPr>
    </p:bg>
    <p:spTree>
      <p:nvGrpSpPr>
        <p:cNvPr id="1" name=""/>
        <p:cNvGrpSpPr/>
        <p:nvPr/>
      </p:nvGrpSpPr>
      <p:grpSpPr>
        <a:xfrm>
          <a:off x="0" y="0"/>
          <a:ext cx="0" cy="0"/>
          <a:chOff x="0" y="0"/>
          <a:chExt cx="0" cy="0"/>
        </a:xfrm>
      </p:grpSpPr>
      <p:sp>
        <p:nvSpPr>
          <p:cNvPr id="2" name="Text 0"/>
          <p:cNvSpPr txBox="1"/>
          <p:nvPr/>
        </p:nvSpPr>
        <p:spPr>
          <a:xfrm>
            <a:off x="548640" y="457200"/>
            <a:ext cx="8046720" cy="54864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Lo que aprendimos</a:t>
            </a:r>
            <a:endParaRPr lang="en-US" sz="3200" dirty="0"/>
          </a:p>
        </p:txBody>
      </p:sp>
      <p:sp>
        <p:nvSpPr>
          <p:cNvPr id="3" name="Shape 1"/>
          <p:cNvSpPr/>
          <p:nvPr/>
        </p:nvSpPr>
        <p:spPr>
          <a:xfrm>
            <a:off x="548640" y="1335024"/>
            <a:ext cx="310896" cy="310896"/>
          </a:xfrm>
          <a:prstGeom prst="ellipse">
            <a:avLst/>
          </a:prstGeom>
          <a:solidFill>
            <a:srgbClr val="0E7C86"/>
          </a:solidFill>
          <a:ln w="12700">
            <a:solidFill>
              <a:srgbClr val="0E7C86"/>
            </a:solidFill>
            <a:prstDash val="solid"/>
          </a:ln>
        </p:spPr>
      </p:sp>
      <p:pic>
        <p:nvPicPr>
          <p:cNvPr id="4" name="Image 0" descr="preencoded.png">    </p:cNvPr>
          <p:cNvPicPr>
            <a:picLocks noChangeAspect="1"/>
          </p:cNvPicPr>
          <p:nvPr/>
        </p:nvPicPr>
        <p:blipFill>
          <a:blip r:embed="rId1"/>
          <a:stretch>
            <a:fillRect/>
          </a:stretch>
        </p:blipFill>
        <p:spPr>
          <a:xfrm>
            <a:off x="630936" y="1417320"/>
            <a:ext cx="146304" cy="146304"/>
          </a:xfrm>
          <a:prstGeom prst="rect">
            <a:avLst/>
          </a:prstGeom>
        </p:spPr>
      </p:pic>
      <p:sp>
        <p:nvSpPr>
          <p:cNvPr id="5" name="Text 2"/>
          <p:cNvSpPr txBox="1"/>
          <p:nvPr/>
        </p:nvSpPr>
        <p:spPr>
          <a:xfrm>
            <a:off x="1005840" y="1280160"/>
            <a:ext cx="3520440" cy="420624"/>
          </a:xfrm>
          <a:prstGeom prst="rect">
            <a:avLst/>
          </a:prstGeom>
          <a:noFill/>
          <a:ln/>
        </p:spPr>
        <p:txBody>
          <a:bodyPr wrap="square" lIns="0" tIns="0" rIns="0" bIns="0" rtlCol="0" anchor="ctr">
            <a:normAutofit/>
          </a:bodyPr>
          <a:lstStyle/>
          <a:p>
            <a:pPr indent="0" marL="0">
              <a:buNone/>
            </a:pPr>
            <a:r>
              <a:rPr lang="en-US" sz="1300" dirty="0">
                <a:solidFill>
                  <a:srgbClr val="E2E8F0"/>
                </a:solidFill>
                <a:latin typeface="Calibri" pitchFamily="34" charset="0"/>
                <a:ea typeface="Calibri" pitchFamily="34" charset="-122"/>
                <a:cs typeface="Calibri" pitchFamily="34" charset="-120"/>
              </a:rPr>
              <a:t>Amenazas, vulnerabilidades y riesgo</a:t>
            </a:r>
            <a:endParaRPr lang="en-US" sz="1300" dirty="0"/>
          </a:p>
        </p:txBody>
      </p:sp>
      <p:sp>
        <p:nvSpPr>
          <p:cNvPr id="6" name="Shape 3"/>
          <p:cNvSpPr/>
          <p:nvPr/>
        </p:nvSpPr>
        <p:spPr>
          <a:xfrm>
            <a:off x="548640" y="1901952"/>
            <a:ext cx="310896" cy="310896"/>
          </a:xfrm>
          <a:prstGeom prst="ellipse">
            <a:avLst/>
          </a:prstGeom>
          <a:solidFill>
            <a:srgbClr val="0E7C86"/>
          </a:solidFill>
          <a:ln w="12700">
            <a:solidFill>
              <a:srgbClr val="0E7C86"/>
            </a:solidFill>
            <a:prstDash val="solid"/>
          </a:ln>
        </p:spPr>
      </p:sp>
      <p:pic>
        <p:nvPicPr>
          <p:cNvPr id="7" name="Image 1" descr="preencoded.png">    </p:cNvPr>
          <p:cNvPicPr>
            <a:picLocks noChangeAspect="1"/>
          </p:cNvPicPr>
          <p:nvPr/>
        </p:nvPicPr>
        <p:blipFill>
          <a:blip r:embed="rId2"/>
          <a:stretch>
            <a:fillRect/>
          </a:stretch>
        </p:blipFill>
        <p:spPr>
          <a:xfrm>
            <a:off x="630936" y="1984248"/>
            <a:ext cx="146304" cy="146304"/>
          </a:xfrm>
          <a:prstGeom prst="rect">
            <a:avLst/>
          </a:prstGeom>
        </p:spPr>
      </p:pic>
      <p:sp>
        <p:nvSpPr>
          <p:cNvPr id="8" name="Text 4"/>
          <p:cNvSpPr txBox="1"/>
          <p:nvPr/>
        </p:nvSpPr>
        <p:spPr>
          <a:xfrm>
            <a:off x="1005840" y="1847088"/>
            <a:ext cx="3520440" cy="420624"/>
          </a:xfrm>
          <a:prstGeom prst="rect">
            <a:avLst/>
          </a:prstGeom>
          <a:noFill/>
          <a:ln/>
        </p:spPr>
        <p:txBody>
          <a:bodyPr wrap="square" lIns="0" tIns="0" rIns="0" bIns="0" rtlCol="0" anchor="ctr">
            <a:normAutofit/>
          </a:bodyPr>
          <a:lstStyle/>
          <a:p>
            <a:pPr indent="0" marL="0">
              <a:buNone/>
            </a:pPr>
            <a:r>
              <a:rPr lang="en-US" sz="1300" dirty="0">
                <a:solidFill>
                  <a:srgbClr val="E2E8F0"/>
                </a:solidFill>
                <a:latin typeface="Calibri" pitchFamily="34" charset="0"/>
                <a:ea typeface="Calibri" pitchFamily="34" charset="-122"/>
                <a:cs typeface="Calibri" pitchFamily="34" charset="-120"/>
              </a:rPr>
              <a:t>Amenazas comunes: el malware</a:t>
            </a:r>
            <a:endParaRPr lang="en-US" sz="1300" dirty="0"/>
          </a:p>
        </p:txBody>
      </p:sp>
      <p:sp>
        <p:nvSpPr>
          <p:cNvPr id="9" name="Shape 5"/>
          <p:cNvSpPr/>
          <p:nvPr/>
        </p:nvSpPr>
        <p:spPr>
          <a:xfrm>
            <a:off x="548640" y="2468880"/>
            <a:ext cx="310896" cy="310896"/>
          </a:xfrm>
          <a:prstGeom prst="ellipse">
            <a:avLst/>
          </a:prstGeom>
          <a:solidFill>
            <a:srgbClr val="0E7C86"/>
          </a:solidFill>
          <a:ln w="12700">
            <a:solidFill>
              <a:srgbClr val="0E7C86"/>
            </a:solidFill>
            <a:prstDash val="solid"/>
          </a:ln>
        </p:spPr>
      </p:sp>
      <p:pic>
        <p:nvPicPr>
          <p:cNvPr id="10" name="Image 2" descr="preencoded.png">    </p:cNvPr>
          <p:cNvPicPr>
            <a:picLocks noChangeAspect="1"/>
          </p:cNvPicPr>
          <p:nvPr/>
        </p:nvPicPr>
        <p:blipFill>
          <a:blip r:embed="rId3"/>
          <a:stretch>
            <a:fillRect/>
          </a:stretch>
        </p:blipFill>
        <p:spPr>
          <a:xfrm>
            <a:off x="630936" y="2551176"/>
            <a:ext cx="146304" cy="146304"/>
          </a:xfrm>
          <a:prstGeom prst="rect">
            <a:avLst/>
          </a:prstGeom>
        </p:spPr>
      </p:pic>
      <p:sp>
        <p:nvSpPr>
          <p:cNvPr id="11" name="Text 6"/>
          <p:cNvSpPr txBox="1"/>
          <p:nvPr/>
        </p:nvSpPr>
        <p:spPr>
          <a:xfrm>
            <a:off x="1005840" y="2414016"/>
            <a:ext cx="3520440" cy="420624"/>
          </a:xfrm>
          <a:prstGeom prst="rect">
            <a:avLst/>
          </a:prstGeom>
          <a:noFill/>
          <a:ln/>
        </p:spPr>
        <p:txBody>
          <a:bodyPr wrap="square" lIns="0" tIns="0" rIns="0" bIns="0" rtlCol="0" anchor="ctr">
            <a:normAutofit/>
          </a:bodyPr>
          <a:lstStyle/>
          <a:p>
            <a:pPr indent="0" marL="0">
              <a:buNone/>
            </a:pPr>
            <a:r>
              <a:rPr lang="en-US" sz="1300" dirty="0">
                <a:solidFill>
                  <a:srgbClr val="E2E8F0"/>
                </a:solidFill>
                <a:latin typeface="Calibri" pitchFamily="34" charset="0"/>
                <a:ea typeface="Calibri" pitchFamily="34" charset="-122"/>
                <a:cs typeface="Calibri" pitchFamily="34" charset="-120"/>
              </a:rPr>
              <a:t>Engaño e ingeniería social</a:t>
            </a:r>
            <a:endParaRPr lang="en-US" sz="1300" dirty="0"/>
          </a:p>
        </p:txBody>
      </p:sp>
      <p:sp>
        <p:nvSpPr>
          <p:cNvPr id="12" name="Shape 7"/>
          <p:cNvSpPr/>
          <p:nvPr/>
        </p:nvSpPr>
        <p:spPr>
          <a:xfrm>
            <a:off x="548640" y="3035808"/>
            <a:ext cx="310896" cy="310896"/>
          </a:xfrm>
          <a:prstGeom prst="ellipse">
            <a:avLst/>
          </a:prstGeom>
          <a:solidFill>
            <a:srgbClr val="0E7C86"/>
          </a:solidFill>
          <a:ln w="12700">
            <a:solidFill>
              <a:srgbClr val="0E7C86"/>
            </a:solidFill>
            <a:prstDash val="solid"/>
          </a:ln>
        </p:spPr>
      </p:sp>
      <p:pic>
        <p:nvPicPr>
          <p:cNvPr id="13" name="Image 3" descr="preencoded.png">    </p:cNvPr>
          <p:cNvPicPr>
            <a:picLocks noChangeAspect="1"/>
          </p:cNvPicPr>
          <p:nvPr/>
        </p:nvPicPr>
        <p:blipFill>
          <a:blip r:embed="rId4"/>
          <a:stretch>
            <a:fillRect/>
          </a:stretch>
        </p:blipFill>
        <p:spPr>
          <a:xfrm>
            <a:off x="630936" y="3118104"/>
            <a:ext cx="146304" cy="146304"/>
          </a:xfrm>
          <a:prstGeom prst="rect">
            <a:avLst/>
          </a:prstGeom>
        </p:spPr>
      </p:pic>
      <p:sp>
        <p:nvSpPr>
          <p:cNvPr id="14" name="Text 8"/>
          <p:cNvSpPr txBox="1"/>
          <p:nvPr/>
        </p:nvSpPr>
        <p:spPr>
          <a:xfrm>
            <a:off x="1005840" y="2980944"/>
            <a:ext cx="3520440" cy="420624"/>
          </a:xfrm>
          <a:prstGeom prst="rect">
            <a:avLst/>
          </a:prstGeom>
          <a:noFill/>
          <a:ln/>
        </p:spPr>
        <p:txBody>
          <a:bodyPr wrap="square" lIns="0" tIns="0" rIns="0" bIns="0" rtlCol="0" anchor="ctr">
            <a:normAutofit/>
          </a:bodyPr>
          <a:lstStyle/>
          <a:p>
            <a:pPr indent="0" marL="0">
              <a:buNone/>
            </a:pPr>
            <a:r>
              <a:rPr lang="en-US" sz="1300" dirty="0">
                <a:solidFill>
                  <a:srgbClr val="E2E8F0"/>
                </a:solidFill>
                <a:latin typeface="Calibri" pitchFamily="34" charset="0"/>
                <a:ea typeface="Calibri" pitchFamily="34" charset="-122"/>
                <a:cs typeface="Calibri" pitchFamily="34" charset="-120"/>
              </a:rPr>
              <a:t>Ciberataques, dispositivos móviles y aplicaciones</a:t>
            </a:r>
            <a:endParaRPr lang="en-US" sz="1300" dirty="0"/>
          </a:p>
        </p:txBody>
      </p:sp>
      <p:sp>
        <p:nvSpPr>
          <p:cNvPr id="15" name="Shape 9"/>
          <p:cNvSpPr/>
          <p:nvPr/>
        </p:nvSpPr>
        <p:spPr>
          <a:xfrm>
            <a:off x="4663440" y="1335024"/>
            <a:ext cx="310896" cy="310896"/>
          </a:xfrm>
          <a:prstGeom prst="ellipse">
            <a:avLst/>
          </a:prstGeom>
          <a:solidFill>
            <a:srgbClr val="0E7C86"/>
          </a:solidFill>
          <a:ln w="12700">
            <a:solidFill>
              <a:srgbClr val="0E7C86"/>
            </a:solidFill>
            <a:prstDash val="solid"/>
          </a:ln>
        </p:spPr>
      </p:sp>
      <p:pic>
        <p:nvPicPr>
          <p:cNvPr id="16" name="Image 4" descr="preencoded.png">    </p:cNvPr>
          <p:cNvPicPr>
            <a:picLocks noChangeAspect="1"/>
          </p:cNvPicPr>
          <p:nvPr/>
        </p:nvPicPr>
        <p:blipFill>
          <a:blip r:embed="rId5"/>
          <a:stretch>
            <a:fillRect/>
          </a:stretch>
        </p:blipFill>
        <p:spPr>
          <a:xfrm>
            <a:off x="4745736" y="1417320"/>
            <a:ext cx="146304" cy="146304"/>
          </a:xfrm>
          <a:prstGeom prst="rect">
            <a:avLst/>
          </a:prstGeom>
        </p:spPr>
      </p:pic>
      <p:sp>
        <p:nvSpPr>
          <p:cNvPr id="17" name="Text 10"/>
          <p:cNvSpPr txBox="1"/>
          <p:nvPr/>
        </p:nvSpPr>
        <p:spPr>
          <a:xfrm>
            <a:off x="5120640" y="1280160"/>
            <a:ext cx="3520440" cy="420624"/>
          </a:xfrm>
          <a:prstGeom prst="rect">
            <a:avLst/>
          </a:prstGeom>
          <a:noFill/>
          <a:ln/>
        </p:spPr>
        <p:txBody>
          <a:bodyPr wrap="square" lIns="0" tIns="0" rIns="0" bIns="0" rtlCol="0" anchor="ctr">
            <a:normAutofit/>
          </a:bodyPr>
          <a:lstStyle/>
          <a:p>
            <a:pPr indent="0" marL="0">
              <a:buNone/>
            </a:pPr>
            <a:r>
              <a:rPr lang="en-US" sz="1300" dirty="0">
                <a:solidFill>
                  <a:srgbClr val="E2E8F0"/>
                </a:solidFill>
                <a:latin typeface="Calibri" pitchFamily="34" charset="0"/>
                <a:ea typeface="Calibri" pitchFamily="34" charset="-122"/>
                <a:cs typeface="Calibri" pitchFamily="34" charset="-120"/>
              </a:rPr>
              <a:t>Ataque a los fundamentos: TCP/IP, IPv4 e IPv6</a:t>
            </a:r>
            <a:endParaRPr lang="en-US" sz="1300" dirty="0"/>
          </a:p>
        </p:txBody>
      </p:sp>
      <p:sp>
        <p:nvSpPr>
          <p:cNvPr id="18" name="Shape 11"/>
          <p:cNvSpPr/>
          <p:nvPr/>
        </p:nvSpPr>
        <p:spPr>
          <a:xfrm>
            <a:off x="4663440" y="1901952"/>
            <a:ext cx="310896" cy="310896"/>
          </a:xfrm>
          <a:prstGeom prst="ellipse">
            <a:avLst/>
          </a:prstGeom>
          <a:solidFill>
            <a:srgbClr val="0E7C86"/>
          </a:solidFill>
          <a:ln w="12700">
            <a:solidFill>
              <a:srgbClr val="0E7C86"/>
            </a:solidFill>
            <a:prstDash val="solid"/>
          </a:ln>
        </p:spPr>
      </p:sp>
      <p:pic>
        <p:nvPicPr>
          <p:cNvPr id="19" name="Image 5" descr="preencoded.png">    </p:cNvPr>
          <p:cNvPicPr>
            <a:picLocks noChangeAspect="1"/>
          </p:cNvPicPr>
          <p:nvPr/>
        </p:nvPicPr>
        <p:blipFill>
          <a:blip r:embed="rId6"/>
          <a:stretch>
            <a:fillRect/>
          </a:stretch>
        </p:blipFill>
        <p:spPr>
          <a:xfrm>
            <a:off x="4745736" y="1984248"/>
            <a:ext cx="146304" cy="146304"/>
          </a:xfrm>
          <a:prstGeom prst="rect">
            <a:avLst/>
          </a:prstGeom>
        </p:spPr>
      </p:pic>
      <p:sp>
        <p:nvSpPr>
          <p:cNvPr id="20" name="Text 12"/>
          <p:cNvSpPr txBox="1"/>
          <p:nvPr/>
        </p:nvSpPr>
        <p:spPr>
          <a:xfrm>
            <a:off x="5120640" y="1847088"/>
            <a:ext cx="3520440" cy="420624"/>
          </a:xfrm>
          <a:prstGeom prst="rect">
            <a:avLst/>
          </a:prstGeom>
          <a:noFill/>
          <a:ln/>
        </p:spPr>
        <p:txBody>
          <a:bodyPr wrap="square" lIns="0" tIns="0" rIns="0" bIns="0" rtlCol="0" anchor="ctr">
            <a:normAutofit/>
          </a:bodyPr>
          <a:lstStyle/>
          <a:p>
            <a:pPr indent="0" marL="0">
              <a:buNone/>
            </a:pPr>
            <a:r>
              <a:rPr lang="en-US" sz="1300" dirty="0">
                <a:solidFill>
                  <a:srgbClr val="E2E8F0"/>
                </a:solidFill>
                <a:latin typeface="Calibri" pitchFamily="34" charset="0"/>
                <a:ea typeface="Calibri" pitchFamily="34" charset="-122"/>
                <a:cs typeface="Calibri" pitchFamily="34" charset="-120"/>
              </a:rPr>
              <a:t>Atacando lo que hacemos: servicios IP y empresariales</a:t>
            </a:r>
            <a:endParaRPr lang="en-US" sz="1300" dirty="0"/>
          </a:p>
        </p:txBody>
      </p:sp>
      <p:sp>
        <p:nvSpPr>
          <p:cNvPr id="21" name="Shape 13"/>
          <p:cNvSpPr/>
          <p:nvPr/>
        </p:nvSpPr>
        <p:spPr>
          <a:xfrm>
            <a:off x="4663440" y="2468880"/>
            <a:ext cx="310896" cy="310896"/>
          </a:xfrm>
          <a:prstGeom prst="ellipse">
            <a:avLst/>
          </a:prstGeom>
          <a:solidFill>
            <a:srgbClr val="0E7C86"/>
          </a:solidFill>
          <a:ln w="12700">
            <a:solidFill>
              <a:srgbClr val="0E7C86"/>
            </a:solidFill>
            <a:prstDash val="solid"/>
          </a:ln>
        </p:spPr>
      </p:sp>
      <p:pic>
        <p:nvPicPr>
          <p:cNvPr id="22" name="Image 6" descr="preencoded.png">    </p:cNvPr>
          <p:cNvPicPr>
            <a:picLocks noChangeAspect="1"/>
          </p:cNvPicPr>
          <p:nvPr/>
        </p:nvPicPr>
        <p:blipFill>
          <a:blip r:embed="rId7"/>
          <a:stretch>
            <a:fillRect/>
          </a:stretch>
        </p:blipFill>
        <p:spPr>
          <a:xfrm>
            <a:off x="4745736" y="2551176"/>
            <a:ext cx="146304" cy="146304"/>
          </a:xfrm>
          <a:prstGeom prst="rect">
            <a:avLst/>
          </a:prstGeom>
        </p:spPr>
      </p:pic>
      <p:sp>
        <p:nvSpPr>
          <p:cNvPr id="23" name="Text 14"/>
          <p:cNvSpPr txBox="1"/>
          <p:nvPr/>
        </p:nvSpPr>
        <p:spPr>
          <a:xfrm>
            <a:off x="5120640" y="2414016"/>
            <a:ext cx="3520440" cy="420624"/>
          </a:xfrm>
          <a:prstGeom prst="rect">
            <a:avLst/>
          </a:prstGeom>
          <a:noFill/>
          <a:ln/>
        </p:spPr>
        <p:txBody>
          <a:bodyPr wrap="square" lIns="0" tIns="0" rIns="0" bIns="0" rtlCol="0" anchor="ctr">
            <a:normAutofit/>
          </a:bodyPr>
          <a:lstStyle/>
          <a:p>
            <a:pPr indent="0" marL="0">
              <a:buNone/>
            </a:pPr>
            <a:r>
              <a:rPr lang="en-US" sz="1300" dirty="0">
                <a:solidFill>
                  <a:srgbClr val="E2E8F0"/>
                </a:solidFill>
                <a:latin typeface="Calibri" pitchFamily="34" charset="0"/>
                <a:ea typeface="Calibri" pitchFamily="34" charset="-122"/>
                <a:cs typeface="Calibri" pitchFamily="34" charset="-120"/>
              </a:rPr>
              <a:t>Redes inalámbricas: problemas y WLAN seguras</a:t>
            </a:r>
            <a:endParaRPr lang="en-US" sz="1300" dirty="0"/>
          </a:p>
        </p:txBody>
      </p:sp>
      <p:sp>
        <p:nvSpPr>
          <p:cNvPr id="24" name="Shape 15"/>
          <p:cNvSpPr/>
          <p:nvPr/>
        </p:nvSpPr>
        <p:spPr>
          <a:xfrm>
            <a:off x="4663440" y="3035808"/>
            <a:ext cx="310896" cy="310896"/>
          </a:xfrm>
          <a:prstGeom prst="ellipse">
            <a:avLst/>
          </a:prstGeom>
          <a:solidFill>
            <a:srgbClr val="0E7C86"/>
          </a:solidFill>
          <a:ln w="12700">
            <a:solidFill>
              <a:srgbClr val="0E7C86"/>
            </a:solidFill>
            <a:prstDash val="solid"/>
          </a:ln>
        </p:spPr>
      </p:sp>
      <p:pic>
        <p:nvPicPr>
          <p:cNvPr id="25" name="Image 7" descr="preencoded.png">    </p:cNvPr>
          <p:cNvPicPr>
            <a:picLocks noChangeAspect="1"/>
          </p:cNvPicPr>
          <p:nvPr/>
        </p:nvPicPr>
        <p:blipFill>
          <a:blip r:embed="rId8"/>
          <a:stretch>
            <a:fillRect/>
          </a:stretch>
        </p:blipFill>
        <p:spPr>
          <a:xfrm>
            <a:off x="4745736" y="3118104"/>
            <a:ext cx="146304" cy="146304"/>
          </a:xfrm>
          <a:prstGeom prst="rect">
            <a:avLst/>
          </a:prstGeom>
        </p:spPr>
      </p:pic>
      <p:sp>
        <p:nvSpPr>
          <p:cNvPr id="26" name="Text 16"/>
          <p:cNvSpPr txBox="1"/>
          <p:nvPr/>
        </p:nvSpPr>
        <p:spPr>
          <a:xfrm>
            <a:off x="5120640" y="2980944"/>
            <a:ext cx="3520440" cy="420624"/>
          </a:xfrm>
          <a:prstGeom prst="rect">
            <a:avLst/>
          </a:prstGeom>
          <a:noFill/>
          <a:ln/>
        </p:spPr>
        <p:txBody>
          <a:bodyPr wrap="square" lIns="0" tIns="0" rIns="0" bIns="0" rtlCol="0" anchor="ctr">
            <a:normAutofit/>
          </a:bodyPr>
          <a:lstStyle/>
          <a:p>
            <a:pPr indent="0" marL="0">
              <a:buNone/>
            </a:pPr>
            <a:r>
              <a:rPr lang="en-US" sz="1300" dirty="0">
                <a:solidFill>
                  <a:srgbClr val="E2E8F0"/>
                </a:solidFill>
                <a:latin typeface="Calibri" pitchFamily="34" charset="0"/>
                <a:ea typeface="Calibri" pitchFamily="34" charset="-122"/>
                <a:cs typeface="Calibri" pitchFamily="34" charset="-120"/>
              </a:rPr>
              <a:t>Infraestructura de seguridad de red</a:t>
            </a:r>
            <a:endParaRPr lang="en-US" sz="1300" dirty="0"/>
          </a:p>
        </p:txBody>
      </p:sp>
      <p:sp>
        <p:nvSpPr>
          <p:cNvPr id="27" name="Shape 17"/>
          <p:cNvSpPr/>
          <p:nvPr/>
        </p:nvSpPr>
        <p:spPr>
          <a:xfrm>
            <a:off x="548640" y="3794760"/>
            <a:ext cx="8046720" cy="685800"/>
          </a:xfrm>
          <a:prstGeom prst="roundRect">
            <a:avLst>
              <a:gd name="adj" fmla="val 10667"/>
            </a:avLst>
          </a:prstGeom>
          <a:solidFill>
            <a:srgbClr val="F5A623"/>
          </a:solidFill>
          <a:ln w="12700">
            <a:solidFill>
              <a:srgbClr val="F5A623"/>
            </a:solidFill>
            <a:prstDash val="solid"/>
          </a:ln>
        </p:spPr>
      </p:sp>
      <p:sp>
        <p:nvSpPr>
          <p:cNvPr id="28" name="Text 18"/>
          <p:cNvSpPr txBox="1"/>
          <p:nvPr/>
        </p:nvSpPr>
        <p:spPr>
          <a:xfrm>
            <a:off x="777240" y="3794760"/>
            <a:ext cx="7680960" cy="685800"/>
          </a:xfrm>
          <a:prstGeom prst="rect">
            <a:avLst/>
          </a:prstGeom>
          <a:noFill/>
          <a:ln/>
        </p:spPr>
        <p:txBody>
          <a:bodyPr wrap="square" lIns="0" tIns="0" rIns="0" bIns="0" rtlCol="0" anchor="ctr"/>
          <a:lstStyle/>
          <a:p>
            <a:pPr indent="0" marL="0">
              <a:buNone/>
            </a:pPr>
            <a:r>
              <a:rPr lang="en-US" sz="1500" b="1" dirty="0">
                <a:solidFill>
                  <a:srgbClr val="0B1D2E"/>
                </a:solidFill>
                <a:latin typeface="Calibri" pitchFamily="34" charset="0"/>
                <a:ea typeface="Calibri" pitchFamily="34" charset="-122"/>
                <a:cs typeface="Calibri" pitchFamily="34" charset="-120"/>
              </a:rPr>
              <a:t>Siguiente paso: </a:t>
            </a:r>
            <a:pPr indent="0" marL="0">
              <a:buNone/>
            </a:pPr>
            <a:r>
              <a:rPr lang="en-US" sz="1500" dirty="0">
                <a:solidFill>
                  <a:srgbClr val="0B1D2E"/>
                </a:solidFill>
                <a:latin typeface="Calibri" pitchFamily="34" charset="0"/>
                <a:ea typeface="Calibri" pitchFamily="34" charset="-122"/>
                <a:cs typeface="Calibri" pitchFamily="34" charset="-120"/>
              </a:rPr>
              <a:t>resolvé el cotidiano interactivo de este resultado de aprendizaje en el portal del curso.</a:t>
            </a:r>
            <a:endParaRPr lang="en-US" sz="1500" dirty="0"/>
          </a:p>
        </p:txBody>
      </p:sp>
      <p:sp>
        <p:nvSpPr>
          <p:cNvPr id="29" name="Text 19"/>
          <p:cNvSpPr txBox="1"/>
          <p:nvPr/>
        </p:nvSpPr>
        <p:spPr>
          <a:xfrm>
            <a:off x="457200" y="4800600"/>
            <a:ext cx="5486400" cy="228600"/>
          </a:xfrm>
          <a:prstGeom prst="rect">
            <a:avLst/>
          </a:prstGeom>
          <a:noFill/>
          <a:ln/>
        </p:spPr>
        <p:txBody>
          <a:bodyPr wrap="square" lIns="0" tIns="0" rIns="0" bIns="0" rtlCol="0" anchor="ctr"/>
          <a:lstStyle/>
          <a:p>
            <a:pPr indent="0" marL="0">
              <a:buNone/>
            </a:pPr>
            <a:r>
              <a:rPr lang="en-US" sz="900" dirty="0">
                <a:solidFill>
                  <a:srgbClr val="9FB3C8"/>
                </a:solidFill>
                <a:latin typeface="Calibri" pitchFamily="34" charset="0"/>
                <a:ea typeface="Calibri" pitchFamily="34" charset="-122"/>
                <a:cs typeface="Calibri" pitchFamily="34" charset="-120"/>
              </a:rPr>
              <a:t>Fundamentos de ciberseguridad · RA1</a:t>
            </a:r>
            <a:endParaRPr lang="en-US" sz="900" dirty="0"/>
          </a:p>
        </p:txBody>
      </p:sp>
      <p:sp>
        <p:nvSpPr>
          <p:cNvPr id="30" name="Text 20"/>
          <p:cNvSpPr txBox="1"/>
          <p:nvPr/>
        </p:nvSpPr>
        <p:spPr>
          <a:xfrm>
            <a:off x="8229600" y="4800600"/>
            <a:ext cx="457200" cy="228600"/>
          </a:xfrm>
          <a:prstGeom prst="rect">
            <a:avLst/>
          </a:prstGeom>
          <a:noFill/>
          <a:ln/>
        </p:spPr>
        <p:txBody>
          <a:bodyPr wrap="square" lIns="0" tIns="0" rIns="0" bIns="0" rtlCol="0" anchor="ctr"/>
          <a:lstStyle/>
          <a:p>
            <a:pPr algn="r" indent="0" marL="0">
              <a:buNone/>
            </a:pPr>
            <a:r>
              <a:rPr lang="en-US" sz="900" dirty="0">
                <a:solidFill>
                  <a:srgbClr val="9FB3C8"/>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RA1 · Amenazas, vulnerabilidades y ataques</dc:title>
  <dc:subject>PptxGenJS Presentation</dc:subject>
  <dc:creator>MsC. Ericka Hernández Mena</dc:creator>
  <cp:lastModifiedBy>MsC. Ericka Hernández Mena</cp:lastModifiedBy>
  <cp:revision>1</cp:revision>
  <dcterms:created xsi:type="dcterms:W3CDTF">2026-10-01T21:36:11Z</dcterms:created>
  <dcterms:modified xsi:type="dcterms:W3CDTF">2026-10-01T21:36:11Z</dcterms:modified>
</cp:coreProperties>
</file>